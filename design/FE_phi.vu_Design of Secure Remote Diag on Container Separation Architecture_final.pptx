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94" r:id="rId4"/>
    <p:sldId id="280" r:id="rId5"/>
    <p:sldId id="289" r:id="rId6"/>
    <p:sldId id="262" r:id="rId7"/>
    <p:sldId id="283" r:id="rId8"/>
    <p:sldId id="269" r:id="rId9"/>
    <p:sldId id="271" r:id="rId10"/>
    <p:sldId id="287" r:id="rId11"/>
    <p:sldId id="279" r:id="rId12"/>
    <p:sldId id="292" r:id="rId13"/>
    <p:sldId id="293" r:id="rId14"/>
    <p:sldId id="288" r:id="rId15"/>
    <p:sldId id="291" r:id="rId16"/>
    <p:sldId id="274" r:id="rId17"/>
    <p:sldId id="277" r:id="rId18"/>
    <p:sldId id="276" r:id="rId19"/>
    <p:sldId id="295" r:id="rId20"/>
    <p:sldId id="296" r:id="rId21"/>
    <p:sldId id="297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32" autoAdjust="0"/>
    <p:restoredTop sz="58084" autoAdjust="0"/>
  </p:normalViewPr>
  <p:slideViewPr>
    <p:cSldViewPr snapToGrid="0">
      <p:cViewPr varScale="1">
        <p:scale>
          <a:sx n="70" d="100"/>
          <a:sy n="70" d="100"/>
        </p:scale>
        <p:origin x="2318" y="5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</a:t>
            </a:r>
            <a:r>
              <a:rPr lang="en-US" dirty="0" err="1"/>
              <a:t>Nhớ</a:t>
            </a:r>
            <a:r>
              <a:rPr lang="en-US" baseline="0" dirty="0"/>
              <a:t> </a:t>
            </a:r>
            <a:r>
              <a:rPr lang="en-US" baseline="0" dirty="0" err="1"/>
              <a:t>bật</a:t>
            </a:r>
            <a:r>
              <a:rPr lang="en-US" baseline="0" dirty="0"/>
              <a:t> mouse laser) + </a:t>
            </a:r>
            <a:r>
              <a:rPr lang="en-US" baseline="0" dirty="0" err="1"/>
              <a:t>Bật</a:t>
            </a:r>
            <a:r>
              <a:rPr lang="en-US" baseline="0" dirty="0"/>
              <a:t> CAM </a:t>
            </a:r>
            <a:endParaRPr lang="en-US" dirty="0"/>
          </a:p>
          <a:p>
            <a:endParaRPr lang="en-US" dirty="0"/>
          </a:p>
          <a:p>
            <a:r>
              <a:rPr lang="en-US" dirty="0"/>
              <a:t>Hello</a:t>
            </a:r>
            <a:r>
              <a:rPr lang="en-US" baseline="0" dirty="0"/>
              <a:t> everyone, my name is Phi, from Software Engineering part.</a:t>
            </a:r>
          </a:p>
          <a:p>
            <a:endParaRPr lang="en-US" baseline="0" dirty="0"/>
          </a:p>
          <a:p>
            <a:r>
              <a:rPr lang="en-US" baseline="0" dirty="0"/>
              <a:t>Today, I will present about the topic: Design of Secure Remote </a:t>
            </a:r>
            <a:r>
              <a:rPr lang="en-US" baseline="0" dirty="0" err="1"/>
              <a:t>Diag</a:t>
            </a:r>
            <a:r>
              <a:rPr lang="en-US" baseline="0" dirty="0"/>
              <a:t> on Container Separation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877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the topic</a:t>
            </a:r>
            <a:r>
              <a:rPr lang="en-US" baseline="0"/>
              <a:t> presentation, </a:t>
            </a:r>
            <a:r>
              <a:rPr lang="en-US"/>
              <a:t>I will go through six</a:t>
            </a:r>
            <a:r>
              <a:rPr lang="en-US" baseline="0"/>
              <a:t> sections as you can see in the slide.</a:t>
            </a:r>
          </a:p>
          <a:p>
            <a:r>
              <a:rPr lang="en-US" baseline="0"/>
              <a:t>First one is Context of my Function Expert topic.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7821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1B573-D46B-DD18-A2C4-C4082199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D46A-A877-3DE1-9984-1B9616582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C9709-5C79-D782-6C8E-2BC9A65C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Toyota DCM is a telematics platform</a:t>
            </a:r>
            <a:r>
              <a:rPr lang="en-US" baseline="0"/>
              <a:t> which provides services that allows vehicles to connect to the network, including the remote diagnostics from OEM server.</a:t>
            </a:r>
          </a:p>
          <a:p>
            <a:endParaRPr lang="en-US" baseline="0"/>
          </a:p>
          <a:p>
            <a:r>
              <a:rPr lang="en-US" baseline="0"/>
              <a:t>and It also supports diagnostic communication and OTA update feature, through Internal CAN bus … and the MM ECU which acts as OTA Master.</a:t>
            </a:r>
          </a:p>
          <a:p>
            <a:endParaRPr lang="en-US" baseline="0"/>
          </a:p>
          <a:p>
            <a:r>
              <a:rPr lang="en-US" baseline="0"/>
              <a:t>As you can see in the diagram, the Current architecture is monolithic, with all components running in a single partition.</a:t>
            </a:r>
          </a:p>
          <a:p>
            <a:endParaRPr lang="en-US" baseline="0"/>
          </a:p>
          <a:p>
            <a:r>
              <a:rPr lang="en-US" baseline="0"/>
              <a:t>On next slide, we will talk about the architecture migration.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C9B43-13E9-E1D6-156A-5CB894C64F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435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From the OEM security perspective, a potential threat is that the Entry Point partition could be compromised by unauthorized software and taken over.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 address the</a:t>
            </a:r>
            <a:r>
              <a:rPr lang="en-US" sz="1200" b="0" i="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security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risk, OEM proposed the security requirements to 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scope of compromise to the EP partition only. The compromise must not propagate to the internal partition or in-vehicle CAN bus.</a:t>
            </a:r>
          </a:p>
          <a:p>
            <a:b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Then, to achieve this, LGE came</a:t>
            </a:r>
            <a:r>
              <a:rPr lang="en-US" sz="1200" b="0" i="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 with a solution: Separate the DCM architecture into two partitions using Linux container technology: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EP container will hosts externally exposed network components</a:t>
            </a:r>
          </a:p>
          <a:p>
            <a:pPr marL="171450" indent="-171450">
              <a:buFontTx/>
              <a:buChar char="-"/>
            </a:pPr>
            <a:r>
              <a:rPr lang="en-US" sz="1200" b="0" i="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The Internal container will hosts the components which require access to the CAN bus.</a:t>
            </a:r>
          </a:p>
          <a:p>
            <a:endParaRPr lang="en-US" sz="1200" b="0" i="0" kern="1200" baseline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644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RemoteDiag</a:t>
            </a:r>
            <a:r>
              <a:rPr lang="en-US" baseline="0"/>
              <a:t> is responsible for processing diagnotics for each ECU and uploading diagnostic data to the OEM server</a:t>
            </a:r>
          </a:p>
          <a:p>
            <a:r>
              <a:rPr lang="en-US" baseline="0"/>
              <a:t>Currently, RemoteDiag has two main communication paths: </a:t>
            </a:r>
          </a:p>
          <a:p>
            <a:r>
              <a:rPr lang="en-US" baseline="0"/>
              <a:t>One with the OEM server (the red flow), for direct diagnostic commands.</a:t>
            </a:r>
          </a:p>
          <a:p>
            <a:r>
              <a:rPr lang="en-US" baseline="0"/>
              <a:t>And The other one with the MM ECU (the pink flow), for OTA updates.</a:t>
            </a:r>
          </a:p>
          <a:p>
            <a:r>
              <a:rPr lang="en-US" baseline="0"/>
              <a:t>Then, the diagnostic commands will be sent to OnBoardClient then go to Internal CAN bus.</a:t>
            </a:r>
          </a:p>
          <a:p>
            <a:endParaRPr lang="en-US"/>
          </a:p>
          <a:p>
            <a:r>
              <a:rPr lang="en-US"/>
              <a:t>However,</a:t>
            </a:r>
            <a:r>
              <a:rPr lang="en-US" baseline="0"/>
              <a:t> there are security risks in the current design:</a:t>
            </a:r>
          </a:p>
          <a:p>
            <a:pPr marL="171450" indent="-171450">
              <a:buFontTx/>
              <a:buChar char="-"/>
            </a:pPr>
            <a:r>
              <a:rPr lang="en-US" baseline="0"/>
              <a:t>The communication path between RemoteDiag and the MM ECU routes in the EP container. If the EP container is compromised, this communication could be exposed to an attacker.</a:t>
            </a:r>
          </a:p>
          <a:p>
            <a:pPr marL="171450" indent="-171450">
              <a:buFontTx/>
              <a:buChar char="-"/>
            </a:pPr>
            <a:r>
              <a:rPr lang="en-US" baseline="0"/>
              <a:t>And, OEM also requests that </a:t>
            </a:r>
            <a:r>
              <a:rPr lang="en-US" sz="1200" b="1"/>
              <a:t>unauthorized reprogramming requests should be filtered</a:t>
            </a:r>
          </a:p>
          <a:p>
            <a:pPr marL="0" indent="0">
              <a:buFontTx/>
              <a:buNone/>
            </a:pPr>
            <a:endParaRPr lang="en-US" sz="1200" b="1" baseline="0"/>
          </a:p>
          <a:p>
            <a:pPr marL="0" indent="0">
              <a:buFontTx/>
              <a:buNone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 result, the internal architecture of</a:t>
            </a:r>
            <a:r>
              <a:rPr lang="en-US" sz="1200" b="0" i="0" kern="1200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RemoteDiag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communication flow need to be redesigned so that they are aligned with the new container architecture.”</a:t>
            </a:r>
            <a:endParaRPr lang="en-US" b="0" baseline="0"/>
          </a:p>
          <a:p>
            <a:pPr marL="171450" indent="-171450">
              <a:buFontTx/>
              <a:buChar char="-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9840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Base on OEM requirements</a:t>
            </a:r>
            <a:r>
              <a:rPr lang="en-US" baseline="0"/>
              <a:t> and security perspective, I extract the functional requirements as shown in the table.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7496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Here</a:t>
            </a:r>
            <a:r>
              <a:rPr lang="en-US" baseline="0"/>
              <a:t> is the quality attribute table which I’m concerning.</a:t>
            </a:r>
            <a:br>
              <a:rPr lang="en-US" baseline="0"/>
            </a:br>
            <a:r>
              <a:rPr lang="en-US" baseline="0"/>
              <a:t>The table describes about QA scenarios and their measurement</a:t>
            </a:r>
          </a:p>
          <a:p>
            <a:r>
              <a:rPr lang="en-US" baseline="0"/>
              <a:t>Basically, I focus on Security attributes. Then, Modifiability and Maintainability.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satisfy</a:t>
            </a:r>
            <a:r>
              <a:rPr lang="en-US" baseline="0" dirty="0"/>
              <a:t> OEM security requirements, </a:t>
            </a:r>
            <a:r>
              <a:rPr lang="en-US" dirty="0"/>
              <a:t>I</a:t>
            </a:r>
            <a:r>
              <a:rPr lang="en-US" baseline="0" dirty="0"/>
              <a:t> will come up with 3 design alternatives.</a:t>
            </a:r>
          </a:p>
          <a:p>
            <a:r>
              <a:rPr lang="en-US" baseline="0" dirty="0"/>
              <a:t>As shown in the slide, this is the first alternatives: Alternative A: Split </a:t>
            </a:r>
            <a:r>
              <a:rPr lang="en-US" baseline="0" dirty="0" err="1"/>
              <a:t>RemoteDiag</a:t>
            </a:r>
            <a:r>
              <a:rPr lang="en-US" baseline="0" dirty="0"/>
              <a:t>.</a:t>
            </a:r>
          </a:p>
          <a:p>
            <a:endParaRPr lang="en-US" baseline="0" dirty="0"/>
          </a:p>
          <a:p>
            <a:r>
              <a:rPr lang="en-US" baseline="0" dirty="0"/>
              <a:t>This design will separate </a:t>
            </a:r>
            <a:r>
              <a:rPr lang="en-US" baseline="0" dirty="0" err="1"/>
              <a:t>RemoteDiag</a:t>
            </a:r>
            <a:r>
              <a:rPr lang="en-US" baseline="0" dirty="0"/>
              <a:t> responsibilities into 2 applications:</a:t>
            </a:r>
            <a:br>
              <a:rPr lang="en-US" baseline="0" dirty="0"/>
            </a:br>
            <a:r>
              <a:rPr lang="en-US" baseline="0" dirty="0"/>
              <a:t>- </a:t>
            </a:r>
            <a:r>
              <a:rPr lang="en-US" baseline="0" dirty="0" err="1"/>
              <a:t>RemoteDiag</a:t>
            </a:r>
            <a:r>
              <a:rPr lang="en-US" baseline="0" dirty="0"/>
              <a:t> locates in EP container to handle diagnostic commands from OEM server.</a:t>
            </a:r>
          </a:p>
          <a:p>
            <a:r>
              <a:rPr lang="en-US" baseline="0" dirty="0"/>
              <a:t>- </a:t>
            </a:r>
            <a:r>
              <a:rPr lang="en-US" baseline="0" dirty="0" err="1"/>
              <a:t>RemoteOTA</a:t>
            </a:r>
            <a:r>
              <a:rPr lang="en-US" baseline="0" dirty="0"/>
              <a:t> locates in Internal container to handle OTA commands from MM ECU.</a:t>
            </a:r>
          </a:p>
          <a:p>
            <a:pPr marL="0" indent="0">
              <a:buFontTx/>
              <a:buNone/>
            </a:pPr>
            <a:r>
              <a:rPr lang="en-US" baseline="0" dirty="0"/>
              <a:t>- As a result, </a:t>
            </a:r>
            <a:r>
              <a:rPr lang="en-US" baseline="0" dirty="0" err="1"/>
              <a:t>OnBoardClient</a:t>
            </a:r>
            <a:r>
              <a:rPr lang="en-US" baseline="0" dirty="0"/>
              <a:t> is responsible for filtering the reprogramming messages and diagnostic priority control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RemoteOTA</a:t>
            </a:r>
            <a:r>
              <a:rPr lang="en-US" baseline="0" dirty="0"/>
              <a:t> stay in the same Internal container with </a:t>
            </a:r>
            <a:r>
              <a:rPr lang="en-US" baseline="0" dirty="0" err="1"/>
              <a:t>OnBoardClient</a:t>
            </a:r>
            <a:r>
              <a:rPr lang="en-US" baseline="0" dirty="0"/>
              <a:t>, then they can keep the communication path like </a:t>
            </a:r>
            <a:r>
              <a:rPr lang="en-US" baseline="0" dirty="0" err="1"/>
              <a:t>RemoteDiag</a:t>
            </a:r>
            <a:r>
              <a:rPr lang="en-US" baseline="0" dirty="0"/>
              <a:t> before via binder.</a:t>
            </a:r>
          </a:p>
          <a:p>
            <a:r>
              <a:rPr lang="en-US" baseline="0" dirty="0"/>
              <a:t>But for </a:t>
            </a:r>
            <a:r>
              <a:rPr lang="en-US" baseline="0" dirty="0" err="1"/>
              <a:t>RemoteDiag</a:t>
            </a:r>
            <a:r>
              <a:rPr lang="en-US" baseline="0" dirty="0"/>
              <a:t>, it will have to create an Unix Domain Socket communication for cross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92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</a:t>
            </a:r>
            <a:r>
              <a:rPr lang="en-US" baseline="0"/>
              <a:t> next is Alternative B: Move RemoteDiag</a:t>
            </a:r>
          </a:p>
          <a:p>
            <a:r>
              <a:rPr lang="en-US" baseline="0"/>
              <a:t>With this design, I move the RemoteDiag into Internal container.</a:t>
            </a:r>
          </a:p>
          <a:p>
            <a:r>
              <a:rPr lang="en-US" baseline="0"/>
              <a:t>To communicate with Other modules in EP sides, I have to create UDS socket connection between RemoteDiag and those modules.</a:t>
            </a:r>
          </a:p>
          <a:p>
            <a:r>
              <a:rPr lang="en-US" baseline="0"/>
              <a:t>This requires other modules in EP sides to change to implement UDS socket server.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last alternatives is</a:t>
            </a:r>
            <a:r>
              <a:rPr lang="en-US" baseline="0"/>
              <a:t> Alternative C which is an update version of Alternative B:</a:t>
            </a:r>
          </a:p>
          <a:p>
            <a:r>
              <a:rPr lang="en-US" baseline="0"/>
              <a:t>I still move RemoteDiag into Internal container</a:t>
            </a:r>
          </a:p>
          <a:p>
            <a:r>
              <a:rPr lang="en-US" baseline="0"/>
              <a:t>And I add a new component in EP: RemoteDiagProxy, acting as a transparent proxy.</a:t>
            </a:r>
          </a:p>
          <a:p>
            <a:r>
              <a:rPr lang="en-US" baseline="0"/>
              <a:t>RemoteDiagProxy keeps the existing interface to communicate with other modules in EP side</a:t>
            </a:r>
          </a:p>
          <a:p>
            <a:r>
              <a:rPr lang="en-US" baseline="0"/>
              <a:t>And it forwards requests to RemoteDiag via UDS socket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68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</a:t>
            </a:r>
            <a:r>
              <a:rPr lang="en-US" baseline="0"/>
              <a:t> table describe about the comparison between design alternatives.</a:t>
            </a:r>
          </a:p>
          <a:p>
            <a:endParaRPr lang="en-US" baseline="0"/>
          </a:p>
          <a:p>
            <a:r>
              <a:rPr lang="en-US" baseline="0"/>
              <a:t>For filtering diagnostic commands </a:t>
            </a:r>
          </a:p>
          <a:p>
            <a:r>
              <a:rPr lang="en-US" baseline="0"/>
              <a:t>and keep communication path between RemoteDiag and MM ECU only routes in Internal container, all of the alternatives is satisfy.</a:t>
            </a:r>
          </a:p>
          <a:p>
            <a:endParaRPr lang="en-US" baseline="0"/>
          </a:p>
          <a:p>
            <a:r>
              <a:rPr lang="en-US" baseline="0"/>
              <a:t>But Alternative A is not satisfy the Modifiability – QA-three. Because it causes RemoteDiag and OnBoardClient responsibilities be changed:</a:t>
            </a:r>
            <a:br>
              <a:rPr lang="en-US" baseline="0"/>
            </a:br>
            <a:r>
              <a:rPr lang="en-US" baseline="0"/>
              <a:t>- Diagnostic priority control is moved to OnBoardClient</a:t>
            </a:r>
          </a:p>
          <a:p>
            <a:r>
              <a:rPr lang="en-US" baseline="0"/>
              <a:t>- And Existing RemoteDiag responsibilities are distributed across two applications.</a:t>
            </a:r>
          </a:p>
          <a:p>
            <a:pPr marL="0" indent="0">
              <a:buFontTx/>
              <a:buNone/>
            </a:pPr>
            <a:r>
              <a:rPr lang="en-US" baseline="0"/>
              <a:t>The other alternatives keeps the core responsibilities of RemoteDiag.</a:t>
            </a:r>
          </a:p>
          <a:p>
            <a:pPr marL="0" indent="0">
              <a:buFontTx/>
              <a:buNone/>
            </a:pPr>
            <a:endParaRPr lang="en-US" baseline="0"/>
          </a:p>
          <a:p>
            <a:pPr marL="0" indent="0">
              <a:buFontTx/>
              <a:buNone/>
            </a:pPr>
            <a:r>
              <a:rPr lang="en-US" baseline="0"/>
              <a:t>For the Maintainability – QA-four, Alternative B is not satisfied. About TEN modules in EP side have to implement Unix Domain Socket server to communicate with RemoteDiag then integrate with their existing code. And also, fail-safe mechanism.</a:t>
            </a:r>
          </a:p>
          <a:p>
            <a:pPr marL="0" indent="0">
              <a:buFontTx/>
              <a:buNone/>
            </a:pPr>
            <a:r>
              <a:rPr lang="en-US" baseline="0"/>
              <a:t>Alternative A has to modify OnBoardClient to implement UDS socket server and priority control.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/>
              <a:t>Alternative C has to implement RemoteDiagProxy.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/>
              <a:t>Both Alternative A and C are partially satisfy for Maintainability.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aseline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/>
              <a:t>So, with above comparison table, I chose Alternative C as it has highest score.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aseline="0"/>
          </a:p>
          <a:p>
            <a:pPr marL="0" indent="0">
              <a:buFontTx/>
              <a:buNone/>
            </a:pPr>
            <a:endParaRPr lang="en-US" baseline="0"/>
          </a:p>
          <a:p>
            <a:pPr marL="171450" indent="-171450">
              <a:buFontTx/>
              <a:buChar char="-"/>
            </a:pPr>
            <a:endParaRPr lang="en-US" baseline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77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detail design, I presents</a:t>
            </a:r>
            <a:r>
              <a:rPr lang="en-US" baseline="0"/>
              <a:t> here the sequence diagrams when modules in EP sides want to send messages to RemoteDiag.</a:t>
            </a:r>
          </a:p>
          <a:p>
            <a:r>
              <a:rPr lang="en-US"/>
              <a:t>The Proxy receives</a:t>
            </a:r>
            <a:r>
              <a:rPr lang="en-US" baseline="0"/>
              <a:t> then forwards the messages via UnixSocketClient class, then RemoteDiag hanldes the messages after it received from UnixSocketServer class..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1130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is the filter scenarios</a:t>
            </a:r>
            <a:r>
              <a:rPr lang="en-US" baseline="0"/>
              <a:t> when RemoteDiag received a direct diagnostic command.</a:t>
            </a:r>
            <a:br>
              <a:rPr lang="en-US" baseline="0"/>
            </a:br>
            <a:r>
              <a:rPr lang="en-US" baseline="0"/>
              <a:t>It will validate the Service ID from diagnostic command before allowing it to be sent to Internal CAN bus.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5933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Implementation and Verification status,</a:t>
            </a:r>
          </a:p>
          <a:p>
            <a:r>
              <a:rPr lang="en-US" dirty="0"/>
              <a:t>Currently, we implemented the Sid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1097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That’s all.</a:t>
            </a:r>
            <a:r>
              <a:rPr lang="en-US" baseline="0"/>
              <a:t> If you have any question please tellme</a:t>
            </a:r>
          </a:p>
          <a:p>
            <a:endParaRPr lang="en-US" baseline="0"/>
          </a:p>
          <a:p>
            <a:r>
              <a:rPr lang="en-US" baseline="0"/>
              <a:t>I would like to say Thank you to the judges for listening for my FE presentation</a:t>
            </a:r>
            <a:br>
              <a:rPr lang="en-US" baseline="0"/>
            </a:br>
            <a:r>
              <a:rPr lang="en-US" baseline="0"/>
              <a:t>and I appreciate the support from my mentors Mr. Bu yong kim.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75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10/13/2026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/>
              <a:t>Design of Secure Remote </a:t>
            </a:r>
            <a:r>
              <a:rPr lang="en-US" b="1" err="1"/>
              <a:t>Diag</a:t>
            </a:r>
            <a:r>
              <a:rPr lang="en-US" b="1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/>
              <a:t>Candidate: Vu Hoang Phi (phi.vu) </a:t>
            </a:r>
          </a:p>
          <a:p>
            <a:r>
              <a:rPr lang="en-US"/>
              <a:t>LGEDV – October 2026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Context </a:t>
              </a:r>
              <a:r>
                <a:rPr lang="en-US" sz="2800"/>
                <a:t>&amp; Motivation</a:t>
              </a:r>
              <a:endParaRPr lang="en-US" sz="28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>
                  <a:cs typeface="Times New Roman" panose="02020603050405020304" pitchFamily="18" charset="0"/>
                </a:rPr>
                <a:t>Implementation &amp; Verification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DF60D-9815-C72C-E039-867021DB8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429F4-17DA-8C65-E10D-772D18EA9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/>
              <a:t>Context &amp; Motivation – Toyota 24DCM project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9BB87FF-FFF5-432F-99E1-3CFA176F7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6"/>
            <a:ext cx="11916834" cy="1756536"/>
          </a:xfrm>
        </p:spPr>
        <p:txBody>
          <a:bodyPr>
            <a:noAutofit/>
          </a:bodyPr>
          <a:lstStyle/>
          <a:p>
            <a:r>
              <a:rPr lang="en-US" sz="1800" dirty="0"/>
              <a:t>Toyota </a:t>
            </a:r>
            <a:r>
              <a:rPr lang="en-US" sz="1800" b="1" dirty="0"/>
              <a:t>DCM</a:t>
            </a:r>
            <a:r>
              <a:rPr lang="en-US" sz="1800" dirty="0"/>
              <a:t>: a telematics platform providing connected vehicle services, including </a:t>
            </a:r>
            <a:r>
              <a:rPr lang="en-US" sz="1800" b="1" dirty="0"/>
              <a:t>remote diagnostics </a:t>
            </a:r>
            <a:r>
              <a:rPr lang="en-US" sz="1800" dirty="0"/>
              <a:t>from OEM server.</a:t>
            </a:r>
          </a:p>
          <a:p>
            <a:r>
              <a:rPr lang="en-US" sz="1800" dirty="0"/>
              <a:t>Supports diagnostic communication and OTA updates through the Internal CAN bus.</a:t>
            </a:r>
          </a:p>
          <a:p>
            <a:r>
              <a:rPr lang="en-US" sz="1800" b="1" dirty="0"/>
              <a:t>Current architecture</a:t>
            </a:r>
            <a:r>
              <a:rPr lang="en-US" sz="1800" dirty="0"/>
              <a:t>: monolithic deployment model, with all components running in a single partition.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8FFDEC-FAE3-F715-C17D-E64EBFEF5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6926" y="2652517"/>
            <a:ext cx="6611468" cy="38032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5AD2A0C-B319-E101-9513-01BAFF04FFE6}"/>
              </a:ext>
            </a:extLst>
          </p:cNvPr>
          <p:cNvSpPr txBox="1"/>
          <p:nvPr/>
        </p:nvSpPr>
        <p:spPr>
          <a:xfrm>
            <a:off x="4199961" y="6454982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CEA5CE-1C3F-5BA0-00F6-DC7933C76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572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/>
          <p:cNvCxnSpPr>
            <a:cxnSpLocks/>
          </p:cNvCxnSpPr>
          <p:nvPr/>
        </p:nvCxnSpPr>
        <p:spPr>
          <a:xfrm>
            <a:off x="3470806" y="3153335"/>
            <a:ext cx="0" cy="3671681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 dirty="0"/>
              <a:t>Context &amp; Motivation – System architecture migration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878995"/>
            <a:ext cx="11916834" cy="2357405"/>
          </a:xfrm>
        </p:spPr>
        <p:txBody>
          <a:bodyPr>
            <a:noAutofit/>
          </a:bodyPr>
          <a:lstStyle/>
          <a:p>
            <a:r>
              <a:rPr lang="en-US" sz="1600" dirty="0"/>
              <a:t>OEM Security Threat</a:t>
            </a:r>
            <a:r>
              <a:rPr lang="en-US" sz="1600" b="1" dirty="0"/>
              <a:t>: </a:t>
            </a:r>
            <a:r>
              <a:rPr lang="en-US" sz="1600" dirty="0"/>
              <a:t>Entry Point (EP</a:t>
            </a:r>
            <a:r>
              <a:rPr lang="en-US" sz="1600"/>
              <a:t>) partition (containing components which is able to communicate with network) could be </a:t>
            </a:r>
            <a:r>
              <a:rPr lang="en-US" sz="1600" dirty="0"/>
              <a:t>compromised by unauthorized software and has been taken over.</a:t>
            </a:r>
            <a:endParaRPr lang="en-US" sz="1400" dirty="0"/>
          </a:p>
          <a:p>
            <a:r>
              <a:rPr lang="en-US" sz="1600" dirty="0"/>
              <a:t>OEM Security Proposal: The scope of compromise shall be limited to the EP partition and shall not propagate internal (to internal partition or in-vehicle CAN bus)</a:t>
            </a:r>
          </a:p>
          <a:p>
            <a:r>
              <a:rPr lang="en-US" sz="1600" b="1" dirty="0"/>
              <a:t>System architecture migration</a:t>
            </a:r>
            <a:r>
              <a:rPr lang="en-US" sz="1600" dirty="0"/>
              <a:t>: </a:t>
            </a:r>
          </a:p>
          <a:p>
            <a:pPr lvl="1"/>
            <a:r>
              <a:rPr lang="en-US" sz="1600" dirty="0"/>
              <a:t>DCM is separated into 2 partitions using LXC containers: </a:t>
            </a:r>
          </a:p>
          <a:p>
            <a:pPr lvl="2"/>
            <a:r>
              <a:rPr lang="en-US" sz="1600" b="1" dirty="0"/>
              <a:t>EP container (Entry Point)</a:t>
            </a:r>
            <a:r>
              <a:rPr lang="en-US" sz="1600" dirty="0"/>
              <a:t>: externally exposed network components.</a:t>
            </a:r>
          </a:p>
          <a:p>
            <a:pPr lvl="2"/>
            <a:r>
              <a:rPr lang="en-US" sz="1600" b="1" dirty="0"/>
              <a:t>Internal container: </a:t>
            </a:r>
            <a:r>
              <a:rPr lang="en-US" sz="1600" dirty="0"/>
              <a:t>components which have access to CAN bus.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4" y="4578725"/>
            <a:ext cx="3237478" cy="1862348"/>
          </a:xfrm>
          <a:prstGeom prst="rect">
            <a:avLst/>
          </a:prstGeom>
        </p:spPr>
      </p:pic>
      <p:sp>
        <p:nvSpPr>
          <p:cNvPr id="8" name="Right Arrow 7"/>
          <p:cNvSpPr/>
          <p:nvPr/>
        </p:nvSpPr>
        <p:spPr>
          <a:xfrm>
            <a:off x="3079651" y="6512647"/>
            <a:ext cx="1109108" cy="312369"/>
          </a:xfrm>
          <a:prstGeom prst="rightArrow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25431" y="6473588"/>
            <a:ext cx="2793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4273" y="6490268"/>
            <a:ext cx="39695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system architecture (containerized)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300E94-D641-5E7E-D410-1F95BB0C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7475" y="5088291"/>
            <a:ext cx="1578980" cy="16972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5A41CDD-7CE6-4D63-F256-F3E90D329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01830" y="3202531"/>
            <a:ext cx="6854434" cy="3287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0FEF80F-391D-5C0D-3E70-1754E47CE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985" y="2961460"/>
            <a:ext cx="7774134" cy="37073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0866" y="862011"/>
            <a:ext cx="11870268" cy="2307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 err="1"/>
              <a:t>RemoteDiag</a:t>
            </a:r>
            <a:r>
              <a:rPr lang="en-US" sz="1600" dirty="0"/>
              <a:t>: a module processes diagnostic for each ECU and uploads diagnostic data to OEM Server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 err="1"/>
              <a:t>RemoteDiag</a:t>
            </a:r>
            <a:r>
              <a:rPr lang="en-US" sz="1600" dirty="0"/>
              <a:t> has 2 communication paths: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OEM Server</a:t>
            </a:r>
            <a:r>
              <a:rPr lang="en-US" sz="1600" dirty="0"/>
              <a:t>: performs direct diagnostic commands</a:t>
            </a:r>
          </a:p>
          <a:p>
            <a:pPr marL="742950" lvl="1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with </a:t>
            </a:r>
            <a:r>
              <a:rPr lang="en-US" sz="1600" b="1" dirty="0"/>
              <a:t>MM ecu</a:t>
            </a:r>
            <a:r>
              <a:rPr lang="en-US" sz="1600" dirty="0"/>
              <a:t>: OTA diagnostic update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/>
              <a:t>Risk: </a:t>
            </a:r>
            <a:r>
              <a:rPr lang="en-US" sz="1600" b="1" dirty="0" err="1"/>
              <a:t>RemoteDiag</a:t>
            </a:r>
            <a:r>
              <a:rPr lang="en-US" sz="1600" b="1" dirty="0"/>
              <a:t> &lt;-&gt; MM path </a:t>
            </a:r>
            <a:r>
              <a:rPr lang="en-US" sz="1600" dirty="0"/>
              <a:t>traverses the EP container, exposing the communication to an attacker if EP container is compromised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OEM requests that </a:t>
            </a:r>
            <a:r>
              <a:rPr lang="en-US" sz="1600" b="1" dirty="0"/>
              <a:t>unauthorized reprogramming requests should be filtered.</a:t>
            </a:r>
          </a:p>
          <a:p>
            <a:pPr>
              <a:lnSpc>
                <a:spcPct val="130000"/>
              </a:lnSpc>
            </a:pPr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26896" y="3782508"/>
            <a:ext cx="4390970" cy="923330"/>
            <a:chOff x="24485" y="4675267"/>
            <a:chExt cx="4623437" cy="92333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477AED6-8D6F-D505-6D7B-78460A03A2E8}"/>
                </a:ext>
              </a:extLst>
            </p:cNvPr>
            <p:cNvSpPr txBox="1"/>
            <p:nvPr/>
          </p:nvSpPr>
          <p:spPr>
            <a:xfrm>
              <a:off x="576043" y="4675267"/>
              <a:ext cx="40718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RemoteDiag’s</a:t>
              </a:r>
              <a:r>
                <a:rPr lang="en-US" dirty="0"/>
                <a:t> </a:t>
              </a:r>
              <a:r>
                <a:rPr lang="en-US" b="1" dirty="0"/>
                <a:t>internal</a:t>
              </a:r>
              <a:r>
                <a:rPr lang="en-US" dirty="0"/>
                <a:t> </a:t>
              </a:r>
              <a:r>
                <a:rPr lang="en-US" b="1" dirty="0"/>
                <a:t>architecture and communication </a:t>
              </a:r>
              <a:r>
                <a:rPr lang="en-US" dirty="0"/>
                <a:t>should be </a:t>
              </a:r>
              <a:r>
                <a:rPr lang="en-US" b="1" dirty="0"/>
                <a:t>redesigned</a:t>
              </a:r>
              <a:r>
                <a:rPr lang="en-US" dirty="0"/>
                <a:t> to align with new architecture</a:t>
              </a:r>
              <a:endParaRPr lang="en-US" b="1" dirty="0"/>
            </a:p>
          </p:txBody>
        </p:sp>
        <p:sp>
          <p:nvSpPr>
            <p:cNvPr id="16" name="Right Arrow 15"/>
            <p:cNvSpPr/>
            <p:nvPr/>
          </p:nvSpPr>
          <p:spPr>
            <a:xfrm>
              <a:off x="24485" y="4861835"/>
              <a:ext cx="530318" cy="550195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B985467-A9DA-DE11-1910-E778EDD530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4294" y="5213119"/>
            <a:ext cx="1749283" cy="1565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794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/>
              <a:t>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7120159"/>
              </p:ext>
            </p:extLst>
          </p:nvPr>
        </p:nvGraphicFramePr>
        <p:xfrm>
          <a:off x="204773" y="1505336"/>
          <a:ext cx="11782454" cy="1405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block unauthorized 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MM ECU entirely within the Internal container.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5760293"/>
              </p:ext>
            </p:extLst>
          </p:nvPr>
        </p:nvGraphicFramePr>
        <p:xfrm>
          <a:off x="182820" y="960039"/>
          <a:ext cx="11887260" cy="49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0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7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4350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diagnostic to CAN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/>
                        <a:t>Zero Reprogramming SIDs reaches the internal CAN.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request via TCP to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Zero diagnostic communication is found in EP. 100% number of</a:t>
                      </a:r>
                      <a:r>
                        <a:rPr lang="en-US" sz="1600" b="0" baseline="0" dirty="0">
                          <a:latin typeface="+mn-lt"/>
                          <a:cs typeface="Arial" panose="020B0604020202020204" pitchFamily="34" charset="0"/>
                        </a:rPr>
                        <a:t> requests are communicated within IP.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reallocates responsibilities among existing software components.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No component is required to take responsibilities outside its originally defined role.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No additional specification updates caused by responsibility expansion.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new design requires existing software components (other than </a:t>
                      </a:r>
                      <a:r>
                        <a:rPr lang="en-US" sz="16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) to adapt to the new architecture.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</a:t>
                      </a:r>
                      <a:r>
                        <a:rPr lang="en-US" sz="1600" b="0" baseline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9F3C30A-9B01-61F0-056C-27C80301C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7439" y="2506013"/>
            <a:ext cx="9602347" cy="42569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0866" y="862011"/>
            <a:ext cx="11834976" cy="15327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/>
              <a:t>Split </a:t>
            </a:r>
            <a:r>
              <a:rPr lang="en-US" dirty="0" err="1"/>
              <a:t>RemoteDiag</a:t>
            </a:r>
            <a:r>
              <a:rPr lang="en-US" dirty="0"/>
              <a:t> responsibilities into </a:t>
            </a:r>
            <a:r>
              <a:rPr lang="en-US" b="1" dirty="0"/>
              <a:t>2</a:t>
            </a:r>
            <a:r>
              <a:rPr lang="en-US" dirty="0"/>
              <a:t> apps: </a:t>
            </a:r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RemoteDiag</a:t>
            </a:r>
            <a:r>
              <a:rPr lang="en-US" b="1" dirty="0"/>
              <a:t> (EP container):</a:t>
            </a:r>
            <a:r>
              <a:rPr lang="en-US" dirty="0"/>
              <a:t> handles </a:t>
            </a:r>
            <a:r>
              <a:rPr lang="en-US" dirty="0" err="1"/>
              <a:t>diag</a:t>
            </a:r>
            <a:r>
              <a:rPr lang="en-US" dirty="0"/>
              <a:t> messages from OEM server.</a:t>
            </a:r>
            <a:endParaRPr lang="en-US" b="1" dirty="0"/>
          </a:p>
          <a:p>
            <a:pPr marL="742950" lvl="1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b="1" dirty="0" err="1"/>
              <a:t>RemoteOTA</a:t>
            </a:r>
            <a:r>
              <a:rPr lang="en-US" b="1" dirty="0"/>
              <a:t> (Internal container):</a:t>
            </a:r>
            <a:r>
              <a:rPr lang="en-US" dirty="0"/>
              <a:t> handles OTA </a:t>
            </a:r>
            <a:r>
              <a:rPr lang="en-US" dirty="0" err="1"/>
              <a:t>diag</a:t>
            </a:r>
            <a:r>
              <a:rPr lang="en-US" dirty="0"/>
              <a:t> message flows from MM ECU.</a:t>
            </a:r>
          </a:p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OnBoardClient</a:t>
            </a:r>
            <a:r>
              <a:rPr lang="en-US" dirty="0"/>
              <a:t> is responsible for </a:t>
            </a:r>
            <a:r>
              <a:rPr lang="en-US" b="1" dirty="0"/>
              <a:t>reprogramming message filtering</a:t>
            </a:r>
            <a:r>
              <a:rPr lang="en-US" dirty="0"/>
              <a:t> and </a:t>
            </a:r>
            <a:r>
              <a:rPr lang="en-US" b="1" dirty="0"/>
              <a:t>diagnostic  priority control</a:t>
            </a:r>
            <a:r>
              <a:rPr lang="en-US" dirty="0"/>
              <a:t>.</a:t>
            </a:r>
            <a:endParaRPr lang="en-US" sz="16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Alt-A: Split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898742" y="6315754"/>
            <a:ext cx="6511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AB2A3E-4A5A-80E7-6BD7-3F4F73E5C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687716E-3FC0-6720-F07D-6C24184342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716" y="1969092"/>
            <a:ext cx="8070964" cy="48073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Alt-B: Move </a:t>
            </a:r>
            <a:r>
              <a:rPr lang="en-US" err="1"/>
              <a:t>RemoteDiag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60866" y="862011"/>
            <a:ext cx="11958710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Move RemoteDiag into the Internal container.</a:t>
            </a:r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/>
              <a:t>To maintain communication with OEM server and other EP-side component, </a:t>
            </a:r>
            <a:r>
              <a:rPr lang="en-US" b="1"/>
              <a:t>establish UDS socket connections to each module</a:t>
            </a: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  <a:p>
            <a:pPr marL="227013" indent="-227013">
              <a:lnSpc>
                <a:spcPct val="110000"/>
              </a:lnSpc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B21BAC-9E9C-F667-EB81-43F48A0E1E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AAE2910-7B87-F3B5-8408-E04FE9F21D42}"/>
              </a:ext>
            </a:extLst>
          </p:cNvPr>
          <p:cNvSpPr txBox="1"/>
          <p:nvPr/>
        </p:nvSpPr>
        <p:spPr>
          <a:xfrm>
            <a:off x="6898742" y="6315754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Alt-B</a:t>
            </a:r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D51D2743-5B87-CC81-8D97-271314E9E8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5739" y="2354869"/>
            <a:ext cx="9937672" cy="44151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Design Alternative – Alt-C: Move </a:t>
            </a:r>
            <a:r>
              <a:rPr lang="en-US" err="1"/>
              <a:t>RemoteDiag</a:t>
            </a:r>
            <a:r>
              <a:rPr lang="en-US"/>
              <a:t> +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599"/>
            <a:ext cx="11825921" cy="1219201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/>
              <a:t>Move </a:t>
            </a:r>
            <a:r>
              <a:rPr lang="en-US" sz="1800" dirty="0" err="1"/>
              <a:t>RemoteDiag</a:t>
            </a:r>
            <a:r>
              <a:rPr lang="en-US" sz="1800" dirty="0"/>
              <a:t> into </a:t>
            </a:r>
            <a:r>
              <a:rPr lang="en-US" sz="1800"/>
              <a:t>the Internal </a:t>
            </a:r>
            <a:r>
              <a:rPr lang="en-US" sz="1800" dirty="0"/>
              <a:t>container.</a:t>
            </a:r>
          </a:p>
          <a:p>
            <a:r>
              <a:rPr lang="en-US" sz="1800" dirty="0"/>
              <a:t>Add a </a:t>
            </a:r>
            <a:r>
              <a:rPr lang="en-US" sz="1800" b="1" dirty="0"/>
              <a:t>new </a:t>
            </a:r>
            <a:r>
              <a:rPr lang="en-US" sz="1800" b="1" dirty="0" err="1"/>
              <a:t>RemoteDiagProxy</a:t>
            </a:r>
            <a:r>
              <a:rPr lang="en-US" sz="1800" b="1" dirty="0"/>
              <a:t> (RDP) component</a:t>
            </a:r>
            <a:r>
              <a:rPr lang="en-US" sz="1800" dirty="0"/>
              <a:t> in the EP that acts as a </a:t>
            </a:r>
            <a:r>
              <a:rPr lang="en-US" sz="1800" b="1" dirty="0"/>
              <a:t>transparent proxy</a:t>
            </a:r>
            <a:r>
              <a:rPr lang="en-US" sz="1800" dirty="0"/>
              <a:t>. </a:t>
            </a:r>
          </a:p>
          <a:p>
            <a:r>
              <a:rPr lang="en-US" sz="1800" dirty="0"/>
              <a:t>EP modules continue to interact with RDP using their existing interface</a:t>
            </a:r>
          </a:p>
          <a:p>
            <a:r>
              <a:rPr lang="en-US" sz="1800" b="1"/>
              <a:t>RemoteDiagProxy </a:t>
            </a:r>
            <a:r>
              <a:rPr lang="en-US" sz="1800"/>
              <a:t>forwards </a:t>
            </a:r>
            <a:r>
              <a:rPr lang="en-US" sz="1800" dirty="0"/>
              <a:t>requests to </a:t>
            </a:r>
            <a:r>
              <a:rPr lang="en-US" sz="1800" dirty="0" err="1"/>
              <a:t>RemoteDiag</a:t>
            </a:r>
            <a:r>
              <a:rPr lang="en-US" sz="1800" dirty="0"/>
              <a:t> via UDS socket channel.</a:t>
            </a:r>
            <a:endParaRPr lang="en-US" sz="1800" b="1" dirty="0"/>
          </a:p>
          <a:p>
            <a:endParaRPr lang="en-US" sz="18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A483E6-6ECF-F5F2-5FFC-55A9FD629F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66" y="4783026"/>
            <a:ext cx="1863379" cy="153272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2425196-F6FB-6F05-9DFF-490CE43C23AD}"/>
              </a:ext>
            </a:extLst>
          </p:cNvPr>
          <p:cNvSpPr txBox="1"/>
          <p:nvPr/>
        </p:nvSpPr>
        <p:spPr>
          <a:xfrm>
            <a:off x="6898742" y="6315754"/>
            <a:ext cx="641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Alt-C</a:t>
            </a:r>
          </a:p>
        </p:txBody>
      </p:sp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9"/>
            <a:ext cx="10871201" cy="489842"/>
          </a:xfrm>
        </p:spPr>
        <p:txBody>
          <a:bodyPr>
            <a:normAutofit fontScale="90000"/>
          </a:bodyPr>
          <a:lstStyle/>
          <a:p>
            <a:r>
              <a:rPr lang="en-US"/>
              <a:t>Comparison &amp;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866" y="6178302"/>
            <a:ext cx="343958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600" b="1"/>
              <a:t>Final decision: </a:t>
            </a:r>
            <a:r>
              <a:rPr lang="en-US" sz="2600" b="1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8287634"/>
              </p:ext>
            </p:extLst>
          </p:nvPr>
        </p:nvGraphicFramePr>
        <p:xfrm>
          <a:off x="72428" y="625771"/>
          <a:ext cx="12050161" cy="52338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485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0317">
                  <a:extLst>
                    <a:ext uri="{9D8B030D-6E8A-4147-A177-3AD203B41FA5}">
                      <a16:colId xmlns:a16="http://schemas.microsoft.com/office/drawing/2014/main" val="2530683369"/>
                    </a:ext>
                  </a:extLst>
                </a:gridCol>
                <a:gridCol w="38115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30000"/>
                        </a:lnSpc>
                      </a:pPr>
                      <a:endParaRPr lang="en-US" sz="12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200" b="0" baseline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200" b="0" baseline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200" b="0" err="1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200" b="0" err="1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200" b="0">
                          <a:effectLst/>
                          <a:latin typeface="+mn-lt"/>
                          <a:cs typeface="Arial" panose="020B0604020202020204" pitchFamily="34" charset="0"/>
                        </a:rPr>
                        <a:t> + Proxy</a:t>
                      </a:r>
                      <a:endParaRPr lang="en-US" sz="1200" b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300" b="1" baseline="0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 baseline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Unauthorized diagnostic commands are </a:t>
                      </a:r>
                      <a:r>
                        <a:rPr lang="en-US" sz="1300" b="1">
                          <a:solidFill>
                            <a:schemeClr val="tx1"/>
                          </a:solidFill>
                        </a:rPr>
                        <a:t>filtered</a:t>
                      </a:r>
                      <a:r>
                        <a:rPr lang="en-US" sz="1300" b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Security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  <a:endParaRPr lang="en-US" sz="1300" b="0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. (CyberSecurity team confirmed)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diagnostic traffic remains </a:t>
                      </a:r>
                      <a:r>
                        <a:rPr lang="en-US" sz="1300" b="1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within the EP container.</a:t>
                      </a: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(CyberSecurity team confirmed)</a:t>
                      </a:r>
                      <a:endParaRPr lang="en-US" sz="1300" b="1" kern="1200" baseline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1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and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OnBoardClient’s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responsibility is changed: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priority control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is moved to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which requires requirement updates.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- Existing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responsibilities are distributed across </a:t>
                      </a: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two applications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increasing OEM specification and coordination effort.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Core responsibilities of existing components remain unchanged after migration.</a:t>
                      </a: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endParaRPr lang="en-US" sz="1300" b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</a:p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Maintainability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pPr marL="0" marR="0" algn="l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01 additional component is modified 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OnBoardClient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- implements UDS socket server and priority control) </a:t>
                      </a:r>
                    </a:p>
                  </a:txBody>
                  <a:tcPr marL="25400" marR="2540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dirty="0">
                          <a:solidFill>
                            <a:srgbClr val="FF0000"/>
                          </a:solidFill>
                        </a:rPr>
                        <a:t>Low</a:t>
                      </a:r>
                      <a:endParaRPr lang="en-US" sz="13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1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10 EP modules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 (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PowerMgr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sz="1300" b="0" kern="1200" baseline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HttpMgr</a:t>
                      </a:r>
                      <a:r>
                        <a:rPr lang="en-US" sz="13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, …) have to implement cross-container UDS socket communication and fail-safe handling.</a:t>
                      </a: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kumimoji="0" lang="en-US" sz="13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ED7D31"/>
                          </a:solidFill>
                          <a:effectLst/>
                          <a:uLnTx/>
                          <a:uFillTx/>
                          <a:latin typeface="+mn-lt"/>
                        </a:rPr>
                        <a:t>Medium</a:t>
                      </a:r>
                      <a:endParaRPr lang="en-US" sz="1300" b="0" dirty="0">
                        <a:latin typeface="+mn-lt"/>
                        <a:cs typeface="Arial" panose="020B0604020202020204" pitchFamily="34" charset="0"/>
                      </a:endParaRPr>
                    </a:p>
                    <a:p>
                      <a:pPr algn="l" latinLnBrk="0">
                        <a:lnSpc>
                          <a:spcPct val="110000"/>
                        </a:lnSpc>
                      </a:pPr>
                      <a:r>
                        <a:rPr lang="en-US" sz="1300" b="1" baseline="0" dirty="0">
                          <a:latin typeface="+mn-lt"/>
                          <a:cs typeface="Arial" panose="020B0604020202020204" pitchFamily="34" charset="0"/>
                        </a:rPr>
                        <a:t>No changes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required in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existing modules but a </a:t>
                      </a:r>
                      <a:r>
                        <a:rPr lang="en-US" sz="1300" b="1" baseline="0">
                          <a:latin typeface="+mn-lt"/>
                          <a:cs typeface="Arial" panose="020B0604020202020204" pitchFamily="34" charset="0"/>
                        </a:rPr>
                        <a:t>new module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 RemoteDiagProxy is required. RemoteDiagProxy </a:t>
                      </a:r>
                      <a:r>
                        <a:rPr lang="en-US" sz="1300" b="0" baseline="0" dirty="0">
                          <a:latin typeface="+mn-lt"/>
                          <a:cs typeface="Arial" panose="020B0604020202020204" pitchFamily="34" charset="0"/>
                        </a:rPr>
                        <a:t>preserves the current </a:t>
                      </a:r>
                      <a:r>
                        <a:rPr lang="en-US" sz="1300" b="0" baseline="0">
                          <a:latin typeface="+mn-lt"/>
                          <a:cs typeface="Arial" panose="020B0604020202020204" pitchFamily="34" charset="0"/>
                        </a:rPr>
                        <a:t>binder interface. </a:t>
                      </a:r>
                      <a:endParaRPr lang="en-US" sz="1300" b="0" baseline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1200" baseline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10000"/>
                        </a:lnSpc>
                      </a:pPr>
                      <a:r>
                        <a:rPr lang="en-US" sz="1300" b="0" dirty="0">
                          <a:latin typeface="+mn-lt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12016" y="6009927"/>
            <a:ext cx="1981877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00B050"/>
                </a:solidFill>
              </a:rPr>
              <a:t>High</a:t>
            </a:r>
            <a:r>
              <a:rPr lang="en-US" sz="1400"/>
              <a:t>: Fully satisfy</a:t>
            </a:r>
          </a:p>
          <a:p>
            <a:r>
              <a:rPr lang="en-US" sz="1400" b="1">
                <a:solidFill>
                  <a:schemeClr val="accent2"/>
                </a:solidFill>
              </a:rPr>
              <a:t>Medium</a:t>
            </a:r>
            <a:r>
              <a:rPr lang="en-US" sz="1400"/>
              <a:t>: Partially satisfy</a:t>
            </a:r>
          </a:p>
          <a:p>
            <a:r>
              <a:rPr lang="en-US" sz="1400" b="1">
                <a:solidFill>
                  <a:srgbClr val="FF0000"/>
                </a:solidFill>
              </a:rPr>
              <a:t>Low</a:t>
            </a:r>
            <a:r>
              <a:rPr lang="en-US" sz="1400"/>
              <a:t>: Not satisfy</a:t>
            </a:r>
          </a:p>
        </p:txBody>
      </p:sp>
      <p:pic>
        <p:nvPicPr>
          <p:cNvPr id="9" name="Picture 2" descr="체크 표시 클립 아트. 무료 다운로드. | Creazilla">
            <a:extLst>
              <a:ext uri="{FF2B5EF4-FFF2-40B4-BE49-F238E27FC236}">
                <a16:creationId xmlns:a16="http://schemas.microsoft.com/office/drawing/2014/main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0602" y="5657752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99A5D-DD39-1919-FD58-65B06FAFD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 Alt-C: Forward </a:t>
            </a:r>
            <a:r>
              <a:rPr lang="en-US" dirty="0"/>
              <a:t>API call from proxy to </a:t>
            </a:r>
            <a:r>
              <a:rPr lang="en-US" dirty="0" err="1"/>
              <a:t>remotediag</a:t>
            </a:r>
            <a:r>
              <a:rPr lang="en-US" dirty="0"/>
              <a:t>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508" y="990600"/>
            <a:ext cx="10678985" cy="4966970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3129" y="6086159"/>
            <a:ext cx="2572364" cy="685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789714" y="3820886"/>
            <a:ext cx="2906486" cy="38100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51645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3E24B-1160-F6BA-5A0C-DB3B3DD9C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 Alt-C: Filter </a:t>
            </a:r>
            <a:r>
              <a:rPr lang="en-US" dirty="0"/>
              <a:t>scenario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144" y="990600"/>
            <a:ext cx="9757712" cy="5034565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2492" y="6153754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7167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985" y="1399738"/>
            <a:ext cx="10544082" cy="23389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4900" y="1030406"/>
            <a:ext cx="5251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SidFilter blocks reprogramming diagnostic requests</a:t>
            </a:r>
          </a:p>
        </p:txBody>
      </p:sp>
    </p:spTree>
    <p:extLst>
      <p:ext uri="{BB962C8B-B14F-4D97-AF65-F5344CB8AC3E}">
        <p14:creationId xmlns:p14="http://schemas.microsoft.com/office/powerpoint/2010/main" val="3497496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and Verification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866" y="1190625"/>
            <a:ext cx="5258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/>
              <a:t>RemoteDiagProxy and RemoteDiag communication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031" y="1559957"/>
            <a:ext cx="11193437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446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/>
              <a:t>Q&amp;A</a:t>
            </a:r>
          </a:p>
          <a:p>
            <a:pPr marL="0" indent="0" algn="ctr">
              <a:buNone/>
            </a:pPr>
            <a:r>
              <a:rPr lang="en-US" sz="3600" b="1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946" y="990600"/>
            <a:ext cx="8390180" cy="5278438"/>
          </a:xfr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 design: IPC connection setup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8765" y="5306316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3603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Detail design: API request-response 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852" y="1025348"/>
            <a:ext cx="11292296" cy="494825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356" y="6036978"/>
            <a:ext cx="2572364" cy="685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09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2031134" cy="672843"/>
          </a:xfrm>
          <a:solidFill>
            <a:schemeClr val="bg1"/>
          </a:solidFill>
        </p:spPr>
        <p:txBody>
          <a:bodyPr/>
          <a:lstStyle/>
          <a:p>
            <a:pPr algn="r"/>
            <a:r>
              <a:rPr lang="en-US"/>
              <a:t>Detail design: Re-connect mechanism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433" y="5323813"/>
            <a:ext cx="2572364" cy="685964"/>
          </a:xfrm>
          <a:prstGeom prst="rect">
            <a:avLst/>
          </a:prstGeom>
        </p:spPr>
      </p:pic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66" y="64828"/>
            <a:ext cx="5714833" cy="6728344"/>
          </a:xfr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6433" y="862011"/>
            <a:ext cx="5738258" cy="4131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55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9331</TotalTime>
  <Words>1955</Words>
  <Application>Microsoft Office PowerPoint</Application>
  <PresentationFormat>Widescreen</PresentationFormat>
  <Paragraphs>240</Paragraphs>
  <Slides>21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 – Toyota 24DCM project</vt:lpstr>
      <vt:lpstr>Context &amp; Motivation – System architecture migration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Proxy</vt:lpstr>
      <vt:lpstr>Comparison &amp; Decision</vt:lpstr>
      <vt:lpstr>Detail design Alt-C: Forward API call from proxy to remotediag </vt:lpstr>
      <vt:lpstr>Detail design Alt-C: Filter scenario</vt:lpstr>
      <vt:lpstr>Implementation and Verification</vt:lpstr>
      <vt:lpstr>Implementation and Verification</vt:lpstr>
      <vt:lpstr>PowerPoint Presentation</vt:lpstr>
      <vt:lpstr>PowerPoint Presentation</vt:lpstr>
      <vt:lpstr>Diagnostic filtering requirements</vt:lpstr>
      <vt:lpstr>Detai design: IPC connection setup</vt:lpstr>
      <vt:lpstr>Detail design: API request-response </vt:lpstr>
      <vt:lpstr>Detail design: Re-connect mechanism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Vu Hoang</cp:lastModifiedBy>
  <cp:revision>753</cp:revision>
  <dcterms:created xsi:type="dcterms:W3CDTF">2026-08-17T04:18:20Z</dcterms:created>
  <dcterms:modified xsi:type="dcterms:W3CDTF">2026-10-13T16:57:16Z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