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94" r:id="rId4"/>
    <p:sldId id="280" r:id="rId5"/>
    <p:sldId id="289" r:id="rId6"/>
    <p:sldId id="262" r:id="rId7"/>
    <p:sldId id="283" r:id="rId8"/>
    <p:sldId id="269" r:id="rId9"/>
    <p:sldId id="271" r:id="rId10"/>
    <p:sldId id="287" r:id="rId11"/>
    <p:sldId id="279" r:id="rId12"/>
    <p:sldId id="292" r:id="rId13"/>
    <p:sldId id="293" r:id="rId14"/>
    <p:sldId id="288" r:id="rId15"/>
    <p:sldId id="291" r:id="rId16"/>
    <p:sldId id="274" r:id="rId17"/>
    <p:sldId id="277" r:id="rId18"/>
    <p:sldId id="276" r:id="rId19"/>
    <p:sldId id="295" r:id="rId20"/>
    <p:sldId id="296" r:id="rId21"/>
    <p:sldId id="29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FF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2" autoAdjust="0"/>
    <p:restoredTop sz="58084" autoAdjust="0"/>
  </p:normalViewPr>
  <p:slideViewPr>
    <p:cSldViewPr snapToGrid="0">
      <p:cViewPr varScale="1">
        <p:scale>
          <a:sx n="35" d="100"/>
          <a:sy n="35" d="100"/>
        </p:scale>
        <p:origin x="1662" y="3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-4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C17E2-92C1-406A-80C1-BA1B838099E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77405-33BD-42BD-B604-93760E418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23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(Nhớ</a:t>
            </a:r>
            <a:r>
              <a:rPr lang="en-US" baseline="0" smtClean="0"/>
              <a:t> bật mouse laser</a:t>
            </a:r>
            <a:r>
              <a:rPr lang="en-US" baseline="0" smtClean="0"/>
              <a:t>) + Bật CAM</a:t>
            </a:r>
            <a:endParaRPr lang="en-US" smtClean="0"/>
          </a:p>
          <a:p>
            <a:endParaRPr lang="en-US" smtClean="0"/>
          </a:p>
          <a:p>
            <a:r>
              <a:rPr lang="en-US" smtClean="0"/>
              <a:t>Hello</a:t>
            </a:r>
            <a:r>
              <a:rPr lang="en-US" baseline="0" smtClean="0"/>
              <a:t> everyone, my name is Phi, from Software Engineering part.</a:t>
            </a:r>
          </a:p>
          <a:p>
            <a:endParaRPr lang="en-US" baseline="0" smtClean="0"/>
          </a:p>
          <a:p>
            <a:r>
              <a:rPr lang="en-US" baseline="0" smtClean="0"/>
              <a:t>Today, I will present about the topic: Design of Secure Remote Diag on Container Separation Architecture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77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For the topic</a:t>
            </a:r>
            <a:r>
              <a:rPr lang="en-US" baseline="0" smtClean="0"/>
              <a:t> presentation, </a:t>
            </a:r>
            <a:r>
              <a:rPr lang="en-US" smtClean="0"/>
              <a:t>I will go through six</a:t>
            </a:r>
            <a:r>
              <a:rPr lang="en-US" baseline="0" smtClean="0"/>
              <a:t> sections as you can see in the </a:t>
            </a:r>
            <a:r>
              <a:rPr lang="en-US" baseline="0" smtClean="0"/>
              <a:t>slide.</a:t>
            </a:r>
            <a:endParaRPr lang="en-US" baseline="0" smtClean="0"/>
          </a:p>
          <a:p>
            <a:r>
              <a:rPr lang="en-US" baseline="0" smtClean="0"/>
              <a:t>First one is Context of my Function Expert topic.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82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871B573-D46B-DD18-A2C4-C4082199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16CD46A-A877-3DE1-9984-1B9616582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CAC9709-5C79-D782-6C8E-2BC9A65C8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The Toyota DCM is a telematics platform</a:t>
            </a:r>
            <a:r>
              <a:rPr lang="en-US" baseline="0" smtClean="0"/>
              <a:t> which provides services that allows vehicles to connect to the network, including the remote diagnostics from OEM server.</a:t>
            </a:r>
          </a:p>
          <a:p>
            <a:endParaRPr lang="en-US" baseline="0" smtClean="0"/>
          </a:p>
          <a:p>
            <a:r>
              <a:rPr lang="en-US" baseline="0" smtClean="0"/>
              <a:t>and It also supports diagnostic communication and OTA update feature, through Internal CAN bus … and the MM ECU which acts as OTA Master.</a:t>
            </a:r>
          </a:p>
          <a:p>
            <a:endParaRPr lang="en-US" baseline="0" smtClean="0"/>
          </a:p>
          <a:p>
            <a:r>
              <a:rPr lang="en-US" baseline="0" smtClean="0"/>
              <a:t>As you can see in the diagram, the Current architecture is monolithic, with all components running in a single partition.</a:t>
            </a:r>
          </a:p>
          <a:p>
            <a:endParaRPr lang="en-US" baseline="0" smtClean="0"/>
          </a:p>
          <a:p>
            <a:r>
              <a:rPr lang="en-US" baseline="0" smtClean="0"/>
              <a:t>On next slide, we will talk about the architecture migration.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A1C9B43-13E9-E1D6-156A-5CB894C64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43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OEM security perspective, a potential threat is that the Entry Point partition could be compromised by unauthorized software and taken over.</a:t>
            </a:r>
          </a:p>
          <a:p>
            <a:endParaRPr lang="en-US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address the</a:t>
            </a:r>
            <a:r>
              <a:rPr lang="en-US" sz="1200" b="0" i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risk, OEM proposed the security requirements to </a:t>
            </a:r>
            <a:r>
              <a:rPr lang="en-US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scope of compromise to the EP partition only. The compromise must not propagate to the internal partition or in-vehicle CAN bus.</a:t>
            </a:r>
          </a:p>
          <a:p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Then, to achieve this, LGE came</a:t>
            </a:r>
            <a:r>
              <a:rPr lang="en-US" sz="1200" b="0" i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with a solution: Separate the DCM architecture into two partitions using </a:t>
            </a:r>
            <a:r>
              <a:rPr lang="en-US" sz="1200" b="0" i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 container technology:</a:t>
            </a:r>
            <a:endParaRPr lang="en-US" sz="1200" b="0" i="0" kern="1200" baseline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EP container will hosts externally exposed network components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Internal container will hosts the components which require access to the CAN bus.</a:t>
            </a:r>
            <a:endParaRPr lang="en-US" sz="1200" b="0" i="0" kern="1200" baseline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baseline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64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RemoteDiag</a:t>
            </a:r>
            <a:r>
              <a:rPr lang="en-US" baseline="0" smtClean="0"/>
              <a:t> is responsible for processing diagnotics for each ECU and uploading diagnostic data to the OEM server</a:t>
            </a:r>
          </a:p>
          <a:p>
            <a:r>
              <a:rPr lang="en-US" baseline="0" smtClean="0"/>
              <a:t>Currently, RemoteDiag has two main communication paths: </a:t>
            </a:r>
          </a:p>
          <a:p>
            <a:r>
              <a:rPr lang="en-US" baseline="0" smtClean="0"/>
              <a:t>One with the OEM server (the red flow), for direct diagnostic commands.</a:t>
            </a:r>
          </a:p>
          <a:p>
            <a:r>
              <a:rPr lang="en-US" baseline="0" smtClean="0"/>
              <a:t>And The other one with the MM ECU (the pink flow), for OTA updates</a:t>
            </a:r>
            <a:r>
              <a:rPr lang="en-US" baseline="0" smtClean="0"/>
              <a:t>.</a:t>
            </a:r>
          </a:p>
          <a:p>
            <a:r>
              <a:rPr lang="en-US" baseline="0" smtClean="0"/>
              <a:t>Then, the diagnostic commands will be sent to OnBoardClient then go to Internal CAN bus.</a:t>
            </a:r>
            <a:endParaRPr lang="en-US" baseline="0" smtClean="0"/>
          </a:p>
          <a:p>
            <a:endParaRPr lang="en-US" smtClean="0"/>
          </a:p>
          <a:p>
            <a:r>
              <a:rPr lang="en-US" smtClean="0"/>
              <a:t>However</a:t>
            </a:r>
            <a:r>
              <a:rPr lang="en-US" smtClean="0"/>
              <a:t>,</a:t>
            </a:r>
            <a:r>
              <a:rPr lang="en-US" baseline="0" smtClean="0"/>
              <a:t> there are security risks in the current design:</a:t>
            </a:r>
          </a:p>
          <a:p>
            <a:pPr marL="171450" indent="-171450">
              <a:buFontTx/>
              <a:buChar char="-"/>
            </a:pPr>
            <a:r>
              <a:rPr lang="en-US" baseline="0" smtClean="0"/>
              <a:t>The communication path between RemoteDiag and the MM ECU routes in the EP container. If the EP container is compromised, this communication could be exposed to an attacker.</a:t>
            </a:r>
          </a:p>
          <a:p>
            <a:pPr marL="171450" indent="-171450">
              <a:buFontTx/>
              <a:buChar char="-"/>
            </a:pPr>
            <a:r>
              <a:rPr lang="en-US" baseline="0" smtClean="0"/>
              <a:t>And, OEM also requests that </a:t>
            </a:r>
            <a:r>
              <a:rPr lang="en-US" sz="1200" b="1" smtClean="0"/>
              <a:t>unauthorized reprogramming requests should be filtered</a:t>
            </a:r>
          </a:p>
          <a:p>
            <a:pPr marL="0" indent="0">
              <a:buFontTx/>
              <a:buNone/>
            </a:pPr>
            <a:endParaRPr lang="en-US" sz="1200" b="1" baseline="0" smtClean="0"/>
          </a:p>
          <a:p>
            <a:pPr marL="0" indent="0">
              <a:buFontTx/>
              <a:buNone/>
            </a:pP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 result, the internal architecture of</a:t>
            </a:r>
            <a:r>
              <a:rPr lang="en-US" sz="1200" b="0" i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RemoteDiag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communication flow need to be redesigned so that they are aligned with the new container architecture.”</a:t>
            </a:r>
            <a:endParaRPr lang="en-US" b="0" baseline="0" smtClean="0"/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84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Base on OEM requirements</a:t>
            </a:r>
            <a:r>
              <a:rPr lang="en-US" baseline="0" smtClean="0"/>
              <a:t> and security perspective, I extract the functional requirements as shown in the table.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49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Here</a:t>
            </a:r>
            <a:r>
              <a:rPr lang="en-US" baseline="0" smtClean="0"/>
              <a:t> is the quality attribute table which I’m concerning</a:t>
            </a:r>
            <a:r>
              <a:rPr lang="en-US" baseline="0" smtClean="0"/>
              <a:t>.</a:t>
            </a:r>
            <a:br>
              <a:rPr lang="en-US" baseline="0" smtClean="0"/>
            </a:br>
            <a:r>
              <a:rPr lang="en-US" baseline="0" smtClean="0"/>
              <a:t>The table describes about QA scenarios and their measurement</a:t>
            </a:r>
            <a:endParaRPr lang="en-US" baseline="0" smtClean="0"/>
          </a:p>
          <a:p>
            <a:r>
              <a:rPr lang="en-US" baseline="0" smtClean="0"/>
              <a:t>Basically, I focus on Security attributes. Then, Modifiability and Maintainability.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53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To satisfy</a:t>
            </a:r>
            <a:r>
              <a:rPr lang="en-US" baseline="0" smtClean="0"/>
              <a:t> OEM security requirements, </a:t>
            </a:r>
            <a:r>
              <a:rPr lang="en-US" smtClean="0"/>
              <a:t>I</a:t>
            </a:r>
            <a:r>
              <a:rPr lang="en-US" baseline="0" smtClean="0"/>
              <a:t> will come up with 3 design alternatives.</a:t>
            </a:r>
          </a:p>
          <a:p>
            <a:r>
              <a:rPr lang="en-US" baseline="0" smtClean="0"/>
              <a:t>As shown in the slide, this is the first alternatives: Alternative A: Split RemoteDiag.</a:t>
            </a:r>
          </a:p>
          <a:p>
            <a:endParaRPr lang="en-US" baseline="0" smtClean="0"/>
          </a:p>
          <a:p>
            <a:r>
              <a:rPr lang="en-US" baseline="0" smtClean="0"/>
              <a:t>This design will separate RemoteDiag responsibilities into 2 applications:</a:t>
            </a:r>
            <a:br>
              <a:rPr lang="en-US" baseline="0" smtClean="0"/>
            </a:br>
            <a:r>
              <a:rPr lang="en-US" baseline="0" smtClean="0"/>
              <a:t>- RemoteDiag locates in EP container to handle diagnostic commands from OEM server.</a:t>
            </a:r>
          </a:p>
          <a:p>
            <a:r>
              <a:rPr lang="en-US" baseline="0" smtClean="0"/>
              <a:t>- RemoteOTA locates in Internal container to handle OTA commands from MM ECU.</a:t>
            </a:r>
          </a:p>
          <a:p>
            <a:pPr marL="0" indent="0">
              <a:buFontTx/>
              <a:buNone/>
            </a:pPr>
            <a:r>
              <a:rPr lang="en-US" baseline="0" smtClean="0"/>
              <a:t>- As a result, OnBoardClient is responsible for filtering the reprogramming messages and diagnostic priority control</a:t>
            </a:r>
          </a:p>
          <a:p>
            <a:endParaRPr lang="en-US" smtClean="0"/>
          </a:p>
          <a:p>
            <a:r>
              <a:rPr lang="en-US" smtClean="0"/>
              <a:t>The RemoteOTA</a:t>
            </a:r>
            <a:r>
              <a:rPr lang="en-US" baseline="0" smtClean="0"/>
              <a:t> stay in the same Internal container with OnBoardClient, then they can keep the communication path like RemoteDiag before via binder.</a:t>
            </a:r>
          </a:p>
          <a:p>
            <a:r>
              <a:rPr lang="en-US" baseline="0" smtClean="0"/>
              <a:t>But for RemoteDiag, it will have to create an Unix Domain Socket communication for cross container.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9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The</a:t>
            </a:r>
            <a:r>
              <a:rPr lang="en-US" baseline="0" smtClean="0"/>
              <a:t> next is Alternative B: Move RemoteDiag</a:t>
            </a:r>
          </a:p>
          <a:p>
            <a:r>
              <a:rPr lang="en-US" baseline="0" smtClean="0"/>
              <a:t>With this design, I move the RemoteDiag into Internal container.</a:t>
            </a:r>
          </a:p>
          <a:p>
            <a:r>
              <a:rPr lang="en-US" baseline="0" smtClean="0"/>
              <a:t>To communicate with Other modules in EP sides, I have to create UDS socket connection between RemoteDiag and those modules.</a:t>
            </a:r>
          </a:p>
          <a:p>
            <a:r>
              <a:rPr lang="en-US" baseline="0" smtClean="0"/>
              <a:t>This requires other modules in EP sides to change to implement UDS socket server.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31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The last alternatives is</a:t>
            </a:r>
            <a:r>
              <a:rPr lang="en-US" baseline="0" smtClean="0"/>
              <a:t> Alternative C which is an update version of Alternative B:</a:t>
            </a:r>
          </a:p>
          <a:p>
            <a:r>
              <a:rPr lang="en-US" baseline="0" smtClean="0"/>
              <a:t>I still move RemoteDiag into Internal container</a:t>
            </a:r>
          </a:p>
          <a:p>
            <a:r>
              <a:rPr lang="en-US" baseline="0" smtClean="0"/>
              <a:t>And I add a new component in EP: RemoteDiagProxy, acting as a transparent proxy.</a:t>
            </a:r>
          </a:p>
          <a:p>
            <a:r>
              <a:rPr lang="en-US" baseline="0" smtClean="0"/>
              <a:t>RemoteDiagProxy keeps the existing interface to communicate with other modules in EP side</a:t>
            </a:r>
          </a:p>
          <a:p>
            <a:r>
              <a:rPr lang="en-US" baseline="0" smtClean="0"/>
              <a:t>And it forwards requests to RemoteDiag via UDS socket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81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This</a:t>
            </a:r>
            <a:r>
              <a:rPr lang="en-US" baseline="0" smtClean="0"/>
              <a:t> table describe about the comparison between design alternatives.</a:t>
            </a:r>
          </a:p>
          <a:p>
            <a:endParaRPr lang="en-US" baseline="0" smtClean="0"/>
          </a:p>
          <a:p>
            <a:r>
              <a:rPr lang="en-US" baseline="0" smtClean="0"/>
              <a:t>For filtering diagnostic commands </a:t>
            </a:r>
          </a:p>
          <a:p>
            <a:r>
              <a:rPr lang="en-US" baseline="0" smtClean="0"/>
              <a:t>and keep communication path between RemoteDiag and MM ECU only routes in Internal container, all of the alternatives is satisfy.</a:t>
            </a:r>
            <a:endParaRPr lang="en-US" baseline="0"/>
          </a:p>
          <a:p>
            <a:endParaRPr lang="en-US" baseline="0"/>
          </a:p>
          <a:p>
            <a:r>
              <a:rPr lang="en-US" baseline="0" smtClean="0"/>
              <a:t>But Alternative A is not satisfy the Modifiability – QA-three. Because it causes RemoteDiag and OnBoardClient responsibilities be changed:</a:t>
            </a:r>
            <a:br>
              <a:rPr lang="en-US" baseline="0" smtClean="0"/>
            </a:br>
            <a:r>
              <a:rPr lang="en-US" baseline="0" smtClean="0"/>
              <a:t>- Diagnostic priority control is moved to OnBoardClient</a:t>
            </a:r>
          </a:p>
          <a:p>
            <a:r>
              <a:rPr lang="en-US" baseline="0" smtClean="0"/>
              <a:t>- And Existing RemoteDiag responsibilities are distributed across two applications.</a:t>
            </a:r>
          </a:p>
          <a:p>
            <a:pPr marL="0" indent="0">
              <a:buFontTx/>
              <a:buNone/>
            </a:pPr>
            <a:r>
              <a:rPr lang="en-US" baseline="0" smtClean="0"/>
              <a:t>The other alternatives keeps the core responsibilities of RemoteDiag.</a:t>
            </a:r>
          </a:p>
          <a:p>
            <a:pPr marL="0" indent="0">
              <a:buFontTx/>
              <a:buNone/>
            </a:pPr>
            <a:endParaRPr lang="en-US" baseline="0" smtClean="0"/>
          </a:p>
          <a:p>
            <a:pPr marL="0" indent="0">
              <a:buFontTx/>
              <a:buNone/>
            </a:pPr>
            <a:r>
              <a:rPr lang="en-US" baseline="0" smtClean="0"/>
              <a:t>For the Maintainability – QA-four, Alternative B is not satisfied. About TEN modules in EP side have to implement Unix Domain Socket server to communicate with RemoteDiag then integrate with their existing code. And also, fail-safe mechanism.</a:t>
            </a:r>
          </a:p>
          <a:p>
            <a:pPr marL="0" indent="0">
              <a:buFontTx/>
              <a:buNone/>
            </a:pPr>
            <a:r>
              <a:rPr lang="en-US" baseline="0" smtClean="0"/>
              <a:t>Alternative A has to modify OnBoardClient to implement UDS socket server and priority control.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smtClean="0"/>
              <a:t>Alternative C has to implement RemoteDiagProxy.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smtClean="0"/>
              <a:t>Both Alternative A and C are partially satisfy for Maintainability.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smtClean="0"/>
              <a:t>So, with above comparison table, I chose Alternative C as it has highest score.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smtClean="0"/>
          </a:p>
          <a:p>
            <a:pPr marL="0" indent="0">
              <a:buFontTx/>
              <a:buNone/>
            </a:pPr>
            <a:endParaRPr lang="en-US" baseline="0" smtClean="0"/>
          </a:p>
          <a:p>
            <a:pPr marL="171450" indent="-171450">
              <a:buFontTx/>
              <a:buChar char="-"/>
            </a:pPr>
            <a:endParaRPr lang="en-US" baseline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7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For detail design, I presents</a:t>
            </a:r>
            <a:r>
              <a:rPr lang="en-US" baseline="0" smtClean="0"/>
              <a:t> here the sequence diagrams when modules in EP sides want to send messages to RemoteDiag.</a:t>
            </a:r>
          </a:p>
          <a:p>
            <a:r>
              <a:rPr lang="en-US" smtClean="0"/>
              <a:t>The Proxy receives</a:t>
            </a:r>
            <a:r>
              <a:rPr lang="en-US" baseline="0" smtClean="0"/>
              <a:t> then forwards the messages via UnixSocketClient class, then RemoteDiag hanldes the messages after it received from UnixSocketServer class..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130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This is the filter scenarios</a:t>
            </a:r>
            <a:r>
              <a:rPr lang="en-US" baseline="0" smtClean="0"/>
              <a:t> when RemoteDiag received a direct diagnostic command.</a:t>
            </a:r>
            <a:br>
              <a:rPr lang="en-US" baseline="0" smtClean="0"/>
            </a:br>
            <a:r>
              <a:rPr lang="en-US" baseline="0" smtClean="0"/>
              <a:t>It will validate the Service ID from diagnostic command before allowing it to be sent to Internal CAN bus.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93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09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That’s all.</a:t>
            </a:r>
            <a:r>
              <a:rPr lang="en-US" baseline="0" smtClean="0"/>
              <a:t> If you have any question please tellme</a:t>
            </a:r>
          </a:p>
          <a:p>
            <a:endParaRPr lang="en-US" baseline="0" smtClean="0"/>
          </a:p>
          <a:p>
            <a:r>
              <a:rPr lang="en-US" baseline="0" smtClean="0"/>
              <a:t>I would like to say Thank you to the judges for listening for my FE presentation</a:t>
            </a:r>
            <a:br>
              <a:rPr lang="en-US" baseline="0" smtClean="0"/>
            </a:br>
            <a:r>
              <a:rPr lang="en-US" baseline="0" smtClean="0"/>
              <a:t>and I appreciate the support from my mentors Mr. Bu yong kim.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77405-33BD-42BD-B604-93760E4185D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75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8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66" y="189168"/>
            <a:ext cx="10871201" cy="67284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66" y="990600"/>
            <a:ext cx="11887201" cy="5278168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그림 5" descr="백색바탕.png">
            <a:extLst>
              <a:ext uri="{FF2B5EF4-FFF2-40B4-BE49-F238E27FC236}">
                <a16:creationId xmlns="" xmlns:a16="http://schemas.microsoft.com/office/drawing/2014/main" id="{28873918-42A2-05FA-4A84-F17869DE34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0" y="189168"/>
            <a:ext cx="872067" cy="47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661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4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0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9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19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7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8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22C-8C05-4817-830F-8B9F9DEAE54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44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4B22C-8C05-4817-830F-8B9F9DEAE54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25FFC-CFA3-4D4B-ACD3-39FE1E72A7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DC87BF5-B759-FAAB-FE6D-F0E5F640800D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2128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9085" y="1122363"/>
            <a:ext cx="10493830" cy="2387600"/>
          </a:xfrm>
        </p:spPr>
        <p:txBody>
          <a:bodyPr>
            <a:normAutofit/>
          </a:bodyPr>
          <a:lstStyle/>
          <a:p>
            <a:r>
              <a:rPr lang="en-US" b="1"/>
              <a:t>Design of Secure Remote </a:t>
            </a:r>
            <a:r>
              <a:rPr lang="en-US" b="1" err="1"/>
              <a:t>Diag</a:t>
            </a:r>
            <a:r>
              <a:rPr lang="en-US" b="1"/>
              <a:t> on Container Separation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1655762"/>
          </a:xfrm>
        </p:spPr>
        <p:txBody>
          <a:bodyPr/>
          <a:lstStyle/>
          <a:p>
            <a:r>
              <a:rPr lang="en-US"/>
              <a:t>Candidate: Vu Hoang Phi (phi.vu) </a:t>
            </a:r>
          </a:p>
          <a:p>
            <a:r>
              <a:rPr lang="en-US"/>
              <a:t>LGEDV – </a:t>
            </a:r>
            <a:r>
              <a:rPr lang="en-US" smtClean="0"/>
              <a:t>October</a:t>
            </a:r>
            <a:r>
              <a:rPr lang="en-US" smtClean="0"/>
              <a:t> </a:t>
            </a:r>
            <a:r>
              <a:rPr lang="en-US"/>
              <a:t>2026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4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66" y="189168"/>
            <a:ext cx="10871201" cy="672843"/>
          </a:xfrm>
        </p:spPr>
        <p:txBody>
          <a:bodyPr/>
          <a:lstStyle/>
          <a:p>
            <a:r>
              <a:rPr lang="en-US"/>
              <a:t>Content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605709" y="1868501"/>
            <a:ext cx="5983456" cy="555705"/>
            <a:chOff x="2431279" y="1146517"/>
            <a:chExt cx="7307525" cy="678676"/>
          </a:xfrm>
        </p:grpSpPr>
        <p:sp>
          <p:nvSpPr>
            <p:cNvPr id="65" name="Line 11"/>
            <p:cNvSpPr>
              <a:spLocks noChangeShapeType="1"/>
            </p:cNvSpPr>
            <p:nvPr/>
          </p:nvSpPr>
          <p:spPr bwMode="auto">
            <a:xfrm flipV="1">
              <a:off x="3199674" y="1819470"/>
              <a:ext cx="6539130" cy="572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2431279" y="1146517"/>
              <a:ext cx="762000" cy="665163"/>
              <a:chOff x="2431279" y="1160030"/>
              <a:chExt cx="762000" cy="665163"/>
            </a:xfrm>
          </p:grpSpPr>
          <p:grpSp>
            <p:nvGrpSpPr>
              <p:cNvPr id="68" name="Group 3"/>
              <p:cNvGrpSpPr>
                <a:grpSpLocks/>
              </p:cNvGrpSpPr>
              <p:nvPr/>
            </p:nvGrpSpPr>
            <p:grpSpPr bwMode="auto">
              <a:xfrm>
                <a:off x="2431279" y="1160030"/>
                <a:ext cx="762000" cy="665163"/>
                <a:chOff x="1110" y="2656"/>
                <a:chExt cx="1549" cy="1351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70" name="AutoShape 4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" name="AutoShape 5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" name="AutoShape 6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sz="25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9" name="Text Box 13"/>
              <p:cNvSpPr txBox="1">
                <a:spLocks noChangeArrowheads="1"/>
              </p:cNvSpPr>
              <p:nvPr/>
            </p:nvSpPr>
            <p:spPr bwMode="gray">
              <a:xfrm>
                <a:off x="2630979" y="1231971"/>
                <a:ext cx="362599" cy="4770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25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2</a:t>
                </a:r>
              </a:p>
            </p:txBody>
          </p:sp>
        </p:grpSp>
        <p:sp>
          <p:nvSpPr>
            <p:cNvPr id="67" name="Rectangle 66"/>
            <p:cNvSpPr/>
            <p:nvPr/>
          </p:nvSpPr>
          <p:spPr>
            <a:xfrm>
              <a:off x="3177047" y="1155933"/>
              <a:ext cx="6407936" cy="6390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>
                  <a:cs typeface="Times New Roman" panose="02020603050405020304" pitchFamily="18" charset="0"/>
                </a:rPr>
                <a:t>Problem</a:t>
              </a: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605709" y="1053628"/>
            <a:ext cx="5983456" cy="555705"/>
            <a:chOff x="2431279" y="1146517"/>
            <a:chExt cx="7307525" cy="678676"/>
          </a:xfrm>
        </p:grpSpPr>
        <p:sp>
          <p:nvSpPr>
            <p:cNvPr id="119" name="Line 11"/>
            <p:cNvSpPr>
              <a:spLocks noChangeShapeType="1"/>
            </p:cNvSpPr>
            <p:nvPr/>
          </p:nvSpPr>
          <p:spPr bwMode="auto">
            <a:xfrm flipV="1">
              <a:off x="3199674" y="1819470"/>
              <a:ext cx="6539130" cy="572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2431279" y="1146517"/>
              <a:ext cx="762000" cy="665163"/>
              <a:chOff x="2431279" y="1160030"/>
              <a:chExt cx="762000" cy="665163"/>
            </a:xfrm>
          </p:grpSpPr>
          <p:grpSp>
            <p:nvGrpSpPr>
              <p:cNvPr id="122" name="Group 3"/>
              <p:cNvGrpSpPr>
                <a:grpSpLocks/>
              </p:cNvGrpSpPr>
              <p:nvPr/>
            </p:nvGrpSpPr>
            <p:grpSpPr bwMode="auto">
              <a:xfrm>
                <a:off x="2431279" y="1160030"/>
                <a:ext cx="762000" cy="665163"/>
                <a:chOff x="1110" y="2656"/>
                <a:chExt cx="1549" cy="1351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124" name="AutoShape 4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" name="AutoShape 5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AutoShape 6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sz="25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3" name="Text Box 13"/>
              <p:cNvSpPr txBox="1">
                <a:spLocks noChangeArrowheads="1"/>
              </p:cNvSpPr>
              <p:nvPr/>
            </p:nvSpPr>
            <p:spPr bwMode="gray">
              <a:xfrm>
                <a:off x="2590859" y="1231971"/>
                <a:ext cx="442839" cy="5826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25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121" name="Rectangle 120"/>
            <p:cNvSpPr/>
            <p:nvPr/>
          </p:nvSpPr>
          <p:spPr>
            <a:xfrm>
              <a:off x="3177047" y="1155933"/>
              <a:ext cx="6407936" cy="6390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>
                  <a:cs typeface="Times New Roman" panose="02020603050405020304" pitchFamily="18" charset="0"/>
                </a:rPr>
                <a:t>Context </a:t>
              </a:r>
              <a:r>
                <a:rPr lang="en-US" sz="2800"/>
                <a:t>&amp; Motivation</a:t>
              </a:r>
              <a:endParaRPr lang="en-US" sz="2800">
                <a:cs typeface="Times New Roman" panose="02020603050405020304" pitchFamily="18" charset="0"/>
              </a:endParaRP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605709" y="2683374"/>
            <a:ext cx="5983456" cy="555705"/>
            <a:chOff x="2431279" y="1146517"/>
            <a:chExt cx="7307525" cy="678676"/>
          </a:xfrm>
        </p:grpSpPr>
        <p:sp>
          <p:nvSpPr>
            <p:cNvPr id="128" name="Line 11"/>
            <p:cNvSpPr>
              <a:spLocks noChangeShapeType="1"/>
            </p:cNvSpPr>
            <p:nvPr/>
          </p:nvSpPr>
          <p:spPr bwMode="auto">
            <a:xfrm flipV="1">
              <a:off x="3199674" y="1819470"/>
              <a:ext cx="6539130" cy="572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9" name="Group 128"/>
            <p:cNvGrpSpPr/>
            <p:nvPr/>
          </p:nvGrpSpPr>
          <p:grpSpPr>
            <a:xfrm>
              <a:off x="2431279" y="1146517"/>
              <a:ext cx="762000" cy="665163"/>
              <a:chOff x="2431279" y="1160030"/>
              <a:chExt cx="762000" cy="665163"/>
            </a:xfrm>
          </p:grpSpPr>
          <p:grpSp>
            <p:nvGrpSpPr>
              <p:cNvPr id="131" name="Group 3"/>
              <p:cNvGrpSpPr>
                <a:grpSpLocks/>
              </p:cNvGrpSpPr>
              <p:nvPr/>
            </p:nvGrpSpPr>
            <p:grpSpPr bwMode="auto">
              <a:xfrm>
                <a:off x="2431279" y="1160030"/>
                <a:ext cx="762000" cy="665163"/>
                <a:chOff x="1110" y="2656"/>
                <a:chExt cx="1549" cy="1351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133" name="AutoShape 4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" name="AutoShape 5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" name="AutoShape 6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sz="25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2" name="Text Box 13"/>
              <p:cNvSpPr txBox="1">
                <a:spLocks noChangeArrowheads="1"/>
              </p:cNvSpPr>
              <p:nvPr/>
            </p:nvSpPr>
            <p:spPr bwMode="gray">
              <a:xfrm>
                <a:off x="2590859" y="1231971"/>
                <a:ext cx="442839" cy="5826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25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3</a:t>
                </a:r>
              </a:p>
            </p:txBody>
          </p:sp>
        </p:grpSp>
        <p:sp>
          <p:nvSpPr>
            <p:cNvPr id="130" name="Rectangle 129"/>
            <p:cNvSpPr/>
            <p:nvPr/>
          </p:nvSpPr>
          <p:spPr>
            <a:xfrm>
              <a:off x="3177047" y="1155933"/>
              <a:ext cx="6407936" cy="6390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>
                  <a:cs typeface="Times New Roman" panose="02020603050405020304" pitchFamily="18" charset="0"/>
                </a:rPr>
                <a:t>Quality Attribute</a:t>
              </a:r>
            </a:p>
          </p:txBody>
        </p:sp>
      </p:grpSp>
      <p:grpSp>
        <p:nvGrpSpPr>
          <p:cNvPr id="136" name="Group 135"/>
          <p:cNvGrpSpPr/>
          <p:nvPr/>
        </p:nvGrpSpPr>
        <p:grpSpPr>
          <a:xfrm>
            <a:off x="605709" y="3498247"/>
            <a:ext cx="5983456" cy="555705"/>
            <a:chOff x="2431279" y="1146517"/>
            <a:chExt cx="7307525" cy="678676"/>
          </a:xfrm>
        </p:grpSpPr>
        <p:sp>
          <p:nvSpPr>
            <p:cNvPr id="137" name="Line 11"/>
            <p:cNvSpPr>
              <a:spLocks noChangeShapeType="1"/>
            </p:cNvSpPr>
            <p:nvPr/>
          </p:nvSpPr>
          <p:spPr bwMode="auto">
            <a:xfrm flipV="1">
              <a:off x="3199674" y="1819470"/>
              <a:ext cx="6539130" cy="572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8" name="Group 137"/>
            <p:cNvGrpSpPr/>
            <p:nvPr/>
          </p:nvGrpSpPr>
          <p:grpSpPr>
            <a:xfrm>
              <a:off x="2431279" y="1146517"/>
              <a:ext cx="762000" cy="665163"/>
              <a:chOff x="2431279" y="1160030"/>
              <a:chExt cx="762000" cy="665163"/>
            </a:xfrm>
          </p:grpSpPr>
          <p:grpSp>
            <p:nvGrpSpPr>
              <p:cNvPr id="140" name="Group 3"/>
              <p:cNvGrpSpPr>
                <a:grpSpLocks/>
              </p:cNvGrpSpPr>
              <p:nvPr/>
            </p:nvGrpSpPr>
            <p:grpSpPr bwMode="auto">
              <a:xfrm>
                <a:off x="2431279" y="1160030"/>
                <a:ext cx="762000" cy="665163"/>
                <a:chOff x="1110" y="2656"/>
                <a:chExt cx="1549" cy="1351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142" name="AutoShape 4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" name="AutoShape 5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" name="AutoShape 6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sz="25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1" name="Text Box 13"/>
              <p:cNvSpPr txBox="1">
                <a:spLocks noChangeArrowheads="1"/>
              </p:cNvSpPr>
              <p:nvPr/>
            </p:nvSpPr>
            <p:spPr bwMode="gray">
              <a:xfrm>
                <a:off x="2590859" y="1231971"/>
                <a:ext cx="442839" cy="5826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25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4</a:t>
                </a:r>
              </a:p>
            </p:txBody>
          </p:sp>
        </p:grpSp>
        <p:sp>
          <p:nvSpPr>
            <p:cNvPr id="139" name="Rectangle 138"/>
            <p:cNvSpPr/>
            <p:nvPr/>
          </p:nvSpPr>
          <p:spPr>
            <a:xfrm>
              <a:off x="3177047" y="1155933"/>
              <a:ext cx="6407936" cy="6390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>
                  <a:cs typeface="Times New Roman" panose="02020603050405020304" pitchFamily="18" charset="0"/>
                </a:rPr>
                <a:t>Design Alternative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605709" y="4313120"/>
            <a:ext cx="5983456" cy="555705"/>
            <a:chOff x="2431279" y="1146517"/>
            <a:chExt cx="7307525" cy="678676"/>
          </a:xfrm>
        </p:grpSpPr>
        <p:sp>
          <p:nvSpPr>
            <p:cNvPr id="147" name="Line 11"/>
            <p:cNvSpPr>
              <a:spLocks noChangeShapeType="1"/>
            </p:cNvSpPr>
            <p:nvPr/>
          </p:nvSpPr>
          <p:spPr bwMode="auto">
            <a:xfrm flipV="1">
              <a:off x="3199674" y="1819470"/>
              <a:ext cx="6539130" cy="572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8" name="Group 147"/>
            <p:cNvGrpSpPr/>
            <p:nvPr/>
          </p:nvGrpSpPr>
          <p:grpSpPr>
            <a:xfrm>
              <a:off x="2431279" y="1146517"/>
              <a:ext cx="762000" cy="665163"/>
              <a:chOff x="2431279" y="1160030"/>
              <a:chExt cx="762000" cy="665163"/>
            </a:xfrm>
          </p:grpSpPr>
          <p:grpSp>
            <p:nvGrpSpPr>
              <p:cNvPr id="150" name="Group 3"/>
              <p:cNvGrpSpPr>
                <a:grpSpLocks/>
              </p:cNvGrpSpPr>
              <p:nvPr/>
            </p:nvGrpSpPr>
            <p:grpSpPr bwMode="auto">
              <a:xfrm>
                <a:off x="2431279" y="1160030"/>
                <a:ext cx="762000" cy="665163"/>
                <a:chOff x="1110" y="2656"/>
                <a:chExt cx="1549" cy="1351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152" name="AutoShape 4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AutoShape 5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" name="AutoShape 6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sz="25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51" name="Text Box 13"/>
              <p:cNvSpPr txBox="1">
                <a:spLocks noChangeArrowheads="1"/>
              </p:cNvSpPr>
              <p:nvPr/>
            </p:nvSpPr>
            <p:spPr bwMode="gray">
              <a:xfrm>
                <a:off x="2590859" y="1231971"/>
                <a:ext cx="442839" cy="5826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25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sp>
          <p:nvSpPr>
            <p:cNvPr id="149" name="Rectangle 148"/>
            <p:cNvSpPr/>
            <p:nvPr/>
          </p:nvSpPr>
          <p:spPr>
            <a:xfrm>
              <a:off x="3177047" y="1155933"/>
              <a:ext cx="6407936" cy="6390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>
                  <a:cs typeface="Times New Roman" panose="02020603050405020304" pitchFamily="18" charset="0"/>
                </a:rPr>
                <a:t>Comparison &amp; Decision</a:t>
              </a:r>
            </a:p>
          </p:txBody>
        </p:sp>
      </p:grpSp>
      <p:grpSp>
        <p:nvGrpSpPr>
          <p:cNvPr id="155" name="Group 154"/>
          <p:cNvGrpSpPr/>
          <p:nvPr/>
        </p:nvGrpSpPr>
        <p:grpSpPr>
          <a:xfrm>
            <a:off x="605709" y="5127991"/>
            <a:ext cx="6753034" cy="555705"/>
            <a:chOff x="2431279" y="1146517"/>
            <a:chExt cx="8247402" cy="678676"/>
          </a:xfrm>
        </p:grpSpPr>
        <p:sp>
          <p:nvSpPr>
            <p:cNvPr id="156" name="Line 11"/>
            <p:cNvSpPr>
              <a:spLocks noChangeShapeType="1"/>
            </p:cNvSpPr>
            <p:nvPr/>
          </p:nvSpPr>
          <p:spPr bwMode="auto">
            <a:xfrm flipV="1">
              <a:off x="3199674" y="1819470"/>
              <a:ext cx="6539130" cy="572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5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7" name="Group 156"/>
            <p:cNvGrpSpPr/>
            <p:nvPr/>
          </p:nvGrpSpPr>
          <p:grpSpPr>
            <a:xfrm>
              <a:off x="2431279" y="1146517"/>
              <a:ext cx="762000" cy="665163"/>
              <a:chOff x="2431279" y="1160030"/>
              <a:chExt cx="762000" cy="665163"/>
            </a:xfrm>
          </p:grpSpPr>
          <p:grpSp>
            <p:nvGrpSpPr>
              <p:cNvPr id="159" name="Group 3"/>
              <p:cNvGrpSpPr>
                <a:grpSpLocks/>
              </p:cNvGrpSpPr>
              <p:nvPr/>
            </p:nvGrpSpPr>
            <p:grpSpPr bwMode="auto">
              <a:xfrm>
                <a:off x="2431279" y="1160030"/>
                <a:ext cx="762000" cy="665163"/>
                <a:chOff x="1110" y="2656"/>
                <a:chExt cx="1549" cy="1351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161" name="AutoShape 4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AutoShape 5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pFill/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sz="25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" name="AutoShape 6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sz="25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60" name="Text Box 13"/>
              <p:cNvSpPr txBox="1">
                <a:spLocks noChangeArrowheads="1"/>
              </p:cNvSpPr>
              <p:nvPr/>
            </p:nvSpPr>
            <p:spPr bwMode="gray">
              <a:xfrm>
                <a:off x="2590859" y="1231971"/>
                <a:ext cx="442839" cy="5826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25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158" name="Rectangle 157"/>
            <p:cNvSpPr/>
            <p:nvPr/>
          </p:nvSpPr>
          <p:spPr>
            <a:xfrm>
              <a:off x="3177047" y="1155933"/>
              <a:ext cx="7501634" cy="6390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>
                  <a:cs typeface="Times New Roman" panose="02020603050405020304" pitchFamily="18" charset="0"/>
                </a:rPr>
                <a:t>Implementation &amp; Verification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57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98DF60D-9815-C72C-E039-867021DB8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5429F4-17DA-8C65-E10D-772D18EA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6" y="189168"/>
            <a:ext cx="10871201" cy="672843"/>
          </a:xfrm>
        </p:spPr>
        <p:txBody>
          <a:bodyPr anchor="ctr">
            <a:normAutofit/>
          </a:bodyPr>
          <a:lstStyle/>
          <a:p>
            <a:r>
              <a:rPr lang="en-US"/>
              <a:t>Context &amp; Motivation – Toyota 24DCM project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C9BB87FF-FFF5-432F-99E1-3CFA176F7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6" y="878996"/>
            <a:ext cx="11916834" cy="1756536"/>
          </a:xfrm>
        </p:spPr>
        <p:txBody>
          <a:bodyPr>
            <a:noAutofit/>
          </a:bodyPr>
          <a:lstStyle/>
          <a:p>
            <a:r>
              <a:rPr lang="en-US" sz="1800" dirty="0"/>
              <a:t>Toyota </a:t>
            </a:r>
            <a:r>
              <a:rPr lang="en-US" sz="1800" b="1" dirty="0"/>
              <a:t>DCM</a:t>
            </a:r>
            <a:r>
              <a:rPr lang="en-US" sz="1800" dirty="0"/>
              <a:t>: a telematics platform providing connected vehicle services, including </a:t>
            </a:r>
            <a:r>
              <a:rPr lang="en-US" sz="1800" b="1" dirty="0"/>
              <a:t>remote diagnostics </a:t>
            </a:r>
            <a:r>
              <a:rPr lang="en-US" sz="1800" dirty="0"/>
              <a:t>from OEM server.</a:t>
            </a:r>
          </a:p>
          <a:p>
            <a:r>
              <a:rPr lang="en-US" sz="1800" dirty="0"/>
              <a:t>Supports diagnostic communication and OTA updates through the Internal CAN bus.</a:t>
            </a:r>
          </a:p>
          <a:p>
            <a:r>
              <a:rPr lang="en-US" sz="1800" b="1" dirty="0"/>
              <a:t>Current architecture</a:t>
            </a:r>
            <a:r>
              <a:rPr lang="en-US" sz="1800" dirty="0"/>
              <a:t>: monolithic deployment model, with all components running in a single partition.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28FFDEC-FAE3-F715-C17D-E64EBFEF5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926" y="2652517"/>
            <a:ext cx="6611468" cy="38032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5AD2A0C-B319-E101-9513-01BAFF04FFE6}"/>
              </a:ext>
            </a:extLst>
          </p:cNvPr>
          <p:cNvSpPr txBox="1"/>
          <p:nvPr/>
        </p:nvSpPr>
        <p:spPr>
          <a:xfrm>
            <a:off x="4199961" y="6454982"/>
            <a:ext cx="2793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system architecture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52CEA5CE-1C3F-5BA0-00F6-DC7933C76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7475" y="5088291"/>
            <a:ext cx="1578980" cy="169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5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>
            <a:cxnSpLocks/>
          </p:cNvCxnSpPr>
          <p:nvPr/>
        </p:nvCxnSpPr>
        <p:spPr>
          <a:xfrm>
            <a:off x="3470806" y="3153335"/>
            <a:ext cx="0" cy="367168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11C1235-51B4-A8A0-3A61-9C767F437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6" y="189168"/>
            <a:ext cx="10871201" cy="672843"/>
          </a:xfrm>
        </p:spPr>
        <p:txBody>
          <a:bodyPr anchor="ctr">
            <a:normAutofit/>
          </a:bodyPr>
          <a:lstStyle/>
          <a:p>
            <a:r>
              <a:rPr lang="en-US" dirty="0"/>
              <a:t>Context &amp; Motivation – System architecture migration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4A0E7BDD-2CF4-321B-0637-D9AF63CAB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6" y="878995"/>
            <a:ext cx="11916834" cy="2357405"/>
          </a:xfrm>
        </p:spPr>
        <p:txBody>
          <a:bodyPr>
            <a:noAutofit/>
          </a:bodyPr>
          <a:lstStyle/>
          <a:p>
            <a:r>
              <a:rPr lang="en-US" sz="1600" dirty="0"/>
              <a:t>OEM Security Threat</a:t>
            </a:r>
            <a:r>
              <a:rPr lang="en-US" sz="1600" b="1" dirty="0"/>
              <a:t>: </a:t>
            </a:r>
            <a:r>
              <a:rPr lang="en-US" sz="1600" dirty="0"/>
              <a:t>Entry Point (EP</a:t>
            </a:r>
            <a:r>
              <a:rPr lang="en-US" sz="1600"/>
              <a:t>) </a:t>
            </a:r>
            <a:r>
              <a:rPr lang="en-US" sz="1600" smtClean="0"/>
              <a:t>partition (containing components which is able to communicate with network) could be </a:t>
            </a:r>
            <a:r>
              <a:rPr lang="en-US" sz="1600" dirty="0"/>
              <a:t>compromised by unauthorized software and has been taken over.</a:t>
            </a:r>
            <a:endParaRPr lang="en-US" sz="1400" dirty="0"/>
          </a:p>
          <a:p>
            <a:r>
              <a:rPr lang="en-US" sz="1600" dirty="0"/>
              <a:t>OEM Security Proposal: The scope of compromise shall be limited to the EP partition and shall not propagate internal (to internal partition or in-vehicle CAN bus)</a:t>
            </a:r>
          </a:p>
          <a:p>
            <a:r>
              <a:rPr lang="en-US" sz="1600" b="1" dirty="0"/>
              <a:t>System architecture migration</a:t>
            </a:r>
            <a:r>
              <a:rPr lang="en-US" sz="1600" dirty="0"/>
              <a:t>: </a:t>
            </a:r>
          </a:p>
          <a:p>
            <a:pPr lvl="1"/>
            <a:r>
              <a:rPr lang="en-US" sz="1600" dirty="0"/>
              <a:t>DCM is separated into 2 partitions using LXC containers: </a:t>
            </a:r>
          </a:p>
          <a:p>
            <a:pPr lvl="2"/>
            <a:r>
              <a:rPr lang="en-US" sz="1600" b="1" dirty="0"/>
              <a:t>EP container (Entry Point)</a:t>
            </a:r>
            <a:r>
              <a:rPr lang="en-US" sz="1600" dirty="0"/>
              <a:t>: externally exposed network components.</a:t>
            </a:r>
          </a:p>
          <a:p>
            <a:pPr lvl="2"/>
            <a:r>
              <a:rPr lang="en-US" sz="1600" b="1" dirty="0"/>
              <a:t>Internal container: </a:t>
            </a:r>
            <a:r>
              <a:rPr lang="en-US" sz="1600" dirty="0"/>
              <a:t>components which have access to CAN bus.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4" y="4578725"/>
            <a:ext cx="3237478" cy="1862348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3079651" y="6512647"/>
            <a:ext cx="1109108" cy="31236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5431" y="6473588"/>
            <a:ext cx="2793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4273" y="6490268"/>
            <a:ext cx="396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system architecture (containerized)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82300E94-D641-5E7E-D410-1F95BB0C9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7475" y="5088291"/>
            <a:ext cx="1578980" cy="16972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55A41CDD-7CE6-4D63-F256-F3E90D329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1830" y="3202531"/>
            <a:ext cx="6854434" cy="328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47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FEF80F-391D-5C0D-3E70-1754E47CE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985" y="2961460"/>
            <a:ext cx="7774134" cy="37073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866" y="862011"/>
            <a:ext cx="11870268" cy="2307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 err="1"/>
              <a:t>RemoteDiag</a:t>
            </a:r>
            <a:r>
              <a:rPr lang="en-US" sz="1600" dirty="0"/>
              <a:t>: a module processes diagnostic for each ECU and uploads diagnostic data to OEM Server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RemoteDiag</a:t>
            </a:r>
            <a:r>
              <a:rPr lang="en-US" sz="1600" dirty="0"/>
              <a:t> has 2 communication paths: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with </a:t>
            </a:r>
            <a:r>
              <a:rPr lang="en-US" sz="1600" b="1" dirty="0"/>
              <a:t>OEM Server</a:t>
            </a:r>
            <a:r>
              <a:rPr lang="en-US" sz="1600" dirty="0"/>
              <a:t>: performs direct diagnostic commands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with </a:t>
            </a:r>
            <a:r>
              <a:rPr lang="en-US" sz="1600" b="1" dirty="0"/>
              <a:t>MM ecu</a:t>
            </a:r>
            <a:r>
              <a:rPr lang="en-US" sz="1600" dirty="0"/>
              <a:t>: OTA diagnostic update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Risk: </a:t>
            </a:r>
            <a:r>
              <a:rPr lang="en-US" sz="1600" b="1" dirty="0" err="1"/>
              <a:t>RemoteDiag</a:t>
            </a:r>
            <a:r>
              <a:rPr lang="en-US" sz="1600" b="1" dirty="0"/>
              <a:t> &lt;-&gt; MM path </a:t>
            </a:r>
            <a:r>
              <a:rPr lang="en-US" sz="1600" dirty="0"/>
              <a:t>traverses the EP container, exposing the communication to an attacker if EP container is compromised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OEM requests that </a:t>
            </a:r>
            <a:r>
              <a:rPr lang="en-US" sz="1600" b="1" dirty="0"/>
              <a:t>unauthorized reprogramming requests should be filtered.</a:t>
            </a:r>
          </a:p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585339-B774-DFDC-4DB4-D02F5083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6896" y="3782508"/>
            <a:ext cx="4390970" cy="923330"/>
            <a:chOff x="24485" y="4675267"/>
            <a:chExt cx="4623437" cy="923330"/>
          </a:xfrm>
        </p:grpSpPr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2477AED6-8D6F-D505-6D7B-78460A03A2E8}"/>
                </a:ext>
              </a:extLst>
            </p:cNvPr>
            <p:cNvSpPr txBox="1"/>
            <p:nvPr/>
          </p:nvSpPr>
          <p:spPr>
            <a:xfrm>
              <a:off x="576043" y="4675267"/>
              <a:ext cx="40718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RemoteDiag’s</a:t>
              </a:r>
              <a:r>
                <a:rPr lang="en-US" dirty="0"/>
                <a:t> </a:t>
              </a:r>
              <a:r>
                <a:rPr lang="en-US" b="1" dirty="0"/>
                <a:t>internal</a:t>
              </a:r>
              <a:r>
                <a:rPr lang="en-US" dirty="0"/>
                <a:t> </a:t>
              </a:r>
              <a:r>
                <a:rPr lang="en-US" b="1" dirty="0"/>
                <a:t>architecture and communication </a:t>
              </a:r>
              <a:r>
                <a:rPr lang="en-US" dirty="0"/>
                <a:t>should be </a:t>
              </a:r>
              <a:r>
                <a:rPr lang="en-US" b="1" dirty="0"/>
                <a:t>redesigned</a:t>
              </a:r>
              <a:r>
                <a:rPr lang="en-US" dirty="0"/>
                <a:t> to align with new architecture</a:t>
              </a:r>
              <a:endParaRPr lang="en-US" b="1" dirty="0"/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24485" y="4861835"/>
              <a:ext cx="530318" cy="5501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B985467-A9DA-DE11-1910-E778EDD53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294" y="5213119"/>
            <a:ext cx="1749283" cy="156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9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5625E47-EFA5-9C35-32C7-F79366419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6" y="990600"/>
            <a:ext cx="11887201" cy="514736"/>
          </a:xfrm>
        </p:spPr>
        <p:txBody>
          <a:bodyPr>
            <a:normAutofit/>
          </a:bodyPr>
          <a:lstStyle/>
          <a:p>
            <a:r>
              <a:rPr lang="en-US" sz="2200"/>
              <a:t>Functional requirements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="" xmlns:a16="http://schemas.microsoft.com/office/drawing/2014/main" id="{658A328F-ADBC-7C5F-15DF-73E4DC21B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120159"/>
              </p:ext>
            </p:extLst>
          </p:nvPr>
        </p:nvGraphicFramePr>
        <p:xfrm>
          <a:off x="204773" y="1505336"/>
          <a:ext cx="11782454" cy="144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8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4836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59352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800">
                          <a:latin typeface="+mn-lt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effectLst/>
                          <a:latin typeface="+mn-lt"/>
                          <a:cs typeface="Arial" panose="020B0604020202020204" pitchFamily="34" charset="0"/>
                        </a:rPr>
                        <a:t>Description</a:t>
                      </a:r>
                      <a:endParaRPr lang="en-US" sz="1800" b="1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4858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FR-01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The system shall block unauthorized diagnostic commands related to ECU reprogramming.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485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FR-02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The system shall route UDS diagnostic messages exchanged with the MM ECU entirely within the Internal container.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46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0816B88-86B3-799E-3A3E-FA919E3E0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6E5815-73D6-DA66-29AA-3BE061A3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Quality Attribute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="" xmlns:a16="http://schemas.microsoft.com/office/drawing/2014/main" id="{6010EF79-766B-D3A2-10CE-882C40A1E836}"/>
              </a:ext>
            </a:extLst>
          </p:cNvPr>
          <p:cNvSpPr txBox="1">
            <a:spLocks/>
          </p:cNvSpPr>
          <p:nvPr/>
        </p:nvSpPr>
        <p:spPr>
          <a:xfrm>
            <a:off x="100026" y="3171632"/>
            <a:ext cx="11887201" cy="514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6C8AAA51-C203-CD8B-4B02-DE7401134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760293"/>
              </p:ext>
            </p:extLst>
          </p:nvPr>
        </p:nvGraphicFramePr>
        <p:xfrm>
          <a:off x="182820" y="960039"/>
          <a:ext cx="11887260" cy="505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0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67383"/>
                <a:gridCol w="960120"/>
                <a:gridCol w="43243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324350">
                  <a:extLst>
                    <a:ext uri="{9D8B030D-6E8A-4147-A177-3AD203B41FA5}">
                      <a16:colId xmlns="" xmlns:a16="http://schemas.microsoft.com/office/drawing/2014/main" val="25306833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0"/>
                      <a:r>
                        <a:rPr lang="en-US" sz="1600" b="0">
                          <a:latin typeface="+mn-lt"/>
                          <a:cs typeface="Arial" panose="020B0604020202020204" pitchFamily="34" charset="0"/>
                        </a:rPr>
                        <a:t>ID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effectLst/>
                          <a:latin typeface="+mn-lt"/>
                          <a:cs typeface="Arial" panose="020B0604020202020204" pitchFamily="34" charset="0"/>
                        </a:rPr>
                        <a:t>Type</a:t>
                      </a:r>
                      <a:endParaRPr lang="en-US" sz="1600" b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effectLst/>
                          <a:latin typeface="+mn-lt"/>
                          <a:cs typeface="Arial" panose="020B0604020202020204" pitchFamily="34" charset="0"/>
                        </a:rPr>
                        <a:t>Priority</a:t>
                      </a:r>
                      <a:endParaRPr lang="en-US" sz="1600" b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QA Scenario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Measure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QA-01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>
                          <a:effectLst/>
                          <a:latin typeface="+mn-lt"/>
                          <a:cs typeface="Arial" panose="020B0604020202020204" pitchFamily="34" charset="0"/>
                        </a:rPr>
                        <a:t>Security</a:t>
                      </a:r>
                      <a:endParaRPr lang="en-US" sz="16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>
                          <a:effectLst/>
                          <a:latin typeface="+mn-lt"/>
                          <a:cs typeface="Arial" panose="020B0604020202020204" pitchFamily="34" charset="0"/>
                        </a:rPr>
                        <a:t>High</a:t>
                      </a:r>
                      <a:endParaRPr lang="en-US" sz="16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compromised app/service sends reprogramming diagnostic to CAN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/>
                        <a:t>Zero Reprogramming SIDs reaches the internal CAN.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QA-02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>
                          <a:effectLst/>
                          <a:latin typeface="+mn-lt"/>
                          <a:cs typeface="Arial" panose="020B0604020202020204" pitchFamily="34" charset="0"/>
                        </a:rPr>
                        <a:t>Security</a:t>
                      </a:r>
                      <a:endParaRPr lang="en-US" sz="16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>
                          <a:effectLst/>
                          <a:latin typeface="+mn-lt"/>
                          <a:cs typeface="Arial" panose="020B0604020202020204" pitchFamily="34" charset="0"/>
                        </a:rPr>
                        <a:t>High</a:t>
                      </a:r>
                      <a:endParaRPr lang="en-US" sz="16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MM ECU sends a diagnostic request via TCP to </a:t>
                      </a:r>
                      <a:r>
                        <a:rPr lang="en-US" sz="1600" b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RemoteDiag</a:t>
                      </a:r>
                      <a:endParaRPr lang="en-US" sz="1600" b="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+mn-lt"/>
                          <a:cs typeface="Arial" panose="020B0604020202020204" pitchFamily="34" charset="0"/>
                        </a:rPr>
                        <a:t>Zero diagnostic communication is found in EP. 100% number of</a:t>
                      </a:r>
                      <a:r>
                        <a:rPr lang="en-US" sz="1600" b="0" baseline="0" dirty="0">
                          <a:latin typeface="+mn-lt"/>
                          <a:cs typeface="Arial" panose="020B0604020202020204" pitchFamily="34" charset="0"/>
                        </a:rPr>
                        <a:t> requests are communicated within IP.</a:t>
                      </a:r>
                      <a:endParaRPr lang="en-US" sz="160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QA-03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Modifiability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+mn-lt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new design reallocates responsibilities among existing software components.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No component is required to take responsibilities outside its originally defined role.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No additional specification updates caused by responsibility expansion.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QA-04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Maintainability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sz="1600" b="0" dirty="0">
                          <a:latin typeface="+mn-lt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6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new design requires existing software components (other than </a:t>
                      </a:r>
                      <a:r>
                        <a:rPr lang="en-US" sz="1600" b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RemoteDiag</a:t>
                      </a:r>
                      <a:r>
                        <a:rPr lang="en-US" sz="16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) to adapt to the new architecture.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Number of component</a:t>
                      </a:r>
                      <a:r>
                        <a:rPr lang="en-US" sz="1600" b="0" baseline="0" dirty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 which needs to modify to align with new design </a:t>
                      </a:r>
                      <a:endParaRPr lang="en-US" sz="1600" b="0" dirty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84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79F3C30A-9B01-61F0-056C-27C80301C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439" y="2506013"/>
            <a:ext cx="9602347" cy="42569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866" y="862011"/>
            <a:ext cx="11834976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/>
              <a:t>Split </a:t>
            </a:r>
            <a:r>
              <a:rPr lang="en-US" dirty="0" err="1"/>
              <a:t>RemoteDiag</a:t>
            </a:r>
            <a:r>
              <a:rPr lang="en-US" dirty="0"/>
              <a:t> responsibilities into </a:t>
            </a:r>
            <a:r>
              <a:rPr lang="en-US" b="1" dirty="0"/>
              <a:t>2</a:t>
            </a:r>
            <a:r>
              <a:rPr lang="en-US" dirty="0"/>
              <a:t> apps: </a:t>
            </a:r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b="1" dirty="0" err="1"/>
              <a:t>RemoteDiag</a:t>
            </a:r>
            <a:r>
              <a:rPr lang="en-US" b="1" dirty="0"/>
              <a:t> (EP container):</a:t>
            </a:r>
            <a:r>
              <a:rPr lang="en-US" dirty="0"/>
              <a:t> handles </a:t>
            </a:r>
            <a:r>
              <a:rPr lang="en-US" dirty="0" err="1"/>
              <a:t>diag</a:t>
            </a:r>
            <a:r>
              <a:rPr lang="en-US" dirty="0"/>
              <a:t> messages from OEM server.</a:t>
            </a:r>
            <a:endParaRPr lang="en-US" b="1" dirty="0"/>
          </a:p>
          <a:p>
            <a:pPr marL="742950" lvl="1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b="1" dirty="0" err="1"/>
              <a:t>RemoteOTA</a:t>
            </a:r>
            <a:r>
              <a:rPr lang="en-US" b="1" dirty="0"/>
              <a:t> (Internal container):</a:t>
            </a:r>
            <a:r>
              <a:rPr lang="en-US" dirty="0"/>
              <a:t> handles OTA </a:t>
            </a:r>
            <a:r>
              <a:rPr lang="en-US" dirty="0" err="1"/>
              <a:t>diag</a:t>
            </a:r>
            <a:r>
              <a:rPr lang="en-US" dirty="0"/>
              <a:t> message flows from MM ECU.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OnBoardClient</a:t>
            </a:r>
            <a:r>
              <a:rPr lang="en-US" dirty="0"/>
              <a:t> is responsible for </a:t>
            </a:r>
            <a:r>
              <a:rPr lang="en-US" b="1" dirty="0"/>
              <a:t>reprogramming message filtering</a:t>
            </a:r>
            <a:r>
              <a:rPr lang="en-US" dirty="0"/>
              <a:t> and </a:t>
            </a:r>
            <a:r>
              <a:rPr lang="en-US" b="1" dirty="0"/>
              <a:t>diagnostic  priority control</a:t>
            </a:r>
            <a:r>
              <a:rPr lang="en-US" dirty="0"/>
              <a:t>.</a:t>
            </a:r>
            <a:endParaRPr lang="en-US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Alternative – Alt-A: Split </a:t>
            </a:r>
            <a:r>
              <a:rPr lang="en-US" err="1"/>
              <a:t>RemoteDiag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98742" y="6315754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Alt-A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9AB2A3E-4A5A-80E7-6BD7-3F4F73E5C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66" y="4783026"/>
            <a:ext cx="1863379" cy="153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0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687716E-3FC0-6720-F07D-6C2418434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716" y="1969092"/>
            <a:ext cx="8070964" cy="48073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Alternative – Alt-B: Move </a:t>
            </a:r>
            <a:r>
              <a:rPr lang="en-US" err="1"/>
              <a:t>RemoteDiag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0866" y="862011"/>
            <a:ext cx="1195871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indent="-227013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/>
              <a:t>Move RemoteDiag into the </a:t>
            </a:r>
            <a:r>
              <a:rPr lang="en-US" smtClean="0"/>
              <a:t>Internal </a:t>
            </a:r>
            <a:r>
              <a:rPr lang="en-US"/>
              <a:t>container.</a:t>
            </a:r>
          </a:p>
          <a:p>
            <a:pPr marL="227013" indent="-227013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/>
              <a:t>To maintain communication with OEM server and other EP-side component, </a:t>
            </a:r>
            <a:r>
              <a:rPr lang="en-US" b="1"/>
              <a:t>establish UDS socket connections to each module</a:t>
            </a:r>
            <a:endParaRPr lang="en-US"/>
          </a:p>
          <a:p>
            <a:pPr marL="227013" indent="-227013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227013" indent="-227013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33B21BAC-9E9C-F667-EB81-43F48A0E1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66" y="4783026"/>
            <a:ext cx="1863379" cy="15327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AAE2910-7B87-F3B5-8408-E04FE9F21D42}"/>
              </a:ext>
            </a:extLst>
          </p:cNvPr>
          <p:cNvSpPr txBox="1"/>
          <p:nvPr/>
        </p:nvSpPr>
        <p:spPr>
          <a:xfrm>
            <a:off x="6898742" y="6315754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Alt-B</a:t>
            </a:r>
          </a:p>
        </p:txBody>
      </p:sp>
    </p:spTree>
    <p:extLst>
      <p:ext uri="{BB962C8B-B14F-4D97-AF65-F5344CB8AC3E}">
        <p14:creationId xmlns:p14="http://schemas.microsoft.com/office/powerpoint/2010/main" val="68136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A3A9F39-394E-5437-993F-29D2F209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D51D2743-5B87-CC81-8D97-271314E9E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739" y="2354869"/>
            <a:ext cx="9937672" cy="4415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4F77EA-2B30-AFDC-1349-3C58C2AB9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Alternative – Alt-C: Move </a:t>
            </a:r>
            <a:r>
              <a:rPr lang="en-US" err="1"/>
              <a:t>RemoteDiag</a:t>
            </a:r>
            <a:r>
              <a:rPr lang="en-US"/>
              <a:t> + Proxy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4FB7A4A-CF56-C0BD-9AB9-923B2D043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7" y="990599"/>
            <a:ext cx="11825921" cy="1219201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Move </a:t>
            </a:r>
            <a:r>
              <a:rPr lang="en-US" sz="1800" dirty="0" err="1"/>
              <a:t>RemoteDiag</a:t>
            </a:r>
            <a:r>
              <a:rPr lang="en-US" sz="1800" dirty="0"/>
              <a:t> into </a:t>
            </a:r>
            <a:r>
              <a:rPr lang="en-US" sz="1800"/>
              <a:t>the </a:t>
            </a:r>
            <a:r>
              <a:rPr lang="en-US" sz="1800" smtClean="0"/>
              <a:t>Internal </a:t>
            </a:r>
            <a:r>
              <a:rPr lang="en-US" sz="1800" dirty="0"/>
              <a:t>container.</a:t>
            </a:r>
          </a:p>
          <a:p>
            <a:r>
              <a:rPr lang="en-US" sz="1800" dirty="0"/>
              <a:t>Add a </a:t>
            </a:r>
            <a:r>
              <a:rPr lang="en-US" sz="1800" b="1" dirty="0"/>
              <a:t>new </a:t>
            </a:r>
            <a:r>
              <a:rPr lang="en-US" sz="1800" b="1" dirty="0" err="1"/>
              <a:t>RemoteDiagProxy</a:t>
            </a:r>
            <a:r>
              <a:rPr lang="en-US" sz="1800" b="1" dirty="0"/>
              <a:t> (RDP) component</a:t>
            </a:r>
            <a:r>
              <a:rPr lang="en-US" sz="1800" dirty="0"/>
              <a:t> in the EP that acts as a </a:t>
            </a:r>
            <a:r>
              <a:rPr lang="en-US" sz="1800" b="1" dirty="0"/>
              <a:t>transparent proxy</a:t>
            </a:r>
            <a:r>
              <a:rPr lang="en-US" sz="1800" dirty="0"/>
              <a:t>. </a:t>
            </a:r>
          </a:p>
          <a:p>
            <a:r>
              <a:rPr lang="en-US" sz="1800" dirty="0"/>
              <a:t>EP modules continue to interact with RDP using their existing interface</a:t>
            </a:r>
          </a:p>
          <a:p>
            <a:r>
              <a:rPr lang="en-US" sz="1800" b="1"/>
              <a:t>RemoteDiagProxy </a:t>
            </a:r>
            <a:r>
              <a:rPr lang="en-US" sz="1800" smtClean="0"/>
              <a:t>forwards </a:t>
            </a:r>
            <a:r>
              <a:rPr lang="en-US" sz="1800" dirty="0"/>
              <a:t>requests to </a:t>
            </a:r>
            <a:r>
              <a:rPr lang="en-US" sz="1800" dirty="0" err="1"/>
              <a:t>RemoteDiag</a:t>
            </a:r>
            <a:r>
              <a:rPr lang="en-US" sz="1800" dirty="0"/>
              <a:t> via UDS socket channel.</a:t>
            </a:r>
            <a:endParaRPr lang="en-US" sz="1800" b="1" dirty="0"/>
          </a:p>
          <a:p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0A483E6-6ECF-F5F2-5FFC-55A9FD629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66" y="4783026"/>
            <a:ext cx="1863379" cy="15327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12425196-F6FB-6F05-9DFF-490CE43C23AD}"/>
              </a:ext>
            </a:extLst>
          </p:cNvPr>
          <p:cNvSpPr txBox="1"/>
          <p:nvPr/>
        </p:nvSpPr>
        <p:spPr>
          <a:xfrm>
            <a:off x="6898742" y="6315754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Alt-C</a:t>
            </a:r>
          </a:p>
        </p:txBody>
      </p:sp>
    </p:spTree>
    <p:extLst>
      <p:ext uri="{BB962C8B-B14F-4D97-AF65-F5344CB8AC3E}">
        <p14:creationId xmlns:p14="http://schemas.microsoft.com/office/powerpoint/2010/main" val="418137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66" y="189169"/>
            <a:ext cx="10871201" cy="489842"/>
          </a:xfrm>
        </p:spPr>
        <p:txBody>
          <a:bodyPr>
            <a:normAutofit fontScale="90000"/>
          </a:bodyPr>
          <a:lstStyle/>
          <a:p>
            <a:r>
              <a:rPr lang="en-US"/>
              <a:t>Comparison &amp;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866" y="6178302"/>
            <a:ext cx="34395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600" b="1"/>
              <a:t>Final decision: </a:t>
            </a:r>
            <a:r>
              <a:rPr lang="en-US" sz="2600" b="1">
                <a:solidFill>
                  <a:srgbClr val="00B050"/>
                </a:solidFill>
              </a:rPr>
              <a:t>Alt-C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6C8AAA51-C203-CD8B-4B02-DE7401134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287634"/>
              </p:ext>
            </p:extLst>
          </p:nvPr>
        </p:nvGraphicFramePr>
        <p:xfrm>
          <a:off x="72428" y="625771"/>
          <a:ext cx="12050161" cy="5307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7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64854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40317">
                  <a:extLst>
                    <a:ext uri="{9D8B030D-6E8A-4147-A177-3AD203B41FA5}">
                      <a16:colId xmlns="" xmlns:a16="http://schemas.microsoft.com/office/drawing/2014/main" val="2530683369"/>
                    </a:ext>
                  </a:extLst>
                </a:gridCol>
                <a:gridCol w="38115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</a:pPr>
                      <a:endParaRPr lang="en-US" sz="12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Alt-A</a:t>
                      </a:r>
                      <a:r>
                        <a:rPr lang="en-US" sz="1200" b="0" baseline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 – Split </a:t>
                      </a:r>
                      <a:r>
                        <a:rPr lang="en-US" sz="1200" b="0" baseline="0" err="1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RemoteDiag</a:t>
                      </a:r>
                      <a:endParaRPr lang="en-US" sz="1200" b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Alt-B: Move </a:t>
                      </a:r>
                      <a:r>
                        <a:rPr lang="en-US" sz="1200" b="0" err="1">
                          <a:effectLst/>
                          <a:latin typeface="+mn-lt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RemoteDiag</a:t>
                      </a:r>
                      <a:endParaRPr lang="en-US" sz="1200" b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effectLst/>
                          <a:latin typeface="+mn-lt"/>
                          <a:cs typeface="Arial" panose="020B0604020202020204" pitchFamily="34" charset="0"/>
                        </a:rPr>
                        <a:t>Alt-C: Move </a:t>
                      </a:r>
                      <a:r>
                        <a:rPr lang="en-US" sz="1200" b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RemoteDiag</a:t>
                      </a:r>
                      <a:r>
                        <a:rPr lang="en-US" sz="1200" b="0">
                          <a:effectLst/>
                          <a:latin typeface="+mn-lt"/>
                          <a:cs typeface="Arial" panose="020B0604020202020204" pitchFamily="34" charset="0"/>
                        </a:rPr>
                        <a:t> + Proxy</a:t>
                      </a:r>
                      <a:endParaRPr lang="en-US" sz="1200" b="0">
                        <a:effectLst/>
                        <a:latin typeface="+mn-lt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QA-01</a:t>
                      </a:r>
                    </a:p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Security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</a:rPr>
                        <a:t>Unauthorized diagnostic commands are</a:t>
                      </a:r>
                      <a:r>
                        <a:rPr lang="en-US" sz="1300" b="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1" baseline="0">
                          <a:solidFill>
                            <a:schemeClr val="tx1"/>
                          </a:solidFill>
                        </a:rPr>
                        <a:t>filtered</a:t>
                      </a:r>
                      <a:r>
                        <a:rPr lang="en-US" sz="1300" b="0" baseline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</a:rPr>
                        <a:t>Unauthorized diagnostic commands are </a:t>
                      </a: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filtered</a:t>
                      </a:r>
                      <a:r>
                        <a:rPr lang="en-US" sz="1300" b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  <a:endParaRPr lang="en-US" sz="1300" b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solidFill>
                            <a:schemeClr val="tx1"/>
                          </a:solidFill>
                        </a:rPr>
                        <a:t>Unauthorized diagnostic commands are </a:t>
                      </a:r>
                      <a:r>
                        <a:rPr lang="en-US" sz="1300" b="1">
                          <a:solidFill>
                            <a:schemeClr val="tx1"/>
                          </a:solidFill>
                        </a:rPr>
                        <a:t>filtered</a:t>
                      </a:r>
                      <a:r>
                        <a:rPr lang="en-US" sz="1300" b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QA-02</a:t>
                      </a:r>
                    </a:p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Security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  <a:endParaRPr lang="en-US" sz="1300" b="0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indent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MM ECU diagnostic traffic remains </a:t>
                      </a:r>
                      <a:r>
                        <a:rPr lang="en-US" sz="1300" b="1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within the EP container</a:t>
                      </a: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. (CyberSecurity team confirmed)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  <a:p>
                      <a:pPr marL="0" marR="0" indent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MM ECU diagnostic traffic remains </a:t>
                      </a:r>
                      <a:r>
                        <a:rPr lang="en-US" sz="1300" b="1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within the EP container</a:t>
                      </a: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. (CyberSecurity team confirmed)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  <a:p>
                      <a:pPr marL="0" marR="0" indent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MM ECU diagnostic traffic remains </a:t>
                      </a:r>
                      <a:r>
                        <a:rPr lang="en-US" sz="1300" b="1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within the EP container.</a:t>
                      </a: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(CyberSecurity team confirmed)</a:t>
                      </a:r>
                      <a:endParaRPr lang="en-US" sz="1300" b="1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QA-03</a:t>
                      </a:r>
                    </a:p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Modifiability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</a:rPr>
                        <a:t>Low</a:t>
                      </a:r>
                      <a:endParaRPr lang="en-US" sz="1300" b="1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RemoteDiag</a:t>
                      </a: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and </a:t>
                      </a:r>
                      <a:r>
                        <a:rPr lang="en-US" sz="1300" b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OnBoardClient’s</a:t>
                      </a: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responsibility is changed:</a:t>
                      </a:r>
                    </a:p>
                    <a:p>
                      <a:pPr marL="0" marR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3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Diagnostic priority control</a:t>
                      </a: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is moved to </a:t>
                      </a:r>
                      <a:r>
                        <a:rPr lang="en-US" sz="1300" b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OnBoardClient</a:t>
                      </a: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which requires requirement updates.</a:t>
                      </a:r>
                    </a:p>
                    <a:p>
                      <a:pPr marL="0" marR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 Existing </a:t>
                      </a:r>
                      <a:r>
                        <a:rPr lang="en-US" sz="1300" b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RemoteDiag</a:t>
                      </a: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responsibilities are distributed across </a:t>
                      </a:r>
                      <a:r>
                        <a:rPr lang="en-US" sz="13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two applications</a:t>
                      </a: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, increasing OEM specification and coordination effort.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Core responsibilities of existing components remain unchanged after migration.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>
                          <a:solidFill>
                            <a:srgbClr val="00B050"/>
                          </a:solidFill>
                        </a:rPr>
                        <a:t>High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Core responsibilities of existing components remain unchanged after migration.</a:t>
                      </a:r>
                    </a:p>
                    <a:p>
                      <a:pPr algn="l" latinLnBrk="0">
                        <a:lnSpc>
                          <a:spcPct val="110000"/>
                        </a:lnSpc>
                      </a:pPr>
                      <a:endParaRPr lang="en-US" sz="1300" b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QA-04</a:t>
                      </a:r>
                    </a:p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Maintainability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Medium</a:t>
                      </a:r>
                    </a:p>
                    <a:p>
                      <a:pPr marL="0" marR="0" algn="l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01 additional component is modified </a:t>
                      </a: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300" b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OnBoardClient</a:t>
                      </a: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- implements UDS socket server and priority control) </a:t>
                      </a:r>
                    </a:p>
                  </a:txBody>
                  <a:tcPr marL="25400" marR="254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</a:rPr>
                        <a:t>Low</a:t>
                      </a:r>
                      <a:endParaRPr lang="en-US" sz="1300" b="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10 EP modules</a:t>
                      </a: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1300" b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PowerMgr</a:t>
                      </a: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300" b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HttpMgr</a:t>
                      </a:r>
                      <a:r>
                        <a:rPr lang="en-US" sz="13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, …) have to implement cross-container UDS socket communication and fail-safe handling.</a:t>
                      </a: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</a:pPr>
                      <a:r>
                        <a:rPr kumimoji="0" lang="en-US" sz="13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D7D3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Medium</a:t>
                      </a:r>
                      <a:endParaRPr lang="en-US" sz="1300" b="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algn="l" latinLnBrk="0">
                        <a:lnSpc>
                          <a:spcPct val="110000"/>
                        </a:lnSpc>
                      </a:pPr>
                      <a:r>
                        <a:rPr lang="en-US" sz="1300" b="1" baseline="0" dirty="0">
                          <a:latin typeface="+mn-lt"/>
                          <a:cs typeface="Arial" panose="020B0604020202020204" pitchFamily="34" charset="0"/>
                        </a:rPr>
                        <a:t>No changes </a:t>
                      </a:r>
                      <a:r>
                        <a:rPr lang="en-US" sz="1300" b="0" baseline="0" dirty="0">
                          <a:latin typeface="+mn-lt"/>
                          <a:cs typeface="Arial" panose="020B0604020202020204" pitchFamily="34" charset="0"/>
                        </a:rPr>
                        <a:t>required in </a:t>
                      </a:r>
                      <a:r>
                        <a:rPr lang="en-US" sz="1300" b="0" baseline="0">
                          <a:latin typeface="+mn-lt"/>
                          <a:cs typeface="Arial" panose="020B0604020202020204" pitchFamily="34" charset="0"/>
                        </a:rPr>
                        <a:t>existing </a:t>
                      </a:r>
                      <a:r>
                        <a:rPr lang="en-US" sz="1300" b="0" baseline="0" smtClean="0">
                          <a:latin typeface="+mn-lt"/>
                          <a:cs typeface="Arial" panose="020B0604020202020204" pitchFamily="34" charset="0"/>
                        </a:rPr>
                        <a:t>modules but a </a:t>
                      </a:r>
                      <a:r>
                        <a:rPr lang="en-US" sz="1300" b="1" baseline="0" smtClean="0">
                          <a:latin typeface="+mn-lt"/>
                          <a:cs typeface="Arial" panose="020B0604020202020204" pitchFamily="34" charset="0"/>
                        </a:rPr>
                        <a:t>new module</a:t>
                      </a:r>
                      <a:r>
                        <a:rPr lang="en-US" sz="1300" b="0" baseline="0" smtClean="0">
                          <a:latin typeface="+mn-lt"/>
                          <a:cs typeface="Arial" panose="020B0604020202020204" pitchFamily="34" charset="0"/>
                        </a:rPr>
                        <a:t> RemoteDiagProxy is required. RemoteDiagProxy </a:t>
                      </a:r>
                      <a:r>
                        <a:rPr lang="en-US" sz="1300" b="0" baseline="0" dirty="0">
                          <a:latin typeface="+mn-lt"/>
                          <a:cs typeface="Arial" panose="020B0604020202020204" pitchFamily="34" charset="0"/>
                        </a:rPr>
                        <a:t>preserves the current </a:t>
                      </a:r>
                      <a:r>
                        <a:rPr lang="en-US" sz="1300" b="0" baseline="0">
                          <a:latin typeface="+mn-lt"/>
                          <a:cs typeface="Arial" panose="020B0604020202020204" pitchFamily="34" charset="0"/>
                        </a:rPr>
                        <a:t>binder </a:t>
                      </a:r>
                      <a:r>
                        <a:rPr lang="en-US" sz="1300" b="0" baseline="0" smtClean="0">
                          <a:latin typeface="+mn-lt"/>
                          <a:cs typeface="Arial" panose="020B0604020202020204" pitchFamily="34" charset="0"/>
                        </a:rPr>
                        <a:t>interface. </a:t>
                      </a:r>
                      <a:endParaRPr lang="en-US" sz="1300" b="0" baseline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106700" marR="106700" marT="53350" marB="533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3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Decision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Rejected</a:t>
                      </a: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Rejected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0000"/>
                        </a:lnSpc>
                      </a:pPr>
                      <a:r>
                        <a:rPr lang="en-US" sz="1300" b="0" dirty="0">
                          <a:latin typeface="+mn-lt"/>
                          <a:cs typeface="Arial" panose="020B0604020202020204" pitchFamily="34" charset="0"/>
                        </a:rPr>
                        <a:t>Selected</a:t>
                      </a:r>
                    </a:p>
                  </a:txBody>
                  <a:tcPr marL="106700" marR="106700" marT="53350" marB="5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112016" y="6009927"/>
            <a:ext cx="198187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High</a:t>
            </a:r>
            <a:r>
              <a:rPr lang="en-US" sz="1400"/>
              <a:t>: Fully satisfy</a:t>
            </a:r>
          </a:p>
          <a:p>
            <a:r>
              <a:rPr lang="en-US" sz="1400" b="1">
                <a:solidFill>
                  <a:schemeClr val="accent2"/>
                </a:solidFill>
              </a:rPr>
              <a:t>Medium</a:t>
            </a:r>
            <a:r>
              <a:rPr lang="en-US" sz="1400"/>
              <a:t>: Partially satisfy</a:t>
            </a:r>
          </a:p>
          <a:p>
            <a:r>
              <a:rPr lang="en-US" sz="1400" b="1">
                <a:solidFill>
                  <a:srgbClr val="FF0000"/>
                </a:solidFill>
              </a:rPr>
              <a:t>Low</a:t>
            </a:r>
            <a:r>
              <a:rPr lang="en-US" sz="1400"/>
              <a:t>: Not satisfy</a:t>
            </a:r>
          </a:p>
        </p:txBody>
      </p:sp>
      <p:pic>
        <p:nvPicPr>
          <p:cNvPr id="9" name="Picture 2" descr="체크 표시 클립 아트. 무료 다운로드. | Creazilla">
            <a:extLst>
              <a:ext uri="{FF2B5EF4-FFF2-40B4-BE49-F238E27FC236}">
                <a16:creationId xmlns="" xmlns:a16="http://schemas.microsoft.com/office/drawing/2014/main" id="{07DB846E-8DD2-9BB2-88FF-8A7E0BD6C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0602" y="5657752"/>
            <a:ext cx="216024" cy="21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68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A99A5D-DD39-1919-FD58-65B06FAF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Detail </a:t>
            </a:r>
            <a:r>
              <a:rPr lang="en-US" smtClean="0"/>
              <a:t>design Alt-C: </a:t>
            </a:r>
            <a:r>
              <a:rPr lang="en-US"/>
              <a:t>Forward </a:t>
            </a:r>
            <a:r>
              <a:rPr lang="en-US" dirty="0"/>
              <a:t>API call from proxy to </a:t>
            </a:r>
            <a:r>
              <a:rPr lang="en-US" dirty="0" err="1"/>
              <a:t>remotediag</a:t>
            </a:r>
            <a:r>
              <a:rPr lang="en-US" dirty="0"/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08" y="990600"/>
            <a:ext cx="10678985" cy="496697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3129" y="6086159"/>
            <a:ext cx="2572364" cy="6859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89714" y="3820886"/>
            <a:ext cx="2906486" cy="381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6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43E24B-1160-F6BA-5A0C-DB3B3DD9C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Detail </a:t>
            </a:r>
            <a:r>
              <a:rPr lang="en-US" smtClean="0"/>
              <a:t>design Alt-C: </a:t>
            </a:r>
            <a:r>
              <a:rPr lang="en-US"/>
              <a:t>Filter </a:t>
            </a:r>
            <a:r>
              <a:rPr lang="en-US" dirty="0"/>
              <a:t>scenario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144" y="990600"/>
            <a:ext cx="9757712" cy="503456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2492" y="6153754"/>
            <a:ext cx="2572364" cy="68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6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and Verification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85" y="1399738"/>
            <a:ext cx="10544082" cy="23389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4900" y="1030406"/>
            <a:ext cx="5251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SidFilter blocks reprogramming diagnostic requests</a:t>
            </a:r>
          </a:p>
        </p:txBody>
      </p:sp>
    </p:spTree>
    <p:extLst>
      <p:ext uri="{BB962C8B-B14F-4D97-AF65-F5344CB8AC3E}">
        <p14:creationId xmlns:p14="http://schemas.microsoft.com/office/powerpoint/2010/main" val="349749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and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866" y="1190625"/>
            <a:ext cx="5258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RemoteDiagProxy and RemoteDiag communication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31" y="1559957"/>
            <a:ext cx="11193437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4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66" y="2064190"/>
            <a:ext cx="11887201" cy="40038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b="1"/>
              <a:t>Q&amp;A</a:t>
            </a:r>
          </a:p>
          <a:p>
            <a:pPr marL="0" indent="0" algn="ctr">
              <a:buNone/>
            </a:pPr>
            <a:r>
              <a:rPr lang="en-US" sz="3600" b="1"/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5811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60866" y="2064190"/>
            <a:ext cx="11887201" cy="40038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b="1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52254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86E6E-BE59-7A7B-6BE9-16A0A094C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Diagnostic filtering requirements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AD4A4EC6-9BB8-2849-8D75-05C44DE9A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47" y="1073926"/>
            <a:ext cx="5404920" cy="4238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C985C62C-76E5-84A1-DEF1-FC486F2BF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314" y="1073926"/>
            <a:ext cx="5385950" cy="318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06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946" y="990600"/>
            <a:ext cx="8390180" cy="5278438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Detai design: IPC connection setup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765" y="5306316"/>
            <a:ext cx="2572364" cy="68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6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Detail design: API request-response 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52" y="1025348"/>
            <a:ext cx="11292296" cy="494825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356" y="6036978"/>
            <a:ext cx="2572364" cy="68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66" y="189168"/>
            <a:ext cx="12031134" cy="672843"/>
          </a:xfrm>
          <a:solidFill>
            <a:schemeClr val="bg1"/>
          </a:solidFill>
        </p:spPr>
        <p:txBody>
          <a:bodyPr/>
          <a:lstStyle/>
          <a:p>
            <a:pPr algn="r"/>
            <a:r>
              <a:rPr lang="en-US"/>
              <a:t>Detail design: </a:t>
            </a:r>
            <a:r>
              <a:rPr lang="en-US" smtClean="0"/>
              <a:t>Re-connect mechanism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433" y="5323813"/>
            <a:ext cx="2572364" cy="685964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66" y="64828"/>
            <a:ext cx="5714833" cy="6728344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433" y="862011"/>
            <a:ext cx="5738258" cy="413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5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9318</TotalTime>
  <Words>1615</Words>
  <Application>Microsoft Office PowerPoint</Application>
  <PresentationFormat>Widescreen</PresentationFormat>
  <Paragraphs>238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Malgun Gothic</vt:lpstr>
      <vt:lpstr>Arial</vt:lpstr>
      <vt:lpstr>Calibri</vt:lpstr>
      <vt:lpstr>Calibri Light</vt:lpstr>
      <vt:lpstr>Times New Roman</vt:lpstr>
      <vt:lpstr>Wingdings</vt:lpstr>
      <vt:lpstr>Office Theme</vt:lpstr>
      <vt:lpstr>Design of Secure Remote Diag on Container Separation Architecture</vt:lpstr>
      <vt:lpstr>Content</vt:lpstr>
      <vt:lpstr>Context &amp; Motivation – Toyota 24DCM project</vt:lpstr>
      <vt:lpstr>Context &amp; Motivation – System architecture migration</vt:lpstr>
      <vt:lpstr>Problem</vt:lpstr>
      <vt:lpstr>Problem</vt:lpstr>
      <vt:lpstr>Quality Attribute</vt:lpstr>
      <vt:lpstr>Design Alternative – Alt-A: Split RemoteDiag</vt:lpstr>
      <vt:lpstr>Design Alternative – Alt-B: Move RemoteDiag</vt:lpstr>
      <vt:lpstr>Design Alternative – Alt-C: Move RemoteDiag + Proxy</vt:lpstr>
      <vt:lpstr>Comparison &amp; Decision</vt:lpstr>
      <vt:lpstr>Detail design Alt-C: Forward API call from proxy to remotediag </vt:lpstr>
      <vt:lpstr>Detail design Alt-C: Filter scenario</vt:lpstr>
      <vt:lpstr>Implementation and Verification</vt:lpstr>
      <vt:lpstr>Implementation and Verification</vt:lpstr>
      <vt:lpstr>PowerPoint Presentation</vt:lpstr>
      <vt:lpstr>PowerPoint Presentation</vt:lpstr>
      <vt:lpstr>Diagnostic filtering requirements</vt:lpstr>
      <vt:lpstr>Detai design: IPC connection setup</vt:lpstr>
      <vt:lpstr>Detail design: API request-response </vt:lpstr>
      <vt:lpstr>Detail design: Re-connect mechanism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Secure Remote Diag on Container Separation Architecture</dc:title>
  <dc:creator>PHI HOANG VU/LGEDV SOFTWARE ENGINEERING 1 TEAM</dc:creator>
  <cp:lastModifiedBy>PHI HOANG VU/LGEDV SOFTWARE ENGINEERING 1 TEAM</cp:lastModifiedBy>
  <cp:revision>751</cp:revision>
  <dcterms:created xsi:type="dcterms:W3CDTF">2026-08-17T04:18:20Z</dcterms:created>
  <dcterms:modified xsi:type="dcterms:W3CDTF">2026-10-13T08:33:11Z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LGE Internal Use Only</vt:lpwstr>
  </property>
</Properties>
</file>