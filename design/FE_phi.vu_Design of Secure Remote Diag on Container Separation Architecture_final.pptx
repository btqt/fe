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94" r:id="rId4"/>
    <p:sldId id="280" r:id="rId5"/>
    <p:sldId id="289" r:id="rId6"/>
    <p:sldId id="262" r:id="rId7"/>
    <p:sldId id="283" r:id="rId8"/>
    <p:sldId id="269" r:id="rId9"/>
    <p:sldId id="271" r:id="rId10"/>
    <p:sldId id="287" r:id="rId11"/>
    <p:sldId id="279" r:id="rId12"/>
    <p:sldId id="292" r:id="rId13"/>
    <p:sldId id="293" r:id="rId14"/>
    <p:sldId id="288" r:id="rId15"/>
    <p:sldId id="291" r:id="rId16"/>
    <p:sldId id="274" r:id="rId17"/>
    <p:sldId id="277" r:id="rId18"/>
    <p:sldId id="276" r:id="rId19"/>
    <p:sldId id="295" r:id="rId20"/>
    <p:sldId id="296" r:id="rId21"/>
    <p:sldId id="29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FFF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32" autoAdjust="0"/>
    <p:restoredTop sz="93961" autoAdjust="0"/>
  </p:normalViewPr>
  <p:slideViewPr>
    <p:cSldViewPr snapToGrid="0">
      <p:cViewPr varScale="1">
        <p:scale>
          <a:sx n="105" d="100"/>
          <a:sy n="105" d="100"/>
        </p:scale>
        <p:origin x="564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17E2-92C1-406A-80C1-BA1B838099E9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7405-33BD-42BD-B604-93760E418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223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871B573-D46B-DD18-A2C4-C4082199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16CD46A-A877-3DE1-9984-1B9616582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CAC9709-5C79-D782-6C8E-2BC9A65C8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A1C9B43-13E9-E1D6-156A-5CB894C64F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6435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64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531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Trade-offs</a:t>
            </a:r>
          </a:p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Maintainability: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EP modules require cross-container IPC support, increasing implementation effort and code-change scope.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316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81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75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113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98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2781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그림 5" descr="백색바탕.png">
            <a:extLst>
              <a:ext uri="{FF2B5EF4-FFF2-40B4-BE49-F238E27FC236}">
                <a16:creationId xmlns:a16="http://schemas.microsoft.com/office/drawing/2014/main" xmlns="" id="{28873918-42A2-05FA-4A84-F17869DE34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0" y="189168"/>
            <a:ext cx="872067" cy="47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6619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45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90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9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19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76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89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344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34B22C-8C05-4817-830F-8B9F9DEAE546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DC87BF5-B759-FAAB-FE6D-F0E5F640800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xmlns="" val="hdr"/>
              </p:ext>
            </p:extLst>
          </p:nvPr>
        </p:nvSpPr>
        <p:spPr>
          <a:xfrm>
            <a:off x="5424488" y="63500"/>
            <a:ext cx="13779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LGE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92128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9085" y="1122363"/>
            <a:ext cx="10493830" cy="2387600"/>
          </a:xfrm>
        </p:spPr>
        <p:txBody>
          <a:bodyPr>
            <a:normAutofit/>
          </a:bodyPr>
          <a:lstStyle/>
          <a:p>
            <a:r>
              <a:rPr lang="en-US" b="1"/>
              <a:t>Design of Secure Remote </a:t>
            </a:r>
            <a:r>
              <a:rPr lang="en-US" b="1" err="1"/>
              <a:t>Diag</a:t>
            </a:r>
            <a:r>
              <a:rPr lang="en-US" b="1"/>
              <a:t> on Container Separation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1655762"/>
          </a:xfrm>
        </p:spPr>
        <p:txBody>
          <a:bodyPr/>
          <a:lstStyle/>
          <a:p>
            <a:r>
              <a:rPr lang="en-US"/>
              <a:t>Candidate: Vu Hoang Phi (phi.vu) </a:t>
            </a:r>
          </a:p>
          <a:p>
            <a:r>
              <a:rPr lang="en-US"/>
              <a:t>LGEDV – September 2026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540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/>
          <a:lstStyle/>
          <a:p>
            <a:r>
              <a:rPr lang="en-US"/>
              <a:t>Content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605709" y="1868501"/>
            <a:ext cx="5983456" cy="555705"/>
            <a:chOff x="2431279" y="1146517"/>
            <a:chExt cx="7307525" cy="678676"/>
          </a:xfrm>
        </p:grpSpPr>
        <p:sp>
          <p:nvSpPr>
            <p:cNvPr id="65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6" name="Group 65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68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70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1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2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9" name="Text Box 13"/>
              <p:cNvSpPr txBox="1">
                <a:spLocks noChangeArrowheads="1"/>
              </p:cNvSpPr>
              <p:nvPr/>
            </p:nvSpPr>
            <p:spPr bwMode="gray">
              <a:xfrm>
                <a:off x="2630979" y="1231971"/>
                <a:ext cx="362599" cy="47705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2</a:t>
                </a:r>
              </a:p>
            </p:txBody>
          </p:sp>
        </p:grpSp>
        <p:sp>
          <p:nvSpPr>
            <p:cNvPr id="67" name="Rectangle 66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Problem</a:t>
              </a:r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05709" y="1053628"/>
            <a:ext cx="5983456" cy="555705"/>
            <a:chOff x="2431279" y="1146517"/>
            <a:chExt cx="7307525" cy="678676"/>
          </a:xfrm>
        </p:grpSpPr>
        <p:sp>
          <p:nvSpPr>
            <p:cNvPr id="119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22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24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23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1</a:t>
                </a:r>
              </a:p>
            </p:txBody>
          </p:sp>
        </p:grpSp>
        <p:sp>
          <p:nvSpPr>
            <p:cNvPr id="121" name="Rectangle 120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Context </a:t>
              </a:r>
              <a:r>
                <a:rPr lang="en-US" sz="2800"/>
                <a:t>&amp; Motivation</a:t>
              </a:r>
              <a:endParaRPr lang="en-US" sz="2800">
                <a:cs typeface="Times New Roman" panose="02020603050405020304" pitchFamily="18" charset="0"/>
              </a:endParaRPr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605709" y="2683374"/>
            <a:ext cx="5983456" cy="555705"/>
            <a:chOff x="2431279" y="1146517"/>
            <a:chExt cx="7307525" cy="678676"/>
          </a:xfrm>
        </p:grpSpPr>
        <p:sp>
          <p:nvSpPr>
            <p:cNvPr id="128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9" name="Group 128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31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33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2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3</a:t>
                </a:r>
              </a:p>
            </p:txBody>
          </p:sp>
        </p:grpSp>
        <p:sp>
          <p:nvSpPr>
            <p:cNvPr id="130" name="Rectangle 129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Quality Attribute</a:t>
              </a:r>
            </a:p>
          </p:txBody>
        </p:sp>
      </p:grpSp>
      <p:grpSp>
        <p:nvGrpSpPr>
          <p:cNvPr id="136" name="Group 135"/>
          <p:cNvGrpSpPr/>
          <p:nvPr/>
        </p:nvGrpSpPr>
        <p:grpSpPr>
          <a:xfrm>
            <a:off x="605709" y="3498247"/>
            <a:ext cx="5983456" cy="555705"/>
            <a:chOff x="2431279" y="1146517"/>
            <a:chExt cx="7307525" cy="678676"/>
          </a:xfrm>
        </p:grpSpPr>
        <p:sp>
          <p:nvSpPr>
            <p:cNvPr id="13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8" name="Group 13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4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4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4</a:t>
                </a:r>
              </a:p>
            </p:txBody>
          </p:sp>
        </p:grpSp>
        <p:sp>
          <p:nvSpPr>
            <p:cNvPr id="139" name="Rectangle 13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Design Alternative</a:t>
              </a:r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605709" y="4313120"/>
            <a:ext cx="5983456" cy="555705"/>
            <a:chOff x="2431279" y="1146517"/>
            <a:chExt cx="7307525" cy="678676"/>
          </a:xfrm>
        </p:grpSpPr>
        <p:sp>
          <p:nvSpPr>
            <p:cNvPr id="14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8" name="Group 14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5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5</a:t>
                </a:r>
              </a:p>
            </p:txBody>
          </p:sp>
        </p:grpSp>
        <p:sp>
          <p:nvSpPr>
            <p:cNvPr id="149" name="Rectangle 14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Comparison &amp; Decision</a:t>
              </a:r>
            </a:p>
          </p:txBody>
        </p:sp>
      </p:grpSp>
      <p:grpSp>
        <p:nvGrpSpPr>
          <p:cNvPr id="155" name="Group 154"/>
          <p:cNvGrpSpPr/>
          <p:nvPr/>
        </p:nvGrpSpPr>
        <p:grpSpPr>
          <a:xfrm>
            <a:off x="605709" y="5127991"/>
            <a:ext cx="6753034" cy="555705"/>
            <a:chOff x="2431279" y="1146517"/>
            <a:chExt cx="8247402" cy="678676"/>
          </a:xfrm>
        </p:grpSpPr>
        <p:sp>
          <p:nvSpPr>
            <p:cNvPr id="156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7" name="Group 156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9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61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60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6</a:t>
                </a:r>
              </a:p>
            </p:txBody>
          </p:sp>
        </p:grpSp>
        <p:sp>
          <p:nvSpPr>
            <p:cNvPr id="158" name="Rectangle 157"/>
            <p:cNvSpPr/>
            <p:nvPr/>
          </p:nvSpPr>
          <p:spPr>
            <a:xfrm>
              <a:off x="3177047" y="1155933"/>
              <a:ext cx="7501634" cy="63900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Implementation &amp; Verification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5744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8DF60D-9815-C72C-E039-867021DB8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D5429F4-17DA-8C65-E10D-772D18EA9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/>
              <a:t>Context &amp; Motivation – Toyota 24DCM project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C9BB87FF-FFF5-432F-99E1-3CFA176F7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78996"/>
            <a:ext cx="11916834" cy="1756536"/>
          </a:xfrm>
        </p:spPr>
        <p:txBody>
          <a:bodyPr>
            <a:noAutofit/>
          </a:bodyPr>
          <a:lstStyle/>
          <a:p>
            <a:r>
              <a:rPr lang="en-US" sz="1800" dirty="0"/>
              <a:t>Toyota </a:t>
            </a:r>
            <a:r>
              <a:rPr lang="en-US" sz="1800" b="1" dirty="0"/>
              <a:t>DCM</a:t>
            </a:r>
            <a:r>
              <a:rPr lang="en-US" sz="1800" dirty="0"/>
              <a:t>: a telematics platform providing connected vehicle services, including </a:t>
            </a:r>
            <a:r>
              <a:rPr lang="en-US" sz="1800" b="1" dirty="0"/>
              <a:t>remote diagnostics </a:t>
            </a:r>
            <a:r>
              <a:rPr lang="en-US" sz="1800" dirty="0"/>
              <a:t>from OEM server.</a:t>
            </a:r>
          </a:p>
          <a:p>
            <a:r>
              <a:rPr lang="en-US" sz="1800" dirty="0"/>
              <a:t>Supports diagnostic communication and OTA updates through the Internal CAN bus.</a:t>
            </a:r>
          </a:p>
          <a:p>
            <a:r>
              <a:rPr lang="en-US" sz="1800" b="1" dirty="0"/>
              <a:t>Current architecture</a:t>
            </a:r>
            <a:r>
              <a:rPr lang="en-US" sz="1800" dirty="0"/>
              <a:t>: monolithic deployment model, with all components running in a single partition.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E28FFDEC-FAE3-F715-C17D-E64EBFEF5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266" y="2652517"/>
            <a:ext cx="6611468" cy="38032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E5AD2A0C-B319-E101-9513-01BAFF04FFE6}"/>
              </a:ext>
            </a:extLst>
          </p:cNvPr>
          <p:cNvSpPr txBox="1"/>
          <p:nvPr/>
        </p:nvSpPr>
        <p:spPr>
          <a:xfrm>
            <a:off x="4199961" y="6454982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system architecture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52CEA5CE-1C3F-5BA0-00F6-DC7933C76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475" y="5088291"/>
            <a:ext cx="1578980" cy="169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57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>
            <a:cxnSpLocks/>
          </p:cNvCxnSpPr>
          <p:nvPr/>
        </p:nvCxnSpPr>
        <p:spPr>
          <a:xfrm>
            <a:off x="3470806" y="3153335"/>
            <a:ext cx="0" cy="3671681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1C1235-51B4-A8A0-3A61-9C767F437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 dirty="0"/>
              <a:t>Context &amp; Motivation – System architecture migration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4A0E7BDD-2CF4-321B-0637-D9AF63CAB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78995"/>
            <a:ext cx="11916834" cy="2357405"/>
          </a:xfrm>
        </p:spPr>
        <p:txBody>
          <a:bodyPr>
            <a:noAutofit/>
          </a:bodyPr>
          <a:lstStyle/>
          <a:p>
            <a:r>
              <a:rPr lang="en-US" sz="1600" dirty="0"/>
              <a:t>OEM Security Threat</a:t>
            </a:r>
            <a:r>
              <a:rPr lang="en-US" sz="1600" b="1" dirty="0"/>
              <a:t>: </a:t>
            </a:r>
            <a:r>
              <a:rPr lang="en-US" sz="1600" dirty="0"/>
              <a:t>Entry Point (EP) partition is compromised by unauthorized software and has been taken over.</a:t>
            </a:r>
            <a:endParaRPr lang="en-US" sz="1400" dirty="0"/>
          </a:p>
          <a:p>
            <a:r>
              <a:rPr lang="en-US" sz="1600" dirty="0"/>
              <a:t>OEM Security Proposal: The scope of compromise shall be limited to the EP partition and shall not propagate internal (to internal partition or in-vehicle CAN bus)</a:t>
            </a:r>
          </a:p>
          <a:p>
            <a:r>
              <a:rPr lang="en-US" sz="1600" b="1" dirty="0"/>
              <a:t>System architecture migration</a:t>
            </a:r>
            <a:r>
              <a:rPr lang="en-US" sz="1600" dirty="0"/>
              <a:t>: </a:t>
            </a:r>
          </a:p>
          <a:p>
            <a:pPr lvl="1"/>
            <a:r>
              <a:rPr lang="en-US" sz="1600" dirty="0"/>
              <a:t>DCM is separated into 2 partitions using LXC containers: </a:t>
            </a:r>
          </a:p>
          <a:p>
            <a:pPr lvl="2"/>
            <a:r>
              <a:rPr lang="en-US" sz="1600" b="1" dirty="0"/>
              <a:t>EP container (Entry Point)</a:t>
            </a:r>
            <a:r>
              <a:rPr lang="en-US" sz="1600" dirty="0"/>
              <a:t>: externally exposed network components.</a:t>
            </a:r>
          </a:p>
          <a:p>
            <a:pPr lvl="2"/>
            <a:r>
              <a:rPr lang="en-US" sz="1600" b="1" dirty="0"/>
              <a:t>Internal container: </a:t>
            </a:r>
            <a:r>
              <a:rPr lang="en-US" sz="1600" dirty="0"/>
              <a:t>components which have access to CAN bus.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4" y="4578725"/>
            <a:ext cx="3237478" cy="1862348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3079651" y="6512647"/>
            <a:ext cx="1109108" cy="312369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25431" y="6473588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4273" y="6490268"/>
            <a:ext cx="396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system architecture (containerized)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82300E94-D641-5E7E-D410-1F95BB0C9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475" y="5088291"/>
            <a:ext cx="1578980" cy="16972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xmlns="" id="{55A41CDD-7CE6-4D63-F256-F3E90D329D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1830" y="3202531"/>
            <a:ext cx="6854434" cy="328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47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20FEF80F-391D-5C0D-3E70-1754E47CE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3985" y="2961460"/>
            <a:ext cx="7774134" cy="3707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0866" y="862011"/>
            <a:ext cx="11870268" cy="2307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 err="1"/>
              <a:t>RemoteDiag</a:t>
            </a:r>
            <a:r>
              <a:rPr lang="en-US" sz="1600" dirty="0"/>
              <a:t>: a module processes diagnostic for each ECU and uploads diagnostic data to OEM Server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RemoteDiag</a:t>
            </a:r>
            <a:r>
              <a:rPr lang="en-US" sz="1600" dirty="0"/>
              <a:t> has 2 communication paths: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with </a:t>
            </a:r>
            <a:r>
              <a:rPr lang="en-US" sz="1600" b="1" dirty="0"/>
              <a:t>OEM Server</a:t>
            </a:r>
            <a:r>
              <a:rPr lang="en-US" sz="1600" dirty="0"/>
              <a:t>: performs direct diagnostic commands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with </a:t>
            </a:r>
            <a:r>
              <a:rPr lang="en-US" sz="1600" b="1" dirty="0"/>
              <a:t>MM ecu</a:t>
            </a:r>
            <a:r>
              <a:rPr lang="en-US" sz="1600" dirty="0"/>
              <a:t>: OTA diagnostic update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Risk: </a:t>
            </a:r>
            <a:r>
              <a:rPr lang="en-US" sz="1600" b="1" dirty="0" err="1"/>
              <a:t>RemoteDiag</a:t>
            </a:r>
            <a:r>
              <a:rPr lang="en-US" sz="1600" b="1" dirty="0"/>
              <a:t> &lt;-&gt; MM path </a:t>
            </a:r>
            <a:r>
              <a:rPr lang="en-US" sz="1600" dirty="0"/>
              <a:t>traverses the EP container, exposing the communication to an attacker if EP container is compromised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OEM requests that </a:t>
            </a:r>
            <a:r>
              <a:rPr lang="en-US" sz="1600" b="1" dirty="0"/>
              <a:t>unauthorized reprogramming requests should be filtered.</a:t>
            </a:r>
          </a:p>
          <a:p>
            <a:pPr>
              <a:lnSpc>
                <a:spcPct val="130000"/>
              </a:lnSpc>
            </a:pPr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585339-B774-DFDC-4DB4-D02F5083D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6896" y="3782508"/>
            <a:ext cx="4390970" cy="923330"/>
            <a:chOff x="24485" y="4675267"/>
            <a:chExt cx="4623437" cy="92333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xmlns="" id="{2477AED6-8D6F-D505-6D7B-78460A03A2E8}"/>
                </a:ext>
              </a:extLst>
            </p:cNvPr>
            <p:cNvSpPr txBox="1"/>
            <p:nvPr/>
          </p:nvSpPr>
          <p:spPr>
            <a:xfrm>
              <a:off x="576043" y="4675267"/>
              <a:ext cx="407187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RemoteDiag’s</a:t>
              </a:r>
              <a:r>
                <a:rPr lang="en-US" dirty="0"/>
                <a:t> </a:t>
              </a:r>
              <a:r>
                <a:rPr lang="en-US" b="1" dirty="0"/>
                <a:t>internal</a:t>
              </a:r>
              <a:r>
                <a:rPr lang="en-US" dirty="0"/>
                <a:t> </a:t>
              </a:r>
              <a:r>
                <a:rPr lang="en-US" b="1" dirty="0"/>
                <a:t>architecture and communication </a:t>
              </a:r>
              <a:r>
                <a:rPr lang="en-US" dirty="0"/>
                <a:t>should be </a:t>
              </a:r>
              <a:r>
                <a:rPr lang="en-US" b="1" dirty="0"/>
                <a:t>redesigned</a:t>
              </a:r>
              <a:r>
                <a:rPr lang="en-US" dirty="0"/>
                <a:t> to align with new architecture</a:t>
              </a:r>
              <a:endParaRPr lang="en-US" b="1" dirty="0"/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24485" y="4861835"/>
              <a:ext cx="530318" cy="550195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B985467-A9DA-DE11-1910-E778EDD53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4294" y="5213119"/>
            <a:ext cx="1749283" cy="1565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794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5625E47-EFA5-9C35-32C7-F793664192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14736"/>
          </a:xfrm>
        </p:spPr>
        <p:txBody>
          <a:bodyPr>
            <a:normAutofit/>
          </a:bodyPr>
          <a:lstStyle/>
          <a:p>
            <a:r>
              <a:rPr lang="en-US" sz="2200"/>
              <a:t>Functional requirements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xmlns="" id="{658A328F-ADBC-7C5F-15DF-73E4DC21B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793615"/>
              </p:ext>
            </p:extLst>
          </p:nvPr>
        </p:nvGraphicFramePr>
        <p:xfrm>
          <a:off x="204773" y="1505336"/>
          <a:ext cx="11782454" cy="144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80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0483653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359352"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800">
                          <a:latin typeface="+mn-lt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effectLst/>
                          <a:latin typeface="+mn-lt"/>
                          <a:cs typeface="Arial" panose="020B0604020202020204" pitchFamily="34" charset="0"/>
                        </a:rPr>
                        <a:t>Description</a:t>
                      </a:r>
                      <a:endParaRPr lang="en-US" sz="1800" b="1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FR-01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block unauthorized diagnostic commands related to ECU reprogramming.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FR-02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route UDS diagnostic messages exchanged with the MM ECU entirely within the Internal container.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2462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816B88-86B3-799E-3A3E-FA919E3E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6E5815-73D6-DA66-29AA-3BE061A3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 Attribute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xmlns="" id="{6010EF79-766B-D3A2-10CE-882C40A1E836}"/>
              </a:ext>
            </a:extLst>
          </p:cNvPr>
          <p:cNvSpPr txBox="1">
            <a:spLocks/>
          </p:cNvSpPr>
          <p:nvPr/>
        </p:nvSpPr>
        <p:spPr>
          <a:xfrm>
            <a:off x="100026" y="3171632"/>
            <a:ext cx="11887201" cy="514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xmlns="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283940"/>
              </p:ext>
            </p:extLst>
          </p:nvPr>
        </p:nvGraphicFramePr>
        <p:xfrm>
          <a:off x="182820" y="960039"/>
          <a:ext cx="11903556" cy="505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594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275879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419193">
                  <a:extLst>
                    <a:ext uri="{9D8B030D-6E8A-4147-A177-3AD203B41FA5}">
                      <a16:colId xmlns:a16="http://schemas.microsoft.com/office/drawing/2014/main" xmlns="" val="2530683369"/>
                    </a:ext>
                  </a:extLst>
                </a:gridCol>
                <a:gridCol w="1475715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986827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0"/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ID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QA Scenario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Type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Priority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compromised app/service sends reprogramming diagnostic to CAN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/>
                        <a:t>Zero Reprogramming SIDs reaches the internal CAN.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sends a diagnostic request via TCP to </a:t>
                      </a:r>
                      <a:r>
                        <a:rPr lang="en-US" sz="16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Zero diagnostic communication is found in EP. 100% number of</a:t>
                      </a:r>
                      <a:r>
                        <a:rPr lang="en-US" sz="1600" b="0" baseline="0" dirty="0">
                          <a:latin typeface="+mn-lt"/>
                          <a:cs typeface="Arial" panose="020B0604020202020204" pitchFamily="34" charset="0"/>
                        </a:rPr>
                        <a:t> requests are communicated within IP.</a:t>
                      </a: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new design reallocates responsibilities among existing software components.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No component is required to take responsibilities outside its originally defined role.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No additional specification updates caused by responsibility expansion.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new design requires existing software components (other than </a:t>
                      </a:r>
                      <a:r>
                        <a:rPr lang="en-US" sz="16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) to adapt to the new architecture.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Number of component</a:t>
                      </a:r>
                      <a:r>
                        <a:rPr lang="en-US" sz="1600" b="0" baseline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which needs to modify to align with new design 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845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79F3C30A-9B01-61F0-056C-27C80301C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439" y="2506013"/>
            <a:ext cx="9602347" cy="42569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866" y="862011"/>
            <a:ext cx="11834976" cy="1532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dirty="0"/>
              <a:t>Split </a:t>
            </a:r>
            <a:r>
              <a:rPr lang="en-US" dirty="0" err="1"/>
              <a:t>RemoteDiag</a:t>
            </a:r>
            <a:r>
              <a:rPr lang="en-US" dirty="0"/>
              <a:t> responsibilities into </a:t>
            </a:r>
            <a:r>
              <a:rPr lang="en-US" b="1" dirty="0"/>
              <a:t>2</a:t>
            </a:r>
            <a:r>
              <a:rPr lang="en-US" dirty="0"/>
              <a:t> apps: </a:t>
            </a:r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 dirty="0" err="1"/>
              <a:t>RemoteDiag</a:t>
            </a:r>
            <a:r>
              <a:rPr lang="en-US" b="1" dirty="0"/>
              <a:t> (EP container):</a:t>
            </a:r>
            <a:r>
              <a:rPr lang="en-US" dirty="0"/>
              <a:t> handles </a:t>
            </a:r>
            <a:r>
              <a:rPr lang="en-US" dirty="0" err="1"/>
              <a:t>diag</a:t>
            </a:r>
            <a:r>
              <a:rPr lang="en-US" dirty="0"/>
              <a:t> messages from OEM server.</a:t>
            </a:r>
            <a:endParaRPr lang="en-US" b="1" dirty="0"/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 dirty="0" err="1"/>
              <a:t>RemoteOTA</a:t>
            </a:r>
            <a:r>
              <a:rPr lang="en-US" b="1" dirty="0"/>
              <a:t> (Internal container):</a:t>
            </a:r>
            <a:r>
              <a:rPr lang="en-US" dirty="0"/>
              <a:t> handles OTA </a:t>
            </a:r>
            <a:r>
              <a:rPr lang="en-US" dirty="0" err="1"/>
              <a:t>diag</a:t>
            </a:r>
            <a:r>
              <a:rPr lang="en-US" dirty="0"/>
              <a:t> message flows from MM ECU.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OnBoardClient</a:t>
            </a:r>
            <a:r>
              <a:rPr lang="en-US" dirty="0"/>
              <a:t> is responsible for </a:t>
            </a:r>
            <a:r>
              <a:rPr lang="en-US" b="1" dirty="0"/>
              <a:t>reprogramming message filtering</a:t>
            </a:r>
            <a:r>
              <a:rPr lang="en-US" dirty="0"/>
              <a:t> and </a:t>
            </a:r>
            <a:r>
              <a:rPr lang="en-US" b="1" dirty="0"/>
              <a:t>diagnostic  priority control</a:t>
            </a:r>
            <a:r>
              <a:rPr lang="en-US" dirty="0"/>
              <a:t>.</a:t>
            </a:r>
            <a:endParaRPr lang="en-US" sz="16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Alt-A: Split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898742" y="6315754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09AB2A3E-4A5A-80E7-6BD7-3F4F73E5C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409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1687716E-3FC0-6720-F07D-6C2418434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1716" y="1969092"/>
            <a:ext cx="8070964" cy="48073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Alt-B: Move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0866" y="862011"/>
            <a:ext cx="1195871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Move RemoteDiag into the IP container.</a:t>
            </a:r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To maintain communication with OEM server and other EP-side component, </a:t>
            </a:r>
            <a:r>
              <a:rPr lang="en-US" b="1"/>
              <a:t>establish UDS socket connections to each module</a:t>
            </a: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33B21BAC-9E9C-F667-EB81-43F48A0E1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2AAE2910-7B87-F3B5-8408-E04FE9F21D42}"/>
              </a:ext>
            </a:extLst>
          </p:cNvPr>
          <p:cNvSpPr txBox="1"/>
          <p:nvPr/>
        </p:nvSpPr>
        <p:spPr>
          <a:xfrm>
            <a:off x="6898742" y="6315754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Alt-B</a:t>
            </a:r>
          </a:p>
        </p:txBody>
      </p:sp>
    </p:spTree>
    <p:extLst>
      <p:ext uri="{BB962C8B-B14F-4D97-AF65-F5344CB8AC3E}">
        <p14:creationId xmlns:p14="http://schemas.microsoft.com/office/powerpoint/2010/main" val="681369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D51D2743-5B87-CC81-8D97-271314E9E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739" y="2354869"/>
            <a:ext cx="9937672" cy="44151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Alt-C: Move </a:t>
            </a:r>
            <a:r>
              <a:rPr lang="en-US" err="1"/>
              <a:t>RemoteDiag</a:t>
            </a:r>
            <a:r>
              <a:rPr lang="en-US"/>
              <a:t> + Proxy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599"/>
            <a:ext cx="11825921" cy="1219201"/>
          </a:xfrm>
        </p:spPr>
        <p:txBody>
          <a:bodyPr>
            <a:normAutofit fontScale="92500" lnSpcReduction="20000"/>
          </a:bodyPr>
          <a:lstStyle/>
          <a:p>
            <a:r>
              <a:rPr lang="en-US" sz="1800" dirty="0"/>
              <a:t>Move </a:t>
            </a:r>
            <a:r>
              <a:rPr lang="en-US" sz="1800" dirty="0" err="1"/>
              <a:t>RemoteDiag</a:t>
            </a:r>
            <a:r>
              <a:rPr lang="en-US" sz="1800" dirty="0"/>
              <a:t> into the IP container.</a:t>
            </a:r>
          </a:p>
          <a:p>
            <a:r>
              <a:rPr lang="en-US" sz="1800" dirty="0"/>
              <a:t>Add a </a:t>
            </a:r>
            <a:r>
              <a:rPr lang="en-US" sz="1800" b="1" dirty="0"/>
              <a:t>new </a:t>
            </a:r>
            <a:r>
              <a:rPr lang="en-US" sz="1800" b="1" dirty="0" err="1"/>
              <a:t>RemoteDiagProxy</a:t>
            </a:r>
            <a:r>
              <a:rPr lang="en-US" sz="1800" b="1" dirty="0"/>
              <a:t> (RDP) component</a:t>
            </a:r>
            <a:r>
              <a:rPr lang="en-US" sz="1800" dirty="0"/>
              <a:t> in the EP that acts as a </a:t>
            </a:r>
            <a:r>
              <a:rPr lang="en-US" sz="1800" b="1" dirty="0"/>
              <a:t>transparent proxy</a:t>
            </a:r>
            <a:r>
              <a:rPr lang="en-US" sz="1800" dirty="0"/>
              <a:t>. </a:t>
            </a:r>
          </a:p>
          <a:p>
            <a:r>
              <a:rPr lang="en-US" sz="1800" dirty="0"/>
              <a:t>EP modules continue to interact with RDP using their existing interface</a:t>
            </a:r>
          </a:p>
          <a:p>
            <a:r>
              <a:rPr lang="en-US" sz="1800" dirty="0"/>
              <a:t>RDP forwards requests to </a:t>
            </a:r>
            <a:r>
              <a:rPr lang="en-US" sz="1800" dirty="0" err="1"/>
              <a:t>RemoteDiag</a:t>
            </a:r>
            <a:r>
              <a:rPr lang="en-US" sz="1800" dirty="0"/>
              <a:t> via UDS socket channel.</a:t>
            </a:r>
            <a:endParaRPr lang="en-US" sz="1800" b="1" dirty="0"/>
          </a:p>
          <a:p>
            <a:endParaRPr lang="en-US" sz="1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B0A483E6-6ECF-F5F2-5FFC-55A9FD629F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12425196-F6FB-6F05-9DFF-490CE43C23AD}"/>
              </a:ext>
            </a:extLst>
          </p:cNvPr>
          <p:cNvSpPr txBox="1"/>
          <p:nvPr/>
        </p:nvSpPr>
        <p:spPr>
          <a:xfrm>
            <a:off x="6898742" y="6315754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Alt-C</a:t>
            </a:r>
          </a:p>
        </p:txBody>
      </p:sp>
    </p:spTree>
    <p:extLst>
      <p:ext uri="{BB962C8B-B14F-4D97-AF65-F5344CB8AC3E}">
        <p14:creationId xmlns:p14="http://schemas.microsoft.com/office/powerpoint/2010/main" val="4181377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9"/>
            <a:ext cx="10871201" cy="489842"/>
          </a:xfrm>
        </p:spPr>
        <p:txBody>
          <a:bodyPr>
            <a:normAutofit fontScale="90000"/>
          </a:bodyPr>
          <a:lstStyle/>
          <a:p>
            <a:r>
              <a:rPr lang="en-US"/>
              <a:t>Comparison &amp;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866" y="6178302"/>
            <a:ext cx="343958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600" b="1"/>
              <a:t>Final decision: </a:t>
            </a:r>
            <a:r>
              <a:rPr lang="en-US" sz="2600" b="1">
                <a:solidFill>
                  <a:srgbClr val="00B050"/>
                </a:solidFill>
              </a:rPr>
              <a:t>Alt-C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xmlns="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902463"/>
              </p:ext>
            </p:extLst>
          </p:nvPr>
        </p:nvGraphicFramePr>
        <p:xfrm>
          <a:off x="72428" y="625771"/>
          <a:ext cx="12050161" cy="52967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79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648546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440317">
                  <a:extLst>
                    <a:ext uri="{9D8B030D-6E8A-4147-A177-3AD203B41FA5}">
                      <a16:colId xmlns:a16="http://schemas.microsoft.com/office/drawing/2014/main" xmlns="" val="2530683369"/>
                    </a:ext>
                  </a:extLst>
                </a:gridCol>
                <a:gridCol w="3811508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endParaRPr lang="en-US" sz="12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Alt-A</a:t>
                      </a:r>
                      <a:r>
                        <a:rPr lang="en-US" sz="1200" b="0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– Split </a:t>
                      </a:r>
                      <a:r>
                        <a:rPr lang="en-US" sz="1200" b="0" baseline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Alt-B: Move </a:t>
                      </a:r>
                      <a:r>
                        <a:rPr lang="en-US" sz="1200" b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Alt-C: Move </a:t>
                      </a:r>
                      <a:r>
                        <a:rPr lang="en-US" sz="1200" b="0" err="1">
                          <a:effectLst/>
                          <a:latin typeface="+mn-lt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 + Proxy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300" b="1" baseline="0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container.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(CyberSecurity team confirmed)</a:t>
                      </a:r>
                      <a:endParaRPr lang="en-US" sz="1300" b="1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1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and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OnBoardClient’s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responsibility is changed: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priority control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is moved to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which requires requirement updates.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- Existing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responsibilities are distributed across </a:t>
                      </a: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two applications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increasing OEM specification and coordination effort.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01 additional component is modified 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- implements UDS socket server and priority control) 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10 EP modules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PowerMgr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HttpMgr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…) have to implement cross-container UDS socket communication and fail-safe handling.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kumimoji="0" lang="en-US" sz="1300" b="1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D7D31"/>
                          </a:solidFill>
                          <a:effectLst/>
                          <a:uLnTx/>
                          <a:uFillTx/>
                          <a:latin typeface="+mn-lt"/>
                        </a:rPr>
                        <a:t>Medium</a:t>
                      </a:r>
                      <a:endParaRPr lang="en-US" sz="1300" b="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baseline="0" dirty="0">
                          <a:latin typeface="+mn-lt"/>
                          <a:cs typeface="Arial" panose="020B0604020202020204" pitchFamily="34" charset="0"/>
                        </a:rPr>
                        <a:t>No changes </a:t>
                      </a:r>
                      <a:r>
                        <a:rPr lang="en-US" sz="1300" b="0" baseline="0" dirty="0">
                          <a:latin typeface="+mn-lt"/>
                          <a:cs typeface="Arial" panose="020B0604020202020204" pitchFamily="34" charset="0"/>
                        </a:rPr>
                        <a:t>required in </a:t>
                      </a:r>
                      <a:r>
                        <a:rPr lang="en-US" sz="1300" b="0" baseline="0">
                          <a:latin typeface="+mn-lt"/>
                          <a:cs typeface="Arial" panose="020B0604020202020204" pitchFamily="34" charset="0"/>
                        </a:rPr>
                        <a:t>existing </a:t>
                      </a:r>
                      <a:r>
                        <a:rPr lang="en-US" sz="1300" b="0" baseline="0" smtClean="0">
                          <a:latin typeface="+mn-lt"/>
                          <a:cs typeface="Arial" panose="020B0604020202020204" pitchFamily="34" charset="0"/>
                        </a:rPr>
                        <a:t>modules but a </a:t>
                      </a:r>
                      <a:r>
                        <a:rPr lang="en-US" sz="1300" b="1" baseline="0" smtClean="0">
                          <a:latin typeface="+mn-lt"/>
                          <a:cs typeface="Arial" panose="020B0604020202020204" pitchFamily="34" charset="0"/>
                        </a:rPr>
                        <a:t>new module</a:t>
                      </a:r>
                      <a:r>
                        <a:rPr lang="en-US" sz="1300" b="0" baseline="0" smtClean="0">
                          <a:latin typeface="+mn-lt"/>
                          <a:cs typeface="Arial" panose="020B0604020202020204" pitchFamily="34" charset="0"/>
                        </a:rPr>
                        <a:t> RemoteDiagProxy is required. RemoteDiagProxy </a:t>
                      </a:r>
                      <a:r>
                        <a:rPr lang="en-US" sz="1300" b="0" baseline="0" dirty="0">
                          <a:latin typeface="+mn-lt"/>
                          <a:cs typeface="Arial" panose="020B0604020202020204" pitchFamily="34" charset="0"/>
                        </a:rPr>
                        <a:t>preserves the current </a:t>
                      </a:r>
                      <a:r>
                        <a:rPr lang="en-US" sz="1300" b="0" baseline="0">
                          <a:latin typeface="+mn-lt"/>
                          <a:cs typeface="Arial" panose="020B0604020202020204" pitchFamily="34" charset="0"/>
                        </a:rPr>
                        <a:t>binder </a:t>
                      </a:r>
                      <a:r>
                        <a:rPr lang="en-US" sz="1300" b="0" baseline="0" smtClean="0">
                          <a:latin typeface="+mn-lt"/>
                          <a:cs typeface="Arial" panose="020B0604020202020204" pitchFamily="34" charset="0"/>
                        </a:rPr>
                        <a:t>interface. </a:t>
                      </a:r>
                      <a:endParaRPr lang="en-US" sz="1300" b="0" baseline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0" dirty="0">
                          <a:latin typeface="+mn-lt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12016" y="6009927"/>
            <a:ext cx="1981877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High</a:t>
            </a:r>
            <a:r>
              <a:rPr lang="en-US" sz="1400"/>
              <a:t>: Fully satisfy</a:t>
            </a:r>
          </a:p>
          <a:p>
            <a:r>
              <a:rPr lang="en-US" sz="1400" b="1">
                <a:solidFill>
                  <a:schemeClr val="accent2"/>
                </a:solidFill>
              </a:rPr>
              <a:t>Medium</a:t>
            </a:r>
            <a:r>
              <a:rPr lang="en-US" sz="1400"/>
              <a:t>: Partially satisfy</a:t>
            </a:r>
          </a:p>
          <a:p>
            <a:r>
              <a:rPr lang="en-US" sz="1400" b="1">
                <a:solidFill>
                  <a:srgbClr val="FF0000"/>
                </a:solidFill>
              </a:rPr>
              <a:t>Low</a:t>
            </a:r>
            <a:r>
              <a:rPr lang="en-US" sz="1400"/>
              <a:t>: Not satisfy</a:t>
            </a:r>
          </a:p>
        </p:txBody>
      </p:sp>
      <p:pic>
        <p:nvPicPr>
          <p:cNvPr id="9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0602" y="5657752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684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CA99A5D-DD39-1919-FD58-65B06FAFD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Detail </a:t>
            </a:r>
            <a:r>
              <a:rPr lang="en-US" smtClean="0"/>
              <a:t>design Alt-C: </a:t>
            </a:r>
            <a:r>
              <a:rPr lang="en-US"/>
              <a:t>Forward </a:t>
            </a:r>
            <a:r>
              <a:rPr lang="en-US" dirty="0"/>
              <a:t>API call from proxy to </a:t>
            </a:r>
            <a:r>
              <a:rPr lang="en-US" dirty="0" err="1"/>
              <a:t>remotediag</a:t>
            </a:r>
            <a:r>
              <a:rPr lang="en-US" dirty="0"/>
              <a:t> 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508" y="990600"/>
            <a:ext cx="10678985" cy="496697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3129" y="6086159"/>
            <a:ext cx="2572364" cy="68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164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643E24B-1160-F6BA-5A0C-DB3B3DD9C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Detail </a:t>
            </a:r>
            <a:r>
              <a:rPr lang="en-US" smtClean="0"/>
              <a:t>design Alt-C: </a:t>
            </a:r>
            <a:r>
              <a:rPr lang="en-US"/>
              <a:t>Filter </a:t>
            </a:r>
            <a:r>
              <a:rPr lang="en-US" dirty="0"/>
              <a:t>scenario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7144" y="990600"/>
            <a:ext cx="9757712" cy="5034565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492" y="6153754"/>
            <a:ext cx="2572364" cy="68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16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85" y="1399738"/>
            <a:ext cx="10544082" cy="23389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4900" y="1030406"/>
            <a:ext cx="5251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SidFilter blocks reprogramming diagnostic requests</a:t>
            </a:r>
          </a:p>
        </p:txBody>
      </p:sp>
    </p:spTree>
    <p:extLst>
      <p:ext uri="{BB962C8B-B14F-4D97-AF65-F5344CB8AC3E}">
        <p14:creationId xmlns:p14="http://schemas.microsoft.com/office/powerpoint/2010/main" val="3497496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866" y="1190625"/>
            <a:ext cx="5258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RemoteDiagProxy and RemoteDiag communication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31" y="1559957"/>
            <a:ext cx="11193437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446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800" b="1"/>
              <a:t>Q&amp;A</a:t>
            </a:r>
          </a:p>
          <a:p>
            <a:pPr marL="0" indent="0" algn="ctr">
              <a:buNone/>
            </a:pPr>
            <a:r>
              <a:rPr lang="en-US" sz="3600" b="1"/>
              <a:t>Thank you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581111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6600" b="1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522549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5C86E6E-BE59-7A7B-6BE9-16A0A094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Diagnostic filtering requirements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xmlns="" id="{AD4A4EC6-9BB8-2849-8D75-05C44DE9A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47" y="1073926"/>
            <a:ext cx="5404920" cy="4238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C985C62C-76E5-84A1-DEF1-FC486F2BF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14" y="1073926"/>
            <a:ext cx="5385950" cy="318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69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946" y="990600"/>
            <a:ext cx="8390180" cy="5278438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Detai design: IPC connection setup</a:t>
            </a:r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8765" y="5306316"/>
            <a:ext cx="2572364" cy="68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603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Detail design: API request-response </a:t>
            </a:r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852" y="1025348"/>
            <a:ext cx="11292296" cy="4948255"/>
          </a:xfr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7356" y="6036978"/>
            <a:ext cx="2572364" cy="68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09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2031134" cy="672843"/>
          </a:xfrm>
          <a:solidFill>
            <a:schemeClr val="bg1"/>
          </a:solidFill>
        </p:spPr>
        <p:txBody>
          <a:bodyPr/>
          <a:lstStyle/>
          <a:p>
            <a:pPr algn="r"/>
            <a:r>
              <a:rPr lang="en-US"/>
              <a:t>Detail design</a:t>
            </a:r>
            <a:r>
              <a:rPr lang="en-US"/>
              <a:t>: </a:t>
            </a:r>
            <a:r>
              <a:rPr lang="en-US" smtClean="0"/>
              <a:t>Re-connect mechanism</a:t>
            </a:r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6433" y="5323813"/>
            <a:ext cx="2572364" cy="685964"/>
          </a:xfrm>
          <a:prstGeom prst="rect">
            <a:avLst/>
          </a:prstGeom>
        </p:spPr>
      </p:pic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66" y="64828"/>
            <a:ext cx="5714833" cy="6728344"/>
          </a:xfr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6433" y="862011"/>
            <a:ext cx="5738258" cy="413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55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c6ed9fc-fefc-4a0c-a6d6-10cf236c0d4f}" enabled="1" method="Standard" siteId="{5069cde4-642a-45c0-8094-d0c2dec10be3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8970</TotalTime>
  <Words>905</Words>
  <Application>Microsoft Office PowerPoint</Application>
  <PresentationFormat>Widescreen</PresentationFormat>
  <Paragraphs>158</Paragraphs>
  <Slides>21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Malgun Gothic</vt:lpstr>
      <vt:lpstr>Arial</vt:lpstr>
      <vt:lpstr>Calibri</vt:lpstr>
      <vt:lpstr>Calibri Light</vt:lpstr>
      <vt:lpstr>Times New Roman</vt:lpstr>
      <vt:lpstr>Wingdings</vt:lpstr>
      <vt:lpstr>Office Theme</vt:lpstr>
      <vt:lpstr>Design of Secure Remote Diag on Container Separation Architecture</vt:lpstr>
      <vt:lpstr>Content</vt:lpstr>
      <vt:lpstr>Context &amp; Motivation – Toyota 24DCM project</vt:lpstr>
      <vt:lpstr>Context &amp; Motivation – System architecture migration</vt:lpstr>
      <vt:lpstr>Problem</vt:lpstr>
      <vt:lpstr>Problem</vt:lpstr>
      <vt:lpstr>Quality Attribute</vt:lpstr>
      <vt:lpstr>Design Alternative – Alt-A: Split RemoteDiag</vt:lpstr>
      <vt:lpstr>Design Alternative – Alt-B: Move RemoteDiag</vt:lpstr>
      <vt:lpstr>Design Alternative – Alt-C: Move RemoteDiag + Proxy</vt:lpstr>
      <vt:lpstr>Comparison &amp; Decision</vt:lpstr>
      <vt:lpstr>Detail design Alt-C: Forward API call from proxy to remotediag </vt:lpstr>
      <vt:lpstr>Detail design Alt-C: Filter scenario</vt:lpstr>
      <vt:lpstr>Implementation and Verification</vt:lpstr>
      <vt:lpstr>Implementation and Verification</vt:lpstr>
      <vt:lpstr>PowerPoint Presentation</vt:lpstr>
      <vt:lpstr>PowerPoint Presentation</vt:lpstr>
      <vt:lpstr>Diagnostic filtering requirements</vt:lpstr>
      <vt:lpstr>Detai design: IPC connection setup</vt:lpstr>
      <vt:lpstr>Detail design: API request-response </vt:lpstr>
      <vt:lpstr>Detail design: Re-connect mechanism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Secure Remote Diag on Container Separation Architecture</dc:title>
  <dc:creator>PHI HOANG VU/LGEDV SOFTWARE ENGINEERING 1 TEAM</dc:creator>
  <cp:lastModifiedBy>PHI HOANG VU/LGEDV SOFTWARE ENGINEERING 1 TEAM</cp:lastModifiedBy>
  <cp:revision>707</cp:revision>
  <dcterms:created xsi:type="dcterms:W3CDTF">2026-08-17T04:18:20Z</dcterms:created>
  <dcterms:modified xsi:type="dcterms:W3CDTF">2026-10-05T10:05:57Z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LGE Internal Use Only</vt:lpwstr>
  </property>
</Properties>
</file>