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80" r:id="rId4"/>
    <p:sldId id="284" r:id="rId5"/>
    <p:sldId id="281" r:id="rId6"/>
    <p:sldId id="262" r:id="rId7"/>
    <p:sldId id="283" r:id="rId8"/>
    <p:sldId id="269" r:id="rId9"/>
    <p:sldId id="271" r:id="rId10"/>
    <p:sldId id="287" r:id="rId11"/>
    <p:sldId id="279" r:id="rId12"/>
    <p:sldId id="274" r:id="rId13"/>
    <p:sldId id="273" r:id="rId14"/>
    <p:sldId id="278" r:id="rId15"/>
    <p:sldId id="277" r:id="rId16"/>
    <p:sldId id="276" r:id="rId17"/>
    <p:sldId id="258" r:id="rId18"/>
    <p:sldId id="259" r:id="rId19"/>
    <p:sldId id="282" r:id="rId20"/>
    <p:sldId id="285" r:id="rId21"/>
    <p:sldId id="286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  <a:srgbClr val="FFFF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465" autoAdjust="0"/>
  </p:normalViewPr>
  <p:slideViewPr>
    <p:cSldViewPr snapToGrid="0">
      <p:cViewPr>
        <p:scale>
          <a:sx n="100" d="100"/>
          <a:sy n="100" d="100"/>
        </p:scale>
        <p:origin x="318" y="-3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1C17E2-92C1-406A-80C1-BA1B838099E9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7405-33BD-42BD-B604-93760E418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223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8840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531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2316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808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Trade-offs</a:t>
            </a:r>
          </a:p>
          <a:p>
            <a:pPr fontAlgn="t"/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Maintainability: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All EP modules require cross-container IPC support, increasing implementation effort and code-change scope.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277405-33BD-42BD-B604-93760E4185DC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8488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981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2781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그림 5" descr="백색바탕.png">
            <a:extLst>
              <a:ext uri="{FF2B5EF4-FFF2-40B4-BE49-F238E27FC236}">
                <a16:creationId xmlns:a16="http://schemas.microsoft.com/office/drawing/2014/main" xmlns="" id="{28873918-42A2-05FA-4A84-F17869DE34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76000" y="189168"/>
            <a:ext cx="872067" cy="472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466190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45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90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4930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993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19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76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89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4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344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34B22C-8C05-4817-830F-8B9F9DEAE546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825FFC-CFA3-4D4B-ACD3-39FE1E72A7EA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DC87BF5-B759-FAAB-FE6D-F0E5F640800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hdr"/>
              </p:ext>
            </p:extLst>
          </p:nvPr>
        </p:nvSpPr>
        <p:spPr>
          <a:xfrm>
            <a:off x="5424488" y="63500"/>
            <a:ext cx="1377950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2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LGE Internal Use Only</a:t>
            </a:r>
          </a:p>
        </p:txBody>
      </p:sp>
    </p:spTree>
    <p:extLst>
      <p:ext uri="{BB962C8B-B14F-4D97-AF65-F5344CB8AC3E}">
        <p14:creationId xmlns:p14="http://schemas.microsoft.com/office/powerpoint/2010/main" val="392128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6.png"/><Relationship Id="rId7" Type="http://schemas.openxmlformats.org/officeDocument/2006/relationships/slide" Target="slide16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7.png"/><Relationship Id="rId4" Type="http://schemas.openxmlformats.org/officeDocument/2006/relationships/image" Target="../media/image17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49085" y="1122363"/>
            <a:ext cx="10493830" cy="2387600"/>
          </a:xfrm>
        </p:spPr>
        <p:txBody>
          <a:bodyPr>
            <a:normAutofit/>
          </a:bodyPr>
          <a:lstStyle/>
          <a:p>
            <a:r>
              <a:rPr lang="en-US" b="1" dirty="0"/>
              <a:t>Design of Secure Remote </a:t>
            </a:r>
            <a:r>
              <a:rPr lang="en-US" b="1" dirty="0" err="1"/>
              <a:t>Diag</a:t>
            </a:r>
            <a:r>
              <a:rPr lang="en-US" b="1" dirty="0"/>
              <a:t> on Container Separation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50381"/>
            <a:ext cx="9144000" cy="1655762"/>
          </a:xfrm>
        </p:spPr>
        <p:txBody>
          <a:bodyPr/>
          <a:lstStyle/>
          <a:p>
            <a:r>
              <a:rPr lang="en-US" dirty="0"/>
              <a:t>Candidate: Vu Hoang Phi (phi.vu) </a:t>
            </a:r>
          </a:p>
          <a:p>
            <a:r>
              <a:rPr lang="en-US" dirty="0"/>
              <a:t>LGEDV – September 2026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5409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/>
          <a:lstStyle/>
          <a:p>
            <a:r>
              <a:rPr lang="en-US" dirty="0"/>
              <a:t>Content</a:t>
            </a:r>
          </a:p>
        </p:txBody>
      </p:sp>
      <p:grpSp>
        <p:nvGrpSpPr>
          <p:cNvPr id="64" name="Group 63"/>
          <p:cNvGrpSpPr/>
          <p:nvPr/>
        </p:nvGrpSpPr>
        <p:grpSpPr>
          <a:xfrm>
            <a:off x="605709" y="1868501"/>
            <a:ext cx="5983456" cy="555705"/>
            <a:chOff x="2431279" y="1146517"/>
            <a:chExt cx="7307525" cy="678676"/>
          </a:xfrm>
        </p:grpSpPr>
        <p:sp>
          <p:nvSpPr>
            <p:cNvPr id="65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66" name="Group 65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68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70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1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72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69" name="Text Box 13"/>
              <p:cNvSpPr txBox="1">
                <a:spLocks noChangeArrowheads="1"/>
              </p:cNvSpPr>
              <p:nvPr/>
            </p:nvSpPr>
            <p:spPr bwMode="gray">
              <a:xfrm>
                <a:off x="2630979" y="1231971"/>
                <a:ext cx="362599" cy="47705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2</a:t>
                </a:r>
              </a:p>
            </p:txBody>
          </p:sp>
        </p:grpSp>
        <p:sp>
          <p:nvSpPr>
            <p:cNvPr id="67" name="Rectangle 66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Problem</a:t>
              </a:r>
            </a:p>
          </p:txBody>
        </p:sp>
      </p:grpSp>
      <p:grpSp>
        <p:nvGrpSpPr>
          <p:cNvPr id="118" name="Group 117"/>
          <p:cNvGrpSpPr/>
          <p:nvPr/>
        </p:nvGrpSpPr>
        <p:grpSpPr>
          <a:xfrm>
            <a:off x="605709" y="1053628"/>
            <a:ext cx="5983456" cy="555705"/>
            <a:chOff x="2431279" y="1146517"/>
            <a:chExt cx="7307525" cy="678676"/>
          </a:xfrm>
        </p:grpSpPr>
        <p:sp>
          <p:nvSpPr>
            <p:cNvPr id="119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0" name="Group 119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22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24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5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26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3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1</a:t>
                </a:r>
              </a:p>
            </p:txBody>
          </p:sp>
        </p:grpSp>
        <p:sp>
          <p:nvSpPr>
            <p:cNvPr id="121" name="Rectangle 120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Context &amp; Motivation</a:t>
              </a:r>
            </a:p>
          </p:txBody>
        </p:sp>
      </p:grpSp>
      <p:grpSp>
        <p:nvGrpSpPr>
          <p:cNvPr id="127" name="Group 126"/>
          <p:cNvGrpSpPr/>
          <p:nvPr/>
        </p:nvGrpSpPr>
        <p:grpSpPr>
          <a:xfrm>
            <a:off x="605709" y="2683374"/>
            <a:ext cx="5983456" cy="555705"/>
            <a:chOff x="2431279" y="1146517"/>
            <a:chExt cx="7307525" cy="678676"/>
          </a:xfrm>
        </p:grpSpPr>
        <p:sp>
          <p:nvSpPr>
            <p:cNvPr id="128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29" name="Group 128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31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33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4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35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2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3</a:t>
                </a:r>
              </a:p>
            </p:txBody>
          </p:sp>
        </p:grpSp>
        <p:sp>
          <p:nvSpPr>
            <p:cNvPr id="130" name="Rectangle 129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Quality Attribute</a:t>
              </a:r>
            </a:p>
          </p:txBody>
        </p:sp>
      </p:grpSp>
      <p:grpSp>
        <p:nvGrpSpPr>
          <p:cNvPr id="136" name="Group 135"/>
          <p:cNvGrpSpPr/>
          <p:nvPr/>
        </p:nvGrpSpPr>
        <p:grpSpPr>
          <a:xfrm>
            <a:off x="605709" y="3498247"/>
            <a:ext cx="5983456" cy="555705"/>
            <a:chOff x="2431279" y="1146517"/>
            <a:chExt cx="7307525" cy="678676"/>
          </a:xfrm>
        </p:grpSpPr>
        <p:sp>
          <p:nvSpPr>
            <p:cNvPr id="13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38" name="Group 13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4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4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4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4</a:t>
                </a:r>
              </a:p>
            </p:txBody>
          </p:sp>
        </p:grpSp>
        <p:sp>
          <p:nvSpPr>
            <p:cNvPr id="139" name="Rectangle 13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Design Alternative</a:t>
              </a:r>
            </a:p>
          </p:txBody>
        </p:sp>
      </p:grpSp>
      <p:grpSp>
        <p:nvGrpSpPr>
          <p:cNvPr id="146" name="Group 145"/>
          <p:cNvGrpSpPr/>
          <p:nvPr/>
        </p:nvGrpSpPr>
        <p:grpSpPr>
          <a:xfrm>
            <a:off x="605709" y="4313120"/>
            <a:ext cx="5983456" cy="555705"/>
            <a:chOff x="2431279" y="1146517"/>
            <a:chExt cx="7307525" cy="678676"/>
          </a:xfrm>
        </p:grpSpPr>
        <p:sp>
          <p:nvSpPr>
            <p:cNvPr id="147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8" name="Group 147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0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52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3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54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51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5</a:t>
                </a:r>
              </a:p>
            </p:txBody>
          </p:sp>
        </p:grpSp>
        <p:sp>
          <p:nvSpPr>
            <p:cNvPr id="149" name="Rectangle 148"/>
            <p:cNvSpPr/>
            <p:nvPr/>
          </p:nvSpPr>
          <p:spPr>
            <a:xfrm>
              <a:off x="3177047" y="1155933"/>
              <a:ext cx="6407936" cy="6390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Comparison &amp; Decision</a:t>
              </a:r>
            </a:p>
          </p:txBody>
        </p:sp>
      </p:grpSp>
      <p:grpSp>
        <p:nvGrpSpPr>
          <p:cNvPr id="155" name="Group 154"/>
          <p:cNvGrpSpPr/>
          <p:nvPr/>
        </p:nvGrpSpPr>
        <p:grpSpPr>
          <a:xfrm>
            <a:off x="605709" y="5127991"/>
            <a:ext cx="6753034" cy="555705"/>
            <a:chOff x="2431279" y="1146517"/>
            <a:chExt cx="8247402" cy="678676"/>
          </a:xfrm>
        </p:grpSpPr>
        <p:sp>
          <p:nvSpPr>
            <p:cNvPr id="156" name="Line 11"/>
            <p:cNvSpPr>
              <a:spLocks noChangeShapeType="1"/>
            </p:cNvSpPr>
            <p:nvPr/>
          </p:nvSpPr>
          <p:spPr bwMode="auto">
            <a:xfrm flipV="1">
              <a:off x="3199674" y="1819470"/>
              <a:ext cx="6539130" cy="5723"/>
            </a:xfrm>
            <a:prstGeom prst="line">
              <a:avLst/>
            </a:prstGeom>
            <a:noFill/>
            <a:ln w="25400">
              <a:solidFill>
                <a:srgbClr val="C0C0C0"/>
              </a:solidFill>
              <a:prstDash val="sysDot"/>
              <a:round/>
              <a:headEnd/>
              <a:tailEnd type="oval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25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57" name="Group 156"/>
            <p:cNvGrpSpPr/>
            <p:nvPr/>
          </p:nvGrpSpPr>
          <p:grpSpPr>
            <a:xfrm>
              <a:off x="2431279" y="1146517"/>
              <a:ext cx="762000" cy="665163"/>
              <a:chOff x="2431279" y="1160030"/>
              <a:chExt cx="762000" cy="665163"/>
            </a:xfrm>
          </p:grpSpPr>
          <p:grpSp>
            <p:nvGrpSpPr>
              <p:cNvPr id="159" name="Group 3"/>
              <p:cNvGrpSpPr>
                <a:grpSpLocks/>
              </p:cNvGrpSpPr>
              <p:nvPr/>
            </p:nvGrpSpPr>
            <p:grpSpPr bwMode="auto">
              <a:xfrm>
                <a:off x="2431279" y="1160030"/>
                <a:ext cx="762000" cy="665163"/>
                <a:chOff x="1110" y="2656"/>
                <a:chExt cx="1549" cy="1351"/>
              </a:xfrm>
              <a:solidFill>
                <a:schemeClr val="tx1">
                  <a:lumMod val="85000"/>
                  <a:lumOff val="15000"/>
                </a:schemeClr>
              </a:solidFill>
            </p:grpSpPr>
            <p:sp>
              <p:nvSpPr>
                <p:cNvPr id="161" name="AutoShape 4"/>
                <p:cNvSpPr>
                  <a:spLocks noChangeArrowheads="1"/>
                </p:cNvSpPr>
                <p:nvPr/>
              </p:nvSpPr>
              <p:spPr bwMode="gray">
                <a:xfrm>
                  <a:off x="1123" y="2679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>
                  <a:noFill/>
                </a:ln>
                <a:effectLst/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C0C0C0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2" name="AutoShape 5"/>
                <p:cNvSpPr>
                  <a:spLocks noChangeArrowheads="1"/>
                </p:cNvSpPr>
                <p:nvPr/>
              </p:nvSpPr>
              <p:spPr bwMode="gray">
                <a:xfrm>
                  <a:off x="1110" y="2656"/>
                  <a:ext cx="1536" cy="1328"/>
                </a:xfrm>
                <a:prstGeom prst="hexagon">
                  <a:avLst>
                    <a:gd name="adj" fmla="val 28916"/>
                    <a:gd name="vf" fmla="val 115470"/>
                  </a:avLst>
                </a:prstGeom>
                <a:grpFill/>
                <a:ln w="9525">
                  <a:solidFill>
                    <a:srgbClr val="C0C0C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spcBef>
                      <a:spcPct val="20000"/>
                    </a:spcBef>
                    <a:buClr>
                      <a:schemeClr val="tx2"/>
                    </a:buClr>
                    <a:buFont typeface="Wingdings" panose="05000000000000000000" pitchFamily="2" charset="2"/>
                    <a:buChar char="§"/>
                    <a:defRPr sz="32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spcBef>
                      <a:spcPct val="20000"/>
                    </a:spcBef>
                    <a:buClr>
                      <a:schemeClr val="accent1"/>
                    </a:buClr>
                    <a:buFont typeface="Wingdings" panose="05000000000000000000" pitchFamily="2" charset="2"/>
                    <a:buChar char="§"/>
                    <a:defRPr sz="28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spcBef>
                      <a:spcPct val="20000"/>
                    </a:spcBef>
                    <a:buClr>
                      <a:schemeClr val="tx1"/>
                    </a:buClr>
                    <a:buChar char="•"/>
                    <a:defRPr sz="24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ClrTx/>
                    <a:buFontTx/>
                    <a:buNone/>
                  </a:pPr>
                  <a:endParaRPr lang="en-US" sz="25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163" name="AutoShape 6"/>
                <p:cNvSpPr>
                  <a:spLocks noChangeArrowheads="1"/>
                </p:cNvSpPr>
                <p:nvPr/>
              </p:nvSpPr>
              <p:spPr bwMode="gray">
                <a:xfrm>
                  <a:off x="1200" y="2737"/>
                  <a:ext cx="1349" cy="1167"/>
                </a:xfrm>
                <a:prstGeom prst="hexagon">
                  <a:avLst>
                    <a:gd name="adj" fmla="val 28896"/>
                    <a:gd name="vf" fmla="val 115470"/>
                  </a:avLst>
                </a:prstGeom>
                <a:grpFill/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sz="25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60" name="Text Box 13"/>
              <p:cNvSpPr txBox="1">
                <a:spLocks noChangeArrowheads="1"/>
              </p:cNvSpPr>
              <p:nvPr/>
            </p:nvSpPr>
            <p:spPr bwMode="gray">
              <a:xfrm>
                <a:off x="2590859" y="1231971"/>
                <a:ext cx="442839" cy="58262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 algn="ctr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>
                <a:lvl1pPr>
                  <a:spcBef>
                    <a:spcPct val="20000"/>
                  </a:spcBef>
                  <a:buClr>
                    <a:schemeClr val="tx2"/>
                  </a:buClr>
                  <a:buFont typeface="Wingdings" panose="05000000000000000000" pitchFamily="2" charset="2"/>
                  <a:buChar char="§"/>
                  <a:defRPr sz="32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1pPr>
                <a:lvl2pPr marL="742950" indent="-285750">
                  <a:spcBef>
                    <a:spcPct val="20000"/>
                  </a:spcBef>
                  <a:buClr>
                    <a:schemeClr val="accent1"/>
                  </a:buClr>
                  <a:buFont typeface="Wingdings" panose="05000000000000000000" pitchFamily="2" charset="2"/>
                  <a:buChar char="§"/>
                  <a:defRPr sz="28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2pPr>
                <a:lvl3pPr marL="1143000" indent="-228600">
                  <a:spcBef>
                    <a:spcPct val="20000"/>
                  </a:spcBef>
                  <a:buClr>
                    <a:schemeClr val="tx1"/>
                  </a:buClr>
                  <a:buChar char="•"/>
                  <a:defRPr sz="24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3pPr>
                <a:lvl4pPr marL="1600200" indent="-22860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4pPr>
                <a:lvl5pPr marL="2057400" indent="-22860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Arial" panose="020B0604020202020204" pitchFamily="34" charset="0"/>
                  </a:defRPr>
                </a:lvl9pPr>
              </a:lstStyle>
              <a:p>
                <a:pPr algn="ctr">
                  <a:spcBef>
                    <a:spcPct val="0"/>
                  </a:spcBef>
                  <a:buClrTx/>
                  <a:buFontTx/>
                  <a:buNone/>
                </a:pPr>
                <a:r>
                  <a:rPr lang="en-US" sz="2500" b="1" dirty="0">
                    <a:solidFill>
                      <a:schemeClr val="bg1"/>
                    </a:solidFill>
                    <a:cs typeface="Arial" panose="020B0604020202020204" pitchFamily="34" charset="0"/>
                  </a:rPr>
                  <a:t>6</a:t>
                </a:r>
              </a:p>
            </p:txBody>
          </p:sp>
        </p:grpSp>
        <p:sp>
          <p:nvSpPr>
            <p:cNvPr id="158" name="Rectangle 157"/>
            <p:cNvSpPr/>
            <p:nvPr/>
          </p:nvSpPr>
          <p:spPr>
            <a:xfrm>
              <a:off x="3177047" y="1155933"/>
              <a:ext cx="7501634" cy="63900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800" dirty="0">
                  <a:cs typeface="Times New Roman" panose="02020603050405020304" pitchFamily="18" charset="0"/>
                </a:rPr>
                <a:t>Implementation Status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5744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xmlns="" id="{4DC0AA0D-E1FC-D3C4-68EE-7F18C43BE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66" y="1683962"/>
            <a:ext cx="11736593" cy="3490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1C1235-51B4-A8A0-3A61-9C767F437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866" y="189168"/>
            <a:ext cx="10871201" cy="672843"/>
          </a:xfrm>
        </p:spPr>
        <p:txBody>
          <a:bodyPr anchor="ctr">
            <a:normAutofit/>
          </a:bodyPr>
          <a:lstStyle/>
          <a:p>
            <a:r>
              <a:rPr lang="en-US" dirty="0"/>
              <a:t>Context &amp; Motivation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xmlns="" id="{4A0E7BDD-2CF4-321B-0637-D9AF63CAB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0636" y="1175800"/>
            <a:ext cx="3237053" cy="49095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Current architecture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6836BF74-18E1-53CF-E711-96BF334B6D6A}"/>
              </a:ext>
            </a:extLst>
          </p:cNvPr>
          <p:cNvSpPr/>
          <p:nvPr/>
        </p:nvSpPr>
        <p:spPr>
          <a:xfrm>
            <a:off x="7679095" y="2777101"/>
            <a:ext cx="1716366" cy="85001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347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7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51B5D0F-6087-17A5-72FF-6E022F085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0D72414-4805-EF13-2567-C5B514B4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87B8B4F-34AF-C58A-4A12-C27069BE17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RemoteDiag</a:t>
            </a:r>
            <a:r>
              <a:rPr lang="en-US" dirty="0"/>
              <a:t> module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B67FA871-6E94-BC51-E6D0-9534187DD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358" y="1472116"/>
            <a:ext cx="10895559" cy="519671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D526A082-4997-C65E-6755-539FF2BBC210}"/>
              </a:ext>
            </a:extLst>
          </p:cNvPr>
          <p:cNvSpPr/>
          <p:nvPr/>
        </p:nvSpPr>
        <p:spPr>
          <a:xfrm>
            <a:off x="2200274" y="1872226"/>
            <a:ext cx="485775" cy="4261874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76CAB5DF-BC1B-7CEE-FD78-3FA7AF6E1642}"/>
              </a:ext>
            </a:extLst>
          </p:cNvPr>
          <p:cNvSpPr/>
          <p:nvPr/>
        </p:nvSpPr>
        <p:spPr>
          <a:xfrm>
            <a:off x="8715374" y="2933700"/>
            <a:ext cx="3315760" cy="3200399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2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585339-B774-DFDC-4DB4-D02F5083D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0514A4A9-11E4-2F95-772A-58BE7B6F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6866" y="3711844"/>
            <a:ext cx="9601201" cy="31461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4DC0AA0D-E1FC-D3C4-68EE-7F18C43BE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541" y="711361"/>
            <a:ext cx="9086526" cy="2702033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160866" y="7454900"/>
            <a:ext cx="11887201" cy="5278168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7493000" y="3422650"/>
            <a:ext cx="45719" cy="2891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3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xmlns="" id="{E5625E47-EFA5-9C35-32C7-F793664192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514736"/>
          </a:xfrm>
        </p:spPr>
        <p:txBody>
          <a:bodyPr>
            <a:normAutofit/>
          </a:bodyPr>
          <a:lstStyle/>
          <a:p>
            <a:r>
              <a:rPr lang="en-US" sz="2200" dirty="0"/>
              <a:t>OEM new functional requirements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xmlns="" id="{658A328F-ADBC-7C5F-15DF-73E4DC21B2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279638"/>
              </p:ext>
            </p:extLst>
          </p:nvPr>
        </p:nvGraphicFramePr>
        <p:xfrm>
          <a:off x="204773" y="1505336"/>
          <a:ext cx="11782454" cy="13322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80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10483653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</a:tblGrid>
              <a:tr h="359352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800" dirty="0">
                          <a:latin typeface="+mn-lt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Description</a:t>
                      </a:r>
                      <a:endParaRPr lang="en-US" sz="1800" b="1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FR-01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</a:t>
                      </a:r>
                      <a:r>
                        <a:rPr lang="en-US" sz="180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block unauthorized </a:t>
                      </a: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diagnostic commands related to ECU reprogramming.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448586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FR-02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system shall route UDS diagnostic messages exchanged with the </a:t>
                      </a:r>
                      <a:r>
                        <a:rPr lang="en-US" sz="180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</a:t>
                      </a:r>
                      <a:r>
                        <a:rPr lang="en-US" sz="180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ECU entirely within the IP.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xmlns="" id="{2477AED6-8D6F-D505-6D7B-78460A03A2E8}"/>
              </a:ext>
            </a:extLst>
          </p:cNvPr>
          <p:cNvSpPr txBox="1"/>
          <p:nvPr/>
        </p:nvSpPr>
        <p:spPr>
          <a:xfrm>
            <a:off x="204773" y="5352664"/>
            <a:ext cx="11843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RemoteDiag’s</a:t>
            </a:r>
            <a:r>
              <a:rPr lang="en-US" dirty="0"/>
              <a:t> </a:t>
            </a:r>
            <a:r>
              <a:rPr lang="en-US" b="1" dirty="0"/>
              <a:t>internal</a:t>
            </a:r>
            <a:r>
              <a:rPr lang="en-US" dirty="0"/>
              <a:t> </a:t>
            </a:r>
            <a:r>
              <a:rPr lang="en-US" b="1" dirty="0"/>
              <a:t>architecture and communication </a:t>
            </a:r>
            <a:r>
              <a:rPr lang="en-US" dirty="0"/>
              <a:t>should be redesigned to align with </a:t>
            </a:r>
            <a:r>
              <a:rPr lang="en-US" b="1" dirty="0"/>
              <a:t>new architecture</a:t>
            </a:r>
            <a:r>
              <a:rPr lang="en-US" dirty="0"/>
              <a:t> and satisfy above functional requirements.</a:t>
            </a:r>
          </a:p>
        </p:txBody>
      </p:sp>
    </p:spTree>
    <p:extLst>
      <p:ext uri="{BB962C8B-B14F-4D97-AF65-F5344CB8AC3E}">
        <p14:creationId xmlns:p14="http://schemas.microsoft.com/office/powerpoint/2010/main" val="1402462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816B88-86B3-799E-3A3E-FA919E3E0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36E5815-73D6-DA66-29AA-3BE061A3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Attribute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xmlns="" id="{6010EF79-766B-D3A2-10CE-882C40A1E836}"/>
              </a:ext>
            </a:extLst>
          </p:cNvPr>
          <p:cNvSpPr txBox="1">
            <a:spLocks/>
          </p:cNvSpPr>
          <p:nvPr/>
        </p:nvSpPr>
        <p:spPr>
          <a:xfrm>
            <a:off x="100026" y="3171632"/>
            <a:ext cx="11887201" cy="5147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2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436114"/>
              </p:ext>
            </p:extLst>
          </p:nvPr>
        </p:nvGraphicFramePr>
        <p:xfrm>
          <a:off x="182820" y="960039"/>
          <a:ext cx="11826361" cy="47628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1105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24815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629150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912556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latinLnBrk="0"/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ID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QA Scenario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Type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Priority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A compromised app/service sends reprogramming command to CAN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/>
                        <a:t>Zero Reprogramming SIDs reaches the internal </a:t>
                      </a:r>
                      <a:r>
                        <a:rPr lang="en-US" sz="1600" b="0" dirty="0" smtClean="0"/>
                        <a:t>CAN.</a:t>
                      </a:r>
                      <a:endParaRPr lang="en-US" sz="1600" b="0" dirty="0"/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MM ECU sends a diagnostic </a:t>
                      </a:r>
                      <a:r>
                        <a:rPr lang="en-US" sz="1600" b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request via TCP to </a:t>
                      </a:r>
                      <a:r>
                        <a:rPr lang="en-US" sz="1600" b="0" kern="1200" baseline="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Zero diagnostic communication is found in </a:t>
                      </a:r>
                      <a:r>
                        <a:rPr lang="en-US" sz="1600" b="0" dirty="0" smtClean="0">
                          <a:latin typeface="+mn-lt"/>
                          <a:cs typeface="Arial" panose="020B0604020202020204" pitchFamily="34" charset="0"/>
                        </a:rPr>
                        <a:t>EP. 100% number of</a:t>
                      </a:r>
                      <a:r>
                        <a:rPr lang="en-US" sz="1600" b="0" baseline="0" dirty="0" smtClean="0">
                          <a:latin typeface="+mn-lt"/>
                          <a:cs typeface="Arial" panose="020B0604020202020204" pitchFamily="34" charset="0"/>
                        </a:rPr>
                        <a:t> requests are handled within IP.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Security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effectLst/>
                          <a:latin typeface="+mn-lt"/>
                          <a:cs typeface="Arial" panose="020B0604020202020204" pitchFamily="34" charset="0"/>
                        </a:rPr>
                        <a:t>High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QA-03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The selected architecture preserves the original core responsibility of each component. No component is required to take responsibilities outside its originally defined role.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components requiring extension of core responsibility: 0. Number of additional OEM specification updates caused by responsibility expansion.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QA-04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Existing software components require minimal changes.</a:t>
                      </a: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Number of </a:t>
                      </a: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component</a:t>
                      </a:r>
                      <a:r>
                        <a:rPr lang="en-US" sz="1600" b="0" baseline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which needs to modify to align with new design 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Modifiability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>
                          <a:latin typeface="+mn-lt"/>
                          <a:cs typeface="Arial" panose="020B0604020202020204" pitchFamily="34" charset="0"/>
                        </a:rPr>
                        <a:t>Medium</a:t>
                      </a: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QA-05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r>
                        <a:rPr lang="en-US" sz="1600" b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Failure in OEM Center flow or MM ECU flow</a:t>
                      </a: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The other</a:t>
                      </a:r>
                      <a:r>
                        <a:rPr lang="en-US" sz="1600" b="0" baseline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flow remains operational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Availability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r>
                        <a:rPr lang="en-US" sz="1600" b="0" dirty="0" smtClean="0">
                          <a:latin typeface="+mn-lt"/>
                          <a:cs typeface="Arial" panose="020B0604020202020204" pitchFamily="34" charset="0"/>
                        </a:rPr>
                        <a:t>Low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3845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</a:t>
            </a:r>
            <a:r>
              <a:rPr lang="en-US" dirty="0" smtClean="0"/>
              <a:t>– Alt-A: Split </a:t>
            </a:r>
            <a:r>
              <a:rPr lang="en-US" dirty="0" err="1" smtClean="0"/>
              <a:t>RemoteDiag</a:t>
            </a:r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65" y="1231900"/>
            <a:ext cx="11916835" cy="5363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409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866" y="1245572"/>
            <a:ext cx="11827933" cy="54963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– </a:t>
            </a:r>
            <a:r>
              <a:rPr lang="en-US" dirty="0" smtClean="0"/>
              <a:t>Alt-B: Move </a:t>
            </a:r>
            <a:r>
              <a:rPr lang="en-US" dirty="0" err="1" smtClean="0"/>
              <a:t>RemoteDiag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1369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– </a:t>
            </a:r>
            <a:r>
              <a:rPr lang="en-US" dirty="0" smtClean="0"/>
              <a:t>Alt-C</a:t>
            </a:r>
            <a:r>
              <a:rPr lang="en-US" dirty="0"/>
              <a:t>: Move </a:t>
            </a:r>
            <a:r>
              <a:rPr lang="en-US" dirty="0" err="1" smtClean="0"/>
              <a:t>RemoteDiag</a:t>
            </a:r>
            <a:r>
              <a:rPr lang="en-US" dirty="0" smtClean="0"/>
              <a:t> + Use Proxy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600"/>
            <a:ext cx="6817903" cy="5278168"/>
          </a:xfrm>
        </p:spPr>
        <p:txBody>
          <a:bodyPr>
            <a:normAutofit/>
          </a:bodyPr>
          <a:lstStyle/>
          <a:p>
            <a:endParaRPr lang="en-US" sz="18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66" y="1274279"/>
            <a:ext cx="11891434" cy="5337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3773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&amp; Decision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74359379"/>
              </p:ext>
            </p:extLst>
          </p:nvPr>
        </p:nvGraphicFramePr>
        <p:xfrm>
          <a:off x="0" y="7276193"/>
          <a:ext cx="12019689" cy="40064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014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61943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7977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3490332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154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Alt-A – Keep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in 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Alt-B – Move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to 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Alt-C – Move +</a:t>
                      </a:r>
                      <a:r>
                        <a:rPr lang="en-US" baseline="0" dirty="0"/>
                        <a:t> Proxy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575628">
                <a:tc>
                  <a:txBody>
                    <a:bodyPr/>
                    <a:lstStyle/>
                    <a:p>
                      <a:r>
                        <a:rPr lang="en-US" dirty="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 dirty="0"/>
                        <a:t>CAN</a:t>
                      </a:r>
                      <a:r>
                        <a:rPr lang="en-US" baseline="0" dirty="0"/>
                        <a:t> is protected by SID Filter but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</a:t>
                      </a:r>
                      <a:r>
                        <a:rPr lang="en-US" baseline="0" dirty="0"/>
                        <a:t>remains controllable from compromised EP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High</a:t>
                      </a:r>
                    </a:p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Complete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isolation and SID Filter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in trusted IP.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939236">
                <a:tc>
                  <a:txBody>
                    <a:bodyPr/>
                    <a:lstStyle/>
                    <a:p>
                      <a:r>
                        <a:rPr lang="en-US" dirty="0"/>
                        <a:t>Maintainability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  <a:endParaRPr lang="en-US" b="1" dirty="0">
                        <a:solidFill>
                          <a:srgbClr val="00B050"/>
                        </a:solidFill>
                      </a:endParaRPr>
                    </a:p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Existing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EP modules and </a:t>
                      </a:r>
                      <a:r>
                        <a:rPr lang="en-US" dirty="0" err="1"/>
                        <a:t>RemoteDiag</a:t>
                      </a:r>
                      <a:r>
                        <a:rPr lang="en-US" dirty="0"/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keep their current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interface. But </a:t>
                      </a:r>
                      <a:r>
                        <a:rPr lang="en-US" b="0" dirty="0" err="1">
                          <a:solidFill>
                            <a:schemeClr val="tx1"/>
                          </a:solidFill>
                        </a:rPr>
                        <a:t>OnBoardClient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has to be modified.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Low</a:t>
                      </a:r>
                    </a:p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More than 10 EP modules have to change their implementation to support cross-container IPC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mechanism.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accent2"/>
                          </a:solidFill>
                        </a:rPr>
                        <a:t>Medium</a:t>
                      </a:r>
                    </a:p>
                    <a:p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EP modules’ interface unchanged,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but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dirty="0"/>
                        <a:t>additional</a:t>
                      </a:r>
                      <a:r>
                        <a:rPr lang="en-US" baseline="0" dirty="0"/>
                        <a:t> components (proxy and cross-container IPC)</a:t>
                      </a:r>
                      <a:r>
                        <a:rPr lang="en-US" dirty="0"/>
                        <a:t> </a:t>
                      </a:r>
                      <a:r>
                        <a:rPr lang="en-US" b="0" dirty="0">
                          <a:solidFill>
                            <a:schemeClr val="tx1"/>
                          </a:solidFill>
                        </a:rPr>
                        <a:t>have to</a:t>
                      </a:r>
                      <a:r>
                        <a:rPr lang="en-US" b="0" baseline="0" dirty="0">
                          <a:solidFill>
                            <a:schemeClr val="tx1"/>
                          </a:solidFill>
                        </a:rPr>
                        <a:t> be implemented and maintained.</a:t>
                      </a:r>
                      <a:endParaRPr lang="en-US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84529716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0" y="5583700"/>
            <a:ext cx="1187118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sz="2200" b="1" dirty="0"/>
              <a:t>Final decision: </a:t>
            </a:r>
            <a:r>
              <a:rPr lang="en-US" sz="2200" b="1" dirty="0">
                <a:solidFill>
                  <a:srgbClr val="00B050"/>
                </a:solidFill>
              </a:rPr>
              <a:t>Alt-C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xmlns="" id="{6C8AAA51-C203-CD8B-4B02-DE7401134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228328"/>
              </p:ext>
            </p:extLst>
          </p:nvPr>
        </p:nvGraphicFramePr>
        <p:xfrm>
          <a:off x="160866" y="1391839"/>
          <a:ext cx="11888259" cy="2164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790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473450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473450">
                  <a:extLst>
                    <a:ext uri="{9D8B030D-6E8A-4147-A177-3AD203B41FA5}">
                      <a16:colId xmlns:a16="http://schemas.microsoft.com/office/drawing/2014/main" xmlns="" val="2530683369"/>
                    </a:ext>
                  </a:extLst>
                </a:gridCol>
                <a:gridCol w="3473450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600" b="0" dirty="0" smtClean="0">
                          <a:latin typeface="+mn-lt"/>
                          <a:cs typeface="Arial" panose="020B0604020202020204" pitchFamily="34" charset="0"/>
                        </a:rPr>
                        <a:t>QA</a:t>
                      </a: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Alt-A</a:t>
                      </a:r>
                      <a:r>
                        <a:rPr lang="en-US" sz="1600" b="0" baseline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 – Split </a:t>
                      </a:r>
                      <a:r>
                        <a:rPr lang="en-US" sz="1600" b="0" baseline="0" dirty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Alt-B: Move </a:t>
                      </a:r>
                      <a:r>
                        <a:rPr lang="en-US" sz="1600" b="0" dirty="0" err="1" smtClean="0">
                          <a:effectLst/>
                          <a:latin typeface="+mn-lt"/>
                          <a:ea typeface="Malgun Gothic" panose="020B0503020000020004" pitchFamily="34" charset="-127"/>
                          <a:cs typeface="Arial" panose="020B0604020202020204" pitchFamily="34" charset="0"/>
                        </a:rPr>
                        <a:t>RemoteDiag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Alt-C: Move </a:t>
                      </a:r>
                      <a:r>
                        <a:rPr lang="en-US" sz="1600" b="0" dirty="0" err="1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RemoteDiag</a:t>
                      </a:r>
                      <a:r>
                        <a:rPr lang="en-US" sz="1600" b="0" dirty="0" smtClean="0">
                          <a:effectLst/>
                          <a:latin typeface="+mn-lt"/>
                          <a:cs typeface="Arial" panose="020B0604020202020204" pitchFamily="34" charset="0"/>
                        </a:rPr>
                        <a:t> + Use Proxy</a:t>
                      </a: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QA-01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marR="0" indent="-28575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/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r>
                        <a:rPr lang="en-US" sz="1600" b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Arial" panose="020B0604020202020204" pitchFamily="34" charset="0"/>
                        </a:rPr>
                        <a:t>QA-02</a:t>
                      </a: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0">
                        <a:lnSpc>
                          <a:spcPct val="150000"/>
                        </a:lnSpc>
                      </a:pP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endParaRPr lang="en-US" sz="1600" b="0" dirty="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just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0">
                        <a:lnSpc>
                          <a:spcPct val="150000"/>
                        </a:lnSpc>
                      </a:pPr>
                      <a:endParaRPr lang="en-US" sz="16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50000"/>
                        </a:lnSpc>
                        <a:spcBef>
                          <a:spcPts val="200"/>
                        </a:spcBef>
                        <a:spcAft>
                          <a:spcPts val="200"/>
                        </a:spcAft>
                      </a:pPr>
                      <a:endParaRPr lang="en-US" sz="1600" b="0" kern="1200" baseline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25400" marR="25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b="0" dirty="0">
                        <a:effectLst/>
                        <a:latin typeface="+mn-lt"/>
                        <a:ea typeface="Malgun Gothic" panose="020B0503020000020004" pitchFamily="34" charset="-127"/>
                        <a:cs typeface="Arial" panose="020B0604020202020204" pitchFamily="34" charset="0"/>
                      </a:endParaRPr>
                    </a:p>
                  </a:txBody>
                  <a:tcPr marL="106700" marR="106700" marT="53350" marB="533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9684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8800" b="1" dirty="0"/>
              <a:t>Q&amp;A</a:t>
            </a:r>
          </a:p>
          <a:p>
            <a:pPr marL="0" indent="0" algn="ctr">
              <a:buNone/>
            </a:pPr>
            <a:r>
              <a:rPr lang="en-US" sz="3600" b="1" dirty="0"/>
              <a:t>Thank you for listening</a:t>
            </a:r>
          </a:p>
        </p:txBody>
      </p:sp>
    </p:spTree>
    <p:extLst>
      <p:ext uri="{BB962C8B-B14F-4D97-AF65-F5344CB8AC3E}">
        <p14:creationId xmlns:p14="http://schemas.microsoft.com/office/powerpoint/2010/main" val="1581111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Alt-C: Compromise scenario</a:t>
            </a:r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2111827" y="862011"/>
            <a:ext cx="6662058" cy="5734051"/>
            <a:chOff x="3298371" y="862011"/>
            <a:chExt cx="6662058" cy="5734051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98371" y="862011"/>
              <a:ext cx="6527333" cy="5734051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5943600" y="3169364"/>
              <a:ext cx="4016829" cy="2240836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sp>
        <p:nvSpPr>
          <p:cNvPr id="8" name="Rectangle 7"/>
          <p:cNvSpPr/>
          <p:nvPr/>
        </p:nvSpPr>
        <p:spPr>
          <a:xfrm>
            <a:off x="9155628" y="4034373"/>
            <a:ext cx="2017953" cy="510818"/>
          </a:xfrm>
          <a:prstGeom prst="rect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Tactic: Validate Input</a:t>
            </a:r>
          </a:p>
        </p:txBody>
      </p:sp>
      <p:cxnSp>
        <p:nvCxnSpPr>
          <p:cNvPr id="11" name="Straight Arrow Connector 10"/>
          <p:cNvCxnSpPr>
            <a:endCxn id="8" idx="1"/>
          </p:cNvCxnSpPr>
          <p:nvPr/>
        </p:nvCxnSpPr>
        <p:spPr>
          <a:xfrm>
            <a:off x="8773885" y="4289782"/>
            <a:ext cx="381743" cy="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156857" y="780999"/>
            <a:ext cx="2971800" cy="5946371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834124" y="6216552"/>
            <a:ext cx="3207148" cy="510818"/>
          </a:xfrm>
          <a:prstGeom prst="rect">
            <a:avLst/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accent1">
                    <a:lumMod val="75000"/>
                  </a:schemeClr>
                </a:solidFill>
              </a:rPr>
              <a:t>Tactic: Separate Entities/Isolation</a:t>
            </a:r>
          </a:p>
        </p:txBody>
      </p:sp>
      <p:cxnSp>
        <p:nvCxnSpPr>
          <p:cNvPr id="14" name="Straight Arrow Connector 13"/>
          <p:cNvCxnSpPr>
            <a:endCxn id="13" idx="1"/>
          </p:cNvCxnSpPr>
          <p:nvPr/>
        </p:nvCxnSpPr>
        <p:spPr>
          <a:xfrm>
            <a:off x="6128657" y="6471961"/>
            <a:ext cx="2705467" cy="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298371" y="862011"/>
            <a:ext cx="1556657" cy="797430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7094875" y="351193"/>
            <a:ext cx="2589315" cy="510818"/>
          </a:xfrm>
          <a:prstGeom prst="rect">
            <a:avLst/>
          </a:prstGeom>
          <a:noFill/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accent2">
                    <a:lumMod val="50000"/>
                  </a:schemeClr>
                </a:solidFill>
              </a:rPr>
              <a:t>Tactic: Use an Intermediary</a:t>
            </a:r>
          </a:p>
        </p:txBody>
      </p:sp>
      <p:cxnSp>
        <p:nvCxnSpPr>
          <p:cNvPr id="29" name="Straight Arrow Connector 28"/>
          <p:cNvCxnSpPr/>
          <p:nvPr/>
        </p:nvCxnSpPr>
        <p:spPr>
          <a:xfrm flipV="1">
            <a:off x="4855028" y="614263"/>
            <a:ext cx="2239847" cy="503157"/>
          </a:xfrm>
          <a:prstGeom prst="bentConnector3">
            <a:avLst>
              <a:gd name="adj1" fmla="val 5774"/>
            </a:avLst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1207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11887201" cy="1791677"/>
          </a:xfrm>
        </p:spPr>
        <p:txBody>
          <a:bodyPr>
            <a:normAutofit/>
          </a:bodyPr>
          <a:lstStyle/>
          <a:p>
            <a:r>
              <a:rPr lang="en-US" sz="1800" dirty="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/>
                </a:solidFill>
                <a:sym typeface="Wingdings" panose="05000000000000000000" pitchFamily="2" charset="2"/>
              </a:rPr>
              <a:t></a:t>
            </a:r>
            <a:r>
              <a:rPr lang="en-US" sz="1800" dirty="0">
                <a:ln>
                  <a:solidFill>
                    <a:schemeClr val="accent6">
                      <a:lumMod val="75000"/>
                    </a:schemeClr>
                  </a:solidFill>
                </a:ln>
                <a:sym typeface="Wingdings" panose="05000000000000000000" pitchFamily="2" charset="2"/>
              </a:rPr>
              <a:t>  </a:t>
            </a:r>
            <a:r>
              <a:rPr lang="en-US" sz="1800" dirty="0"/>
              <a:t>Completed</a:t>
            </a:r>
          </a:p>
          <a:p>
            <a:pPr lvl="1"/>
            <a:r>
              <a:rPr lang="en-US" sz="1800" dirty="0"/>
              <a:t>EP Container setup completed.</a:t>
            </a:r>
          </a:p>
          <a:p>
            <a:pPr lvl="1"/>
            <a:r>
              <a:rPr lang="en-US" sz="1800" dirty="0" err="1"/>
              <a:t>RemoteDiagProxy</a:t>
            </a:r>
            <a:r>
              <a:rPr lang="en-US" sz="1800" dirty="0"/>
              <a:t> implementation completed.</a:t>
            </a:r>
          </a:p>
          <a:p>
            <a:pPr lvl="1"/>
            <a:r>
              <a:rPr lang="en-US" sz="1800" dirty="0"/>
              <a:t>Communication between </a:t>
            </a:r>
            <a:r>
              <a:rPr lang="en-US" sz="1800" dirty="0" err="1"/>
              <a:t>RemoteDiagProxy</a:t>
            </a:r>
            <a:r>
              <a:rPr lang="en-US" sz="1800" dirty="0"/>
              <a:t> and </a:t>
            </a:r>
            <a:r>
              <a:rPr lang="en-US" sz="1800" dirty="0" err="1"/>
              <a:t>RemoteDiag</a:t>
            </a:r>
            <a:r>
              <a:rPr lang="en-US" sz="1800" dirty="0"/>
              <a:t> established and verified.</a:t>
            </a:r>
          </a:p>
        </p:txBody>
      </p:sp>
      <p:sp>
        <p:nvSpPr>
          <p:cNvPr id="6" name="AutoShape 2" descr="http://jira.lge.com/issue/secure/attachment/15785945/15785945_image-2026-07-29-16-20-32-949.png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63500" y="-13652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AutoShape 6" descr="http://jira.lge.com/issue/secure/attachment/15780505/15780505_image-2026-07-29-11-36-43-878.png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00" y="2288022"/>
            <a:ext cx="6404121" cy="1914992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0203" y="3978079"/>
            <a:ext cx="6877864" cy="287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8300" y="5455138"/>
            <a:ext cx="4232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  <a:sym typeface="Wingdings" panose="05000000000000000000" pitchFamily="2" charset="2"/>
              </a:rPr>
              <a:t>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/>
              <a:t>Next Step: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SID Filter implementation &amp; testing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7677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160866" y="2064190"/>
            <a:ext cx="11887201" cy="40038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6600" b="1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522549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5C86E6E-BE59-7A7B-6BE9-16A0A094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Diagnostic filtering requirements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xmlns="" id="{AD4A4EC6-9BB8-2849-8D75-05C44DE9A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247" y="1073926"/>
            <a:ext cx="5404920" cy="42382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C985C62C-76E5-84A1-DEF1-FC486F2BF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314" y="1073926"/>
            <a:ext cx="5385950" cy="318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69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3"/>
          <p:cNvSpPr/>
          <p:nvPr/>
        </p:nvSpPr>
        <p:spPr>
          <a:xfrm>
            <a:off x="160867" y="990600"/>
            <a:ext cx="3608245" cy="5740400"/>
          </a:xfrm>
          <a:prstGeom prst="roundRect">
            <a:avLst>
              <a:gd name="adj" fmla="val 1639"/>
            </a:avLst>
          </a:prstGeom>
          <a:solidFill>
            <a:srgbClr val="FDE9D7">
              <a:alpha val="92000"/>
            </a:srgbClr>
          </a:solidFill>
          <a:ln w="15240">
            <a:solidFill>
              <a:srgbClr val="B85C1B">
                <a:alpha val="80000"/>
              </a:srgbClr>
            </a:solidFill>
            <a:prstDash val="solid"/>
          </a:ln>
        </p:spPr>
        <p:txBody>
          <a:bodyPr/>
          <a:lstStyle/>
          <a:p>
            <a:r>
              <a:rPr lang="en-US" sz="2000" dirty="0"/>
              <a:t>Current architecture: the entire telematics stack (DCM) runs in a single partition.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156" y="2218098"/>
            <a:ext cx="3045023" cy="357310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dirty="0">
                <a:solidFill>
                  <a:schemeClr val="tx1"/>
                </a:solidFill>
              </a:rPr>
              <a:t>ECU model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 &amp; Motivation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580422" y="2756069"/>
            <a:ext cx="2724660" cy="2920832"/>
            <a:chOff x="384810" y="2872581"/>
            <a:chExt cx="2567940" cy="2088355"/>
          </a:xfrm>
        </p:grpSpPr>
        <p:grpSp>
          <p:nvGrpSpPr>
            <p:cNvPr id="5" name="Group 4"/>
            <p:cNvGrpSpPr/>
            <p:nvPr/>
          </p:nvGrpSpPr>
          <p:grpSpPr>
            <a:xfrm>
              <a:off x="384810" y="2872581"/>
              <a:ext cx="2567940" cy="1788319"/>
              <a:chOff x="403860" y="1881981"/>
              <a:chExt cx="2567940" cy="1788319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403860" y="1881981"/>
                <a:ext cx="2567940" cy="1788319"/>
              </a:xfrm>
              <a:prstGeom prst="rect">
                <a:avLst/>
              </a:prstGeom>
              <a:solidFill>
                <a:srgbClr val="FFFFE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 anchorCtr="0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</a:rPr>
                  <a:t>DCM</a:t>
                </a:r>
              </a:p>
            </p:txBody>
          </p:sp>
          <p:sp>
            <p:nvSpPr>
              <p:cNvPr id="8" name="Rectangle 7"/>
              <p:cNvSpPr/>
              <p:nvPr/>
            </p:nvSpPr>
            <p:spPr>
              <a:xfrm>
                <a:off x="490167" y="2265207"/>
                <a:ext cx="2405432" cy="319085"/>
              </a:xfrm>
              <a:prstGeom prst="rect">
                <a:avLst/>
              </a:prstGeom>
              <a:solidFill>
                <a:schemeClr val="accent6">
                  <a:lumMod val="75000"/>
                </a:schemeClr>
              </a:solidFill>
              <a:ln w="127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dirty="0">
                    <a:solidFill>
                      <a:schemeClr val="bg1"/>
                    </a:solidFill>
                  </a:rPr>
                  <a:t>OEM Apps</a:t>
                </a:r>
              </a:p>
            </p:txBody>
          </p:sp>
          <p:grpSp>
            <p:nvGrpSpPr>
              <p:cNvPr id="9" name="Group 8"/>
              <p:cNvGrpSpPr/>
              <p:nvPr/>
            </p:nvGrpSpPr>
            <p:grpSpPr>
              <a:xfrm>
                <a:off x="490167" y="2712881"/>
                <a:ext cx="2405432" cy="382110"/>
                <a:chOff x="2191543" y="3101340"/>
                <a:chExt cx="2260857" cy="382110"/>
              </a:xfrm>
            </p:grpSpPr>
            <p:sp>
              <p:nvSpPr>
                <p:cNvPr id="10" name="Rectangle 9"/>
                <p:cNvSpPr/>
                <p:nvPr/>
              </p:nvSpPr>
              <p:spPr>
                <a:xfrm>
                  <a:off x="2220230" y="3129915"/>
                  <a:ext cx="2232170" cy="353535"/>
                </a:xfrm>
                <a:prstGeom prst="rect">
                  <a:avLst/>
                </a:prstGeom>
                <a:solidFill>
                  <a:srgbClr val="C2F0FF"/>
                </a:solidFill>
                <a:ln w="127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/>
                <a:p>
                  <a:pPr algn="ctr"/>
                  <a:endParaRPr lang="en-US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endParaRPr>
                </a:p>
              </p:txBody>
            </p:sp>
            <p:sp>
              <p:nvSpPr>
                <p:cNvPr id="11" name="Rectangle 10"/>
                <p:cNvSpPr/>
                <p:nvPr/>
              </p:nvSpPr>
              <p:spPr>
                <a:xfrm>
                  <a:off x="2191543" y="3101340"/>
                  <a:ext cx="2232170" cy="354643"/>
                </a:xfrm>
                <a:prstGeom prst="rect">
                  <a:avLst/>
                </a:prstGeom>
                <a:solidFill>
                  <a:srgbClr val="C2F0FF"/>
                </a:solidFill>
                <a:ln w="12700">
                  <a:solidFill>
                    <a:schemeClr val="tx1">
                      <a:lumMod val="95000"/>
                      <a:lumOff val="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/>
                <a:lstStyle/>
                <a:p>
                  <a:pPr algn="ctr"/>
                  <a:r>
                    <a:rPr lang="en-US" dirty="0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</a:rPr>
                    <a:t>LGE Apps/Services</a:t>
                  </a:r>
                </a:p>
              </p:txBody>
            </p:sp>
          </p:grpSp>
          <p:sp>
            <p:nvSpPr>
              <p:cNvPr id="15" name="Rectangle 14"/>
              <p:cNvSpPr/>
              <p:nvPr/>
            </p:nvSpPr>
            <p:spPr>
              <a:xfrm>
                <a:off x="490167" y="3223580"/>
                <a:ext cx="2405432" cy="326069"/>
              </a:xfrm>
              <a:prstGeom prst="rect">
                <a:avLst/>
              </a:prstGeom>
              <a:solidFill>
                <a:schemeClr val="bg2">
                  <a:lumMod val="75000"/>
                </a:schemeClr>
              </a:solidFill>
              <a:ln w="12700"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0"/>
              <a:lstStyle/>
              <a:p>
                <a:pPr algn="ctr"/>
                <a:r>
                  <a:rPr lang="en-US" dirty="0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Linux Kernel/Driver</a:t>
                </a:r>
              </a:p>
            </p:txBody>
          </p:sp>
        </p:grpSp>
        <p:sp>
          <p:nvSpPr>
            <p:cNvPr id="19" name="Rectangle 18"/>
            <p:cNvSpPr/>
            <p:nvPr/>
          </p:nvSpPr>
          <p:spPr>
            <a:xfrm>
              <a:off x="384810" y="4720259"/>
              <a:ext cx="2567940" cy="240677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 w="12700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anchorCtr="0"/>
            <a:lstStyle/>
            <a:p>
              <a:pPr algn="ctr"/>
              <a:r>
                <a:rPr lang="en-US" dirty="0">
                  <a:solidFill>
                    <a:schemeClr val="tx1">
                      <a:lumMod val="95000"/>
                      <a:lumOff val="5000"/>
                    </a:schemeClr>
                  </a:solidFill>
                </a:rPr>
                <a:t>MCU</a:t>
              </a:r>
            </a:p>
          </p:txBody>
        </p:sp>
      </p:grpSp>
      <p:sp>
        <p:nvSpPr>
          <p:cNvPr id="22" name="Shape 3"/>
          <p:cNvSpPr/>
          <p:nvPr/>
        </p:nvSpPr>
        <p:spPr>
          <a:xfrm>
            <a:off x="3943431" y="990600"/>
            <a:ext cx="8115217" cy="5740400"/>
          </a:xfrm>
          <a:prstGeom prst="roundRect">
            <a:avLst>
              <a:gd name="adj" fmla="val 1639"/>
            </a:avLst>
          </a:prstGeom>
          <a:solidFill>
            <a:schemeClr val="accent6">
              <a:lumMod val="20000"/>
              <a:lumOff val="80000"/>
              <a:alpha val="92000"/>
            </a:schemeClr>
          </a:solidFill>
          <a:ln w="15240">
            <a:solidFill>
              <a:schemeClr val="accent6">
                <a:lumMod val="75000"/>
                <a:alpha val="80000"/>
              </a:schemeClr>
            </a:solidFill>
            <a:prstDash val="solid"/>
          </a:ln>
        </p:spPr>
        <p:txBody>
          <a:bodyPr/>
          <a:lstStyle/>
          <a:p>
            <a:r>
              <a:rPr lang="en-US" sz="2400" dirty="0"/>
              <a:t>New OEM security requirement: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When Entry Point (EP) Partition is compromised, the damage </a:t>
            </a:r>
            <a:r>
              <a:rPr lang="en-US" sz="2000" b="1" dirty="0"/>
              <a:t>must NOT propagate</a:t>
            </a:r>
            <a:r>
              <a:rPr lang="en-US" sz="2000" dirty="0"/>
              <a:t> to Internal Partition and internal CAN bus.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Unauthorized diagnostic commands related to reprogramming </a:t>
            </a:r>
            <a:r>
              <a:rPr lang="en-US" sz="2000" b="1" dirty="0"/>
              <a:t>must be filtered</a:t>
            </a:r>
            <a:r>
              <a:rPr lang="en-US" sz="200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sz="2400" dirty="0"/>
          </a:p>
        </p:txBody>
      </p:sp>
      <p:pic>
        <p:nvPicPr>
          <p:cNvPr id="23" name="Picture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623" y="3485584"/>
            <a:ext cx="3654200" cy="3147995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3142" y="4819649"/>
            <a:ext cx="2572697" cy="1813930"/>
          </a:xfrm>
          <a:prstGeom prst="rect">
            <a:avLst/>
          </a:prstGeom>
        </p:spPr>
      </p:pic>
      <p:cxnSp>
        <p:nvCxnSpPr>
          <p:cNvPr id="37" name="Straight Connector 36"/>
          <p:cNvCxnSpPr/>
          <p:nvPr/>
        </p:nvCxnSpPr>
        <p:spPr>
          <a:xfrm>
            <a:off x="912452" y="6298684"/>
            <a:ext cx="2000250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1064851" y="6365359"/>
            <a:ext cx="2000250" cy="0"/>
          </a:xfrm>
          <a:prstGeom prst="line">
            <a:avLst/>
          </a:prstGeom>
          <a:ln w="190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569676" y="6313012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Internal CAN</a:t>
            </a:r>
          </a:p>
        </p:txBody>
      </p:sp>
      <p:cxnSp>
        <p:nvCxnSpPr>
          <p:cNvPr id="40" name="Straight Arrow Connector 39"/>
          <p:cNvCxnSpPr/>
          <p:nvPr/>
        </p:nvCxnSpPr>
        <p:spPr>
          <a:xfrm>
            <a:off x="1848939" y="5791200"/>
            <a:ext cx="0" cy="50748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809657" y="5844957"/>
            <a:ext cx="1495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flow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0016" y="2756068"/>
            <a:ext cx="430068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EP</a:t>
            </a:r>
            <a:r>
              <a:rPr lang="en-US" dirty="0"/>
              <a:t>: contains externally exposed network components (</a:t>
            </a:r>
            <a:r>
              <a:rPr lang="en-US" dirty="0" err="1"/>
              <a:t>ie</a:t>
            </a:r>
            <a:r>
              <a:rPr lang="en-US" dirty="0"/>
              <a:t>: Cellular/Center, OTA, etc.), OEM Apps and other LGE Apps/Services</a:t>
            </a:r>
          </a:p>
          <a:p>
            <a:r>
              <a:rPr lang="en-US" b="1" dirty="0"/>
              <a:t>Internal Partition</a:t>
            </a:r>
            <a:r>
              <a:rPr lang="en-US" dirty="0"/>
              <a:t>: contains components which has access to in-vehicle CAN bus. This is the </a:t>
            </a:r>
            <a:r>
              <a:rPr lang="en-US" b="1" dirty="0"/>
              <a:t>trusted zone</a:t>
            </a:r>
          </a:p>
        </p:txBody>
      </p:sp>
    </p:spTree>
    <p:extLst>
      <p:ext uri="{BB962C8B-B14F-4D97-AF65-F5344CB8AC3E}">
        <p14:creationId xmlns:p14="http://schemas.microsoft.com/office/powerpoint/2010/main" val="3834437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xmlns="" id="{0AFC7E7A-719D-91DA-98A6-ACBCE177BB10}"/>
              </a:ext>
            </a:extLst>
          </p:cNvPr>
          <p:cNvGrpSpPr/>
          <p:nvPr/>
        </p:nvGrpSpPr>
        <p:grpSpPr>
          <a:xfrm>
            <a:off x="1189964" y="4947188"/>
            <a:ext cx="2145223" cy="1721644"/>
            <a:chOff x="689896" y="4947188"/>
            <a:chExt cx="2145223" cy="1721644"/>
          </a:xfrm>
        </p:grpSpPr>
        <p:pic>
          <p:nvPicPr>
            <p:cNvPr id="14" name="Picture 13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xmlns="" id="{688E41AB-DCC1-75A5-9652-8F2D2728C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9896" y="4947188"/>
              <a:ext cx="2145223" cy="1721644"/>
            </a:xfrm>
            <a:prstGeom prst="rect">
              <a:avLst/>
            </a:prstGeom>
          </p:spPr>
        </p:pic>
        <p:pic>
          <p:nvPicPr>
            <p:cNvPr id="11" name="Graphic 10" descr="Back with solid fill">
              <a:extLst>
                <a:ext uri="{FF2B5EF4-FFF2-40B4-BE49-F238E27FC236}">
                  <a16:creationId xmlns:a16="http://schemas.microsoft.com/office/drawing/2014/main" xmlns="" id="{6F16C2C1-0B4C-42CA-1D81-C41554FFC1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 rot="16620864">
              <a:off x="789173" y="5458529"/>
              <a:ext cx="914400" cy="570200"/>
            </a:xfrm>
            <a:prstGeom prst="rect">
              <a:avLst/>
            </a:prstGeom>
          </p:spPr>
        </p:pic>
        <p:pic>
          <p:nvPicPr>
            <p:cNvPr id="12" name="Graphic 11" descr="Back with solid fill">
              <a:extLst>
                <a:ext uri="{FF2B5EF4-FFF2-40B4-BE49-F238E27FC236}">
                  <a16:creationId xmlns:a16="http://schemas.microsoft.com/office/drawing/2014/main" xmlns="" id="{7702869A-0835-C839-D150-627E11EFB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p:blipFill>
          <p:spPr>
            <a:xfrm rot="4979136" flipH="1">
              <a:off x="1856746" y="5421601"/>
              <a:ext cx="914400" cy="592012"/>
            </a:xfrm>
            <a:prstGeom prst="rect">
              <a:avLst/>
            </a:prstGeom>
          </p:spPr>
        </p:pic>
        <p:pic>
          <p:nvPicPr>
            <p:cNvPr id="16" name="Graphic 15" descr="Question Mark with solid fill">
              <a:extLst>
                <a:ext uri="{FF2B5EF4-FFF2-40B4-BE49-F238E27FC236}">
                  <a16:creationId xmlns:a16="http://schemas.microsoft.com/office/drawing/2014/main" xmlns="" id="{E808654D-9897-D2E3-DEE9-7AB9459F1B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xmlns="" r:embed="rId6"/>
                </a:ext>
              </a:extLst>
            </a:blip>
            <a:stretch>
              <a:fillRect/>
            </a:stretch>
          </p:blipFill>
          <p:spPr>
            <a:xfrm>
              <a:off x="1430187" y="5679280"/>
              <a:ext cx="614363" cy="614363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To comply with the EP/IP separation, the </a:t>
            </a:r>
            <a:r>
              <a:rPr lang="en-US" sz="1800" dirty="0" err="1"/>
              <a:t>RemoteDiag</a:t>
            </a:r>
            <a:r>
              <a:rPr lang="en-US" sz="1800" dirty="0"/>
              <a:t> </a:t>
            </a:r>
            <a:r>
              <a:rPr lang="en-US" sz="1800" b="1" dirty="0"/>
              <a:t>component architecture and communication model</a:t>
            </a:r>
            <a:r>
              <a:rPr lang="en-US" sz="1800" dirty="0"/>
              <a:t> should be redesigned.</a:t>
            </a:r>
          </a:p>
          <a:p>
            <a:r>
              <a:rPr lang="en-US" sz="1800" dirty="0"/>
              <a:t>The design should satisfy below points:</a:t>
            </a:r>
          </a:p>
          <a:p>
            <a:pPr lvl="1"/>
            <a:r>
              <a:rPr lang="en-US" sz="1800" dirty="0"/>
              <a:t>Diagnostic processing (main job of </a:t>
            </a:r>
            <a:r>
              <a:rPr lang="en-US" sz="1800" dirty="0" err="1"/>
              <a:t>RemoteDiag</a:t>
            </a:r>
            <a:r>
              <a:rPr lang="en-US" sz="1800" dirty="0"/>
              <a:t>) </a:t>
            </a:r>
            <a:r>
              <a:rPr lang="en-US" sz="1800" b="1" dirty="0"/>
              <a:t>should be preserved</a:t>
            </a:r>
            <a:r>
              <a:rPr lang="en-US" sz="1800" dirty="0"/>
              <a:t>.</a:t>
            </a:r>
          </a:p>
          <a:p>
            <a:pPr lvl="1"/>
            <a:r>
              <a:rPr lang="en-US" sz="1800" dirty="0" err="1"/>
              <a:t>RemoteDiag</a:t>
            </a:r>
            <a:r>
              <a:rPr lang="en-US" sz="1800" dirty="0"/>
              <a:t> still requires </a:t>
            </a:r>
            <a:r>
              <a:rPr lang="en-US" sz="1800" b="1" dirty="0"/>
              <a:t>communicating with other modules in EP container </a:t>
            </a:r>
            <a:r>
              <a:rPr lang="en-US" sz="1800" dirty="0"/>
              <a:t>(e.g., OEM Center, </a:t>
            </a:r>
            <a:r>
              <a:rPr lang="en-US" sz="1800" dirty="0" err="1"/>
              <a:t>CommMgr</a:t>
            </a:r>
            <a:r>
              <a:rPr lang="en-US" sz="1800" dirty="0"/>
              <a:t>, MQTT, …)</a:t>
            </a:r>
          </a:p>
          <a:p>
            <a:pPr lvl="1"/>
            <a:r>
              <a:rPr lang="en-US" sz="1800" dirty="0"/>
              <a:t>Changes to existing EP modules should be minimized.</a:t>
            </a:r>
          </a:p>
          <a:p>
            <a:pPr lvl="1"/>
            <a:r>
              <a:rPr lang="en-US" sz="1800" dirty="0"/>
              <a:t>Fault isolation and security: </a:t>
            </a:r>
          </a:p>
          <a:p>
            <a:pPr lvl="2"/>
            <a:r>
              <a:rPr lang="en-US" sz="1800" dirty="0" err="1"/>
              <a:t>RemoteDiag</a:t>
            </a:r>
            <a:r>
              <a:rPr lang="en-US" sz="1800" dirty="0"/>
              <a:t> should remain operational even if the EP partition is compromised.</a:t>
            </a:r>
          </a:p>
          <a:p>
            <a:pPr lvl="2"/>
            <a:r>
              <a:rPr lang="en-US" sz="1800" dirty="0"/>
              <a:t>Diagnostic commands related to reprogramming should be filtered (</a:t>
            </a:r>
            <a:r>
              <a:rPr lang="en-US" sz="1800" dirty="0">
                <a:hlinkClick r:id="rId7" action="ppaction://hlinksldjump"/>
              </a:rPr>
              <a:t>refer to Diagnostic Filtering Requirements</a:t>
            </a:r>
            <a:r>
              <a:rPr lang="en-US" sz="1800" dirty="0"/>
              <a:t>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17872" y="5582527"/>
            <a:ext cx="973391" cy="1086305"/>
          </a:xfrm>
          <a:prstGeom prst="rect">
            <a:avLst/>
          </a:prstGeom>
        </p:spPr>
      </p:pic>
      <p:sp>
        <p:nvSpPr>
          <p:cNvPr id="5" name="Cloud Callout 4"/>
          <p:cNvSpPr/>
          <p:nvPr/>
        </p:nvSpPr>
        <p:spPr>
          <a:xfrm flipH="1">
            <a:off x="2066250" y="3880488"/>
            <a:ext cx="3515016" cy="1326086"/>
          </a:xfrm>
          <a:prstGeom prst="cloudCallout">
            <a:avLst>
              <a:gd name="adj1" fmla="val -72436"/>
              <a:gd name="adj2" fmla="val 78810"/>
            </a:avLst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Where should </a:t>
            </a:r>
            <a:r>
              <a:rPr lang="en-US" dirty="0" err="1">
                <a:solidFill>
                  <a:schemeClr val="tx1"/>
                </a:solidFill>
              </a:rPr>
              <a:t>RemoteDiag</a:t>
            </a:r>
            <a:r>
              <a:rPr lang="en-US" dirty="0">
                <a:solidFill>
                  <a:schemeClr val="tx1"/>
                </a:solidFill>
              </a:rPr>
              <a:t> be placed (EP or IP)? </a:t>
            </a:r>
          </a:p>
        </p:txBody>
      </p:sp>
      <p:sp>
        <p:nvSpPr>
          <p:cNvPr id="7" name="Cloud Callout 6"/>
          <p:cNvSpPr/>
          <p:nvPr/>
        </p:nvSpPr>
        <p:spPr>
          <a:xfrm>
            <a:off x="7486650" y="4256440"/>
            <a:ext cx="4257675" cy="1326087"/>
          </a:xfrm>
          <a:prstGeom prst="cloudCallout">
            <a:avLst>
              <a:gd name="adj1" fmla="val -58109"/>
              <a:gd name="adj2" fmla="val 52352"/>
            </a:avLst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What should the communication model be?</a:t>
            </a:r>
          </a:p>
        </p:txBody>
      </p:sp>
    </p:spTree>
    <p:extLst>
      <p:ext uri="{BB962C8B-B14F-4D97-AF65-F5344CB8AC3E}">
        <p14:creationId xmlns:p14="http://schemas.microsoft.com/office/powerpoint/2010/main" val="2288849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C2B75C-23E8-D9F9-C4EA-82DD24D63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6A28504-A0AD-A7E9-3FC5-18DB5EE57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Quality Attribute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xmlns="" id="{E0D35A5C-C584-C4A0-1B22-6388F245308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60338" y="990600"/>
          <a:ext cx="11887199" cy="373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892">
                  <a:extLst>
                    <a:ext uri="{9D8B030D-6E8A-4147-A177-3AD203B41FA5}">
                      <a16:colId xmlns:a16="http://schemas.microsoft.com/office/drawing/2014/main" xmlns="" val="395587818"/>
                    </a:ext>
                  </a:extLst>
                </a:gridCol>
                <a:gridCol w="109922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25644">
                  <a:extLst>
                    <a:ext uri="{9D8B030D-6E8A-4147-A177-3AD203B41FA5}">
                      <a16:colId xmlns:a16="http://schemas.microsoft.com/office/drawing/2014/main" xmlns="" val="2149221010"/>
                    </a:ext>
                  </a:extLst>
                </a:gridCol>
                <a:gridCol w="2834688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3681750">
                  <a:extLst>
                    <a:ext uri="{9D8B030D-6E8A-4147-A177-3AD203B41FA5}">
                      <a16:colId xmlns:a16="http://schemas.microsoft.com/office/drawing/2014/main" xmlns="" val="2936743574"/>
                    </a:ext>
                  </a:extLst>
                </a:gridCol>
              </a:tblGrid>
              <a:tr h="40355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Priority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Tactics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Measure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1218897030"/>
                  </a:ext>
                </a:extLst>
              </a:tr>
              <a:tr h="1890634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The EP partition is compromised and sends reprogramming SIDs to the CAN bus.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- Separate Entities/Isolation</a:t>
                      </a: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- Validate</a:t>
                      </a:r>
                      <a:r>
                        <a:rPr lang="en-US" baseline="0" dirty="0"/>
                        <a:t> Input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- </a:t>
                      </a:r>
                      <a:r>
                        <a:rPr lang="en-US" b="1" dirty="0"/>
                        <a:t>Zero</a:t>
                      </a:r>
                      <a:r>
                        <a:rPr lang="en-US" dirty="0"/>
                        <a:t> Reprogramming SIDs (0x10(02), 0x11, 0x28, 0x34, 0x85) reaching the internal CAN (</a:t>
                      </a:r>
                      <a:r>
                        <a:rPr lang="en-US" b="1" dirty="0"/>
                        <a:t>block 100%</a:t>
                      </a:r>
                      <a:r>
                        <a:rPr lang="en-US" dirty="0"/>
                        <a:t>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232119182"/>
                  </a:ext>
                </a:extLst>
              </a:tr>
              <a:tr h="144285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Maintainability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dirty="0"/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Adapting existing software components to the new partition separation layout.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 Reduce</a:t>
                      </a:r>
                      <a:r>
                        <a:rPr lang="en-US" baseline="0" dirty="0"/>
                        <a:t> coupling (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 an Intermediary)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- Minimal module changes required to adapt the new partition layout.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36324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9029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– Alt-A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7" y="990600"/>
            <a:ext cx="11864356" cy="3581400"/>
          </a:xfrm>
        </p:spPr>
        <p:txBody>
          <a:bodyPr>
            <a:normAutofit/>
          </a:bodyPr>
          <a:lstStyle/>
          <a:p>
            <a:r>
              <a:rPr lang="en-US" sz="1800" dirty="0" err="1"/>
              <a:t>RemoteDiag</a:t>
            </a:r>
            <a:r>
              <a:rPr lang="en-US" sz="1800" dirty="0"/>
              <a:t> stays in EP container, the SID Filter is placed in </a:t>
            </a:r>
            <a:r>
              <a:rPr lang="en-US" sz="1800" dirty="0" err="1"/>
              <a:t>OnBoardClient</a:t>
            </a:r>
            <a:r>
              <a:rPr lang="en-US" sz="1800" dirty="0"/>
              <a:t> at IP container.</a:t>
            </a:r>
          </a:p>
          <a:p>
            <a:r>
              <a:rPr lang="en-US" sz="1800" dirty="0"/>
              <a:t>All diagnostic requests from </a:t>
            </a:r>
            <a:r>
              <a:rPr lang="en-US" sz="1800" dirty="0" err="1"/>
              <a:t>RemoteDiag</a:t>
            </a:r>
            <a:r>
              <a:rPr lang="en-US" sz="1800" dirty="0"/>
              <a:t> pass through this filter before go to internal CAN.</a:t>
            </a:r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 dirty="0"/>
              <a:t>: </a:t>
            </a:r>
          </a:p>
          <a:p>
            <a:pPr lvl="1"/>
            <a:r>
              <a:rPr lang="en-US" sz="1800" b="1" dirty="0"/>
              <a:t>Security</a:t>
            </a:r>
            <a:r>
              <a:rPr lang="en-US" sz="1800" dirty="0"/>
              <a:t>: EP/IP container isolation protects the IP side, and the SID Filter </a:t>
            </a:r>
            <a:r>
              <a:rPr lang="en-US" sz="1800" b="1" dirty="0"/>
              <a:t>prevents the specified requests</a:t>
            </a:r>
            <a:r>
              <a:rPr lang="en-US" sz="1800" dirty="0"/>
              <a:t> from reaching internal CAN.</a:t>
            </a:r>
          </a:p>
          <a:p>
            <a:pPr lvl="1"/>
            <a:r>
              <a:rPr lang="en-US" sz="1800" b="1" dirty="0"/>
              <a:t>Maintainability</a:t>
            </a:r>
            <a:r>
              <a:rPr lang="en-US" sz="1800" dirty="0"/>
              <a:t>: existing EP modules and RDG </a:t>
            </a:r>
            <a:r>
              <a:rPr lang="en-US" sz="1800" b="1" dirty="0"/>
              <a:t>keep their current interfaces</a:t>
            </a:r>
            <a:r>
              <a:rPr lang="en-US" sz="1800" dirty="0"/>
              <a:t>, </a:t>
            </a:r>
            <a:r>
              <a:rPr lang="en-US" sz="1800" b="1" dirty="0"/>
              <a:t>minimizing modifications to EP modules</a:t>
            </a:r>
            <a:r>
              <a:rPr lang="en-US" sz="1800" dirty="0"/>
              <a:t>.</a:t>
            </a:r>
          </a:p>
          <a:p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Trade-off </a:t>
            </a:r>
            <a:r>
              <a:rPr lang="en-US" sz="1800" dirty="0"/>
              <a:t>:</a:t>
            </a:r>
          </a:p>
          <a:p>
            <a:pPr lvl="1"/>
            <a:r>
              <a:rPr lang="en-US" sz="1800" b="1" dirty="0"/>
              <a:t>Security</a:t>
            </a:r>
            <a:r>
              <a:rPr lang="en-US" sz="1800" dirty="0"/>
              <a:t>: </a:t>
            </a:r>
            <a:r>
              <a:rPr lang="en-US" sz="1800" dirty="0" err="1"/>
              <a:t>RemoteDiag</a:t>
            </a:r>
            <a:r>
              <a:rPr lang="en-US" sz="1800" dirty="0"/>
              <a:t> remains in the EP side. Therefore, container isolation </a:t>
            </a:r>
            <a:r>
              <a:rPr lang="en-US" sz="1800" b="1" dirty="0"/>
              <a:t>does not protect </a:t>
            </a:r>
            <a:r>
              <a:rPr lang="en-US" sz="1800" b="1" dirty="0" err="1"/>
              <a:t>RemoteDiag</a:t>
            </a:r>
            <a:r>
              <a:rPr lang="en-US" sz="1800" dirty="0"/>
              <a:t> if the EP is compromised.</a:t>
            </a:r>
          </a:p>
        </p:txBody>
      </p:sp>
      <p:pic>
        <p:nvPicPr>
          <p:cNvPr id="5" name="Picture 4" descr="A diagram of a remote control&#10;&#10;AI-generated content may be incorrect.">
            <a:extLst>
              <a:ext uri="{FF2B5EF4-FFF2-40B4-BE49-F238E27FC236}">
                <a16:creationId xmlns:a16="http://schemas.microsoft.com/office/drawing/2014/main" xmlns="" id="{E146C554-A4E0-0D89-9EC9-B22462873F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946" y="4040550"/>
            <a:ext cx="6101360" cy="24478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2780" y="3845992"/>
            <a:ext cx="52972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7013" lvl="1" indent="-227013">
              <a:buFont typeface="Arial" panose="020B0604020202020204" pitchFamily="34" charset="0"/>
              <a:buChar char="•"/>
            </a:pPr>
            <a:r>
              <a:rPr lang="en-US" b="1" dirty="0"/>
              <a:t>Maintainability</a:t>
            </a:r>
            <a:r>
              <a:rPr lang="en-US" dirty="0"/>
              <a:t>: </a:t>
            </a:r>
            <a:r>
              <a:rPr lang="en-US" dirty="0" err="1"/>
              <a:t>OnBoardClient</a:t>
            </a:r>
            <a:r>
              <a:rPr lang="en-US" dirty="0"/>
              <a:t> must be </a:t>
            </a:r>
            <a:r>
              <a:rPr lang="en-US" b="1" dirty="0"/>
              <a:t>modified to integrate the SID Filter</a:t>
            </a:r>
            <a:r>
              <a:rPr lang="en-US" dirty="0"/>
              <a:t>, increasing the code-change scope and maintenance effort.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9557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– Alt-B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866" y="990600"/>
            <a:ext cx="6569872" cy="5278168"/>
          </a:xfrm>
        </p:spPr>
        <p:txBody>
          <a:bodyPr>
            <a:normAutofit/>
          </a:bodyPr>
          <a:lstStyle/>
          <a:p>
            <a:r>
              <a:rPr lang="en-US" sz="1800" dirty="0"/>
              <a:t>Move the </a:t>
            </a:r>
            <a:r>
              <a:rPr lang="en-US" sz="1800" b="1" dirty="0"/>
              <a:t>entire</a:t>
            </a:r>
            <a:r>
              <a:rPr lang="en-US" sz="1800" dirty="0"/>
              <a:t> </a:t>
            </a:r>
            <a:r>
              <a:rPr lang="en-US" sz="1800" dirty="0" err="1"/>
              <a:t>RemoteDiag</a:t>
            </a:r>
            <a:r>
              <a:rPr lang="en-US" sz="1800" dirty="0"/>
              <a:t> into the IP container. Each EP module communicates with </a:t>
            </a:r>
            <a:r>
              <a:rPr lang="en-US" sz="1800" dirty="0" err="1"/>
              <a:t>RemoteDiag</a:t>
            </a:r>
            <a:r>
              <a:rPr lang="en-US" sz="1800" dirty="0"/>
              <a:t> through an internal-protocol IPC channels.</a:t>
            </a:r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 dirty="0"/>
              <a:t>: </a:t>
            </a:r>
          </a:p>
          <a:p>
            <a:pPr lvl="1"/>
            <a:r>
              <a:rPr lang="en-US" sz="1800" b="1" dirty="0"/>
              <a:t>Security</a:t>
            </a:r>
            <a:r>
              <a:rPr lang="en-US" sz="1800" dirty="0"/>
              <a:t>: The IP container </a:t>
            </a:r>
            <a:r>
              <a:rPr lang="en-US" sz="1800" b="1" dirty="0"/>
              <a:t>protects the whole </a:t>
            </a:r>
            <a:r>
              <a:rPr lang="en-US" sz="1800" b="1" dirty="0" err="1"/>
              <a:t>RemoteDiag</a:t>
            </a:r>
            <a:r>
              <a:rPr lang="en-US" sz="1800" dirty="0"/>
              <a:t>. The SID Filter in </a:t>
            </a:r>
            <a:r>
              <a:rPr lang="en-US" sz="1800" dirty="0" err="1"/>
              <a:t>RemoteDiag</a:t>
            </a:r>
            <a:r>
              <a:rPr lang="en-US" sz="1800" dirty="0"/>
              <a:t> blocks the specified requests before reaching OBC and internal CAN.</a:t>
            </a:r>
          </a:p>
          <a:p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Trade-off</a:t>
            </a:r>
            <a:r>
              <a:rPr lang="en-US" sz="1800" dirty="0"/>
              <a:t>:</a:t>
            </a:r>
          </a:p>
          <a:p>
            <a:pPr lvl="1"/>
            <a:r>
              <a:rPr lang="en-US" sz="1800" b="1" dirty="0"/>
              <a:t>Maintainability</a:t>
            </a:r>
            <a:r>
              <a:rPr lang="en-US" sz="1800" dirty="0"/>
              <a:t>: Every EP module (10+) </a:t>
            </a:r>
            <a:r>
              <a:rPr lang="en-US" sz="1800" b="1" dirty="0"/>
              <a:t>has to be modified </a:t>
            </a:r>
            <a:r>
              <a:rPr lang="en-US" sz="1800" dirty="0"/>
              <a:t>to implement a new cross-container IPC client, including connection management, reconnection handling and fail-safe logic. Effort </a:t>
            </a:r>
            <a:r>
              <a:rPr lang="en-US" sz="1800" b="1" dirty="0"/>
              <a:t>multiplied by N </a:t>
            </a:r>
            <a:r>
              <a:rPr lang="en-US" sz="1800" dirty="0"/>
              <a:t>number EP modules.</a:t>
            </a:r>
          </a:p>
        </p:txBody>
      </p:sp>
      <p:pic>
        <p:nvPicPr>
          <p:cNvPr id="7" name="Picture 6" descr="A diagram of a data flow&#10;&#10;AI-generated content may be incorrect.">
            <a:extLst>
              <a:ext uri="{FF2B5EF4-FFF2-40B4-BE49-F238E27FC236}">
                <a16:creationId xmlns:a16="http://schemas.microsoft.com/office/drawing/2014/main" xmlns="" id="{D202F5ED-768D-B9A3-4243-16BBE38728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665" y="990601"/>
            <a:ext cx="5239441" cy="4071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138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A3A9F39-394E-5437-993F-29D2F209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54F77EA-2B30-AFDC-1349-3C58C2AB9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Alternative – Alt-C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4FB7A4A-CF56-C0BD-9AB9-923B2D0432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867" y="990600"/>
            <a:ext cx="6817903" cy="5278168"/>
          </a:xfrm>
        </p:spPr>
        <p:txBody>
          <a:bodyPr>
            <a:normAutofit/>
          </a:bodyPr>
          <a:lstStyle/>
          <a:p>
            <a:r>
              <a:rPr lang="en-US" sz="1800" dirty="0"/>
              <a:t>Move the entire </a:t>
            </a:r>
            <a:r>
              <a:rPr lang="en-US" sz="1800" dirty="0" err="1"/>
              <a:t>RemoteDiag</a:t>
            </a:r>
            <a:r>
              <a:rPr lang="en-US" sz="1800" dirty="0"/>
              <a:t> (RDG) into the IP container. </a:t>
            </a:r>
          </a:p>
          <a:p>
            <a:r>
              <a:rPr lang="en-US" sz="1800" dirty="0"/>
              <a:t>Introduce a </a:t>
            </a:r>
            <a:r>
              <a:rPr lang="en-US" sz="1800" b="1" dirty="0"/>
              <a:t>new </a:t>
            </a:r>
            <a:r>
              <a:rPr lang="en-US" sz="1800" b="1" dirty="0" err="1"/>
              <a:t>RemoteDiagProxy</a:t>
            </a:r>
            <a:r>
              <a:rPr lang="en-US" sz="1800" b="1" dirty="0"/>
              <a:t> (RDP) module</a:t>
            </a:r>
            <a:r>
              <a:rPr lang="en-US" sz="1800" dirty="0"/>
              <a:t> in the EP that acts as a </a:t>
            </a:r>
            <a:r>
              <a:rPr lang="en-US" sz="1800" b="1" dirty="0"/>
              <a:t>transparent proxy</a:t>
            </a:r>
            <a:r>
              <a:rPr lang="en-US" sz="1800" dirty="0"/>
              <a:t>. EP modules continue to interact with RDP using their existing interface, while RDP forwards requests to </a:t>
            </a:r>
            <a:r>
              <a:rPr lang="en-US" sz="1800" dirty="0" err="1"/>
              <a:t>RemoteDiag</a:t>
            </a:r>
            <a:r>
              <a:rPr lang="en-US" sz="1800" dirty="0"/>
              <a:t> via an internal protocol.</a:t>
            </a:r>
            <a:endParaRPr lang="en-US" sz="1800" b="1" dirty="0"/>
          </a:p>
          <a:p>
            <a:r>
              <a:rPr lang="en-US" sz="1800" b="1" dirty="0">
                <a:solidFill>
                  <a:schemeClr val="accent6">
                    <a:lumMod val="75000"/>
                  </a:schemeClr>
                </a:solidFill>
              </a:rPr>
              <a:t>Pros</a:t>
            </a:r>
            <a:r>
              <a:rPr lang="en-US" sz="1800" dirty="0"/>
              <a:t>: </a:t>
            </a:r>
          </a:p>
          <a:p>
            <a:pPr lvl="1"/>
            <a:r>
              <a:rPr lang="en-US" sz="1800" b="1" dirty="0"/>
              <a:t>Security</a:t>
            </a:r>
            <a:r>
              <a:rPr lang="en-US" sz="1800" dirty="0"/>
              <a:t>: The IP container protects the whole RDG. The SID Filter in RDG blocks the specified requests before reaching </a:t>
            </a:r>
            <a:r>
              <a:rPr lang="en-US" sz="1800" dirty="0" err="1"/>
              <a:t>OnBoardClient</a:t>
            </a:r>
            <a:r>
              <a:rPr lang="en-US" sz="1800" dirty="0"/>
              <a:t> and internal CAN.</a:t>
            </a:r>
          </a:p>
          <a:p>
            <a:pPr lvl="1"/>
            <a:r>
              <a:rPr lang="en-US" sz="1800" b="1" dirty="0"/>
              <a:t>Maintainability</a:t>
            </a:r>
            <a:r>
              <a:rPr lang="en-US" sz="1800" dirty="0"/>
              <a:t>: Existing EP modules keep their current source code and Binder interfaces, </a:t>
            </a:r>
            <a:r>
              <a:rPr lang="en-US" sz="1800" b="1" dirty="0"/>
              <a:t>minimizing modifications to EP modules</a:t>
            </a:r>
            <a:r>
              <a:rPr lang="en-US" sz="1800" dirty="0"/>
              <a:t>.</a:t>
            </a:r>
          </a:p>
          <a:p>
            <a:r>
              <a:rPr lang="en-US" sz="1800" b="1" dirty="0">
                <a:solidFill>
                  <a:schemeClr val="accent2">
                    <a:lumMod val="75000"/>
                  </a:schemeClr>
                </a:solidFill>
              </a:rPr>
              <a:t>Trade-off</a:t>
            </a:r>
            <a:r>
              <a:rPr lang="en-US" sz="1800" dirty="0"/>
              <a:t>: </a:t>
            </a:r>
          </a:p>
          <a:p>
            <a:pPr lvl="1"/>
            <a:r>
              <a:rPr lang="en-US" sz="1800" b="1" dirty="0"/>
              <a:t>Maintainability</a:t>
            </a:r>
            <a:r>
              <a:rPr lang="en-US" sz="1800" dirty="0"/>
              <a:t>: Alt-C introduces new RDP module and cross-container communication that must be implemented and maintained, although existing EP client modules remain unchanged.</a:t>
            </a:r>
          </a:p>
        </p:txBody>
      </p:sp>
      <p:pic>
        <p:nvPicPr>
          <p:cNvPr id="5" name="Picture 4" descr="A diagram of a container&#10;&#10;AI-generated content may be incorrect.">
            <a:extLst>
              <a:ext uri="{FF2B5EF4-FFF2-40B4-BE49-F238E27FC236}">
                <a16:creationId xmlns:a16="http://schemas.microsoft.com/office/drawing/2014/main" xmlns="" id="{F96D85AC-F590-5734-3383-B0AE1B03AF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1385" y="1339969"/>
            <a:ext cx="4845814" cy="374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93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cc6ed9fc-fefc-4a0c-a6d6-10cf236c0d4f}" enabled="1" method="Standard" siteId="{5069cde4-642a-45c0-8094-d0c2dec10be3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6324</TotalTime>
  <Words>966</Words>
  <Application>Microsoft Office PowerPoint</Application>
  <PresentationFormat>Widescreen</PresentationFormat>
  <Paragraphs>181</Paragraphs>
  <Slides>22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Malgun Gothic</vt:lpstr>
      <vt:lpstr>Arial</vt:lpstr>
      <vt:lpstr>Calibri</vt:lpstr>
      <vt:lpstr>Calibri Light</vt:lpstr>
      <vt:lpstr>Times New Roman</vt:lpstr>
      <vt:lpstr>Wingdings</vt:lpstr>
      <vt:lpstr>Office Theme</vt:lpstr>
      <vt:lpstr>Design of Secure Remote Diag on Container Separation Architecture</vt:lpstr>
      <vt:lpstr>Content</vt:lpstr>
      <vt:lpstr>Context &amp; Motivation</vt:lpstr>
      <vt:lpstr>Context &amp; Motivation</vt:lpstr>
      <vt:lpstr>Problem</vt:lpstr>
      <vt:lpstr>Problem</vt:lpstr>
      <vt:lpstr>Quality Attribute</vt:lpstr>
      <vt:lpstr>Design Alternative – Alt-A: Split RemoteDiag</vt:lpstr>
      <vt:lpstr>Design Alternative – Alt-B: Move RemoteDiag</vt:lpstr>
      <vt:lpstr>Design Alternative – Alt-C: Move RemoteDiag + Use Proxy</vt:lpstr>
      <vt:lpstr>Comparison &amp; Decision</vt:lpstr>
      <vt:lpstr>PowerPoint Presentation</vt:lpstr>
      <vt:lpstr>Alt-C: Compromise scenario</vt:lpstr>
      <vt:lpstr>Implementation status</vt:lpstr>
      <vt:lpstr>PowerPoint Presentation</vt:lpstr>
      <vt:lpstr>Diagnostic filtering requirements</vt:lpstr>
      <vt:lpstr>Context &amp; Motivation</vt:lpstr>
      <vt:lpstr>Problem</vt:lpstr>
      <vt:lpstr>Quality Attribute</vt:lpstr>
      <vt:lpstr>Design Alternative – Alt-A</vt:lpstr>
      <vt:lpstr>Design Alternative – Alt-B</vt:lpstr>
      <vt:lpstr>Design Alternative – Alt-C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of Secure Remote Diag on Container Separation Architecture</dc:title>
  <dc:creator>PHI HOANG VU/LGEDV SOFTWARE ENGINEERING 1 TEAM</dc:creator>
  <cp:lastModifiedBy>PHI HOANG VU/LGEDV SOFTWARE ENGINEERING 1 TEAM</cp:lastModifiedBy>
  <cp:revision>435</cp:revision>
  <dcterms:created xsi:type="dcterms:W3CDTF">2026-08-17T04:18:20Z</dcterms:created>
  <dcterms:modified xsi:type="dcterms:W3CDTF">2026-09-23T13:48:16Z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LGE Internal Use Only</vt:lpwstr>
  </property>
</Properties>
</file>