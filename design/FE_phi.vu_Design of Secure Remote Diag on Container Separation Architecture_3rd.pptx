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80" r:id="rId4"/>
    <p:sldId id="289" r:id="rId5"/>
    <p:sldId id="262" r:id="rId6"/>
    <p:sldId id="283" r:id="rId7"/>
    <p:sldId id="269" r:id="rId8"/>
    <p:sldId id="271" r:id="rId9"/>
    <p:sldId id="287" r:id="rId10"/>
    <p:sldId id="279" r:id="rId11"/>
    <p:sldId id="288" r:id="rId12"/>
    <p:sldId id="291" r:id="rId13"/>
    <p:sldId id="274" r:id="rId14"/>
    <p:sldId id="273" r:id="rId15"/>
    <p:sldId id="277" r:id="rId16"/>
    <p:sldId id="276" r:id="rId17"/>
    <p:sldId id="29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61" autoAdjust="0"/>
  </p:normalViewPr>
  <p:slideViewPr>
    <p:cSldViewPr snapToGrid="0">
      <p:cViewPr>
        <p:scale>
          <a:sx n="100" d="100"/>
          <a:sy n="100" d="100"/>
        </p:scale>
        <p:origin x="876" y="18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xmlns="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smtClean="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</a:t>
              </a:r>
              <a:r>
                <a:rPr lang="en-US" sz="2800" smtClean="0">
                  <a:cs typeface="Times New Roman" panose="02020603050405020304" pitchFamily="18" charset="0"/>
                </a:rPr>
                <a:t>&amp; Verification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/>
        </p:nvCxnSpPr>
        <p:spPr>
          <a:xfrm>
            <a:off x="5635782" y="2872148"/>
            <a:ext cx="0" cy="3985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 smtClean="0"/>
              <a:t>Context &amp; Motivation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96130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smtClean="0"/>
              <a:t>Currently, Toyota telematics stack (DCM) runs in a single partition</a:t>
            </a:r>
          </a:p>
          <a:p>
            <a:r>
              <a:rPr lang="en-US" sz="1800" b="1" smtClean="0"/>
              <a:t>System architecture change</a:t>
            </a:r>
            <a:r>
              <a:rPr lang="en-US" sz="1800" smtClean="0"/>
              <a:t>: </a:t>
            </a:r>
          </a:p>
          <a:p>
            <a:pPr lvl="1"/>
            <a:r>
              <a:rPr lang="en-US" sz="1800" smtClean="0"/>
              <a:t>DCM is separated into 2 containers: </a:t>
            </a:r>
          </a:p>
          <a:p>
            <a:pPr lvl="2"/>
            <a:r>
              <a:rPr lang="en-US" sz="1800" b="1" smtClean="0"/>
              <a:t>EP container</a:t>
            </a:r>
            <a:r>
              <a:rPr lang="en-US" sz="1800" smtClean="0"/>
              <a:t>: externally exposed network components</a:t>
            </a:r>
          </a:p>
          <a:p>
            <a:pPr lvl="2"/>
            <a:r>
              <a:rPr lang="en-US" sz="1800" b="1" smtClean="0"/>
              <a:t>IP container</a:t>
            </a:r>
            <a:r>
              <a:rPr lang="en-US" sz="1800" smtClean="0"/>
              <a:t>: components 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2955"/>
            <a:ext cx="5359652" cy="342326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913" y="2872148"/>
            <a:ext cx="6165787" cy="3502033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5388393" y="6296222"/>
            <a:ext cx="494779" cy="49058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233987" y="6374182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Current system architecture</a:t>
            </a:r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059510" y="6336364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New system architecture (containerized)</a:t>
            </a:r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6025" y="803448"/>
            <a:ext cx="2085975" cy="19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862011"/>
            <a:ext cx="1212205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smtClean="0"/>
              <a:t>RemoteDiag</a:t>
            </a:r>
            <a:r>
              <a:rPr lang="en-US" sz="1600" smtClean="0"/>
              <a:t>: a module processes diagnostic for each ECU and uploads diagnostic data to OEM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smtClean="0"/>
              <a:t>RemoteDiag has 2 communication paths: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smtClean="0"/>
              <a:t>with </a:t>
            </a:r>
            <a:r>
              <a:rPr lang="en-US" sz="1600" b="1" smtClean="0"/>
              <a:t>OEM Server</a:t>
            </a:r>
            <a:r>
              <a:rPr lang="en-US" sz="1600" smtClean="0"/>
              <a:t>: performs direct diagnostic commands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smtClean="0"/>
              <a:t>with </a:t>
            </a:r>
            <a:r>
              <a:rPr lang="en-US" sz="1600" b="1" smtClean="0"/>
              <a:t>MM ecu</a:t>
            </a:r>
            <a:r>
              <a:rPr lang="en-US" sz="1600" smtClean="0"/>
              <a:t>: OTA diagnostic update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smtClean="0"/>
              <a:t>Risk: RemoteDiag </a:t>
            </a:r>
            <a:r>
              <a:rPr lang="en-US" sz="1600" b="1"/>
              <a:t>&lt;-&gt; MM path </a:t>
            </a:r>
            <a:r>
              <a:rPr lang="en-US" sz="1600"/>
              <a:t>routes in EP which </a:t>
            </a:r>
            <a:r>
              <a:rPr lang="en-US" sz="1600"/>
              <a:t>is </a:t>
            </a:r>
            <a:r>
              <a:rPr lang="en-US" sz="1600" smtClean="0"/>
              <a:t>insecure</a:t>
            </a: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OEM requests that </a:t>
            </a:r>
            <a:r>
              <a:rPr lang="en-US" sz="1600" b="1"/>
              <a:t>unauthorized reprogramming requests should </a:t>
            </a:r>
            <a:r>
              <a:rPr lang="en-US" sz="1600" b="1"/>
              <a:t>be </a:t>
            </a:r>
            <a:r>
              <a:rPr lang="en-US" sz="1600" b="1" smtClean="0"/>
              <a:t>filtered.</a:t>
            </a:r>
            <a:endParaRPr lang="en-US" sz="1600" b="1"/>
          </a:p>
          <a:p>
            <a:endParaRPr lang="en-US" sz="1600" smtClean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225" y="2594782"/>
            <a:ext cx="7726458" cy="4158444"/>
          </a:xfrm>
          <a:prstGeom prst="rect">
            <a:avLst/>
          </a:prstGeom>
        </p:spPr>
      </p:pic>
      <p:grpSp>
        <p:nvGrpSpPr>
          <p:cNvPr id="21" name="Group 20"/>
          <p:cNvGrpSpPr/>
          <p:nvPr/>
        </p:nvGrpSpPr>
        <p:grpSpPr>
          <a:xfrm>
            <a:off x="0" y="3782508"/>
            <a:ext cx="4370798" cy="923330"/>
            <a:chOff x="-3835" y="4675267"/>
            <a:chExt cx="4602197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2477AED6-8D6F-D505-6D7B-78460A03A2E8}"/>
                </a:ext>
              </a:extLst>
            </p:cNvPr>
            <p:cNvSpPr txBox="1"/>
            <p:nvPr/>
          </p:nvSpPr>
          <p:spPr>
            <a:xfrm>
              <a:off x="52648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err="1"/>
                <a:t>RemoteDiag’s</a:t>
              </a:r>
              <a:r>
                <a:rPr lang="en-US"/>
                <a:t> </a:t>
              </a:r>
              <a:r>
                <a:rPr lang="en-US" b="1"/>
                <a:t>internal</a:t>
              </a:r>
              <a:r>
                <a:rPr lang="en-US"/>
                <a:t> </a:t>
              </a:r>
              <a:r>
                <a:rPr lang="en-US" b="1"/>
                <a:t>architecture and communication </a:t>
              </a:r>
              <a:r>
                <a:rPr lang="en-US"/>
                <a:t>should be </a:t>
              </a:r>
              <a:r>
                <a:rPr lang="en-US" b="1"/>
                <a:t>redesigned</a:t>
              </a:r>
              <a:r>
                <a:rPr lang="en-US"/>
                <a:t> to align with new </a:t>
              </a:r>
              <a:r>
                <a:rPr lang="en-US" smtClean="0"/>
                <a:t>architecture</a:t>
              </a:r>
              <a:endParaRPr lang="en-US" b="1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-383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170" y="924518"/>
            <a:ext cx="2271888" cy="164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 smtClean="0"/>
              <a:t>Functional requirements</a:t>
            </a:r>
            <a:endParaRPr lang="en-US" sz="22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xmlns="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279638"/>
              </p:ext>
            </p:extLst>
          </p:nvPr>
        </p:nvGraphicFramePr>
        <p:xfrm>
          <a:off x="204773" y="1505336"/>
          <a:ext cx="11782454" cy="1417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  <a:endParaRPr lang="en-US" sz="18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</a:t>
                      </a:r>
                      <a:r>
                        <a:rPr lang="en-US" sz="180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block unauthorized </a:t>
                      </a: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  <a:endParaRPr lang="en-US" sz="18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</a:t>
                      </a:r>
                      <a:r>
                        <a:rPr lang="en-US" sz="180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</a:t>
                      </a: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ECU entirely within the IP.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xmlns="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73878"/>
              </p:ext>
            </p:extLst>
          </p:nvPr>
        </p:nvGraphicFramePr>
        <p:xfrm>
          <a:off x="182820" y="960039"/>
          <a:ext cx="11826361" cy="480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10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4815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29150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912556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command to CAN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</a:t>
                      </a:r>
                      <a:r>
                        <a:rPr lang="en-US" sz="1600" b="0" smtClean="0"/>
                        <a:t>CAN.</a:t>
                      </a:r>
                      <a:endParaRPr lang="en-US" sz="1600" b="0"/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request via TCP to </a:t>
                      </a:r>
                      <a:r>
                        <a:rPr lang="en-US" sz="1600" b="0" kern="1200" baseline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Zero diagnostic communication is found in </a:t>
                      </a:r>
                      <a:r>
                        <a:rPr lang="en-US" sz="1600" b="0" smtClean="0">
                          <a:latin typeface="+mn-lt"/>
                          <a:cs typeface="Arial" panose="020B0604020202020204" pitchFamily="34" charset="0"/>
                        </a:rPr>
                        <a:t>EP. 100% number of</a:t>
                      </a:r>
                      <a:r>
                        <a:rPr lang="en-US" sz="1600" b="0" baseline="0" smtClean="0">
                          <a:latin typeface="+mn-lt"/>
                          <a:cs typeface="Arial" panose="020B0604020202020204" pitchFamily="34" charset="0"/>
                        </a:rPr>
                        <a:t> requests are handled within IP.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new design preserves the original core responsibility of each component.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smtClean="0"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Existing software 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components (other than RemoteDiag) </a:t>
                      </a: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require minimal changes.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</a:t>
                      </a: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component</a:t>
                      </a:r>
                      <a:r>
                        <a:rPr lang="en-US" sz="1600" b="0" baseline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Failure in OEM Center flow or MM ECU flow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The other</a:t>
                      </a:r>
                      <a:r>
                        <a:rPr lang="en-US" sz="1600" b="0" baseline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flow remains operational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Availability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smtClean="0">
                          <a:latin typeface="+mn-lt"/>
                          <a:cs typeface="Arial" panose="020B0604020202020204" pitchFamily="34" charset="0"/>
                        </a:rPr>
                        <a:t>Low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mtClean="0"/>
              <a:t>Split RemoteDiag responsibilities into </a:t>
            </a:r>
            <a:r>
              <a:rPr lang="en-US" b="1" smtClean="0"/>
              <a:t>2</a:t>
            </a:r>
            <a:r>
              <a:rPr lang="en-US" smtClean="0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smtClean="0"/>
              <a:t>RemoteDiag (EP):</a:t>
            </a:r>
            <a:r>
              <a:rPr lang="en-US" smtClean="0"/>
              <a:t> handles diag messages from OEM server.</a:t>
            </a:r>
            <a:endParaRPr lang="en-US" b="1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smtClean="0"/>
              <a:t>RemoteOTA (IP):</a:t>
            </a:r>
            <a:r>
              <a:rPr lang="en-US" smtClean="0"/>
              <a:t> handles OTA diag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mtClean="0"/>
              <a:t>OnBoardClient is responsible for </a:t>
            </a:r>
            <a:r>
              <a:rPr lang="en-US" b="1" smtClean="0"/>
              <a:t>reprogramming message </a:t>
            </a:r>
            <a:r>
              <a:rPr lang="en-US" b="1"/>
              <a:t>filtering</a:t>
            </a:r>
            <a:r>
              <a:rPr lang="en-US" smtClean="0"/>
              <a:t> and </a:t>
            </a:r>
            <a:r>
              <a:rPr lang="en-US" b="1" smtClean="0"/>
              <a:t>diagnostic  priority control</a:t>
            </a:r>
            <a:r>
              <a:rPr lang="en-US" smtClean="0"/>
              <a:t>.</a:t>
            </a:r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</a:t>
            </a:r>
            <a:r>
              <a:rPr lang="en-US" smtClean="0"/>
              <a:t>– Alt-A: Split </a:t>
            </a:r>
            <a:r>
              <a:rPr lang="en-US" err="1" smtClean="0"/>
              <a:t>RemoteDiag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925" y="2399168"/>
            <a:ext cx="8785917" cy="4367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87" y="5078097"/>
            <a:ext cx="2196413" cy="1688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Alt-A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</a:t>
            </a:r>
            <a:r>
              <a:rPr lang="en-US" smtClean="0"/>
              <a:t>Alt-B: Move </a:t>
            </a:r>
            <a:r>
              <a:rPr lang="en-US" err="1" smtClean="0"/>
              <a:t>RemoteDiag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87" y="5078097"/>
            <a:ext cx="2196413" cy="1688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mtClean="0"/>
              <a:t>Move RemoteDiag into the IP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mtClean="0"/>
              <a:t>To maintain communication with OEM server and other EP-side component, </a:t>
            </a:r>
            <a:r>
              <a:rPr lang="en-US" b="1" smtClean="0"/>
              <a:t>establish UDS socket connections to each module</a:t>
            </a:r>
            <a:endParaRPr lang="en-US" smtClean="0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mtClean="0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5175" y="1847523"/>
            <a:ext cx="8814401" cy="49190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53062" y="6189006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Alt-B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2354870"/>
            <a:ext cx="8678897" cy="43503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</a:t>
            </a:r>
            <a:r>
              <a:rPr lang="en-US" smtClean="0"/>
              <a:t>Alt-C</a:t>
            </a:r>
            <a:r>
              <a:rPr lang="en-US"/>
              <a:t>: Move </a:t>
            </a:r>
            <a:r>
              <a:rPr lang="en-US" err="1" smtClean="0"/>
              <a:t>RemoteDiag</a:t>
            </a:r>
            <a:r>
              <a:rPr lang="en-US" smtClean="0"/>
              <a:t> + Proxy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/>
              <a:t>Move RemoteDiag into the IP container.</a:t>
            </a:r>
          </a:p>
          <a:p>
            <a:r>
              <a:rPr lang="en-US" sz="1800"/>
              <a:t>Introduce a </a:t>
            </a:r>
            <a:r>
              <a:rPr lang="en-US" sz="1800" b="1"/>
              <a:t>new RemoteDiagProxy (RDP) module</a:t>
            </a:r>
            <a:r>
              <a:rPr lang="en-US" sz="1800"/>
              <a:t> in the EP that acts as a </a:t>
            </a:r>
            <a:r>
              <a:rPr lang="en-US" sz="1800" b="1"/>
              <a:t>transparent proxy</a:t>
            </a:r>
            <a:r>
              <a:rPr lang="en-US" sz="1800"/>
              <a:t>. </a:t>
            </a:r>
            <a:endParaRPr lang="en-US" sz="1800" smtClean="0"/>
          </a:p>
          <a:p>
            <a:r>
              <a:rPr lang="en-US" sz="1800" smtClean="0"/>
              <a:t>EP </a:t>
            </a:r>
            <a:r>
              <a:rPr lang="en-US" sz="1800"/>
              <a:t>modules continue to interact with RDP using their </a:t>
            </a:r>
            <a:r>
              <a:rPr lang="en-US" sz="1800"/>
              <a:t>existing </a:t>
            </a:r>
            <a:r>
              <a:rPr lang="en-US" sz="1800" smtClean="0"/>
              <a:t>interface</a:t>
            </a:r>
          </a:p>
          <a:p>
            <a:r>
              <a:rPr lang="en-US" sz="1800" smtClean="0"/>
              <a:t>RDP </a:t>
            </a:r>
            <a:r>
              <a:rPr lang="en-US" sz="1800"/>
              <a:t>forwards requests to </a:t>
            </a:r>
            <a:r>
              <a:rPr lang="en-US" sz="1800"/>
              <a:t>RemoteDiag </a:t>
            </a:r>
            <a:r>
              <a:rPr lang="en-US" sz="1800" smtClean="0"/>
              <a:t>via UDS socket channel.</a:t>
            </a:r>
            <a:endParaRPr lang="en-US" sz="1800" b="1"/>
          </a:p>
          <a:p>
            <a:endParaRPr lang="en-US" sz="1800"/>
          </a:p>
        </p:txBody>
      </p:sp>
      <p:sp>
        <p:nvSpPr>
          <p:cNvPr id="6" name="TextBox 5"/>
          <p:cNvSpPr txBox="1"/>
          <p:nvPr/>
        </p:nvSpPr>
        <p:spPr>
          <a:xfrm>
            <a:off x="6781612" y="633584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Alt-C</a:t>
            </a:r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" y="5083804"/>
            <a:ext cx="2196413" cy="168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4359379"/>
              </p:ext>
            </p:extLst>
          </p:nvPr>
        </p:nvGraphicFramePr>
        <p:xfrm>
          <a:off x="0" y="7276193"/>
          <a:ext cx="12019689" cy="4006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14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61943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7977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3490332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491543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Alt-A – Keep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in 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Alt-B – Move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to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Alt-C – Move +</a:t>
                      </a:r>
                      <a:r>
                        <a:rPr lang="en-US" baseline="0"/>
                        <a:t> Proxy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575628">
                <a:tc>
                  <a:txBody>
                    <a:bodyPr/>
                    <a:lstStyle/>
                    <a:p>
                      <a:r>
                        <a:rPr lang="en-US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/>
                        <a:t>CAN</a:t>
                      </a:r>
                      <a:r>
                        <a:rPr lang="en-US" baseline="0"/>
                        <a:t> is protected by SID Filter but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aseline="0"/>
                        <a:t>remains controllable from compromised EP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236">
                <a:tc>
                  <a:txBody>
                    <a:bodyPr/>
                    <a:lstStyle/>
                    <a:p>
                      <a:r>
                        <a:rPr lang="en-US"/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  <a:endParaRPr lang="en-US" b="1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EP modules and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keep their current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interface. But </a:t>
                      </a:r>
                      <a:r>
                        <a:rPr lang="en-US" b="0" err="1">
                          <a:solidFill>
                            <a:schemeClr val="tx1"/>
                          </a:solidFill>
                        </a:rPr>
                        <a:t>OnBoardClient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has to be modified.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More than 10 EP modules have to change their implementation to support cross-container IPC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mechanism.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EP modules’ interface unchanged,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but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/>
                        <a:t>additional</a:t>
                      </a:r>
                      <a:r>
                        <a:rPr lang="en-US" baseline="0"/>
                        <a:t> components (proxy and cross-container IPC)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have to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be implemented and maintained.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84529716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60866" y="5932081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815471"/>
              </p:ext>
            </p:extLst>
          </p:nvPr>
        </p:nvGraphicFramePr>
        <p:xfrm>
          <a:off x="72428" y="616718"/>
          <a:ext cx="12050161" cy="502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633457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781331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  <a:gridCol w="3485583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smtClean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 smtClean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 smtClean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 smtClean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 smtClean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smtClean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 smtClean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container.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Responsibilities of RemoteDiag and OnBoardClient change (</a:t>
                      </a:r>
                      <a:r>
                        <a:rPr lang="en-US" sz="1300" b="1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moves to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and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specifications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.. OnBoardClient), requiring updates to requirements </a:t>
                      </a:r>
                      <a:endParaRPr lang="en-US" sz="1300" b="0" kern="1200" baseline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smtClean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(OnBoardClient - implements UDS socket server and priority control) 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(PowerMgr, HttpMgr,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smtClean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 smtClean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 smtClean="0">
                          <a:latin typeface="+mn-lt"/>
                          <a:cs typeface="Arial" panose="020B0604020202020204" pitchFamily="34" charset="0"/>
                        </a:rPr>
                        <a:t>required in existing modules. RemoteDiagProxy preserves the current binder interface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Availability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communication flows run in separate processes. Failure of one flow does not impact the other.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3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3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  <a:endParaRPr lang="en-US" sz="1300" b="0">
                        <a:solidFill>
                          <a:schemeClr val="tx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  <a:endParaRPr lang="en-US" sz="1300" b="1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 smtClean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38020" y="5808971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smtClean="0">
                <a:solidFill>
                  <a:srgbClr val="00B050"/>
                </a:solidFill>
              </a:rPr>
              <a:t>High</a:t>
            </a:r>
            <a:r>
              <a:rPr lang="en-US" sz="1400" smtClean="0"/>
              <a:t>: Fully satisfy</a:t>
            </a:r>
          </a:p>
          <a:p>
            <a:r>
              <a:rPr lang="en-US" sz="1400" b="1" smtClean="0">
                <a:solidFill>
                  <a:schemeClr val="accent2"/>
                </a:solidFill>
              </a:rPr>
              <a:t>Medium</a:t>
            </a:r>
            <a:r>
              <a:rPr lang="en-US" sz="1400" smtClean="0"/>
              <a:t>: Partially satisfy</a:t>
            </a:r>
          </a:p>
          <a:p>
            <a:r>
              <a:rPr lang="en-US" sz="1400" b="1" smtClean="0">
                <a:solidFill>
                  <a:srgbClr val="FF0000"/>
                </a:solidFill>
              </a:rPr>
              <a:t>Low</a:t>
            </a:r>
            <a:r>
              <a:rPr lang="en-US" sz="1400" smtClean="0"/>
              <a:t>: Not satisfy</a:t>
            </a:r>
            <a:endParaRPr lang="en-US" sz="1400"/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="" xmlns:a16="http://schemas.microsoft.com/office/drawing/2014/main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4245" y="5392287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Implementation and Verification</a:t>
            </a:r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41" y="1693307"/>
            <a:ext cx="10269609" cy="23929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866" y="1190625"/>
            <a:ext cx="8010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mtClean="0"/>
              <a:t>RemoteDiagProxy communication with EP-side components (Telephony, Mqtt, …)</a:t>
            </a:r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40" y="4219575"/>
            <a:ext cx="10269609" cy="192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Implementation and Verification</a:t>
            </a: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mtClean="0"/>
              <a:t>RemoteDiagProxy and RemoteDiag communication</a:t>
            </a:r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Alt-C: Compromise scenario</a:t>
            </a:r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2111827" y="862011"/>
            <a:ext cx="6662058" cy="5734051"/>
            <a:chOff x="3298371" y="862011"/>
            <a:chExt cx="6662058" cy="5734051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8371" y="862011"/>
              <a:ext cx="6527333" cy="5734051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5943600" y="3169364"/>
              <a:ext cx="4016829" cy="2240836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/>
          <p:cNvSpPr/>
          <p:nvPr/>
        </p:nvSpPr>
        <p:spPr>
          <a:xfrm>
            <a:off x="9155628" y="4034373"/>
            <a:ext cx="2017953" cy="510818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rgbClr val="7030A0"/>
                </a:solidFill>
              </a:rPr>
              <a:t>Tactic: Validate Input</a:t>
            </a:r>
          </a:p>
        </p:txBody>
      </p:sp>
      <p:cxnSp>
        <p:nvCxnSpPr>
          <p:cNvPr id="11" name="Straight Arrow Connector 10"/>
          <p:cNvCxnSpPr>
            <a:endCxn id="8" idx="1"/>
          </p:cNvCxnSpPr>
          <p:nvPr/>
        </p:nvCxnSpPr>
        <p:spPr>
          <a:xfrm>
            <a:off x="8773885" y="4289782"/>
            <a:ext cx="381743" cy="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156857" y="780999"/>
            <a:ext cx="2971800" cy="5946371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834124" y="6216552"/>
            <a:ext cx="3207148" cy="510818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accent1">
                    <a:lumMod val="75000"/>
                  </a:schemeClr>
                </a:solidFill>
              </a:rPr>
              <a:t>Tactic: Separate Entities/Isolation</a:t>
            </a:r>
          </a:p>
        </p:txBody>
      </p:sp>
      <p:cxnSp>
        <p:nvCxnSpPr>
          <p:cNvPr id="14" name="Straight Arrow Connector 13"/>
          <p:cNvCxnSpPr>
            <a:endCxn id="13" idx="1"/>
          </p:cNvCxnSpPr>
          <p:nvPr/>
        </p:nvCxnSpPr>
        <p:spPr>
          <a:xfrm>
            <a:off x="6128657" y="6471961"/>
            <a:ext cx="2705467" cy="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298371" y="862011"/>
            <a:ext cx="1556657" cy="797430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094875" y="351193"/>
            <a:ext cx="2589315" cy="510818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accent2">
                    <a:lumMod val="50000"/>
                  </a:schemeClr>
                </a:solidFill>
              </a:rPr>
              <a:t>Tactic: Use an Intermediary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V="1">
            <a:off x="4855028" y="614263"/>
            <a:ext cx="2239847" cy="503157"/>
          </a:xfrm>
          <a:prstGeom prst="bentConnector3">
            <a:avLst>
              <a:gd name="adj1" fmla="val 5774"/>
            </a:avLst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1207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xmlns="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387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7216</TotalTime>
  <Words>931</Words>
  <Application>Microsoft Office PowerPoint</Application>
  <PresentationFormat>Widescreen</PresentationFormat>
  <Paragraphs>178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Malgun Gothic</vt:lpstr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Implementation and Verification</vt:lpstr>
      <vt:lpstr>Implementation and Verification</vt:lpstr>
      <vt:lpstr>PowerPoint Presentation</vt:lpstr>
      <vt:lpstr>Alt-C: Compromise scenario</vt:lpstr>
      <vt:lpstr>PowerPoint Presentation</vt:lpstr>
      <vt:lpstr>Diagnostic filtering requirements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HOANG VU/LGEDV SOFTWARE ENGINEERING 1 TEAM</cp:lastModifiedBy>
  <cp:revision>586</cp:revision>
  <dcterms:created xsi:type="dcterms:W3CDTF">2026-08-17T04:18:20Z</dcterms:created>
  <dcterms:modified xsi:type="dcterms:W3CDTF">2026-09-28T13:24:14Z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