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80" r:id="rId4"/>
    <p:sldId id="289" r:id="rId5"/>
    <p:sldId id="262" r:id="rId6"/>
    <p:sldId id="283" r:id="rId7"/>
    <p:sldId id="269" r:id="rId8"/>
    <p:sldId id="271" r:id="rId9"/>
    <p:sldId id="287" r:id="rId10"/>
    <p:sldId id="279" r:id="rId11"/>
    <p:sldId id="292" r:id="rId12"/>
    <p:sldId id="293" r:id="rId13"/>
    <p:sldId id="288" r:id="rId14"/>
    <p:sldId id="291" r:id="rId15"/>
    <p:sldId id="274" r:id="rId16"/>
    <p:sldId id="277" r:id="rId17"/>
    <p:sldId id="276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0000"/>
    <a:srgbClr val="FFFF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32" autoAdjust="0"/>
    <p:restoredTop sz="93961" autoAdjust="0"/>
  </p:normalViewPr>
  <p:slideViewPr>
    <p:cSldViewPr snapToGrid="0">
      <p:cViewPr varScale="1">
        <p:scale>
          <a:sx n="114" d="100"/>
          <a:sy n="114" d="100"/>
        </p:scale>
        <p:origin x="653" y="67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1C17E2-92C1-406A-80C1-BA1B838099E9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277405-33BD-42BD-B604-93760E4185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42234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8644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1531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Trade-offs</a:t>
            </a:r>
          </a:p>
          <a:p>
            <a:pPr fontAlgn="t"/>
            <a:r>
              <a:rPr lang="en-US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Maintainability: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All EP modules require cross-container IPC support, increasing implementation effort and code-change scope.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2316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76812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775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981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866" y="189168"/>
            <a:ext cx="10871201" cy="672843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866" y="990600"/>
            <a:ext cx="11887201" cy="5278168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그림 5" descr="백색바탕.png">
            <a:extLst>
              <a:ext uri="{FF2B5EF4-FFF2-40B4-BE49-F238E27FC236}">
                <a16:creationId xmlns:a16="http://schemas.microsoft.com/office/drawing/2014/main" id="{28873918-42A2-05FA-4A84-F17869DE34C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76000" y="189168"/>
            <a:ext cx="872067" cy="472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5466190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9455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9024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4930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9932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0192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83760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4895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844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344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34B22C-8C05-4817-830F-8B9F9DEAE546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C87BF5-B759-FAAB-FE6D-F0E5F640800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424488" y="63500"/>
            <a:ext cx="1377950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LGE Internal Use Only</a:t>
            </a:r>
          </a:p>
        </p:txBody>
      </p:sp>
    </p:spTree>
    <p:extLst>
      <p:ext uri="{BB962C8B-B14F-4D97-AF65-F5344CB8AC3E}">
        <p14:creationId xmlns:p14="http://schemas.microsoft.com/office/powerpoint/2010/main" val="3921287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9085" y="1122363"/>
            <a:ext cx="10493830" cy="2387600"/>
          </a:xfrm>
        </p:spPr>
        <p:txBody>
          <a:bodyPr>
            <a:normAutofit/>
          </a:bodyPr>
          <a:lstStyle/>
          <a:p>
            <a:r>
              <a:rPr lang="en-US" b="1"/>
              <a:t>Design of Secure Remote </a:t>
            </a:r>
            <a:r>
              <a:rPr lang="en-US" b="1" err="1"/>
              <a:t>Diag</a:t>
            </a:r>
            <a:r>
              <a:rPr lang="en-US" b="1"/>
              <a:t> on Container Separation 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50381"/>
            <a:ext cx="9144000" cy="1655762"/>
          </a:xfrm>
        </p:spPr>
        <p:txBody>
          <a:bodyPr/>
          <a:lstStyle/>
          <a:p>
            <a:r>
              <a:rPr lang="en-US"/>
              <a:t>Candidate: Vu Hoang Phi (phi.vu) </a:t>
            </a:r>
          </a:p>
          <a:p>
            <a:r>
              <a:rPr lang="en-US"/>
              <a:t>LGEDV – September 2026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5409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866" y="189168"/>
            <a:ext cx="10871201" cy="672843"/>
          </a:xfrm>
        </p:spPr>
        <p:txBody>
          <a:bodyPr/>
          <a:lstStyle/>
          <a:p>
            <a:r>
              <a:rPr lang="en-US"/>
              <a:t>Content</a:t>
            </a:r>
          </a:p>
        </p:txBody>
      </p:sp>
      <p:grpSp>
        <p:nvGrpSpPr>
          <p:cNvPr id="64" name="Group 63"/>
          <p:cNvGrpSpPr/>
          <p:nvPr/>
        </p:nvGrpSpPr>
        <p:grpSpPr>
          <a:xfrm>
            <a:off x="605709" y="1868501"/>
            <a:ext cx="5983456" cy="555705"/>
            <a:chOff x="2431279" y="1146517"/>
            <a:chExt cx="7307525" cy="678676"/>
          </a:xfrm>
        </p:grpSpPr>
        <p:sp>
          <p:nvSpPr>
            <p:cNvPr id="65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66" name="Group 65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68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70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71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72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69" name="Text Box 13"/>
              <p:cNvSpPr txBox="1">
                <a:spLocks noChangeArrowheads="1"/>
              </p:cNvSpPr>
              <p:nvPr/>
            </p:nvSpPr>
            <p:spPr bwMode="gray">
              <a:xfrm>
                <a:off x="2630979" y="1231971"/>
                <a:ext cx="362599" cy="47705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2</a:t>
                </a:r>
              </a:p>
            </p:txBody>
          </p:sp>
        </p:grpSp>
        <p:sp>
          <p:nvSpPr>
            <p:cNvPr id="67" name="Rectangle 66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Problem</a:t>
              </a:r>
            </a:p>
          </p:txBody>
        </p:sp>
      </p:grpSp>
      <p:grpSp>
        <p:nvGrpSpPr>
          <p:cNvPr id="118" name="Group 117"/>
          <p:cNvGrpSpPr/>
          <p:nvPr/>
        </p:nvGrpSpPr>
        <p:grpSpPr>
          <a:xfrm>
            <a:off x="605709" y="1053628"/>
            <a:ext cx="5983456" cy="555705"/>
            <a:chOff x="2431279" y="1146517"/>
            <a:chExt cx="7307525" cy="678676"/>
          </a:xfrm>
        </p:grpSpPr>
        <p:sp>
          <p:nvSpPr>
            <p:cNvPr id="119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20" name="Group 119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22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24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5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6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23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1</a:t>
                </a:r>
              </a:p>
            </p:txBody>
          </p:sp>
        </p:grpSp>
        <p:sp>
          <p:nvSpPr>
            <p:cNvPr id="121" name="Rectangle 120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Context </a:t>
              </a:r>
              <a:r>
                <a:rPr lang="en-US" sz="2800"/>
                <a:t>&amp; Motivation</a:t>
              </a:r>
              <a:endParaRPr lang="en-US" sz="2800">
                <a:cs typeface="Times New Roman" panose="02020603050405020304" pitchFamily="18" charset="0"/>
              </a:endParaRPr>
            </a:p>
          </p:txBody>
        </p:sp>
      </p:grpSp>
      <p:grpSp>
        <p:nvGrpSpPr>
          <p:cNvPr id="127" name="Group 126"/>
          <p:cNvGrpSpPr/>
          <p:nvPr/>
        </p:nvGrpSpPr>
        <p:grpSpPr>
          <a:xfrm>
            <a:off x="605709" y="2683374"/>
            <a:ext cx="5983456" cy="555705"/>
            <a:chOff x="2431279" y="1146517"/>
            <a:chExt cx="7307525" cy="678676"/>
          </a:xfrm>
        </p:grpSpPr>
        <p:sp>
          <p:nvSpPr>
            <p:cNvPr id="128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29" name="Group 128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31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33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4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5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32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3</a:t>
                </a:r>
              </a:p>
            </p:txBody>
          </p:sp>
        </p:grpSp>
        <p:sp>
          <p:nvSpPr>
            <p:cNvPr id="130" name="Rectangle 129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Quality Attribute</a:t>
              </a:r>
            </a:p>
          </p:txBody>
        </p:sp>
      </p:grpSp>
      <p:grpSp>
        <p:nvGrpSpPr>
          <p:cNvPr id="136" name="Group 135"/>
          <p:cNvGrpSpPr/>
          <p:nvPr/>
        </p:nvGrpSpPr>
        <p:grpSpPr>
          <a:xfrm>
            <a:off x="605709" y="3498247"/>
            <a:ext cx="5983456" cy="555705"/>
            <a:chOff x="2431279" y="1146517"/>
            <a:chExt cx="7307525" cy="678676"/>
          </a:xfrm>
        </p:grpSpPr>
        <p:sp>
          <p:nvSpPr>
            <p:cNvPr id="137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38" name="Group 137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40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42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3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4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41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4</a:t>
                </a:r>
              </a:p>
            </p:txBody>
          </p:sp>
        </p:grpSp>
        <p:sp>
          <p:nvSpPr>
            <p:cNvPr id="139" name="Rectangle 138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Design Alternative</a:t>
              </a:r>
            </a:p>
          </p:txBody>
        </p:sp>
      </p:grpSp>
      <p:grpSp>
        <p:nvGrpSpPr>
          <p:cNvPr id="146" name="Group 145"/>
          <p:cNvGrpSpPr/>
          <p:nvPr/>
        </p:nvGrpSpPr>
        <p:grpSpPr>
          <a:xfrm>
            <a:off x="605709" y="4313120"/>
            <a:ext cx="5983456" cy="555705"/>
            <a:chOff x="2431279" y="1146517"/>
            <a:chExt cx="7307525" cy="678676"/>
          </a:xfrm>
        </p:grpSpPr>
        <p:sp>
          <p:nvSpPr>
            <p:cNvPr id="147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48" name="Group 147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50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52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3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4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51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5</a:t>
                </a:r>
              </a:p>
            </p:txBody>
          </p:sp>
        </p:grpSp>
        <p:sp>
          <p:nvSpPr>
            <p:cNvPr id="149" name="Rectangle 148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Comparison &amp; Decision</a:t>
              </a:r>
            </a:p>
          </p:txBody>
        </p:sp>
      </p:grpSp>
      <p:grpSp>
        <p:nvGrpSpPr>
          <p:cNvPr id="155" name="Group 154"/>
          <p:cNvGrpSpPr/>
          <p:nvPr/>
        </p:nvGrpSpPr>
        <p:grpSpPr>
          <a:xfrm>
            <a:off x="605709" y="5127991"/>
            <a:ext cx="6753034" cy="555705"/>
            <a:chOff x="2431279" y="1146517"/>
            <a:chExt cx="8247402" cy="678676"/>
          </a:xfrm>
        </p:grpSpPr>
        <p:sp>
          <p:nvSpPr>
            <p:cNvPr id="156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57" name="Group 156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59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61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2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3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60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6</a:t>
                </a:r>
              </a:p>
            </p:txBody>
          </p:sp>
        </p:grpSp>
        <p:sp>
          <p:nvSpPr>
            <p:cNvPr id="158" name="Rectangle 157"/>
            <p:cNvSpPr/>
            <p:nvPr/>
          </p:nvSpPr>
          <p:spPr>
            <a:xfrm>
              <a:off x="3177047" y="1155933"/>
              <a:ext cx="7501634" cy="63900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Implementation &amp; Verification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95744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Connector 15"/>
          <p:cNvCxnSpPr/>
          <p:nvPr/>
        </p:nvCxnSpPr>
        <p:spPr>
          <a:xfrm>
            <a:off x="5635782" y="3384550"/>
            <a:ext cx="0" cy="34734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11C1235-51B4-A8A0-3A61-9C767F437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866" y="189168"/>
            <a:ext cx="10871201" cy="672843"/>
          </a:xfrm>
        </p:spPr>
        <p:txBody>
          <a:bodyPr anchor="ctr">
            <a:normAutofit/>
          </a:bodyPr>
          <a:lstStyle/>
          <a:p>
            <a:r>
              <a:rPr lang="en-US"/>
              <a:t>Context &amp; Motivation – Toyota 24DCM project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A0E7BDD-2CF4-321B-0637-D9AF63CAB0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866" y="878996"/>
            <a:ext cx="11916834" cy="1756536"/>
          </a:xfrm>
        </p:spPr>
        <p:txBody>
          <a:bodyPr>
            <a:noAutofit/>
          </a:bodyPr>
          <a:lstStyle/>
          <a:p>
            <a:r>
              <a:rPr lang="en-US" sz="1800" dirty="0"/>
              <a:t>Toyota </a:t>
            </a:r>
            <a:r>
              <a:rPr lang="en-US" sz="1800" b="1" dirty="0"/>
              <a:t>DCM</a:t>
            </a:r>
            <a:r>
              <a:rPr lang="en-US" sz="1800" dirty="0"/>
              <a:t>: a telematics platform providing connected vehicle services, including </a:t>
            </a:r>
            <a:r>
              <a:rPr lang="en-US" sz="1800" b="1" dirty="0"/>
              <a:t>remote diagnostics </a:t>
            </a:r>
            <a:r>
              <a:rPr lang="en-US" sz="1800" dirty="0"/>
              <a:t>from OEM server.</a:t>
            </a:r>
          </a:p>
          <a:p>
            <a:r>
              <a:rPr lang="en-US" sz="1800" dirty="0"/>
              <a:t>Supports diagnostic communication and OTA updates through the Internal CAN bus.</a:t>
            </a:r>
          </a:p>
          <a:p>
            <a:r>
              <a:rPr lang="en-US" sz="1800" b="1" dirty="0"/>
              <a:t>Current architecture</a:t>
            </a:r>
            <a:r>
              <a:rPr lang="en-US" sz="1800" dirty="0"/>
              <a:t>: monolithic deployment model, with all components running in a single partition.</a:t>
            </a:r>
          </a:p>
          <a:p>
            <a:r>
              <a:rPr lang="en-US" sz="1800" b="1" dirty="0"/>
              <a:t>System architecture migration</a:t>
            </a:r>
            <a:r>
              <a:rPr lang="en-US" sz="1800" dirty="0"/>
              <a:t>: </a:t>
            </a:r>
          </a:p>
          <a:p>
            <a:pPr lvl="1"/>
            <a:r>
              <a:rPr lang="en-US" sz="1800" dirty="0"/>
              <a:t>Due to security, OEM wants to separate DCM into 2 partition using LXC containers: </a:t>
            </a:r>
          </a:p>
          <a:p>
            <a:pPr lvl="2"/>
            <a:r>
              <a:rPr lang="en-US" sz="1800" b="1" dirty="0"/>
              <a:t>EP container (Entry Point)</a:t>
            </a:r>
            <a:r>
              <a:rPr lang="en-US" sz="1800" dirty="0"/>
              <a:t>: externally exposed network components</a:t>
            </a:r>
          </a:p>
          <a:p>
            <a:pPr lvl="2"/>
            <a:r>
              <a:rPr lang="en-US" sz="1800" b="1" dirty="0"/>
              <a:t>Internal container: </a:t>
            </a:r>
            <a:r>
              <a:rPr lang="en-US" sz="1800" dirty="0"/>
              <a:t>components which have access to CAN bus.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357951"/>
            <a:ext cx="5359652" cy="3083122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913" y="3357951"/>
            <a:ext cx="6165787" cy="3161081"/>
          </a:xfrm>
          <a:prstGeom prst="rect">
            <a:avLst/>
          </a:prstGeom>
        </p:spPr>
      </p:pic>
      <p:sp>
        <p:nvSpPr>
          <p:cNvPr id="8" name="Right Arrow 7"/>
          <p:cNvSpPr/>
          <p:nvPr/>
        </p:nvSpPr>
        <p:spPr>
          <a:xfrm>
            <a:off x="4395655" y="6430521"/>
            <a:ext cx="2480253" cy="412399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233987" y="6528086"/>
            <a:ext cx="2793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Current system 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59510" y="6490268"/>
            <a:ext cx="39695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New system architecture (containerized)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47287" y="1826835"/>
            <a:ext cx="1644713" cy="1531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3477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8038" y="2594783"/>
            <a:ext cx="7684020" cy="41584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0" y="862011"/>
            <a:ext cx="12122058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RemoteDiag</a:t>
            </a:r>
            <a:r>
              <a:rPr lang="en-US" sz="1600" dirty="0"/>
              <a:t>: a module processes diagnostic for each ECU and uploads diagnostic data to OEM Server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RemoteDiag</a:t>
            </a:r>
            <a:r>
              <a:rPr lang="en-US" sz="1600" dirty="0"/>
              <a:t> has 2 communication paths: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with </a:t>
            </a:r>
            <a:r>
              <a:rPr lang="en-US" sz="1600" b="1" dirty="0"/>
              <a:t>OEM Server</a:t>
            </a:r>
            <a:r>
              <a:rPr lang="en-US" sz="1600" dirty="0"/>
              <a:t>: performs direct diagnostic commands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with </a:t>
            </a:r>
            <a:r>
              <a:rPr lang="en-US" sz="1600" b="1" dirty="0"/>
              <a:t>MM ecu</a:t>
            </a:r>
            <a:r>
              <a:rPr lang="en-US" sz="1600" dirty="0"/>
              <a:t>: OTA diagnostic update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Risk: </a:t>
            </a:r>
            <a:r>
              <a:rPr lang="en-US" sz="1600" b="1" dirty="0" err="1"/>
              <a:t>RemoteDiag</a:t>
            </a:r>
            <a:r>
              <a:rPr lang="en-US" sz="1600" b="1" dirty="0"/>
              <a:t> &lt;-&gt; MM path </a:t>
            </a:r>
            <a:r>
              <a:rPr lang="en-US" sz="1600" dirty="0"/>
              <a:t>routes in EP which is insecure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OEM requests that </a:t>
            </a:r>
            <a:r>
              <a:rPr lang="en-US" sz="1600" b="1" dirty="0"/>
              <a:t>unauthorized reprogramming requests should be filtered.</a:t>
            </a:r>
          </a:p>
          <a:p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585339-B774-DFDC-4DB4-D02F5083D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Problem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26896" y="3782508"/>
            <a:ext cx="4390970" cy="923330"/>
            <a:chOff x="24485" y="4675267"/>
            <a:chExt cx="4623437" cy="92333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477AED6-8D6F-D505-6D7B-78460A03A2E8}"/>
                </a:ext>
              </a:extLst>
            </p:cNvPr>
            <p:cNvSpPr txBox="1"/>
            <p:nvPr/>
          </p:nvSpPr>
          <p:spPr>
            <a:xfrm>
              <a:off x="576043" y="4675267"/>
              <a:ext cx="407187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RemoteDiag’s</a:t>
              </a:r>
              <a:r>
                <a:rPr lang="en-US" dirty="0"/>
                <a:t> </a:t>
              </a:r>
              <a:r>
                <a:rPr lang="en-US" b="1" dirty="0"/>
                <a:t>internal</a:t>
              </a:r>
              <a:r>
                <a:rPr lang="en-US" dirty="0"/>
                <a:t> </a:t>
              </a:r>
              <a:r>
                <a:rPr lang="en-US" b="1" dirty="0"/>
                <a:t>architecture and communication </a:t>
              </a:r>
              <a:r>
                <a:rPr lang="en-US" dirty="0"/>
                <a:t>should be </a:t>
              </a:r>
              <a:r>
                <a:rPr lang="en-US" b="1" dirty="0"/>
                <a:t>redesigned</a:t>
              </a:r>
              <a:r>
                <a:rPr lang="en-US" dirty="0"/>
                <a:t> to align with new architecture</a:t>
              </a:r>
              <a:endParaRPr lang="en-US" b="1" dirty="0"/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24485" y="4861835"/>
              <a:ext cx="530318" cy="550195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0171" y="595898"/>
            <a:ext cx="2271888" cy="1907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97940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Problem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625E47-EFA5-9C35-32C7-F793664192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866" y="990600"/>
            <a:ext cx="11887201" cy="514736"/>
          </a:xfrm>
        </p:spPr>
        <p:txBody>
          <a:bodyPr>
            <a:normAutofit/>
          </a:bodyPr>
          <a:lstStyle/>
          <a:p>
            <a:r>
              <a:rPr lang="en-US" sz="2200"/>
              <a:t>Functional requirements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58A328F-ADBC-7C5F-15DF-73E4DC21B2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8279638"/>
              </p:ext>
            </p:extLst>
          </p:nvPr>
        </p:nvGraphicFramePr>
        <p:xfrm>
          <a:off x="204773" y="1505336"/>
          <a:ext cx="11782454" cy="13322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8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836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9352">
                <a:tc>
                  <a:txBody>
                    <a:bodyPr/>
                    <a:lstStyle/>
                    <a:p>
                      <a:pPr algn="ctr" latinLnBrk="0"/>
                      <a:r>
                        <a:rPr lang="en-US" sz="1800">
                          <a:latin typeface="+mn-lt"/>
                          <a:cs typeface="Arial" panose="020B0604020202020204" pitchFamily="34" charset="0"/>
                        </a:rPr>
                        <a:t>#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>
                          <a:effectLst/>
                          <a:latin typeface="+mn-lt"/>
                          <a:cs typeface="Arial" panose="020B0604020202020204" pitchFamily="34" charset="0"/>
                        </a:rPr>
                        <a:t>Description</a:t>
                      </a:r>
                      <a:endParaRPr lang="en-US" sz="1800" b="1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8586">
                <a:tc>
                  <a:txBody>
                    <a:bodyPr/>
                    <a:lstStyle/>
                    <a:p>
                      <a:pPr algn="ctr" latinLnBrk="0">
                        <a:lnSpc>
                          <a:spcPct val="150000"/>
                        </a:lnSpc>
                      </a:pPr>
                      <a:r>
                        <a:rPr lang="en-US" sz="18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FR-01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80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The system shall block unauthorized diagnostic commands related to ECU reprogramming.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858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FR-02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80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The system shall route UDS diagnostic messages exchanged with the MM ECU entirely within the IP.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24621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16B88-86B3-799E-3A3E-FA919E3E0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E5815-73D6-DA66-29AA-3BE061A3E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Quality Attribute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6010EF79-766B-D3A2-10CE-882C40A1E836}"/>
              </a:ext>
            </a:extLst>
          </p:cNvPr>
          <p:cNvSpPr txBox="1">
            <a:spLocks/>
          </p:cNvSpPr>
          <p:nvPr/>
        </p:nvSpPr>
        <p:spPr>
          <a:xfrm>
            <a:off x="100026" y="3171632"/>
            <a:ext cx="11887201" cy="5147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20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C8AAA51-C203-CD8B-4B02-DE7401134C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2195264"/>
              </p:ext>
            </p:extLst>
          </p:nvPr>
        </p:nvGraphicFramePr>
        <p:xfrm>
          <a:off x="182820" y="960039"/>
          <a:ext cx="11903556" cy="42835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59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58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19193">
                  <a:extLst>
                    <a:ext uri="{9D8B030D-6E8A-4147-A177-3AD203B41FA5}">
                      <a16:colId xmlns:a16="http://schemas.microsoft.com/office/drawing/2014/main" val="2530683369"/>
                    </a:ext>
                  </a:extLst>
                </a:gridCol>
                <a:gridCol w="14757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2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latinLnBrk="0"/>
                      <a:r>
                        <a:rPr lang="en-US" sz="1600" b="0">
                          <a:latin typeface="+mn-lt"/>
                          <a:cs typeface="Arial" panose="020B0604020202020204" pitchFamily="34" charset="0"/>
                        </a:rPr>
                        <a:t>ID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QA Scenario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Measure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Type</a:t>
                      </a:r>
                      <a:endParaRPr lang="en-US" sz="16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Priority</a:t>
                      </a:r>
                      <a:endParaRPr lang="en-US" sz="16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QA-01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A compromised app/service sends reprogramming diagnostic to CAN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/>
                        <a:t>Zero Reprogramming SIDs reaches the internal CAN.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Security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High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QA-02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MM ECU sends a diagnostic request via TCP to </a:t>
                      </a:r>
                      <a:r>
                        <a:rPr lang="en-US" sz="1600" b="0" kern="1200" baseline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RemoteDiag</a:t>
                      </a:r>
                      <a:endParaRPr lang="en-US" sz="1600" b="0" kern="1200" baseline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latin typeface="+mn-lt"/>
                          <a:cs typeface="Arial" panose="020B0604020202020204" pitchFamily="34" charset="0"/>
                        </a:rPr>
                        <a:t>Zero diagnostic communication is found in EP. 100% number of</a:t>
                      </a:r>
                      <a:r>
                        <a:rPr lang="en-US" sz="1600" b="0" baseline="0">
                          <a:latin typeface="+mn-lt"/>
                          <a:cs typeface="Arial" panose="020B0604020202020204" pitchFamily="34" charset="0"/>
                        </a:rPr>
                        <a:t> requests are handled within IP.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Security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High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QA-03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The new design preserves the original core responsibility of each component.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No component is required to take responsibilities outside its originally defined role.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No additional specification updates caused by responsibility expansion.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Modifiability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latin typeface="+mn-lt"/>
                          <a:cs typeface="Arial" panose="020B0604020202020204" pitchFamily="34" charset="0"/>
                        </a:rPr>
                        <a:t>High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QA-04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Existing software components (other than RemoteDiag) require minimal changes.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Number of component</a:t>
                      </a:r>
                      <a:r>
                        <a:rPr lang="en-US" sz="1600" b="0" baseline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 which needs to modify to align with new design </a:t>
                      </a:r>
                      <a:endParaRPr lang="en-US" sz="16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Maintainability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dirty="0">
                          <a:latin typeface="+mn-lt"/>
                          <a:cs typeface="Arial" panose="020B0604020202020204" pitchFamily="34" charset="0"/>
                        </a:rPr>
                        <a:t>Medium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38451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9538" y="2394738"/>
            <a:ext cx="9183866" cy="43102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0866" y="862011"/>
            <a:ext cx="11834976" cy="15327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/>
              <a:t>Split RemoteDiag responsibilities into </a:t>
            </a:r>
            <a:r>
              <a:rPr lang="en-US" b="1"/>
              <a:t>2</a:t>
            </a:r>
            <a:r>
              <a:rPr lang="en-US"/>
              <a:t> apps: </a:t>
            </a:r>
          </a:p>
          <a:p>
            <a:pPr marL="742950" lvl="1" indent="-285750">
              <a:lnSpc>
                <a:spcPct val="130000"/>
              </a:lnSpc>
              <a:buFont typeface="Wingdings" panose="05000000000000000000" pitchFamily="2" charset="2"/>
              <a:buChar char="§"/>
            </a:pPr>
            <a:r>
              <a:rPr lang="en-US" b="1"/>
              <a:t>RemoteDiag (EP):</a:t>
            </a:r>
            <a:r>
              <a:rPr lang="en-US"/>
              <a:t> handles diag messages from OEM server.</a:t>
            </a:r>
            <a:endParaRPr lang="en-US" b="1"/>
          </a:p>
          <a:p>
            <a:pPr marL="742950" lvl="1" indent="-285750">
              <a:lnSpc>
                <a:spcPct val="130000"/>
              </a:lnSpc>
              <a:buFont typeface="Wingdings" panose="05000000000000000000" pitchFamily="2" charset="2"/>
              <a:buChar char="§"/>
            </a:pPr>
            <a:r>
              <a:rPr lang="en-US" b="1"/>
              <a:t>RemoteOTA (IP):</a:t>
            </a:r>
            <a:r>
              <a:rPr lang="en-US"/>
              <a:t> handles OTA diag message flows from MM ECU.</a:t>
            </a: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/>
              <a:t>OnBoardClient is responsible for </a:t>
            </a:r>
            <a:r>
              <a:rPr lang="en-US" b="1"/>
              <a:t>reprogramming message filtering</a:t>
            </a:r>
            <a:r>
              <a:rPr lang="en-US"/>
              <a:t> and </a:t>
            </a:r>
            <a:r>
              <a:rPr lang="en-US" b="1"/>
              <a:t>diagnostic  priority control</a:t>
            </a:r>
            <a:r>
              <a:rPr lang="en-US"/>
              <a:t>.</a:t>
            </a:r>
            <a:endParaRPr lang="en-US" sz="16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Design Alternative – Alt-A: Split </a:t>
            </a:r>
            <a:r>
              <a:rPr lang="en-US" err="1"/>
              <a:t>RemoteDiag</a:t>
            </a:r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6898742" y="6315754"/>
            <a:ext cx="6511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Alt-A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898" y="4359136"/>
            <a:ext cx="2372009" cy="184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24093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016" y="4202246"/>
            <a:ext cx="2372009" cy="184335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5175" y="1542094"/>
            <a:ext cx="8886825" cy="532030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Design Alternative – Alt-B: Move </a:t>
            </a:r>
            <a:r>
              <a:rPr lang="en-US" err="1"/>
              <a:t>RemoteDiag</a:t>
            </a:r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60866" y="862011"/>
            <a:ext cx="11958710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7013" indent="-227013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/>
              <a:t>Move RemoteDiag into the IP container.</a:t>
            </a:r>
          </a:p>
          <a:p>
            <a:pPr marL="227013" indent="-227013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/>
              <a:t>To maintain communication with OEM server and other EP-side component, </a:t>
            </a:r>
            <a:r>
              <a:rPr lang="en-US" b="1"/>
              <a:t>establish UDS socket connections to each module</a:t>
            </a:r>
            <a:endParaRPr lang="en-US"/>
          </a:p>
          <a:p>
            <a:pPr marL="227013" indent="-227013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/>
          </a:p>
          <a:p>
            <a:pPr marL="227013" indent="-227013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953062" y="6189006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Alt-B</a:t>
            </a:r>
          </a:p>
        </p:txBody>
      </p:sp>
    </p:spTree>
    <p:extLst>
      <p:ext uri="{BB962C8B-B14F-4D97-AF65-F5344CB8AC3E}">
        <p14:creationId xmlns:p14="http://schemas.microsoft.com/office/powerpoint/2010/main" val="6813698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3A9F39-394E-5437-993F-29D2F2093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4700" y="2354870"/>
            <a:ext cx="8678897" cy="435030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54F77EA-2B30-AFDC-1349-3C58C2AB9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Design Alternative – Alt-C: Move </a:t>
            </a:r>
            <a:r>
              <a:rPr lang="en-US" err="1"/>
              <a:t>RemoteDiag</a:t>
            </a:r>
            <a:r>
              <a:rPr lang="en-US"/>
              <a:t> + Proxy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B7A4A-CF56-C0BD-9AB9-923B2D0432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867" y="990599"/>
            <a:ext cx="11825921" cy="1219201"/>
          </a:xfrm>
        </p:spPr>
        <p:txBody>
          <a:bodyPr>
            <a:normAutofit fontScale="92500" lnSpcReduction="20000"/>
          </a:bodyPr>
          <a:lstStyle/>
          <a:p>
            <a:r>
              <a:rPr lang="en-US" sz="1800"/>
              <a:t>Move RemoteDiag into the IP container.</a:t>
            </a:r>
          </a:p>
          <a:p>
            <a:r>
              <a:rPr lang="en-US" sz="1800"/>
              <a:t>Add a </a:t>
            </a:r>
            <a:r>
              <a:rPr lang="en-US" sz="1800" b="1"/>
              <a:t>new RemoteDiagProxy (RDP) component</a:t>
            </a:r>
            <a:r>
              <a:rPr lang="en-US" sz="1800"/>
              <a:t> in the EP that acts as a </a:t>
            </a:r>
            <a:r>
              <a:rPr lang="en-US" sz="1800" b="1"/>
              <a:t>transparent proxy</a:t>
            </a:r>
            <a:r>
              <a:rPr lang="en-US" sz="1800"/>
              <a:t>. </a:t>
            </a:r>
          </a:p>
          <a:p>
            <a:r>
              <a:rPr lang="en-US" sz="1800"/>
              <a:t>EP modules continue to interact with RDP using their existing interface</a:t>
            </a:r>
          </a:p>
          <a:p>
            <a:r>
              <a:rPr lang="en-US" sz="1800"/>
              <a:t>RDP forwards requests to RemoteDiag via UDS socket channel.</a:t>
            </a:r>
            <a:endParaRPr lang="en-US" sz="1800" b="1"/>
          </a:p>
          <a:p>
            <a:endParaRPr lang="en-US" sz="1800"/>
          </a:p>
        </p:txBody>
      </p:sp>
      <p:sp>
        <p:nvSpPr>
          <p:cNvPr id="6" name="TextBox 5"/>
          <p:cNvSpPr txBox="1"/>
          <p:nvPr/>
        </p:nvSpPr>
        <p:spPr>
          <a:xfrm>
            <a:off x="6781612" y="6335843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Alt-C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" y="4530022"/>
            <a:ext cx="2196413" cy="1688471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5739" y="2354869"/>
            <a:ext cx="9937672" cy="4417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3773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866" y="189169"/>
            <a:ext cx="10871201" cy="489842"/>
          </a:xfrm>
        </p:spPr>
        <p:txBody>
          <a:bodyPr>
            <a:normAutofit fontScale="90000"/>
          </a:bodyPr>
          <a:lstStyle/>
          <a:p>
            <a:r>
              <a:rPr lang="en-US"/>
              <a:t>Comparison &amp;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866" y="5932081"/>
            <a:ext cx="343958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2600" b="1"/>
              <a:t>Final decision: </a:t>
            </a:r>
            <a:r>
              <a:rPr lang="en-US" sz="2600" b="1">
                <a:solidFill>
                  <a:srgbClr val="00B050"/>
                </a:solidFill>
              </a:rPr>
              <a:t>Alt-C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C8AAA51-C203-CD8B-4B02-DE7401134C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0738059"/>
              </p:ext>
            </p:extLst>
          </p:nvPr>
        </p:nvGraphicFramePr>
        <p:xfrm>
          <a:off x="72428" y="725354"/>
          <a:ext cx="12050161" cy="38806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7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334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1331">
                  <a:extLst>
                    <a:ext uri="{9D8B030D-6E8A-4147-A177-3AD203B41FA5}">
                      <a16:colId xmlns:a16="http://schemas.microsoft.com/office/drawing/2014/main" val="2530683369"/>
                    </a:ext>
                  </a:extLst>
                </a:gridCol>
                <a:gridCol w="34855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30000"/>
                        </a:lnSpc>
                      </a:pPr>
                      <a:endParaRPr lang="en-US" sz="12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Alt-A</a:t>
                      </a:r>
                      <a:r>
                        <a:rPr lang="en-US" sz="1200" b="0" baseline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 – Split </a:t>
                      </a:r>
                      <a:r>
                        <a:rPr lang="en-US" sz="1200" b="0" baseline="0" err="1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RemoteDiag</a:t>
                      </a:r>
                      <a:endParaRPr lang="en-US" sz="12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Alt-B: Move </a:t>
                      </a:r>
                      <a:r>
                        <a:rPr lang="en-US" sz="1200" b="0" err="1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RemoteDiag</a:t>
                      </a:r>
                      <a:endParaRPr lang="en-US" sz="12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>
                          <a:effectLst/>
                          <a:latin typeface="+mn-lt"/>
                          <a:cs typeface="Arial" panose="020B0604020202020204" pitchFamily="34" charset="0"/>
                        </a:rPr>
                        <a:t>Alt-C: Move </a:t>
                      </a:r>
                      <a:r>
                        <a:rPr lang="en-US" sz="1200" b="0" err="1">
                          <a:effectLst/>
                          <a:latin typeface="+mn-lt"/>
                          <a:cs typeface="Arial" panose="020B0604020202020204" pitchFamily="34" charset="0"/>
                        </a:rPr>
                        <a:t>RemoteDiag</a:t>
                      </a:r>
                      <a:r>
                        <a:rPr lang="en-US" sz="1200" b="0">
                          <a:effectLst/>
                          <a:latin typeface="+mn-lt"/>
                          <a:cs typeface="Arial" panose="020B0604020202020204" pitchFamily="34" charset="0"/>
                        </a:rPr>
                        <a:t> + Proxy</a:t>
                      </a:r>
                      <a:endParaRPr lang="en-US" sz="12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QA-01</a:t>
                      </a:r>
                    </a:p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Security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  <a:endParaRPr lang="en-US" sz="1300" b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0">
                          <a:solidFill>
                            <a:schemeClr val="tx1"/>
                          </a:solidFill>
                        </a:rPr>
                        <a:t>Unauthorized diagnostic commands are</a:t>
                      </a:r>
                      <a:r>
                        <a:rPr lang="en-US" sz="13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1300" b="1" baseline="0">
                          <a:solidFill>
                            <a:schemeClr val="tx1"/>
                          </a:solidFill>
                        </a:rPr>
                        <a:t>filtered</a:t>
                      </a:r>
                      <a:r>
                        <a:rPr lang="en-US" sz="1300" b="0" baseline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sz="1300" b="0">
                        <a:solidFill>
                          <a:schemeClr val="tx1"/>
                        </a:solidFill>
                      </a:endParaRPr>
                    </a:p>
                  </a:txBody>
                  <a:tcPr marL="25400" marR="254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  <a:endParaRPr lang="en-US" sz="13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0">
                          <a:solidFill>
                            <a:schemeClr val="tx1"/>
                          </a:solidFill>
                        </a:rPr>
                        <a:t>Unauthorized diagnostic commands are </a:t>
                      </a:r>
                      <a:r>
                        <a:rPr lang="en-US" sz="1300" b="1">
                          <a:solidFill>
                            <a:schemeClr val="tx1"/>
                          </a:solidFill>
                        </a:rPr>
                        <a:t>filtered</a:t>
                      </a:r>
                      <a:r>
                        <a:rPr lang="en-US" sz="1300" b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  <a:endParaRPr lang="en-US" sz="1300" b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>
                          <a:solidFill>
                            <a:schemeClr val="tx1"/>
                          </a:solidFill>
                        </a:rPr>
                        <a:t>Unauthorized diagnostic commands are </a:t>
                      </a:r>
                      <a:r>
                        <a:rPr lang="en-US" sz="1300" b="1">
                          <a:solidFill>
                            <a:schemeClr val="tx1"/>
                          </a:solidFill>
                        </a:rPr>
                        <a:t>filtered</a:t>
                      </a:r>
                      <a:r>
                        <a:rPr lang="en-US" sz="1300" b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QA-02</a:t>
                      </a:r>
                    </a:p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Security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  <a:endParaRPr lang="en-US" sz="1300" b="0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MM ECU diagnostic traffic remains </a:t>
                      </a:r>
                      <a:r>
                        <a:rPr lang="en-US" sz="1300" b="1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within the EP container</a:t>
                      </a: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. (CyberSecurity team confirmed)</a:t>
                      </a:r>
                    </a:p>
                  </a:txBody>
                  <a:tcPr marL="25400" marR="254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10000"/>
                        </a:lnSpc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MM ECU diagnostic traffic remains </a:t>
                      </a:r>
                      <a:r>
                        <a:rPr lang="en-US" sz="1300" b="1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within the EP container</a:t>
                      </a: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. (CyberSecurity team confirmed)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10000"/>
                        </a:lnSpc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MM ECU diagnostic traffic remains </a:t>
                      </a:r>
                      <a:r>
                        <a:rPr lang="en-US" sz="1300" b="1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within the EP container.</a:t>
                      </a: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(CyberSecurity team confirmed)</a:t>
                      </a:r>
                      <a:endParaRPr lang="en-US" sz="1300" b="1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QA-03</a:t>
                      </a:r>
                    </a:p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Modifiability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1">
                          <a:solidFill>
                            <a:srgbClr val="FF0000"/>
                          </a:solidFill>
                        </a:rPr>
                        <a:t>Low</a:t>
                      </a:r>
                      <a:endParaRPr lang="en-US" sz="1300" b="1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RemoteDiag and OnBoardClient’s responsibility is changed (</a:t>
                      </a:r>
                      <a:r>
                        <a:rPr lang="en-US" sz="1300" b="1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diagnostic priority control</a:t>
                      </a: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is moved to OnBoardClient), requiring requirement updates.</a:t>
                      </a:r>
                    </a:p>
                  </a:txBody>
                  <a:tcPr marL="25400" marR="254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1200" baseline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Core responsibilities of existing components remain unchanged after migration.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1200" baseline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Core responsibilities of existing components remain unchanged after migration.</a:t>
                      </a:r>
                    </a:p>
                    <a:p>
                      <a:pPr algn="l" latinLnBrk="0">
                        <a:lnSpc>
                          <a:spcPct val="110000"/>
                        </a:lnSpc>
                      </a:pPr>
                      <a:endParaRPr lang="en-US" sz="13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QA-04</a:t>
                      </a:r>
                    </a:p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Maintainability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1">
                          <a:solidFill>
                            <a:schemeClr val="accent2"/>
                          </a:solidFill>
                        </a:rPr>
                        <a:t>Medium</a:t>
                      </a:r>
                    </a:p>
                    <a:p>
                      <a:pPr marL="0" marR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1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01 additional component is modified </a:t>
                      </a: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(OnBoardClient - implements UDS socket server and priority control) </a:t>
                      </a:r>
                    </a:p>
                  </a:txBody>
                  <a:tcPr marL="25400" marR="254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>
                          <a:solidFill>
                            <a:srgbClr val="FF0000"/>
                          </a:solidFill>
                        </a:rPr>
                        <a:t>Low</a:t>
                      </a:r>
                      <a:endParaRPr lang="en-US" sz="1300" b="0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10 EP modules</a:t>
                      </a: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(PowerMgr, HttpMgr, …) have to implement cross-container UDS socket communication and fail-safe handling.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10000"/>
                        </a:lnSpc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  <a:endParaRPr lang="en-US" sz="1300" b="0">
                        <a:latin typeface="+mn-lt"/>
                        <a:cs typeface="Arial" panose="020B0604020202020204" pitchFamily="34" charset="0"/>
                      </a:endParaRPr>
                    </a:p>
                    <a:p>
                      <a:pPr algn="l" latinLnBrk="0">
                        <a:lnSpc>
                          <a:spcPct val="110000"/>
                        </a:lnSpc>
                      </a:pPr>
                      <a:r>
                        <a:rPr lang="en-US" sz="1300" b="1" baseline="0">
                          <a:latin typeface="+mn-lt"/>
                          <a:cs typeface="Arial" panose="020B0604020202020204" pitchFamily="34" charset="0"/>
                        </a:rPr>
                        <a:t>No changes </a:t>
                      </a:r>
                      <a:r>
                        <a:rPr lang="en-US" sz="1300" b="0" baseline="0">
                          <a:latin typeface="+mn-lt"/>
                          <a:cs typeface="Arial" panose="020B0604020202020204" pitchFamily="34" charset="0"/>
                        </a:rPr>
                        <a:t>required in existing modules. RemoteDiagProxy preserves the current binder interface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3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Decision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Rejected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Rejected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300" b="0" dirty="0">
                          <a:latin typeface="+mn-lt"/>
                          <a:cs typeface="Arial" panose="020B0604020202020204" pitchFamily="34" charset="0"/>
                        </a:rPr>
                        <a:t>Selected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138020" y="5808971"/>
            <a:ext cx="1981877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00B050"/>
                </a:solidFill>
              </a:rPr>
              <a:t>High</a:t>
            </a:r>
            <a:r>
              <a:rPr lang="en-US" sz="1400"/>
              <a:t>: Fully satisfy</a:t>
            </a:r>
          </a:p>
          <a:p>
            <a:r>
              <a:rPr lang="en-US" sz="1400" b="1">
                <a:solidFill>
                  <a:schemeClr val="accent2"/>
                </a:solidFill>
              </a:rPr>
              <a:t>Medium</a:t>
            </a:r>
            <a:r>
              <a:rPr lang="en-US" sz="1400"/>
              <a:t>: Partially satisfy</a:t>
            </a:r>
          </a:p>
          <a:p>
            <a:r>
              <a:rPr lang="en-US" sz="1400" b="1">
                <a:solidFill>
                  <a:srgbClr val="FF0000"/>
                </a:solidFill>
              </a:rPr>
              <a:t>Low</a:t>
            </a:r>
            <a:r>
              <a:rPr lang="en-US" sz="1400"/>
              <a:t>: Not satisfy</a:t>
            </a:r>
          </a:p>
        </p:txBody>
      </p:sp>
      <p:pic>
        <p:nvPicPr>
          <p:cNvPr id="9" name="Picture 2" descr="체크 표시 클립 아트. 무료 다운로드. | Creazilla">
            <a:extLst>
              <a:ext uri="{FF2B5EF4-FFF2-40B4-BE49-F238E27FC236}">
                <a16:creationId xmlns:a16="http://schemas.microsoft.com/office/drawing/2014/main" id="{07DB846E-8DD2-9BB2-88FF-8A7E0BD6CA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7521" y="4329969"/>
            <a:ext cx="216024" cy="2160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96847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99A5D-DD39-1919-FD58-65B06FAFD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Detail design: Forward </a:t>
            </a:r>
            <a:r>
              <a:rPr lang="en-US" dirty="0"/>
              <a:t>API call from proxy to </a:t>
            </a:r>
            <a:r>
              <a:rPr lang="en-US" dirty="0" err="1"/>
              <a:t>remotediag</a:t>
            </a:r>
            <a:r>
              <a:rPr lang="en-US" dirty="0"/>
              <a:t>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0EC3E71-48BE-FEC7-88E8-47DB96F90E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72" y="1043549"/>
            <a:ext cx="12163910" cy="536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1645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3E24B-1160-F6BA-5A0C-DB3B3DD9C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Detail design: Filter </a:t>
            </a:r>
            <a:r>
              <a:rPr lang="en-US" dirty="0"/>
              <a:t>scenario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D875D97-63D9-E3DF-760D-4A57DB7A20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596" y="862011"/>
            <a:ext cx="10936808" cy="5613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1679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Implementation and Verification</a:t>
            </a: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640" y="4219575"/>
            <a:ext cx="10269609" cy="1927903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985" y="1399738"/>
            <a:ext cx="10544082" cy="23389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44900" y="1030406"/>
            <a:ext cx="5251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SidFilter blocks reprogramming diagnostic requests</a:t>
            </a:r>
          </a:p>
        </p:txBody>
      </p:sp>
    </p:spTree>
    <p:extLst>
      <p:ext uri="{BB962C8B-B14F-4D97-AF65-F5344CB8AC3E}">
        <p14:creationId xmlns:p14="http://schemas.microsoft.com/office/powerpoint/2010/main" val="34974962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Implementation and Verification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866" y="1190625"/>
            <a:ext cx="5258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RemoteDiagProxy and RemoteDiag communication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031" y="1559957"/>
            <a:ext cx="11193437" cy="4686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04468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866" y="2064190"/>
            <a:ext cx="11887201" cy="400389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8800" b="1"/>
              <a:t>Q&amp;A</a:t>
            </a:r>
          </a:p>
          <a:p>
            <a:pPr marL="0" indent="0" algn="ctr">
              <a:buNone/>
            </a:pPr>
            <a:r>
              <a:rPr lang="en-US" sz="3600" b="1"/>
              <a:t>Thank you for listening</a:t>
            </a:r>
          </a:p>
        </p:txBody>
      </p:sp>
    </p:spTree>
    <p:extLst>
      <p:ext uri="{BB962C8B-B14F-4D97-AF65-F5344CB8AC3E}">
        <p14:creationId xmlns:p14="http://schemas.microsoft.com/office/powerpoint/2010/main" val="15811116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160866" y="2064190"/>
            <a:ext cx="11887201" cy="400389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6600" b="1"/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5225493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86E6E-BE59-7A7B-6BE9-16A0A094C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Diagnostic filtering requirements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AD4A4EC6-9BB8-2849-8D75-05C44DE9A3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0247" y="1073926"/>
            <a:ext cx="5404920" cy="42382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985C62C-76E5-84A1-DEF1-FC486F2BF1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314" y="1073926"/>
            <a:ext cx="5385950" cy="3185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0690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cc6ed9fc-fefc-4a0c-a6d6-10cf236c0d4f}" enabled="1" method="Standard" siteId="{5069cde4-642a-45c0-8094-d0c2dec10be3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7987</TotalTime>
  <Words>792</Words>
  <Application>Microsoft Office PowerPoint</Application>
  <PresentationFormat>Widescreen</PresentationFormat>
  <Paragraphs>148</Paragraphs>
  <Slides>17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Calibri</vt:lpstr>
      <vt:lpstr>Calibri Light</vt:lpstr>
      <vt:lpstr>Times New Roman</vt:lpstr>
      <vt:lpstr>Wingdings</vt:lpstr>
      <vt:lpstr>Office Theme</vt:lpstr>
      <vt:lpstr>Design of Secure Remote Diag on Container Separation Architecture</vt:lpstr>
      <vt:lpstr>Content</vt:lpstr>
      <vt:lpstr>Context &amp; Motivation – Toyota 24DCM project</vt:lpstr>
      <vt:lpstr>Problem</vt:lpstr>
      <vt:lpstr>Problem</vt:lpstr>
      <vt:lpstr>Quality Attribute</vt:lpstr>
      <vt:lpstr>Design Alternative – Alt-A: Split RemoteDiag</vt:lpstr>
      <vt:lpstr>Design Alternative – Alt-B: Move RemoteDiag</vt:lpstr>
      <vt:lpstr>Design Alternative – Alt-C: Move RemoteDiag + Proxy</vt:lpstr>
      <vt:lpstr>Comparison &amp; Decision</vt:lpstr>
      <vt:lpstr>Detail design: Forward API call from proxy to remotediag </vt:lpstr>
      <vt:lpstr>Detail design: Filter scenario</vt:lpstr>
      <vt:lpstr>Implementation and Verification</vt:lpstr>
      <vt:lpstr>Implementation and Verification</vt:lpstr>
      <vt:lpstr>PowerPoint Presentation</vt:lpstr>
      <vt:lpstr>PowerPoint Presentation</vt:lpstr>
      <vt:lpstr>Diagnostic filtering requirements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of Secure Remote Diag on Container Separation Architecture</dc:title>
  <dc:creator>PHI HOANG VU/LGEDV SOFTWARE ENGINEERING 1 TEAM</dc:creator>
  <cp:lastModifiedBy>Phi Vu Hoang</cp:lastModifiedBy>
  <cp:revision>636</cp:revision>
  <dcterms:created xsi:type="dcterms:W3CDTF">2026-08-17T04:18:20Z</dcterms:created>
  <dcterms:modified xsi:type="dcterms:W3CDTF">2026-09-30T14:32:13Z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Office Theme:8</vt:lpwstr>
  </property>
  <property fmtid="{D5CDD505-2E9C-101B-9397-08002B2CF9AE}" pid="3" name="ClassificationContentMarkingHeaderText">
    <vt:lpwstr>LGE Internal Use Only</vt:lpwstr>
  </property>
</Properties>
</file>