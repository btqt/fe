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80" r:id="rId4"/>
    <p:sldId id="294" r:id="rId5"/>
    <p:sldId id="289" r:id="rId6"/>
    <p:sldId id="262" r:id="rId7"/>
    <p:sldId id="283" r:id="rId8"/>
    <p:sldId id="269" r:id="rId9"/>
    <p:sldId id="271" r:id="rId10"/>
    <p:sldId id="287" r:id="rId11"/>
    <p:sldId id="279" r:id="rId12"/>
    <p:sldId id="292" r:id="rId13"/>
    <p:sldId id="293" r:id="rId14"/>
    <p:sldId id="288" r:id="rId15"/>
    <p:sldId id="291" r:id="rId16"/>
    <p:sldId id="274" r:id="rId17"/>
    <p:sldId id="277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FF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2" autoAdjust="0"/>
    <p:restoredTop sz="93961" autoAdjust="0"/>
  </p:normalViewPr>
  <p:slideViewPr>
    <p:cSldViewPr snapToGrid="0">
      <p:cViewPr varScale="1">
        <p:scale>
          <a:sx n="117" d="100"/>
          <a:sy n="117" d="100"/>
        </p:scale>
        <p:origin x="126" y="16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C17E2-92C1-406A-80C1-BA1B838099E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77405-33BD-42BD-B604-93760E418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223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64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99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53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Trade-offs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Maintainability: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EP modules require cross-container IPC support, increasing implementation effort and code-change scope.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31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81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7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81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866" y="189168"/>
            <a:ext cx="10871201" cy="67284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866" y="990600"/>
            <a:ext cx="11887201" cy="5278168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그림 5" descr="백색바탕.png">
            <a:extLst>
              <a:ext uri="{FF2B5EF4-FFF2-40B4-BE49-F238E27FC236}">
                <a16:creationId xmlns:a16="http://schemas.microsoft.com/office/drawing/2014/main" xmlns="" id="{28873918-42A2-05FA-4A84-F17869DE34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0" y="189168"/>
            <a:ext cx="872067" cy="47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6619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4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0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93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9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19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376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89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4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344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34B22C-8C05-4817-830F-8B9F9DEAE546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DC87BF5-B759-FAAB-FE6D-F0E5F640800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92128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9085" y="1122363"/>
            <a:ext cx="10493830" cy="2387600"/>
          </a:xfrm>
        </p:spPr>
        <p:txBody>
          <a:bodyPr>
            <a:normAutofit/>
          </a:bodyPr>
          <a:lstStyle/>
          <a:p>
            <a:r>
              <a:rPr lang="en-US" b="1"/>
              <a:t>Design of Secure Remote </a:t>
            </a:r>
            <a:r>
              <a:rPr lang="en-US" b="1" err="1"/>
              <a:t>Diag</a:t>
            </a:r>
            <a:r>
              <a:rPr lang="en-US" b="1"/>
              <a:t> on Container Separation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50381"/>
            <a:ext cx="9144000" cy="1655762"/>
          </a:xfrm>
        </p:spPr>
        <p:txBody>
          <a:bodyPr/>
          <a:lstStyle/>
          <a:p>
            <a:r>
              <a:rPr lang="en-US"/>
              <a:t>Candidate: Vu Hoang Phi (phi.vu) </a:t>
            </a:r>
          </a:p>
          <a:p>
            <a:r>
              <a:rPr lang="en-US"/>
              <a:t>LGEDV – September 2026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40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866" y="189168"/>
            <a:ext cx="10871201" cy="672843"/>
          </a:xfrm>
        </p:spPr>
        <p:txBody>
          <a:bodyPr/>
          <a:lstStyle/>
          <a:p>
            <a:r>
              <a:rPr lang="en-US"/>
              <a:t>Content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605709" y="1868501"/>
            <a:ext cx="5983456" cy="555705"/>
            <a:chOff x="2431279" y="1146517"/>
            <a:chExt cx="7307525" cy="678676"/>
          </a:xfrm>
        </p:grpSpPr>
        <p:sp>
          <p:nvSpPr>
            <p:cNvPr id="65" name="Line 11"/>
            <p:cNvSpPr>
              <a:spLocks noChangeShapeType="1"/>
            </p:cNvSpPr>
            <p:nvPr/>
          </p:nvSpPr>
          <p:spPr bwMode="auto">
            <a:xfrm flipV="1">
              <a:off x="3199674" y="1819470"/>
              <a:ext cx="6539130" cy="5723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5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6" name="Group 65"/>
            <p:cNvGrpSpPr/>
            <p:nvPr/>
          </p:nvGrpSpPr>
          <p:grpSpPr>
            <a:xfrm>
              <a:off x="2431279" y="1146517"/>
              <a:ext cx="762000" cy="665163"/>
              <a:chOff x="2431279" y="1160030"/>
              <a:chExt cx="762000" cy="665163"/>
            </a:xfrm>
          </p:grpSpPr>
          <p:grpSp>
            <p:nvGrpSpPr>
              <p:cNvPr id="68" name="Group 3"/>
              <p:cNvGrpSpPr>
                <a:grpSpLocks/>
              </p:cNvGrpSpPr>
              <p:nvPr/>
            </p:nvGrpSpPr>
            <p:grpSpPr bwMode="auto">
              <a:xfrm>
                <a:off x="2431279" y="1160030"/>
                <a:ext cx="762000" cy="665163"/>
                <a:chOff x="1110" y="2656"/>
                <a:chExt cx="1549" cy="1351"/>
              </a:xfrm>
              <a:solidFill>
                <a:schemeClr val="tx1">
                  <a:lumMod val="85000"/>
                  <a:lumOff val="15000"/>
                </a:schemeClr>
              </a:solidFill>
            </p:grpSpPr>
            <p:sp>
              <p:nvSpPr>
                <p:cNvPr id="70" name="AutoShape 4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C0C0C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" name="AutoShape 5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2" name="AutoShape 6"/>
                <p:cNvSpPr>
                  <a:spLocks noChangeArrowheads="1"/>
                </p:cNvSpPr>
                <p:nvPr/>
              </p:nvSpPr>
              <p:spPr bwMode="gray">
                <a:xfrm>
                  <a:off x="1200" y="2737"/>
                  <a:ext cx="1349" cy="1167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sz="2500"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9" name="Text Box 13"/>
              <p:cNvSpPr txBox="1">
                <a:spLocks noChangeArrowheads="1"/>
              </p:cNvSpPr>
              <p:nvPr/>
            </p:nvSpPr>
            <p:spPr bwMode="gray">
              <a:xfrm>
                <a:off x="2630979" y="1231971"/>
                <a:ext cx="362599" cy="4770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25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2</a:t>
                </a:r>
              </a:p>
            </p:txBody>
          </p:sp>
        </p:grpSp>
        <p:sp>
          <p:nvSpPr>
            <p:cNvPr id="67" name="Rectangle 66"/>
            <p:cNvSpPr/>
            <p:nvPr/>
          </p:nvSpPr>
          <p:spPr>
            <a:xfrm>
              <a:off x="3177047" y="1155933"/>
              <a:ext cx="6407936" cy="6390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>
                  <a:cs typeface="Times New Roman" panose="02020603050405020304" pitchFamily="18" charset="0"/>
                </a:rPr>
                <a:t>Problem</a:t>
              </a:r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605709" y="1053628"/>
            <a:ext cx="5983456" cy="555705"/>
            <a:chOff x="2431279" y="1146517"/>
            <a:chExt cx="7307525" cy="678676"/>
          </a:xfrm>
        </p:grpSpPr>
        <p:sp>
          <p:nvSpPr>
            <p:cNvPr id="119" name="Line 11"/>
            <p:cNvSpPr>
              <a:spLocks noChangeShapeType="1"/>
            </p:cNvSpPr>
            <p:nvPr/>
          </p:nvSpPr>
          <p:spPr bwMode="auto">
            <a:xfrm flipV="1">
              <a:off x="3199674" y="1819470"/>
              <a:ext cx="6539130" cy="5723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5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0" name="Group 119"/>
            <p:cNvGrpSpPr/>
            <p:nvPr/>
          </p:nvGrpSpPr>
          <p:grpSpPr>
            <a:xfrm>
              <a:off x="2431279" y="1146517"/>
              <a:ext cx="762000" cy="665163"/>
              <a:chOff x="2431279" y="1160030"/>
              <a:chExt cx="762000" cy="665163"/>
            </a:xfrm>
          </p:grpSpPr>
          <p:grpSp>
            <p:nvGrpSpPr>
              <p:cNvPr id="122" name="Group 3"/>
              <p:cNvGrpSpPr>
                <a:grpSpLocks/>
              </p:cNvGrpSpPr>
              <p:nvPr/>
            </p:nvGrpSpPr>
            <p:grpSpPr bwMode="auto">
              <a:xfrm>
                <a:off x="2431279" y="1160030"/>
                <a:ext cx="762000" cy="665163"/>
                <a:chOff x="1110" y="2656"/>
                <a:chExt cx="1549" cy="1351"/>
              </a:xfrm>
              <a:solidFill>
                <a:schemeClr val="tx1">
                  <a:lumMod val="85000"/>
                  <a:lumOff val="15000"/>
                </a:schemeClr>
              </a:solidFill>
            </p:grpSpPr>
            <p:sp>
              <p:nvSpPr>
                <p:cNvPr id="124" name="AutoShape 4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C0C0C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" name="AutoShape 5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" name="AutoShape 6"/>
                <p:cNvSpPr>
                  <a:spLocks noChangeArrowheads="1"/>
                </p:cNvSpPr>
                <p:nvPr/>
              </p:nvSpPr>
              <p:spPr bwMode="gray">
                <a:xfrm>
                  <a:off x="1200" y="2737"/>
                  <a:ext cx="1349" cy="1167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sz="2500"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23" name="Text Box 13"/>
              <p:cNvSpPr txBox="1">
                <a:spLocks noChangeArrowheads="1"/>
              </p:cNvSpPr>
              <p:nvPr/>
            </p:nvSpPr>
            <p:spPr bwMode="gray">
              <a:xfrm>
                <a:off x="2590859" y="1231971"/>
                <a:ext cx="442839" cy="5826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25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121" name="Rectangle 120"/>
            <p:cNvSpPr/>
            <p:nvPr/>
          </p:nvSpPr>
          <p:spPr>
            <a:xfrm>
              <a:off x="3177047" y="1155933"/>
              <a:ext cx="6407936" cy="6390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>
                  <a:cs typeface="Times New Roman" panose="02020603050405020304" pitchFamily="18" charset="0"/>
                </a:rPr>
                <a:t>Context </a:t>
              </a:r>
              <a:r>
                <a:rPr lang="en-US" sz="2800"/>
                <a:t>&amp; Motivation</a:t>
              </a:r>
              <a:endParaRPr lang="en-US" sz="2800">
                <a:cs typeface="Times New Roman" panose="02020603050405020304" pitchFamily="18" charset="0"/>
              </a:endParaRP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605709" y="2683374"/>
            <a:ext cx="5983456" cy="555705"/>
            <a:chOff x="2431279" y="1146517"/>
            <a:chExt cx="7307525" cy="678676"/>
          </a:xfrm>
        </p:grpSpPr>
        <p:sp>
          <p:nvSpPr>
            <p:cNvPr id="128" name="Line 11"/>
            <p:cNvSpPr>
              <a:spLocks noChangeShapeType="1"/>
            </p:cNvSpPr>
            <p:nvPr/>
          </p:nvSpPr>
          <p:spPr bwMode="auto">
            <a:xfrm flipV="1">
              <a:off x="3199674" y="1819470"/>
              <a:ext cx="6539130" cy="5723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5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9" name="Group 128"/>
            <p:cNvGrpSpPr/>
            <p:nvPr/>
          </p:nvGrpSpPr>
          <p:grpSpPr>
            <a:xfrm>
              <a:off x="2431279" y="1146517"/>
              <a:ext cx="762000" cy="665163"/>
              <a:chOff x="2431279" y="1160030"/>
              <a:chExt cx="762000" cy="665163"/>
            </a:xfrm>
          </p:grpSpPr>
          <p:grpSp>
            <p:nvGrpSpPr>
              <p:cNvPr id="131" name="Group 3"/>
              <p:cNvGrpSpPr>
                <a:grpSpLocks/>
              </p:cNvGrpSpPr>
              <p:nvPr/>
            </p:nvGrpSpPr>
            <p:grpSpPr bwMode="auto">
              <a:xfrm>
                <a:off x="2431279" y="1160030"/>
                <a:ext cx="762000" cy="665163"/>
                <a:chOff x="1110" y="2656"/>
                <a:chExt cx="1549" cy="1351"/>
              </a:xfrm>
              <a:solidFill>
                <a:schemeClr val="tx1">
                  <a:lumMod val="85000"/>
                  <a:lumOff val="15000"/>
                </a:schemeClr>
              </a:solidFill>
            </p:grpSpPr>
            <p:sp>
              <p:nvSpPr>
                <p:cNvPr id="133" name="AutoShape 4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C0C0C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4" name="AutoShape 5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5" name="AutoShape 6"/>
                <p:cNvSpPr>
                  <a:spLocks noChangeArrowheads="1"/>
                </p:cNvSpPr>
                <p:nvPr/>
              </p:nvSpPr>
              <p:spPr bwMode="gray">
                <a:xfrm>
                  <a:off x="1200" y="2737"/>
                  <a:ext cx="1349" cy="1167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sz="2500"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32" name="Text Box 13"/>
              <p:cNvSpPr txBox="1">
                <a:spLocks noChangeArrowheads="1"/>
              </p:cNvSpPr>
              <p:nvPr/>
            </p:nvSpPr>
            <p:spPr bwMode="gray">
              <a:xfrm>
                <a:off x="2590859" y="1231971"/>
                <a:ext cx="442839" cy="5826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25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3</a:t>
                </a:r>
              </a:p>
            </p:txBody>
          </p:sp>
        </p:grpSp>
        <p:sp>
          <p:nvSpPr>
            <p:cNvPr id="130" name="Rectangle 129"/>
            <p:cNvSpPr/>
            <p:nvPr/>
          </p:nvSpPr>
          <p:spPr>
            <a:xfrm>
              <a:off x="3177047" y="1155933"/>
              <a:ext cx="6407936" cy="6390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>
                  <a:cs typeface="Times New Roman" panose="02020603050405020304" pitchFamily="18" charset="0"/>
                </a:rPr>
                <a:t>Quality Attribute</a:t>
              </a:r>
            </a:p>
          </p:txBody>
        </p:sp>
      </p:grpSp>
      <p:grpSp>
        <p:nvGrpSpPr>
          <p:cNvPr id="136" name="Group 135"/>
          <p:cNvGrpSpPr/>
          <p:nvPr/>
        </p:nvGrpSpPr>
        <p:grpSpPr>
          <a:xfrm>
            <a:off x="605709" y="3498247"/>
            <a:ext cx="5983456" cy="555705"/>
            <a:chOff x="2431279" y="1146517"/>
            <a:chExt cx="7307525" cy="678676"/>
          </a:xfrm>
        </p:grpSpPr>
        <p:sp>
          <p:nvSpPr>
            <p:cNvPr id="137" name="Line 11"/>
            <p:cNvSpPr>
              <a:spLocks noChangeShapeType="1"/>
            </p:cNvSpPr>
            <p:nvPr/>
          </p:nvSpPr>
          <p:spPr bwMode="auto">
            <a:xfrm flipV="1">
              <a:off x="3199674" y="1819470"/>
              <a:ext cx="6539130" cy="5723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5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8" name="Group 137"/>
            <p:cNvGrpSpPr/>
            <p:nvPr/>
          </p:nvGrpSpPr>
          <p:grpSpPr>
            <a:xfrm>
              <a:off x="2431279" y="1146517"/>
              <a:ext cx="762000" cy="665163"/>
              <a:chOff x="2431279" y="1160030"/>
              <a:chExt cx="762000" cy="665163"/>
            </a:xfrm>
          </p:grpSpPr>
          <p:grpSp>
            <p:nvGrpSpPr>
              <p:cNvPr id="140" name="Group 3"/>
              <p:cNvGrpSpPr>
                <a:grpSpLocks/>
              </p:cNvGrpSpPr>
              <p:nvPr/>
            </p:nvGrpSpPr>
            <p:grpSpPr bwMode="auto">
              <a:xfrm>
                <a:off x="2431279" y="1160030"/>
                <a:ext cx="762000" cy="665163"/>
                <a:chOff x="1110" y="2656"/>
                <a:chExt cx="1549" cy="1351"/>
              </a:xfrm>
              <a:solidFill>
                <a:schemeClr val="tx1">
                  <a:lumMod val="85000"/>
                  <a:lumOff val="15000"/>
                </a:schemeClr>
              </a:solidFill>
            </p:grpSpPr>
            <p:sp>
              <p:nvSpPr>
                <p:cNvPr id="142" name="AutoShape 4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C0C0C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" name="AutoShape 5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" name="AutoShape 6"/>
                <p:cNvSpPr>
                  <a:spLocks noChangeArrowheads="1"/>
                </p:cNvSpPr>
                <p:nvPr/>
              </p:nvSpPr>
              <p:spPr bwMode="gray">
                <a:xfrm>
                  <a:off x="1200" y="2737"/>
                  <a:ext cx="1349" cy="1167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sz="2500"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1" name="Text Box 13"/>
              <p:cNvSpPr txBox="1">
                <a:spLocks noChangeArrowheads="1"/>
              </p:cNvSpPr>
              <p:nvPr/>
            </p:nvSpPr>
            <p:spPr bwMode="gray">
              <a:xfrm>
                <a:off x="2590859" y="1231971"/>
                <a:ext cx="442839" cy="5826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25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4</a:t>
                </a:r>
              </a:p>
            </p:txBody>
          </p:sp>
        </p:grpSp>
        <p:sp>
          <p:nvSpPr>
            <p:cNvPr id="139" name="Rectangle 138"/>
            <p:cNvSpPr/>
            <p:nvPr/>
          </p:nvSpPr>
          <p:spPr>
            <a:xfrm>
              <a:off x="3177047" y="1155933"/>
              <a:ext cx="6407936" cy="6390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>
                  <a:cs typeface="Times New Roman" panose="02020603050405020304" pitchFamily="18" charset="0"/>
                </a:rPr>
                <a:t>Design Alternative</a:t>
              </a: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605709" y="4313120"/>
            <a:ext cx="5983456" cy="555705"/>
            <a:chOff x="2431279" y="1146517"/>
            <a:chExt cx="7307525" cy="678676"/>
          </a:xfrm>
        </p:grpSpPr>
        <p:sp>
          <p:nvSpPr>
            <p:cNvPr id="147" name="Line 11"/>
            <p:cNvSpPr>
              <a:spLocks noChangeShapeType="1"/>
            </p:cNvSpPr>
            <p:nvPr/>
          </p:nvSpPr>
          <p:spPr bwMode="auto">
            <a:xfrm flipV="1">
              <a:off x="3199674" y="1819470"/>
              <a:ext cx="6539130" cy="5723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5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8" name="Group 147"/>
            <p:cNvGrpSpPr/>
            <p:nvPr/>
          </p:nvGrpSpPr>
          <p:grpSpPr>
            <a:xfrm>
              <a:off x="2431279" y="1146517"/>
              <a:ext cx="762000" cy="665163"/>
              <a:chOff x="2431279" y="1160030"/>
              <a:chExt cx="762000" cy="665163"/>
            </a:xfrm>
          </p:grpSpPr>
          <p:grpSp>
            <p:nvGrpSpPr>
              <p:cNvPr id="150" name="Group 3"/>
              <p:cNvGrpSpPr>
                <a:grpSpLocks/>
              </p:cNvGrpSpPr>
              <p:nvPr/>
            </p:nvGrpSpPr>
            <p:grpSpPr bwMode="auto">
              <a:xfrm>
                <a:off x="2431279" y="1160030"/>
                <a:ext cx="762000" cy="665163"/>
                <a:chOff x="1110" y="2656"/>
                <a:chExt cx="1549" cy="1351"/>
              </a:xfrm>
              <a:solidFill>
                <a:schemeClr val="tx1">
                  <a:lumMod val="85000"/>
                  <a:lumOff val="15000"/>
                </a:schemeClr>
              </a:solidFill>
            </p:grpSpPr>
            <p:sp>
              <p:nvSpPr>
                <p:cNvPr id="152" name="AutoShape 4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C0C0C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" name="AutoShape 5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4" name="AutoShape 6"/>
                <p:cNvSpPr>
                  <a:spLocks noChangeArrowheads="1"/>
                </p:cNvSpPr>
                <p:nvPr/>
              </p:nvSpPr>
              <p:spPr bwMode="gray">
                <a:xfrm>
                  <a:off x="1200" y="2737"/>
                  <a:ext cx="1349" cy="1167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sz="2500"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51" name="Text Box 13"/>
              <p:cNvSpPr txBox="1">
                <a:spLocks noChangeArrowheads="1"/>
              </p:cNvSpPr>
              <p:nvPr/>
            </p:nvSpPr>
            <p:spPr bwMode="gray">
              <a:xfrm>
                <a:off x="2590859" y="1231971"/>
                <a:ext cx="442839" cy="5826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25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5</a:t>
                </a:r>
              </a:p>
            </p:txBody>
          </p:sp>
        </p:grpSp>
        <p:sp>
          <p:nvSpPr>
            <p:cNvPr id="149" name="Rectangle 148"/>
            <p:cNvSpPr/>
            <p:nvPr/>
          </p:nvSpPr>
          <p:spPr>
            <a:xfrm>
              <a:off x="3177047" y="1155933"/>
              <a:ext cx="6407936" cy="6390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>
                  <a:cs typeface="Times New Roman" panose="02020603050405020304" pitchFamily="18" charset="0"/>
                </a:rPr>
                <a:t>Comparison &amp; Decision</a:t>
              </a:r>
            </a:p>
          </p:txBody>
        </p:sp>
      </p:grpSp>
      <p:grpSp>
        <p:nvGrpSpPr>
          <p:cNvPr id="155" name="Group 154"/>
          <p:cNvGrpSpPr/>
          <p:nvPr/>
        </p:nvGrpSpPr>
        <p:grpSpPr>
          <a:xfrm>
            <a:off x="605709" y="5127991"/>
            <a:ext cx="6753034" cy="555705"/>
            <a:chOff x="2431279" y="1146517"/>
            <a:chExt cx="8247402" cy="678676"/>
          </a:xfrm>
        </p:grpSpPr>
        <p:sp>
          <p:nvSpPr>
            <p:cNvPr id="156" name="Line 11"/>
            <p:cNvSpPr>
              <a:spLocks noChangeShapeType="1"/>
            </p:cNvSpPr>
            <p:nvPr/>
          </p:nvSpPr>
          <p:spPr bwMode="auto">
            <a:xfrm flipV="1">
              <a:off x="3199674" y="1819470"/>
              <a:ext cx="6539130" cy="5723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5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7" name="Group 156"/>
            <p:cNvGrpSpPr/>
            <p:nvPr/>
          </p:nvGrpSpPr>
          <p:grpSpPr>
            <a:xfrm>
              <a:off x="2431279" y="1146517"/>
              <a:ext cx="762000" cy="665163"/>
              <a:chOff x="2431279" y="1160030"/>
              <a:chExt cx="762000" cy="665163"/>
            </a:xfrm>
          </p:grpSpPr>
          <p:grpSp>
            <p:nvGrpSpPr>
              <p:cNvPr id="159" name="Group 3"/>
              <p:cNvGrpSpPr>
                <a:grpSpLocks/>
              </p:cNvGrpSpPr>
              <p:nvPr/>
            </p:nvGrpSpPr>
            <p:grpSpPr bwMode="auto">
              <a:xfrm>
                <a:off x="2431279" y="1160030"/>
                <a:ext cx="762000" cy="665163"/>
                <a:chOff x="1110" y="2656"/>
                <a:chExt cx="1549" cy="1351"/>
              </a:xfrm>
              <a:solidFill>
                <a:schemeClr val="tx1">
                  <a:lumMod val="85000"/>
                  <a:lumOff val="15000"/>
                </a:schemeClr>
              </a:solidFill>
            </p:grpSpPr>
            <p:sp>
              <p:nvSpPr>
                <p:cNvPr id="161" name="AutoShape 4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C0C0C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" name="AutoShape 5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" name="AutoShape 6"/>
                <p:cNvSpPr>
                  <a:spLocks noChangeArrowheads="1"/>
                </p:cNvSpPr>
                <p:nvPr/>
              </p:nvSpPr>
              <p:spPr bwMode="gray">
                <a:xfrm>
                  <a:off x="1200" y="2737"/>
                  <a:ext cx="1349" cy="1167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sz="2500"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60" name="Text Box 13"/>
              <p:cNvSpPr txBox="1">
                <a:spLocks noChangeArrowheads="1"/>
              </p:cNvSpPr>
              <p:nvPr/>
            </p:nvSpPr>
            <p:spPr bwMode="gray">
              <a:xfrm>
                <a:off x="2590859" y="1231971"/>
                <a:ext cx="442839" cy="5826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25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158" name="Rectangle 157"/>
            <p:cNvSpPr/>
            <p:nvPr/>
          </p:nvSpPr>
          <p:spPr>
            <a:xfrm>
              <a:off x="3177047" y="1155933"/>
              <a:ext cx="7501634" cy="6390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>
                  <a:cs typeface="Times New Roman" panose="02020603050405020304" pitchFamily="18" charset="0"/>
                </a:rPr>
                <a:t>Implementation &amp; Verification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574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/>
          <p:cNvCxnSpPr/>
          <p:nvPr/>
        </p:nvCxnSpPr>
        <p:spPr>
          <a:xfrm>
            <a:off x="5635782" y="3384550"/>
            <a:ext cx="0" cy="3473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1C1235-51B4-A8A0-3A61-9C767F437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66" y="189168"/>
            <a:ext cx="10871201" cy="672843"/>
          </a:xfrm>
        </p:spPr>
        <p:txBody>
          <a:bodyPr anchor="ctr">
            <a:normAutofit/>
          </a:bodyPr>
          <a:lstStyle/>
          <a:p>
            <a:r>
              <a:rPr lang="en-US"/>
              <a:t>Context &amp; </a:t>
            </a:r>
            <a:r>
              <a:rPr lang="en-US" smtClean="0"/>
              <a:t>Motivation – Toyota 24DCM project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4A0E7BDD-2CF4-321B-0637-D9AF63CAB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6" y="878996"/>
            <a:ext cx="11916834" cy="1756536"/>
          </a:xfrm>
        </p:spPr>
        <p:txBody>
          <a:bodyPr>
            <a:noAutofit/>
          </a:bodyPr>
          <a:lstStyle/>
          <a:p>
            <a:r>
              <a:rPr lang="en-US" sz="1800" smtClean="0"/>
              <a:t>Toyota </a:t>
            </a:r>
            <a:r>
              <a:rPr lang="en-US" sz="1800" b="1" smtClean="0"/>
              <a:t>DCM</a:t>
            </a:r>
            <a:r>
              <a:rPr lang="en-US" sz="1800" smtClean="0"/>
              <a:t>: a telematics platform providing connected vehicle services, including </a:t>
            </a:r>
            <a:r>
              <a:rPr lang="en-US" sz="1800" b="1" smtClean="0"/>
              <a:t>remote diagnostics</a:t>
            </a:r>
            <a:r>
              <a:rPr lang="en-US" sz="1800" b="1"/>
              <a:t> </a:t>
            </a:r>
            <a:r>
              <a:rPr lang="en-US" sz="1800" smtClean="0"/>
              <a:t>from OEM server.</a:t>
            </a:r>
          </a:p>
          <a:p>
            <a:r>
              <a:rPr lang="en-US" sz="1800" smtClean="0"/>
              <a:t>Supports diagnostic </a:t>
            </a:r>
            <a:r>
              <a:rPr lang="en-US" sz="1800"/>
              <a:t>communication and OTA updates through the Internal CAN bus</a:t>
            </a:r>
            <a:r>
              <a:rPr lang="en-US" sz="1800" smtClean="0"/>
              <a:t>.</a:t>
            </a:r>
          </a:p>
          <a:p>
            <a:r>
              <a:rPr lang="en-US" sz="1800" b="1" smtClean="0"/>
              <a:t>Current architecture</a:t>
            </a:r>
            <a:r>
              <a:rPr lang="en-US" sz="1800" smtClean="0"/>
              <a:t>: monolithic </a:t>
            </a:r>
            <a:r>
              <a:rPr lang="en-US" sz="1800"/>
              <a:t>deployment model, </a:t>
            </a:r>
            <a:r>
              <a:rPr lang="en-US" sz="1800" smtClean="0"/>
              <a:t>with all </a:t>
            </a:r>
            <a:r>
              <a:rPr lang="en-US" sz="1800"/>
              <a:t>components running in a </a:t>
            </a:r>
            <a:r>
              <a:rPr lang="en-US" sz="1800" smtClean="0"/>
              <a:t>single </a:t>
            </a:r>
            <a:r>
              <a:rPr lang="en-US" sz="1800"/>
              <a:t>partition</a:t>
            </a:r>
            <a:r>
              <a:rPr lang="en-US" sz="1800" smtClean="0"/>
              <a:t>.</a:t>
            </a:r>
          </a:p>
          <a:p>
            <a:r>
              <a:rPr lang="en-US" sz="1800" b="1" smtClean="0"/>
              <a:t>System </a:t>
            </a:r>
            <a:r>
              <a:rPr lang="en-US" sz="1800" b="1"/>
              <a:t>architecture </a:t>
            </a:r>
            <a:r>
              <a:rPr lang="en-US" sz="1800" b="1" smtClean="0"/>
              <a:t>migration</a:t>
            </a:r>
            <a:r>
              <a:rPr lang="en-US" sz="1800" smtClean="0"/>
              <a:t>: </a:t>
            </a:r>
            <a:endParaRPr lang="en-US" sz="1800"/>
          </a:p>
          <a:p>
            <a:pPr lvl="1"/>
            <a:r>
              <a:rPr lang="en-US" sz="1800" smtClean="0"/>
              <a:t>Due to security, OEM wants to separate DCM into 2 partition using LXC </a:t>
            </a:r>
            <a:r>
              <a:rPr lang="en-US" sz="1800"/>
              <a:t>containers: </a:t>
            </a:r>
          </a:p>
          <a:p>
            <a:pPr lvl="2"/>
            <a:r>
              <a:rPr lang="en-US" sz="1800" b="1"/>
              <a:t>EP </a:t>
            </a:r>
            <a:r>
              <a:rPr lang="en-US" sz="1800" b="1" smtClean="0"/>
              <a:t>container (Entry Point)</a:t>
            </a:r>
            <a:r>
              <a:rPr lang="en-US" sz="1800" smtClean="0"/>
              <a:t>: </a:t>
            </a:r>
            <a:r>
              <a:rPr lang="en-US" sz="1800"/>
              <a:t>externally exposed network components</a:t>
            </a:r>
          </a:p>
          <a:p>
            <a:pPr lvl="2"/>
            <a:r>
              <a:rPr lang="en-US" sz="1800" b="1" smtClean="0"/>
              <a:t>Internal container: </a:t>
            </a:r>
            <a:r>
              <a:rPr lang="en-US" sz="1800" smtClean="0"/>
              <a:t>components </a:t>
            </a:r>
            <a:r>
              <a:rPr lang="en-US" sz="1800"/>
              <a:t>which have access to CAN bus.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57951"/>
            <a:ext cx="5359652" cy="308312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913" y="3357951"/>
            <a:ext cx="6165787" cy="3161081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4395655" y="6430521"/>
            <a:ext cx="2480253" cy="412399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233987" y="6528086"/>
            <a:ext cx="2793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Current system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510" y="6490268"/>
            <a:ext cx="396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New system architecture (containerized)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7287" y="1826835"/>
            <a:ext cx="1644713" cy="153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347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/>
          <p:cNvCxnSpPr/>
          <p:nvPr/>
        </p:nvCxnSpPr>
        <p:spPr>
          <a:xfrm>
            <a:off x="5635782" y="3384550"/>
            <a:ext cx="0" cy="3473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1C1235-51B4-A8A0-3A61-9C767F437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66" y="189168"/>
            <a:ext cx="10871201" cy="672843"/>
          </a:xfrm>
        </p:spPr>
        <p:txBody>
          <a:bodyPr anchor="ctr">
            <a:normAutofit/>
          </a:bodyPr>
          <a:lstStyle/>
          <a:p>
            <a:r>
              <a:rPr lang="en-US"/>
              <a:t>Context &amp; </a:t>
            </a:r>
            <a:r>
              <a:rPr lang="en-US" smtClean="0"/>
              <a:t>Motivation – Toyota 24DCM project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4A0E7BDD-2CF4-321B-0637-D9AF63CAB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6" y="878996"/>
            <a:ext cx="11916834" cy="1756536"/>
          </a:xfrm>
        </p:spPr>
        <p:txBody>
          <a:bodyPr>
            <a:noAutofit/>
          </a:bodyPr>
          <a:lstStyle/>
          <a:p>
            <a:r>
              <a:rPr lang="en-US" sz="1800" smtClean="0"/>
              <a:t>Toyota </a:t>
            </a:r>
            <a:r>
              <a:rPr lang="en-US" sz="1800" b="1" smtClean="0"/>
              <a:t>DCM</a:t>
            </a:r>
            <a:r>
              <a:rPr lang="en-US" sz="1800" smtClean="0"/>
              <a:t>: a telematics platform providing connected vehicle services, including </a:t>
            </a:r>
            <a:r>
              <a:rPr lang="en-US" sz="1800" b="1" smtClean="0"/>
              <a:t>remote diagnostics</a:t>
            </a:r>
            <a:r>
              <a:rPr lang="en-US" sz="1800" b="1"/>
              <a:t> </a:t>
            </a:r>
            <a:r>
              <a:rPr lang="en-US" sz="1800" smtClean="0"/>
              <a:t>from OEM server.</a:t>
            </a:r>
          </a:p>
          <a:p>
            <a:r>
              <a:rPr lang="en-US" sz="1800" smtClean="0"/>
              <a:t>Supports diagnostic </a:t>
            </a:r>
            <a:r>
              <a:rPr lang="en-US" sz="1800"/>
              <a:t>communication and OTA updates through the Internal CAN bus</a:t>
            </a:r>
            <a:r>
              <a:rPr lang="en-US" sz="1800" smtClean="0"/>
              <a:t>.</a:t>
            </a:r>
          </a:p>
          <a:p>
            <a:r>
              <a:rPr lang="en-US" sz="1800" b="1" smtClean="0"/>
              <a:t>Current architecture</a:t>
            </a:r>
            <a:r>
              <a:rPr lang="en-US" sz="1800" smtClean="0"/>
              <a:t>: monolithic </a:t>
            </a:r>
            <a:r>
              <a:rPr lang="en-US" sz="1800"/>
              <a:t>deployment model, </a:t>
            </a:r>
            <a:r>
              <a:rPr lang="en-US" sz="1800" smtClean="0"/>
              <a:t>with all </a:t>
            </a:r>
            <a:r>
              <a:rPr lang="en-US" sz="1800"/>
              <a:t>components running in a </a:t>
            </a:r>
            <a:r>
              <a:rPr lang="en-US" sz="1800" smtClean="0"/>
              <a:t>single </a:t>
            </a:r>
            <a:r>
              <a:rPr lang="en-US" sz="1800"/>
              <a:t>partition</a:t>
            </a:r>
            <a:r>
              <a:rPr lang="en-US" sz="1800" smtClean="0"/>
              <a:t>.</a:t>
            </a:r>
          </a:p>
          <a:p>
            <a:r>
              <a:rPr lang="en-US" sz="1800" b="1" smtClean="0"/>
              <a:t>System </a:t>
            </a:r>
            <a:r>
              <a:rPr lang="en-US" sz="1800" b="1"/>
              <a:t>architecture </a:t>
            </a:r>
            <a:r>
              <a:rPr lang="en-US" sz="1800" b="1" smtClean="0"/>
              <a:t>migration</a:t>
            </a:r>
            <a:r>
              <a:rPr lang="en-US" sz="1800" smtClean="0"/>
              <a:t>: </a:t>
            </a:r>
            <a:endParaRPr lang="en-US" sz="1800"/>
          </a:p>
          <a:p>
            <a:pPr lvl="1"/>
            <a:r>
              <a:rPr lang="en-US" sz="1800" smtClean="0"/>
              <a:t>Due to security, OEM wants to separate DCM into 2 partition using LXC </a:t>
            </a:r>
            <a:r>
              <a:rPr lang="en-US" sz="1800"/>
              <a:t>containers: </a:t>
            </a:r>
          </a:p>
          <a:p>
            <a:pPr lvl="2"/>
            <a:r>
              <a:rPr lang="en-US" sz="1800" b="1"/>
              <a:t>EP </a:t>
            </a:r>
            <a:r>
              <a:rPr lang="en-US" sz="1800" b="1" smtClean="0"/>
              <a:t>container (Entry Point)</a:t>
            </a:r>
            <a:r>
              <a:rPr lang="en-US" sz="1800" smtClean="0"/>
              <a:t>: </a:t>
            </a:r>
            <a:r>
              <a:rPr lang="en-US" sz="1800"/>
              <a:t>externally exposed network components</a:t>
            </a:r>
          </a:p>
          <a:p>
            <a:pPr lvl="2"/>
            <a:r>
              <a:rPr lang="en-US" sz="1800" b="1" smtClean="0"/>
              <a:t>Internal container: </a:t>
            </a:r>
            <a:r>
              <a:rPr lang="en-US" sz="1800" smtClean="0"/>
              <a:t>components </a:t>
            </a:r>
            <a:r>
              <a:rPr lang="en-US" sz="1800"/>
              <a:t>which have access to CAN bus.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57951"/>
            <a:ext cx="5359652" cy="308312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913" y="3357951"/>
            <a:ext cx="6165787" cy="3161081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4395655" y="6430521"/>
            <a:ext cx="2480253" cy="412399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233987" y="6528086"/>
            <a:ext cx="2793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Current system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510" y="6490268"/>
            <a:ext cx="396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New system architecture (containerized)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7287" y="1826835"/>
            <a:ext cx="1644713" cy="153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22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038" y="2594783"/>
            <a:ext cx="7684020" cy="41584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862011"/>
            <a:ext cx="1212205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RemoteDiag</a:t>
            </a:r>
            <a:r>
              <a:rPr lang="en-US" sz="1600"/>
              <a:t>: a module processes diagnostic for each ECU and uploads diagnostic data to OEM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RemoteDiag has 2 communication paths: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with </a:t>
            </a:r>
            <a:r>
              <a:rPr lang="en-US" sz="1600" b="1"/>
              <a:t>OEM Server</a:t>
            </a:r>
            <a:r>
              <a:rPr lang="en-US" sz="1600"/>
              <a:t>: performs direct diagnostic commands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with </a:t>
            </a:r>
            <a:r>
              <a:rPr lang="en-US" sz="1600" b="1"/>
              <a:t>MM ecu</a:t>
            </a:r>
            <a:r>
              <a:rPr lang="en-US" sz="1600"/>
              <a:t>: OTA diagnostic update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Risk: RemoteDiag &lt;-&gt; MM path </a:t>
            </a:r>
            <a:r>
              <a:rPr lang="en-US" sz="1600"/>
              <a:t>routes in EP which is insecure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OEM requests that </a:t>
            </a:r>
            <a:r>
              <a:rPr lang="en-US" sz="1600" b="1"/>
              <a:t>unauthorized reprogramming requests should be filtered.</a:t>
            </a:r>
          </a:p>
          <a:p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585339-B774-DFDC-4DB4-D02F5083D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26896" y="3782508"/>
            <a:ext cx="4390970" cy="923330"/>
            <a:chOff x="24485" y="4675267"/>
            <a:chExt cx="4623437" cy="92333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2477AED6-8D6F-D505-6D7B-78460A03A2E8}"/>
                </a:ext>
              </a:extLst>
            </p:cNvPr>
            <p:cNvSpPr txBox="1"/>
            <p:nvPr/>
          </p:nvSpPr>
          <p:spPr>
            <a:xfrm>
              <a:off x="576043" y="4675267"/>
              <a:ext cx="407187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RemoteDiag’s</a:t>
              </a:r>
              <a:r>
                <a:rPr lang="en-US" dirty="0"/>
                <a:t> </a:t>
              </a:r>
              <a:r>
                <a:rPr lang="en-US" b="1" dirty="0"/>
                <a:t>internal</a:t>
              </a:r>
              <a:r>
                <a:rPr lang="en-US" dirty="0"/>
                <a:t> </a:t>
              </a:r>
              <a:r>
                <a:rPr lang="en-US" b="1" dirty="0"/>
                <a:t>architecture and communication </a:t>
              </a:r>
              <a:r>
                <a:rPr lang="en-US" dirty="0"/>
                <a:t>should be </a:t>
              </a:r>
              <a:r>
                <a:rPr lang="en-US" b="1" dirty="0"/>
                <a:t>redesigned</a:t>
              </a:r>
              <a:r>
                <a:rPr lang="en-US" dirty="0"/>
                <a:t> to align with new architecture</a:t>
              </a:r>
              <a:endParaRPr lang="en-US" b="1" dirty="0"/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24485" y="4861835"/>
              <a:ext cx="530318" cy="55019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0171" y="595898"/>
            <a:ext cx="2271888" cy="190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794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5625E47-EFA5-9C35-32C7-F79366419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6" y="990600"/>
            <a:ext cx="11887201" cy="514736"/>
          </a:xfrm>
        </p:spPr>
        <p:txBody>
          <a:bodyPr>
            <a:normAutofit/>
          </a:bodyPr>
          <a:lstStyle/>
          <a:p>
            <a:r>
              <a:rPr lang="en-US" sz="2200"/>
              <a:t>Functional requirements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658A328F-ADBC-7C5F-15DF-73E4DC21B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279638"/>
              </p:ext>
            </p:extLst>
          </p:nvPr>
        </p:nvGraphicFramePr>
        <p:xfrm>
          <a:off x="204773" y="1505336"/>
          <a:ext cx="11782454" cy="141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8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48365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59352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800">
                          <a:latin typeface="+mn-lt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effectLst/>
                          <a:latin typeface="+mn-lt"/>
                          <a:cs typeface="Arial" panose="020B0604020202020204" pitchFamily="34" charset="0"/>
                        </a:rPr>
                        <a:t>Description</a:t>
                      </a:r>
                      <a:endParaRPr lang="en-US" sz="1800" b="1">
                        <a:effectLst/>
                        <a:latin typeface="+mn-lt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858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FR-01</a:t>
                      </a: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The system shall block unauthorized diagnostic commands related to ECU reprogramming.</a:t>
                      </a: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85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FR-02</a:t>
                      </a: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The system shall route UDS diagnostic messages exchanged with the MM ECU entirely within the IP.</a:t>
                      </a: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246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816B88-86B3-799E-3A3E-FA919E3E0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6E5815-73D6-DA66-29AA-3BE061A3E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Quality Attribute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xmlns="" id="{6010EF79-766B-D3A2-10CE-882C40A1E836}"/>
              </a:ext>
            </a:extLst>
          </p:cNvPr>
          <p:cNvSpPr txBox="1">
            <a:spLocks/>
          </p:cNvSpPr>
          <p:nvPr/>
        </p:nvSpPr>
        <p:spPr>
          <a:xfrm>
            <a:off x="100026" y="3171632"/>
            <a:ext cx="11887201" cy="514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2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6C8AAA51-C203-CD8B-4B02-DE7401134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9731"/>
              </p:ext>
            </p:extLst>
          </p:nvPr>
        </p:nvGraphicFramePr>
        <p:xfrm>
          <a:off x="182820" y="960039"/>
          <a:ext cx="11903556" cy="4869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758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419193">
                  <a:extLst>
                    <a:ext uri="{9D8B030D-6E8A-4147-A177-3AD203B41FA5}">
                      <a16:colId xmlns:a16="http://schemas.microsoft.com/office/drawing/2014/main" xmlns="" val="2530683369"/>
                    </a:ext>
                  </a:extLst>
                </a:gridCol>
                <a:gridCol w="147571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8682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0"/>
                      <a:r>
                        <a:rPr lang="en-US" sz="1600" b="0">
                          <a:latin typeface="+mn-lt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QA Scenario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Measure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effectLst/>
                          <a:latin typeface="+mn-lt"/>
                          <a:cs typeface="Arial" panose="020B0604020202020204" pitchFamily="34" charset="0"/>
                        </a:rPr>
                        <a:t>Type</a:t>
                      </a:r>
                      <a:endParaRPr lang="en-US" sz="1600" b="0">
                        <a:effectLst/>
                        <a:latin typeface="+mn-lt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effectLst/>
                          <a:latin typeface="+mn-lt"/>
                          <a:cs typeface="Arial" panose="020B0604020202020204" pitchFamily="34" charset="0"/>
                        </a:rPr>
                        <a:t>Priority</a:t>
                      </a:r>
                      <a:endParaRPr lang="en-US" sz="1600" b="0">
                        <a:effectLst/>
                        <a:latin typeface="+mn-lt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QA-01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compromised app/service sends reprogramming </a:t>
                      </a:r>
                      <a:r>
                        <a:rPr lang="en-US" sz="1600" b="0" kern="1200" baseline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diagnostic </a:t>
                      </a:r>
                      <a:r>
                        <a:rPr lang="en-US" sz="16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to CAN</a:t>
                      </a: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/>
                        <a:t>Zero Reprogramming SIDs reaches the internal CAN.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>
                          <a:effectLst/>
                          <a:latin typeface="+mn-lt"/>
                          <a:cs typeface="Arial" panose="020B0604020202020204" pitchFamily="34" charset="0"/>
                        </a:rPr>
                        <a:t>Security</a:t>
                      </a:r>
                      <a:endParaRPr lang="en-US" sz="1600" b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>
                          <a:effectLst/>
                          <a:latin typeface="+mn-lt"/>
                          <a:cs typeface="Arial" panose="020B0604020202020204" pitchFamily="34" charset="0"/>
                        </a:rPr>
                        <a:t>High</a:t>
                      </a:r>
                      <a:endParaRPr lang="en-US" sz="1600" b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QA-02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MM ECU sends a diagnostic request via TCP to </a:t>
                      </a:r>
                      <a:r>
                        <a:rPr lang="en-US" sz="1600" b="0" kern="1200" baseline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RemoteDiag</a:t>
                      </a:r>
                      <a:endParaRPr lang="en-US" sz="1600" b="0" kern="1200" baseline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>
                          <a:latin typeface="+mn-lt"/>
                          <a:cs typeface="Arial" panose="020B0604020202020204" pitchFamily="34" charset="0"/>
                        </a:rPr>
                        <a:t>Zero diagnostic communication is found in EP. 100% number of</a:t>
                      </a:r>
                      <a:r>
                        <a:rPr lang="en-US" sz="1600" b="0" baseline="0">
                          <a:latin typeface="+mn-lt"/>
                          <a:cs typeface="Arial" panose="020B0604020202020204" pitchFamily="34" charset="0"/>
                        </a:rPr>
                        <a:t> requests are handled within IP.</a:t>
                      </a:r>
                      <a:endParaRPr lang="en-US" sz="1600" b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>
                          <a:effectLst/>
                          <a:latin typeface="+mn-lt"/>
                          <a:cs typeface="Arial" panose="020B0604020202020204" pitchFamily="34" charset="0"/>
                        </a:rPr>
                        <a:t>Security</a:t>
                      </a:r>
                      <a:endParaRPr lang="en-US" sz="1600" b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>
                          <a:effectLst/>
                          <a:latin typeface="+mn-lt"/>
                          <a:cs typeface="Arial" panose="020B0604020202020204" pitchFamily="34" charset="0"/>
                        </a:rPr>
                        <a:t>High</a:t>
                      </a:r>
                      <a:endParaRPr lang="en-US" sz="1600" b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QA-03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The new design preserves the original core responsibility of each component.</a:t>
                      </a: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No component is required to take responsibilities outside its originally defined role.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No additional specification updates caused by responsibility expansion.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Modifiability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>
                          <a:latin typeface="+mn-lt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QA-04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Existing software components (other than RemoteDiag) require minimal changes.</a:t>
                      </a: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Number of component</a:t>
                      </a:r>
                      <a:r>
                        <a:rPr lang="en-US" sz="1600" b="0" baseline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 which needs to modify to align with new design </a:t>
                      </a:r>
                      <a:endParaRPr lang="en-US" sz="1600" b="0">
                        <a:effectLst/>
                        <a:latin typeface="+mn-lt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smtClean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Maintainability</a:t>
                      </a:r>
                      <a:endParaRPr lang="en-US" sz="1600" b="0">
                        <a:effectLst/>
                        <a:latin typeface="+mn-lt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>
                          <a:latin typeface="+mn-lt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 strike="sng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QA-05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strike="sngStrike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Failure in OEM Center flow or MM ECU flow</a:t>
                      </a: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strike="sngStrike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The other</a:t>
                      </a:r>
                      <a:r>
                        <a:rPr lang="en-US" sz="1600" b="0" strike="sngStrike" baseline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strike="sngStrike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flow remains operational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strike="sngStrike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Availability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 strike="sngStrike">
                          <a:latin typeface="+mn-lt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84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538" y="2394738"/>
            <a:ext cx="9183866" cy="43102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866" y="862011"/>
            <a:ext cx="11834976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/>
              <a:t>Split RemoteDiag responsibilities into </a:t>
            </a:r>
            <a:r>
              <a:rPr lang="en-US" b="1"/>
              <a:t>2</a:t>
            </a:r>
            <a:r>
              <a:rPr lang="en-US"/>
              <a:t> apps: </a:t>
            </a: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b="1"/>
              <a:t>RemoteDiag (EP):</a:t>
            </a:r>
            <a:r>
              <a:rPr lang="en-US"/>
              <a:t> handles diag messages from OEM server.</a:t>
            </a:r>
            <a:endParaRPr lang="en-US" b="1"/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b="1"/>
              <a:t>RemoteOTA (IP):</a:t>
            </a:r>
            <a:r>
              <a:rPr lang="en-US"/>
              <a:t> handles OTA diag message flows from MM ECU.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/>
              <a:t>OnBoardClient is responsible for </a:t>
            </a:r>
            <a:r>
              <a:rPr lang="en-US" b="1"/>
              <a:t>reprogramming message filtering</a:t>
            </a:r>
            <a:r>
              <a:rPr lang="en-US"/>
              <a:t> and </a:t>
            </a:r>
            <a:r>
              <a:rPr lang="en-US" b="1"/>
              <a:t>diagnostic  priority control</a:t>
            </a:r>
            <a:r>
              <a:rPr lang="en-US"/>
              <a:t>.</a:t>
            </a:r>
            <a:endParaRPr lang="en-US" sz="16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Alternative – Alt-A: Split </a:t>
            </a:r>
            <a:r>
              <a:rPr lang="en-US" err="1"/>
              <a:t>RemoteDiag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98742" y="6315754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Alt-A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98" y="4359136"/>
            <a:ext cx="2372009" cy="18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409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16" y="4202246"/>
            <a:ext cx="2372009" cy="18433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175" y="1542094"/>
            <a:ext cx="8886825" cy="53203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Alternative – Alt-B: Move </a:t>
            </a:r>
            <a:r>
              <a:rPr lang="en-US" err="1"/>
              <a:t>RemoteDiag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0866" y="862011"/>
            <a:ext cx="1195871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/>
              <a:t>Move RemoteDiag into the IP container.</a:t>
            </a:r>
          </a:p>
          <a:p>
            <a:pPr marL="227013" indent="-227013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/>
              <a:t>To maintain communication with OEM server and other EP-side component, </a:t>
            </a:r>
            <a:r>
              <a:rPr lang="en-US" b="1"/>
              <a:t>establish UDS socket connections to each module</a:t>
            </a:r>
            <a:endParaRPr lang="en-US"/>
          </a:p>
          <a:p>
            <a:pPr marL="227013" indent="-227013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 marL="227013" indent="-227013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953062" y="6189006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Alt-B</a:t>
            </a:r>
          </a:p>
        </p:txBody>
      </p:sp>
    </p:spTree>
    <p:extLst>
      <p:ext uri="{BB962C8B-B14F-4D97-AF65-F5344CB8AC3E}">
        <p14:creationId xmlns:p14="http://schemas.microsoft.com/office/powerpoint/2010/main" val="68136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A3A9F39-394E-5437-993F-29D2F2093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2354870"/>
            <a:ext cx="8678897" cy="43503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4F77EA-2B30-AFDC-1349-3C58C2AB9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Alternative – Alt-C: Move </a:t>
            </a:r>
            <a:r>
              <a:rPr lang="en-US" err="1"/>
              <a:t>RemoteDiag</a:t>
            </a:r>
            <a:r>
              <a:rPr lang="en-US"/>
              <a:t> + Proxy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FB7A4A-CF56-C0BD-9AB9-923B2D043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7" y="990599"/>
            <a:ext cx="11825921" cy="1219201"/>
          </a:xfrm>
        </p:spPr>
        <p:txBody>
          <a:bodyPr>
            <a:normAutofit fontScale="92500" lnSpcReduction="20000"/>
          </a:bodyPr>
          <a:lstStyle/>
          <a:p>
            <a:r>
              <a:rPr lang="en-US" sz="1800"/>
              <a:t>Move RemoteDiag into the IP container.</a:t>
            </a:r>
          </a:p>
          <a:p>
            <a:r>
              <a:rPr lang="en-US" sz="1800" smtClean="0"/>
              <a:t>Add </a:t>
            </a:r>
            <a:r>
              <a:rPr lang="en-US" sz="1800"/>
              <a:t>a </a:t>
            </a:r>
            <a:r>
              <a:rPr lang="en-US" sz="1800" b="1"/>
              <a:t>new RemoteDiagProxy (RDP) </a:t>
            </a:r>
            <a:r>
              <a:rPr lang="en-US" sz="1800" b="1" smtClean="0"/>
              <a:t>component</a:t>
            </a:r>
            <a:r>
              <a:rPr lang="en-US" sz="1800" smtClean="0"/>
              <a:t> </a:t>
            </a:r>
            <a:r>
              <a:rPr lang="en-US" sz="1800"/>
              <a:t>in the EP that acts as a </a:t>
            </a:r>
            <a:r>
              <a:rPr lang="en-US" sz="1800" b="1"/>
              <a:t>transparent proxy</a:t>
            </a:r>
            <a:r>
              <a:rPr lang="en-US" sz="1800"/>
              <a:t>. </a:t>
            </a:r>
          </a:p>
          <a:p>
            <a:r>
              <a:rPr lang="en-US" sz="1800"/>
              <a:t>EP modules continue to interact with RDP using their existing interface</a:t>
            </a:r>
          </a:p>
          <a:p>
            <a:r>
              <a:rPr lang="en-US" sz="1800"/>
              <a:t>RDP forwards requests to RemoteDiag via UDS socket channel.</a:t>
            </a:r>
            <a:endParaRPr lang="en-US" sz="1800" b="1"/>
          </a:p>
          <a:p>
            <a:endParaRPr lang="en-US" sz="1800"/>
          </a:p>
        </p:txBody>
      </p:sp>
      <p:sp>
        <p:nvSpPr>
          <p:cNvPr id="6" name="TextBox 5"/>
          <p:cNvSpPr txBox="1"/>
          <p:nvPr/>
        </p:nvSpPr>
        <p:spPr>
          <a:xfrm>
            <a:off x="6781612" y="6335843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Alt-C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" y="4530022"/>
            <a:ext cx="2196413" cy="168847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739" y="2354869"/>
            <a:ext cx="9937672" cy="441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7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866" y="189169"/>
            <a:ext cx="10871201" cy="489842"/>
          </a:xfrm>
        </p:spPr>
        <p:txBody>
          <a:bodyPr>
            <a:normAutofit fontScale="90000"/>
          </a:bodyPr>
          <a:lstStyle/>
          <a:p>
            <a:r>
              <a:rPr lang="en-US"/>
              <a:t>Comparison &amp;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866" y="5932081"/>
            <a:ext cx="343958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600" b="1"/>
              <a:t>Final decision: </a:t>
            </a:r>
            <a:r>
              <a:rPr lang="en-US" sz="2600" b="1">
                <a:solidFill>
                  <a:srgbClr val="00B050"/>
                </a:solidFill>
              </a:rPr>
              <a:t>Alt-C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6C8AAA51-C203-CD8B-4B02-DE7401134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080571"/>
              </p:ext>
            </p:extLst>
          </p:nvPr>
        </p:nvGraphicFramePr>
        <p:xfrm>
          <a:off x="72428" y="725354"/>
          <a:ext cx="12050161" cy="491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79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334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781331">
                  <a:extLst>
                    <a:ext uri="{9D8B030D-6E8A-4147-A177-3AD203B41FA5}">
                      <a16:colId xmlns:a16="http://schemas.microsoft.com/office/drawing/2014/main" xmlns="" val="2530683369"/>
                    </a:ext>
                  </a:extLst>
                </a:gridCol>
                <a:gridCol w="348558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</a:pPr>
                      <a:endParaRPr lang="en-US" sz="1200" b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Alt-A</a:t>
                      </a:r>
                      <a:r>
                        <a:rPr lang="en-US" sz="1200" b="0" baseline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 – Split </a:t>
                      </a:r>
                      <a:r>
                        <a:rPr lang="en-US" sz="1200" b="0" baseline="0" err="1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RemoteDiag</a:t>
                      </a:r>
                      <a:endParaRPr lang="en-US" sz="1200" b="0">
                        <a:effectLst/>
                        <a:latin typeface="+mn-lt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Alt-B: Move </a:t>
                      </a:r>
                      <a:r>
                        <a:rPr lang="en-US" sz="1200" b="0" err="1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RemoteDiag</a:t>
                      </a:r>
                      <a:endParaRPr lang="en-US" sz="1200" b="0">
                        <a:effectLst/>
                        <a:latin typeface="+mn-lt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effectLst/>
                          <a:latin typeface="+mn-lt"/>
                          <a:cs typeface="Arial" panose="020B0604020202020204" pitchFamily="34" charset="0"/>
                        </a:rPr>
                        <a:t>Alt-C: Move </a:t>
                      </a:r>
                      <a:r>
                        <a:rPr lang="en-US" sz="1200" b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RemoteDiag</a:t>
                      </a:r>
                      <a:r>
                        <a:rPr lang="en-US" sz="1200" b="0">
                          <a:effectLst/>
                          <a:latin typeface="+mn-lt"/>
                          <a:cs typeface="Arial" panose="020B0604020202020204" pitchFamily="34" charset="0"/>
                        </a:rPr>
                        <a:t> + Proxy</a:t>
                      </a:r>
                      <a:endParaRPr lang="en-US" sz="1200" b="0">
                        <a:effectLst/>
                        <a:latin typeface="+mn-lt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QA-01</a:t>
                      </a:r>
                    </a:p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Security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300" b="1">
                          <a:solidFill>
                            <a:srgbClr val="00B050"/>
                          </a:solidFill>
                        </a:rPr>
                        <a:t>High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</a:rPr>
                        <a:t>Unauthorized diagnostic commands are</a:t>
                      </a:r>
                      <a:r>
                        <a:rPr lang="en-US" sz="1300" b="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b="1" baseline="0">
                          <a:solidFill>
                            <a:schemeClr val="tx1"/>
                          </a:solidFill>
                        </a:rPr>
                        <a:t>filtered</a:t>
                      </a:r>
                      <a:r>
                        <a:rPr lang="en-US" sz="1300" b="0" baseline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>
                          <a:solidFill>
                            <a:srgbClr val="00B050"/>
                          </a:solidFill>
                        </a:rPr>
                        <a:t>High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</a:rPr>
                        <a:t>Unauthorized diagnostic commands are </a:t>
                      </a: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filtered</a:t>
                      </a:r>
                      <a:r>
                        <a:rPr lang="en-US" sz="1300" b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>
                          <a:solidFill>
                            <a:srgbClr val="00B050"/>
                          </a:solidFill>
                        </a:rPr>
                        <a:t>High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</a:rPr>
                        <a:t>Unauthorized diagnostic commands are </a:t>
                      </a: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filtered</a:t>
                      </a:r>
                      <a:r>
                        <a:rPr lang="en-US" sz="1300" b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QA-02</a:t>
                      </a:r>
                    </a:p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Security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300" b="1">
                          <a:solidFill>
                            <a:srgbClr val="00B050"/>
                          </a:solidFill>
                        </a:rPr>
                        <a:t>High</a:t>
                      </a:r>
                      <a:endParaRPr lang="en-US" sz="1300" b="0" kern="1200" baseline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indent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MM ECU diagnostic traffic remains </a:t>
                      </a:r>
                      <a:r>
                        <a:rPr lang="en-US" sz="1300" b="1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within the EP container</a:t>
                      </a:r>
                      <a:r>
                        <a:rPr lang="en-US" sz="1300" b="0" kern="1200" baseline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. (CyberSecurity team confirmed)</a:t>
                      </a:r>
                      <a:endParaRPr lang="en-US" sz="1300" b="0" kern="1200" baseline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</a:pPr>
                      <a:r>
                        <a:rPr lang="en-US" sz="1300" b="1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  <a:p>
                      <a:pPr marL="0" marR="0" indent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MM ECU diagnostic traffic remains </a:t>
                      </a:r>
                      <a:r>
                        <a:rPr lang="en-US" sz="1300" b="1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within the EP container</a:t>
                      </a:r>
                      <a:r>
                        <a:rPr lang="en-US" sz="1300" b="0" kern="1200" baseline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. (CyberSecurity team confirmed)</a:t>
                      </a:r>
                      <a:endParaRPr lang="en-US" sz="1300" b="0" kern="1200" baseline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</a:pPr>
                      <a:r>
                        <a:rPr lang="en-US" sz="1300" b="1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  <a:p>
                      <a:pPr marL="0" marR="0" indent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MM ECU diagnostic traffic remains </a:t>
                      </a:r>
                      <a:r>
                        <a:rPr lang="en-US" sz="1300" b="1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within the EP container</a:t>
                      </a:r>
                      <a:r>
                        <a:rPr lang="en-US" sz="1300" b="1" kern="1200" baseline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US" sz="1300" b="0" kern="1200" baseline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(CyberSecurity team confirmed)</a:t>
                      </a:r>
                      <a:endParaRPr lang="en-US" sz="1300" b="1" kern="1200" baseline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QA-03</a:t>
                      </a:r>
                    </a:p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Modifiability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300" b="1">
                          <a:solidFill>
                            <a:srgbClr val="FF0000"/>
                          </a:solidFill>
                        </a:rPr>
                        <a:t>Low</a:t>
                      </a:r>
                      <a:endParaRPr lang="en-US" sz="1300" b="1" kern="1200" baseline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300" b="0" kern="1200" baseline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RemoteDiag </a:t>
                      </a: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and </a:t>
                      </a:r>
                      <a:r>
                        <a:rPr lang="en-US" sz="1300" b="0" kern="1200" baseline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OnBoardClient’s responsibility is changed </a:t>
                      </a: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300" b="1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diagnostic priority control</a:t>
                      </a: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300" b="0" kern="1200" baseline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is moved </a:t>
                      </a: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to </a:t>
                      </a:r>
                      <a:r>
                        <a:rPr lang="en-US" sz="1300" b="0" kern="1200" baseline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OnBoardClient</a:t>
                      </a: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), requiring </a:t>
                      </a:r>
                      <a:r>
                        <a:rPr lang="en-US" sz="1300" b="0" kern="1200" baseline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requirement updates.</a:t>
                      </a:r>
                      <a:endParaRPr lang="en-US" sz="1300" b="0" kern="1200" baseline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Core responsibilities of existing components remain unchanged after migration.</a:t>
                      </a: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Core responsibilities of existing components remain unchanged after migration.</a:t>
                      </a:r>
                    </a:p>
                    <a:p>
                      <a:pPr algn="l" latinLnBrk="0">
                        <a:lnSpc>
                          <a:spcPct val="110000"/>
                        </a:lnSpc>
                      </a:pPr>
                      <a:endParaRPr lang="en-US" sz="1300" b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QA-04</a:t>
                      </a:r>
                    </a:p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Maintainability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300" b="1">
                          <a:solidFill>
                            <a:schemeClr val="accent2"/>
                          </a:solidFill>
                        </a:rPr>
                        <a:t>Medium</a:t>
                      </a:r>
                    </a:p>
                    <a:p>
                      <a:pPr marL="0" marR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300" b="1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01 additional component is modified </a:t>
                      </a: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(OnBoardClient - implements UDS socket server and priority control) 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>
                          <a:solidFill>
                            <a:srgbClr val="FF0000"/>
                          </a:solidFill>
                        </a:rPr>
                        <a:t>Low</a:t>
                      </a:r>
                      <a:endParaRPr lang="en-US" sz="1300" b="0" kern="1200" baseline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10 EP modules</a:t>
                      </a: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(PowerMgr, HttpMgr, …) have to implement cross-container UDS socket communication and fail-safe handling.</a:t>
                      </a: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</a:pPr>
                      <a:r>
                        <a:rPr lang="en-US" sz="1300" b="1">
                          <a:solidFill>
                            <a:srgbClr val="00B050"/>
                          </a:solidFill>
                        </a:rPr>
                        <a:t>High</a:t>
                      </a:r>
                      <a:endParaRPr lang="en-US" sz="1300" b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algn="l" latinLnBrk="0">
                        <a:lnSpc>
                          <a:spcPct val="110000"/>
                        </a:lnSpc>
                      </a:pPr>
                      <a:r>
                        <a:rPr lang="en-US" sz="1300" b="1" baseline="0">
                          <a:latin typeface="+mn-lt"/>
                          <a:cs typeface="Arial" panose="020B0604020202020204" pitchFamily="34" charset="0"/>
                        </a:rPr>
                        <a:t>No changes </a:t>
                      </a:r>
                      <a:r>
                        <a:rPr lang="en-US" sz="1300" b="0" baseline="0">
                          <a:latin typeface="+mn-lt"/>
                          <a:cs typeface="Arial" panose="020B0604020202020204" pitchFamily="34" charset="0"/>
                        </a:rPr>
                        <a:t>required in existing modules. RemoteDiagProxy preserves the current binder interface</a:t>
                      </a: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strike="sng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QA-05</a:t>
                      </a:r>
                    </a:p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strike="sng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Availability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300" b="1" strike="sngStrike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strike="sngStrike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OEM center and MM ECU communication flows run in separate processes. Failure of one flow does not impact the other</a:t>
                      </a:r>
                      <a:r>
                        <a:rPr lang="en-US" sz="1300" b="0" strike="sngStrike" kern="1200" baseline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  <a:endParaRPr lang="en-US" sz="1300" b="0" strike="sngStrike" kern="1200" baseline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strike="sngStrike">
                          <a:solidFill>
                            <a:srgbClr val="FF0000"/>
                          </a:solidFill>
                        </a:rPr>
                        <a:t>Low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strike="sng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OEM center and MM ECU </a:t>
                      </a:r>
                      <a:r>
                        <a:rPr lang="en-US" sz="1300" b="0" strike="sngStrike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communication </a:t>
                      </a:r>
                      <a:r>
                        <a:rPr lang="en-US" sz="1300" b="0" strike="sng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flows share the same process. Failure in one flow may impact the other.</a:t>
                      </a: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</a:pPr>
                      <a:r>
                        <a:rPr lang="en-US" sz="1300" b="1" strike="sngStrike">
                          <a:solidFill>
                            <a:srgbClr val="FF0000"/>
                          </a:solidFill>
                        </a:rPr>
                        <a:t>Low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strike="sng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OEM center and MM ECU </a:t>
                      </a:r>
                      <a:r>
                        <a:rPr lang="en-US" sz="1300" b="0" strike="sngStrike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communication </a:t>
                      </a:r>
                      <a:r>
                        <a:rPr lang="en-US" sz="1300" b="0" strike="sng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flows share the same process. Failure in one flow may impact the other.</a:t>
                      </a:r>
                      <a:endParaRPr lang="en-US" sz="1300" b="0" strike="sngStrike"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3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Decision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Rejected</a:t>
                      </a: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Rejected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300" b="0">
                          <a:latin typeface="+mn-lt"/>
                          <a:cs typeface="Arial" panose="020B0604020202020204" pitchFamily="34" charset="0"/>
                        </a:rPr>
                        <a:t>Selected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138020" y="5808971"/>
            <a:ext cx="198187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High</a:t>
            </a:r>
            <a:r>
              <a:rPr lang="en-US" sz="1400"/>
              <a:t>: Fully satisfy</a:t>
            </a:r>
          </a:p>
          <a:p>
            <a:r>
              <a:rPr lang="en-US" sz="1400" b="1">
                <a:solidFill>
                  <a:schemeClr val="accent2"/>
                </a:solidFill>
              </a:rPr>
              <a:t>Medium</a:t>
            </a:r>
            <a:r>
              <a:rPr lang="en-US" sz="1400"/>
              <a:t>: Partially satisfy</a:t>
            </a:r>
          </a:p>
          <a:p>
            <a:r>
              <a:rPr lang="en-US" sz="1400" b="1">
                <a:solidFill>
                  <a:srgbClr val="FF0000"/>
                </a:solidFill>
              </a:rPr>
              <a:t>Low</a:t>
            </a:r>
            <a:r>
              <a:rPr lang="en-US" sz="1400"/>
              <a:t>: Not satisfy</a:t>
            </a:r>
          </a:p>
        </p:txBody>
      </p:sp>
      <p:pic>
        <p:nvPicPr>
          <p:cNvPr id="9" name="Picture 2" descr="체크 표시 클립 아트. 무료 다운로드. | Creazilla">
            <a:extLst>
              <a:ext uri="{FF2B5EF4-FFF2-40B4-BE49-F238E27FC236}">
                <a16:creationId xmlns:a16="http://schemas.microsoft.com/office/drawing/2014/main" xmlns="" id="{07DB846E-8DD2-9BB2-88FF-8A7E0BD6C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4245" y="5392287"/>
            <a:ext cx="216024" cy="21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68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A99A5D-DD39-1919-FD58-65B06FAFD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Detail design: Forward </a:t>
            </a:r>
            <a:r>
              <a:rPr lang="en-US" dirty="0"/>
              <a:t>API call from proxy to </a:t>
            </a:r>
            <a:r>
              <a:rPr lang="en-US" dirty="0" err="1"/>
              <a:t>remotediag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20EC3E71-48BE-FEC7-88E8-47DB96F90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2" y="1043549"/>
            <a:ext cx="12163910" cy="536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6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43E24B-1160-F6BA-5A0C-DB3B3DD9C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Detail design: Filter </a:t>
            </a:r>
            <a:r>
              <a:rPr lang="en-US" dirty="0"/>
              <a:t>scenario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3D875D97-63D9-E3DF-760D-4A57DB7A2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96" y="862011"/>
            <a:ext cx="10936808" cy="561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167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and Verification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40" y="4219575"/>
            <a:ext cx="10269609" cy="19279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85" y="1399738"/>
            <a:ext cx="10544082" cy="23389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4900" y="1030406"/>
            <a:ext cx="5251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mtClean="0"/>
              <a:t>SidFilter blocks reprogramming diagnostic requests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9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and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866" y="1190625"/>
            <a:ext cx="5258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RemoteDiagProxy and RemoteDiag communication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31" y="1559957"/>
            <a:ext cx="11193437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44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866" y="2064190"/>
            <a:ext cx="11887201" cy="40038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b="1"/>
              <a:t>Q&amp;A</a:t>
            </a:r>
          </a:p>
          <a:p>
            <a:pPr marL="0" indent="0" algn="ctr">
              <a:buNone/>
            </a:pPr>
            <a:r>
              <a:rPr lang="en-US" sz="3600" b="1"/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58111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60866" y="2064190"/>
            <a:ext cx="11887201" cy="40038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b="1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52254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86E6E-BE59-7A7B-6BE9-16A0A094C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Diagnostic filtering requirements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AD4A4EC6-9BB8-2849-8D75-05C44DE9A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247" y="1073926"/>
            <a:ext cx="5404920" cy="42382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C985C62C-76E5-84A1-DEF1-FC486F2BF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314" y="1073926"/>
            <a:ext cx="5385950" cy="318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069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7980</TotalTime>
  <Words>976</Words>
  <Application>Microsoft Office PowerPoint</Application>
  <PresentationFormat>Widescreen</PresentationFormat>
  <Paragraphs>172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Malgun Gothic</vt:lpstr>
      <vt:lpstr>Arial</vt:lpstr>
      <vt:lpstr>Calibri</vt:lpstr>
      <vt:lpstr>Calibri Light</vt:lpstr>
      <vt:lpstr>Times New Roman</vt:lpstr>
      <vt:lpstr>Wingdings</vt:lpstr>
      <vt:lpstr>Office Theme</vt:lpstr>
      <vt:lpstr>Design of Secure Remote Diag on Container Separation Architecture</vt:lpstr>
      <vt:lpstr>Content</vt:lpstr>
      <vt:lpstr>Context &amp; Motivation – Toyota 24DCM project</vt:lpstr>
      <vt:lpstr>Context &amp; Motivation – Toyota 24DCM project</vt:lpstr>
      <vt:lpstr>Problem</vt:lpstr>
      <vt:lpstr>Problem</vt:lpstr>
      <vt:lpstr>Quality Attribute</vt:lpstr>
      <vt:lpstr>Design Alternative – Alt-A: Split RemoteDiag</vt:lpstr>
      <vt:lpstr>Design Alternative – Alt-B: Move RemoteDiag</vt:lpstr>
      <vt:lpstr>Design Alternative – Alt-C: Move RemoteDiag + Proxy</vt:lpstr>
      <vt:lpstr>Comparison &amp; Decision</vt:lpstr>
      <vt:lpstr>Detail design: Forward API call from proxy to remotediag </vt:lpstr>
      <vt:lpstr>Detail design: Filter scenario</vt:lpstr>
      <vt:lpstr>Implementation and Verification</vt:lpstr>
      <vt:lpstr>Implementation and Verification</vt:lpstr>
      <vt:lpstr>PowerPoint Presentation</vt:lpstr>
      <vt:lpstr>PowerPoint Presentation</vt:lpstr>
      <vt:lpstr>Diagnostic filtering requirements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Secure Remote Diag on Container Separation Architecture</dc:title>
  <dc:creator>PHI HOANG VU/LGEDV SOFTWARE ENGINEERING 1 TEAM</dc:creator>
  <cp:lastModifiedBy>PHI HOANG VU/LGEDV SOFTWARE ENGINEERING 1 TEAM</cp:lastModifiedBy>
  <cp:revision>633</cp:revision>
  <dcterms:created xsi:type="dcterms:W3CDTF">2026-08-17T04:18:20Z</dcterms:created>
  <dcterms:modified xsi:type="dcterms:W3CDTF">2026-09-30T07:18:56Z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LGE Internal Use Only</vt:lpwstr>
  </property>
</Properties>
</file>