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80" r:id="rId4"/>
    <p:sldId id="294" r:id="rId5"/>
    <p:sldId id="289" r:id="rId6"/>
    <p:sldId id="262" r:id="rId7"/>
    <p:sldId id="283" r:id="rId8"/>
    <p:sldId id="269" r:id="rId9"/>
    <p:sldId id="271" r:id="rId10"/>
    <p:sldId id="287" r:id="rId11"/>
    <p:sldId id="279" r:id="rId12"/>
    <p:sldId id="292" r:id="rId13"/>
    <p:sldId id="293" r:id="rId14"/>
    <p:sldId id="288" r:id="rId15"/>
    <p:sldId id="291" r:id="rId16"/>
    <p:sldId id="274" r:id="rId17"/>
    <p:sldId id="277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32" autoAdjust="0"/>
    <p:restoredTop sz="93961" autoAdjust="0"/>
  </p:normalViewPr>
  <p:slideViewPr>
    <p:cSldViewPr snapToGrid="0">
      <p:cViewPr varScale="1">
        <p:scale>
          <a:sx n="105" d="100"/>
          <a:sy n="105" d="100"/>
        </p:scale>
        <p:origin x="564" y="7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644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099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="" xmlns:a16="http://schemas.microsoft.com/office/drawing/2014/main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="" xmlns:p184="http://schemas.microsoft.com/office/powerpoint/2018/4/main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&amp; Verification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/>
        </p:nvCxnSpPr>
        <p:spPr>
          <a:xfrm>
            <a:off x="5635782" y="3384550"/>
            <a:ext cx="0" cy="34734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</a:t>
            </a:r>
            <a:r>
              <a:rPr lang="en-US" smtClean="0"/>
              <a:t>Motivation – Toyota 24DCM project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="" xmlns:a16="http://schemas.microsoft.com/office/drawing/2014/main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6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smtClean="0"/>
              <a:t>Toyota </a:t>
            </a:r>
            <a:r>
              <a:rPr lang="en-US" sz="1800" b="1" smtClean="0"/>
              <a:t>DCM</a:t>
            </a:r>
            <a:r>
              <a:rPr lang="en-US" sz="1800" smtClean="0"/>
              <a:t>: </a:t>
            </a:r>
            <a:r>
              <a:rPr lang="en-US" sz="1800" smtClean="0"/>
              <a:t>a telematics platform providing connected vehicle services, including </a:t>
            </a:r>
            <a:r>
              <a:rPr lang="en-US" sz="1800" b="1" smtClean="0"/>
              <a:t>remote diagnostics</a:t>
            </a:r>
            <a:r>
              <a:rPr lang="en-US" sz="1800" b="1"/>
              <a:t> </a:t>
            </a:r>
            <a:r>
              <a:rPr lang="en-US" sz="1800" smtClean="0"/>
              <a:t>from OEM server.</a:t>
            </a:r>
            <a:endParaRPr lang="en-US" sz="1800" smtClean="0"/>
          </a:p>
          <a:p>
            <a:r>
              <a:rPr lang="en-US" sz="1800" smtClean="0"/>
              <a:t>Supports diagnostic </a:t>
            </a:r>
            <a:r>
              <a:rPr lang="en-US" sz="1800"/>
              <a:t>communication and OTA updates through the Internal CAN </a:t>
            </a:r>
            <a:r>
              <a:rPr lang="en-US" sz="1800"/>
              <a:t>bus</a:t>
            </a:r>
            <a:r>
              <a:rPr lang="en-US" sz="1800" smtClean="0"/>
              <a:t>.</a:t>
            </a:r>
          </a:p>
          <a:p>
            <a:r>
              <a:rPr lang="en-US" sz="1800" b="1" smtClean="0"/>
              <a:t>Current architecture</a:t>
            </a:r>
            <a:r>
              <a:rPr lang="en-US" sz="1800" smtClean="0"/>
              <a:t>: monolithic </a:t>
            </a:r>
            <a:r>
              <a:rPr lang="en-US" sz="1800"/>
              <a:t>deployment model</a:t>
            </a:r>
            <a:r>
              <a:rPr lang="en-US" sz="1800"/>
              <a:t>, </a:t>
            </a:r>
            <a:r>
              <a:rPr lang="en-US" sz="1800" smtClean="0"/>
              <a:t>with all </a:t>
            </a:r>
            <a:r>
              <a:rPr lang="en-US" sz="1800"/>
              <a:t>components running in </a:t>
            </a:r>
            <a:r>
              <a:rPr lang="en-US" sz="1800"/>
              <a:t>a </a:t>
            </a:r>
            <a:r>
              <a:rPr lang="en-US" sz="1800" smtClean="0"/>
              <a:t>single </a:t>
            </a:r>
            <a:r>
              <a:rPr lang="en-US" sz="1800"/>
              <a:t>partition</a:t>
            </a:r>
            <a:r>
              <a:rPr lang="en-US" sz="1800" smtClean="0"/>
              <a:t>.</a:t>
            </a:r>
          </a:p>
          <a:p>
            <a:r>
              <a:rPr lang="en-US" sz="1800" b="1" smtClean="0"/>
              <a:t>System </a:t>
            </a:r>
            <a:r>
              <a:rPr lang="en-US" sz="1800" b="1"/>
              <a:t>architecture </a:t>
            </a:r>
            <a:r>
              <a:rPr lang="en-US" sz="1800" b="1" smtClean="0"/>
              <a:t>migration</a:t>
            </a:r>
            <a:r>
              <a:rPr lang="en-US" sz="1800" smtClean="0"/>
              <a:t>: </a:t>
            </a:r>
            <a:endParaRPr lang="en-US" sz="1800"/>
          </a:p>
          <a:p>
            <a:pPr lvl="1"/>
            <a:r>
              <a:rPr lang="en-US" sz="1800" smtClean="0"/>
              <a:t>Due to security, OEM wants to separate DCM into 2 partition using LXC </a:t>
            </a:r>
            <a:r>
              <a:rPr lang="en-US" sz="1800"/>
              <a:t>containers: </a:t>
            </a:r>
          </a:p>
          <a:p>
            <a:pPr lvl="2"/>
            <a:r>
              <a:rPr lang="en-US" sz="1800" b="1"/>
              <a:t>EP </a:t>
            </a:r>
            <a:r>
              <a:rPr lang="en-US" sz="1800" b="1" smtClean="0"/>
              <a:t>container (Entry Point)</a:t>
            </a:r>
            <a:r>
              <a:rPr lang="en-US" sz="1800" smtClean="0"/>
              <a:t>: </a:t>
            </a:r>
            <a:r>
              <a:rPr lang="en-US" sz="1800"/>
              <a:t>externally exposed network components</a:t>
            </a:r>
          </a:p>
          <a:p>
            <a:pPr lvl="2"/>
            <a:r>
              <a:rPr lang="en-US" sz="1800" b="1" smtClean="0"/>
              <a:t>Internal container: </a:t>
            </a:r>
            <a:r>
              <a:rPr lang="en-US" sz="1800" smtClean="0"/>
              <a:t>components </a:t>
            </a:r>
            <a:r>
              <a:rPr lang="en-US" sz="1800"/>
              <a:t>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7951"/>
            <a:ext cx="5359652" cy="308312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913" y="3357951"/>
            <a:ext cx="6165787" cy="3161081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4395655" y="6430521"/>
            <a:ext cx="2480253" cy="41239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233987" y="6528086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510" y="6490268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New system architecture (containerized)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7287" y="1826835"/>
            <a:ext cx="1644713" cy="1531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/>
          <p:nvPr/>
        </p:nvCxnSpPr>
        <p:spPr>
          <a:xfrm>
            <a:off x="5635782" y="3384550"/>
            <a:ext cx="0" cy="34734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</a:t>
            </a:r>
            <a:r>
              <a:rPr lang="en-US" smtClean="0"/>
              <a:t>Motivation – Toyota 24DCM project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="" xmlns:a16="http://schemas.microsoft.com/office/drawing/2014/main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6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smtClean="0"/>
              <a:t>Toyota </a:t>
            </a:r>
            <a:r>
              <a:rPr lang="en-US" sz="1800" b="1" smtClean="0"/>
              <a:t>DCM</a:t>
            </a:r>
            <a:r>
              <a:rPr lang="en-US" sz="1800" smtClean="0"/>
              <a:t>: </a:t>
            </a:r>
            <a:r>
              <a:rPr lang="en-US" sz="1800" smtClean="0"/>
              <a:t>a telematics platform providing connected vehicle services, including </a:t>
            </a:r>
            <a:r>
              <a:rPr lang="en-US" sz="1800" b="1" smtClean="0"/>
              <a:t>remote diagnostics</a:t>
            </a:r>
            <a:r>
              <a:rPr lang="en-US" sz="1800" b="1"/>
              <a:t> </a:t>
            </a:r>
            <a:r>
              <a:rPr lang="en-US" sz="1800" smtClean="0"/>
              <a:t>from OEM server.</a:t>
            </a:r>
            <a:endParaRPr lang="en-US" sz="1800" smtClean="0"/>
          </a:p>
          <a:p>
            <a:r>
              <a:rPr lang="en-US" sz="1800" smtClean="0"/>
              <a:t>Supports diagnostic </a:t>
            </a:r>
            <a:r>
              <a:rPr lang="en-US" sz="1800"/>
              <a:t>communication and OTA updates through the Internal CAN </a:t>
            </a:r>
            <a:r>
              <a:rPr lang="en-US" sz="1800"/>
              <a:t>bus</a:t>
            </a:r>
            <a:r>
              <a:rPr lang="en-US" sz="1800" smtClean="0"/>
              <a:t>.</a:t>
            </a:r>
          </a:p>
          <a:p>
            <a:r>
              <a:rPr lang="en-US" sz="1800" b="1" smtClean="0"/>
              <a:t>Current architecture</a:t>
            </a:r>
            <a:r>
              <a:rPr lang="en-US" sz="1800" smtClean="0"/>
              <a:t>: monolithic </a:t>
            </a:r>
            <a:r>
              <a:rPr lang="en-US" sz="1800"/>
              <a:t>deployment model</a:t>
            </a:r>
            <a:r>
              <a:rPr lang="en-US" sz="1800"/>
              <a:t>, </a:t>
            </a:r>
            <a:r>
              <a:rPr lang="en-US" sz="1800" smtClean="0"/>
              <a:t>with all </a:t>
            </a:r>
            <a:r>
              <a:rPr lang="en-US" sz="1800"/>
              <a:t>components running in </a:t>
            </a:r>
            <a:r>
              <a:rPr lang="en-US" sz="1800"/>
              <a:t>a </a:t>
            </a:r>
            <a:r>
              <a:rPr lang="en-US" sz="1800" smtClean="0"/>
              <a:t>single </a:t>
            </a:r>
            <a:r>
              <a:rPr lang="en-US" sz="1800"/>
              <a:t>partition</a:t>
            </a:r>
            <a:r>
              <a:rPr lang="en-US" sz="1800" smtClean="0"/>
              <a:t>.</a:t>
            </a:r>
          </a:p>
          <a:p>
            <a:r>
              <a:rPr lang="en-US" sz="1800" b="1" smtClean="0"/>
              <a:t>System </a:t>
            </a:r>
            <a:r>
              <a:rPr lang="en-US" sz="1800" b="1"/>
              <a:t>architecture </a:t>
            </a:r>
            <a:r>
              <a:rPr lang="en-US" sz="1800" b="1" smtClean="0"/>
              <a:t>migration</a:t>
            </a:r>
            <a:r>
              <a:rPr lang="en-US" sz="1800" smtClean="0"/>
              <a:t>: </a:t>
            </a:r>
            <a:endParaRPr lang="en-US" sz="1800"/>
          </a:p>
          <a:p>
            <a:pPr lvl="1"/>
            <a:r>
              <a:rPr lang="en-US" sz="1800" smtClean="0"/>
              <a:t>Due to security, OEM wants to separate DCM into 2 partition using LXC </a:t>
            </a:r>
            <a:r>
              <a:rPr lang="en-US" sz="1800"/>
              <a:t>containers: </a:t>
            </a:r>
          </a:p>
          <a:p>
            <a:pPr lvl="2"/>
            <a:r>
              <a:rPr lang="en-US" sz="1800" b="1"/>
              <a:t>EP </a:t>
            </a:r>
            <a:r>
              <a:rPr lang="en-US" sz="1800" b="1" smtClean="0"/>
              <a:t>container (Entry Point)</a:t>
            </a:r>
            <a:r>
              <a:rPr lang="en-US" sz="1800" smtClean="0"/>
              <a:t>: </a:t>
            </a:r>
            <a:r>
              <a:rPr lang="en-US" sz="1800"/>
              <a:t>externally exposed network components</a:t>
            </a:r>
          </a:p>
          <a:p>
            <a:pPr lvl="2"/>
            <a:r>
              <a:rPr lang="en-US" sz="1800" b="1" smtClean="0"/>
              <a:t>Internal container: </a:t>
            </a:r>
            <a:r>
              <a:rPr lang="en-US" sz="1800" smtClean="0"/>
              <a:t>components </a:t>
            </a:r>
            <a:r>
              <a:rPr lang="en-US" sz="1800"/>
              <a:t>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7951"/>
            <a:ext cx="5359652" cy="3083122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913" y="3357951"/>
            <a:ext cx="6165787" cy="3161081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4395655" y="6430521"/>
            <a:ext cx="2480253" cy="41239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233987" y="6528086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510" y="6490268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New system architecture (containerized)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7287" y="1826835"/>
            <a:ext cx="1644713" cy="1531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224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038" y="2594783"/>
            <a:ext cx="7684020" cy="41584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0" y="862011"/>
            <a:ext cx="1212205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/>
              <a:t>RemoteDiag</a:t>
            </a:r>
            <a:r>
              <a:rPr lang="en-US" sz="1600"/>
              <a:t>: a module processes diagnostic for each ECU and uploads diagnostic data to OEM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RemoteDiag has 2 communication paths: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/>
              <a:t>with </a:t>
            </a:r>
            <a:r>
              <a:rPr lang="en-US" sz="1600" b="1"/>
              <a:t>OEM Server</a:t>
            </a:r>
            <a:r>
              <a:rPr lang="en-US" sz="1600"/>
              <a:t>: performs direct diagnostic commands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/>
              <a:t>with </a:t>
            </a:r>
            <a:r>
              <a:rPr lang="en-US" sz="1600" b="1"/>
              <a:t>MM ecu</a:t>
            </a:r>
            <a:r>
              <a:rPr lang="en-US" sz="1600"/>
              <a:t>: OTA diagnostic update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/>
              <a:t>Risk: RemoteDiag &lt;-&gt; MM path </a:t>
            </a:r>
            <a:r>
              <a:rPr lang="en-US" sz="1600"/>
              <a:t>routes in EP which is insecure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OEM requests that </a:t>
            </a:r>
            <a:r>
              <a:rPr lang="en-US" sz="1600" b="1"/>
              <a:t>unauthorized reprogramming requests should be filtered.</a:t>
            </a:r>
          </a:p>
          <a:p>
            <a:endParaRPr lang="en-US" sz="160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6896" y="3782508"/>
            <a:ext cx="4390970" cy="923330"/>
            <a:chOff x="24485" y="4675267"/>
            <a:chExt cx="4623437" cy="923330"/>
          </a:xfrm>
        </p:grpSpPr>
        <p:sp>
          <p:nvSpPr>
            <p:cNvPr id="15" name="TextBox 14">
              <a:extLst>
                <a:ext uri="{FF2B5EF4-FFF2-40B4-BE49-F238E27FC236}">
                  <a16:creationId xmlns="" xmlns:a16="http://schemas.microsoft.com/office/drawing/2014/main" id="{2477AED6-8D6F-D505-6D7B-78460A03A2E8}"/>
                </a:ext>
              </a:extLst>
            </p:cNvPr>
            <p:cNvSpPr txBox="1"/>
            <p:nvPr/>
          </p:nvSpPr>
          <p:spPr>
            <a:xfrm>
              <a:off x="57604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RemoteDiag’s</a:t>
              </a:r>
              <a:r>
                <a:rPr lang="en-US" dirty="0"/>
                <a:t> </a:t>
              </a:r>
              <a:r>
                <a:rPr lang="en-US" b="1" dirty="0"/>
                <a:t>internal</a:t>
              </a:r>
              <a:r>
                <a:rPr lang="en-US" dirty="0"/>
                <a:t> </a:t>
              </a:r>
              <a:r>
                <a:rPr lang="en-US" b="1" dirty="0"/>
                <a:t>architecture and communication </a:t>
              </a:r>
              <a:r>
                <a:rPr lang="en-US" dirty="0"/>
                <a:t>should be </a:t>
              </a:r>
              <a:r>
                <a:rPr lang="en-US" b="1" dirty="0"/>
                <a:t>redesigned</a:t>
              </a:r>
              <a:r>
                <a:rPr lang="en-US" dirty="0"/>
                <a:t> to align with new architecture</a:t>
              </a:r>
              <a:endParaRPr lang="en-US" b="1" dirty="0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2448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171" y="595898"/>
            <a:ext cx="2271888" cy="190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="" xmlns:a16="http://schemas.microsoft.com/office/drawing/2014/main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279638"/>
              </p:ext>
            </p:extLst>
          </p:nvPr>
        </p:nvGraphicFramePr>
        <p:xfrm>
          <a:off x="204773" y="1505336"/>
          <a:ext cx="11782454" cy="1417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block unauthorized 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MM ECU entirely within the IP.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="" xmlns:a16="http://schemas.microsoft.com/office/drawing/2014/main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=""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9731"/>
              </p:ext>
            </p:extLst>
          </p:nvPr>
        </p:nvGraphicFramePr>
        <p:xfrm>
          <a:off x="182820" y="960039"/>
          <a:ext cx="11903556" cy="4869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594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275879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419193">
                  <a:extLst>
                    <a:ext uri="{9D8B030D-6E8A-4147-A177-3AD203B41FA5}">
                      <a16:colId xmlns="" xmlns:a16="http://schemas.microsoft.com/office/drawing/2014/main" val="2530683369"/>
                    </a:ext>
                  </a:extLst>
                </a:gridCol>
                <a:gridCol w="1475715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986827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</a:t>
                      </a:r>
                      <a:r>
                        <a:rPr lang="en-US" sz="16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</a:t>
                      </a: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to CAN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CAN.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request via TCP to </a:t>
                      </a:r>
                      <a:r>
                        <a:rPr lang="en-US" sz="1600" b="0" kern="1200" baseline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Zero diagnostic communication is found in EP. 100% number of</a:t>
                      </a:r>
                      <a:r>
                        <a:rPr lang="en-US" sz="1600" b="0" baseline="0">
                          <a:latin typeface="+mn-lt"/>
                          <a:cs typeface="Arial" panose="020B0604020202020204" pitchFamily="34" charset="0"/>
                        </a:rPr>
                        <a:t> requests are handled within IP.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new design preserves the original core responsibility of each component.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Existing software components (other than RemoteDiag) require minimal changes.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</a:t>
                      </a:r>
                      <a:r>
                        <a:rPr lang="en-US" sz="16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Maintainability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strike="sng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strike="sngStrike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Failure in OEM Center flow or MM ECU flow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trike="sngStrike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The other</a:t>
                      </a:r>
                      <a:r>
                        <a:rPr lang="en-US" sz="1600" b="0" strike="sngStrike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b="0" strike="sngStrike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flow remains operational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strike="sngStrike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strike="sngStrike">
                          <a:latin typeface="+mn-lt"/>
                          <a:cs typeface="Arial" panose="020B0604020202020204" pitchFamily="34" charset="0"/>
                        </a:rPr>
                        <a:t>Low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538" y="2394738"/>
            <a:ext cx="9183866" cy="43102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/>
              <a:t>Split RemoteDiag responsibilities into </a:t>
            </a:r>
            <a:r>
              <a:rPr lang="en-US" b="1"/>
              <a:t>2</a:t>
            </a:r>
            <a:r>
              <a:rPr lang="en-US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/>
              <a:t>RemoteDiag (EP):</a:t>
            </a:r>
            <a:r>
              <a:rPr lang="en-US"/>
              <a:t> handles diag messages from OEM server.</a:t>
            </a:r>
            <a:endParaRPr lang="en-US" b="1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/>
              <a:t>RemoteOTA (IP):</a:t>
            </a:r>
            <a:r>
              <a:rPr lang="en-US"/>
              <a:t> handles OTA diag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/>
              <a:t>OnBoardClient is responsible for </a:t>
            </a:r>
            <a:r>
              <a:rPr lang="en-US" b="1"/>
              <a:t>reprogramming message filtering</a:t>
            </a:r>
            <a:r>
              <a:rPr lang="en-US"/>
              <a:t> and </a:t>
            </a:r>
            <a:r>
              <a:rPr lang="en-US" b="1"/>
              <a:t>diagnostic  priority control</a:t>
            </a:r>
            <a:r>
              <a:rPr lang="en-US"/>
              <a:t>.</a:t>
            </a:r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Alt-A: Split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Alt-A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98" y="4359136"/>
            <a:ext cx="2372009" cy="18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016" y="4202246"/>
            <a:ext cx="2372009" cy="18433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5175" y="1542094"/>
            <a:ext cx="8886825" cy="53203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Alt-B: Move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Move RemoteDiag into the IP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To maintain communication with OEM server and other EP-side component, </a:t>
            </a:r>
            <a:r>
              <a:rPr lang="en-US" b="1"/>
              <a:t>establish UDS socket connections to each module</a:t>
            </a: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953062" y="6189006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Alt-B</a:t>
            </a:r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2354870"/>
            <a:ext cx="8678897" cy="43503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Alt-C: Move </a:t>
            </a:r>
            <a:r>
              <a:rPr lang="en-US" err="1"/>
              <a:t>RemoteDiag</a:t>
            </a:r>
            <a:r>
              <a:rPr lang="en-US"/>
              <a:t> +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/>
              <a:t>Move RemoteDiag into the IP container.</a:t>
            </a:r>
          </a:p>
          <a:p>
            <a:r>
              <a:rPr lang="en-US" sz="1800" smtClean="0"/>
              <a:t>Add </a:t>
            </a:r>
            <a:r>
              <a:rPr lang="en-US" sz="1800"/>
              <a:t>a </a:t>
            </a:r>
            <a:r>
              <a:rPr lang="en-US" sz="1800" b="1"/>
              <a:t>new RemoteDiagProxy (RDP) </a:t>
            </a:r>
            <a:r>
              <a:rPr lang="en-US" sz="1800" b="1" smtClean="0"/>
              <a:t>component</a:t>
            </a:r>
            <a:r>
              <a:rPr lang="en-US" sz="1800" smtClean="0"/>
              <a:t> </a:t>
            </a:r>
            <a:r>
              <a:rPr lang="en-US" sz="1800"/>
              <a:t>in the EP that acts as a </a:t>
            </a:r>
            <a:r>
              <a:rPr lang="en-US" sz="1800" b="1"/>
              <a:t>transparent proxy</a:t>
            </a:r>
            <a:r>
              <a:rPr lang="en-US" sz="1800"/>
              <a:t>. </a:t>
            </a:r>
          </a:p>
          <a:p>
            <a:r>
              <a:rPr lang="en-US" sz="1800"/>
              <a:t>EP modules continue to interact with RDP using their existing interface</a:t>
            </a:r>
          </a:p>
          <a:p>
            <a:r>
              <a:rPr lang="en-US" sz="1800"/>
              <a:t>RDP forwards requests to RemoteDiag via UDS socket channel.</a:t>
            </a:r>
            <a:endParaRPr lang="en-US" sz="1800" b="1"/>
          </a:p>
          <a:p>
            <a:endParaRPr lang="en-US" sz="1800"/>
          </a:p>
        </p:txBody>
      </p:sp>
      <p:sp>
        <p:nvSpPr>
          <p:cNvPr id="6" name="TextBox 5"/>
          <p:cNvSpPr txBox="1"/>
          <p:nvPr/>
        </p:nvSpPr>
        <p:spPr>
          <a:xfrm>
            <a:off x="6781612" y="633584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Alt-C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" y="4530022"/>
            <a:ext cx="2196413" cy="168847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5739" y="2354869"/>
            <a:ext cx="9937672" cy="441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866" y="5932081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=""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0080571"/>
              </p:ext>
            </p:extLst>
          </p:nvPr>
        </p:nvGraphicFramePr>
        <p:xfrm>
          <a:off x="72428" y="725354"/>
          <a:ext cx="12050161" cy="491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633457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3781331">
                  <a:extLst>
                    <a:ext uri="{9D8B030D-6E8A-4147-A177-3AD203B41FA5}">
                      <a16:colId xmlns="" xmlns:a16="http://schemas.microsoft.com/office/drawing/2014/main" val="2530683369"/>
                    </a:ext>
                  </a:extLst>
                </a:gridCol>
                <a:gridCol w="348558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1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(CyberSecurity team confirmed)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and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OnBoardClient’s responsibility is changed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is moved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to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), requiring </a:t>
                      </a:r>
                      <a:r>
                        <a:rPr lang="en-US" sz="1300" b="0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requirement updates.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(OnBoardClient - implements UDS socket server and priority control)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(PowerMgr, HttpMgr,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required in existing modules. RemoteDiagProxy preserves the current binder interface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strike="sng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strike="sng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strike="sngStrike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strike="sngStrike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communication flows run in separate processes. Failure of one flow does not impact the other</a:t>
                      </a:r>
                      <a:r>
                        <a:rPr lang="en-US" sz="1300" b="0" strike="sngStrike" kern="1200" baseline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  <a:endParaRPr lang="en-US" sz="1300" b="0" strike="sngStrike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strike="sngStrike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strike="sngStrike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300" b="0" strike="sngStrike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300" b="0" strike="sngStrike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strike="sngStrike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strike="sngStrike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OEM center and MM ECU </a:t>
                      </a:r>
                      <a:r>
                        <a:rPr lang="en-US" sz="1300" b="0" strike="sngStrike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communication </a:t>
                      </a:r>
                      <a:r>
                        <a:rPr lang="en-US" sz="1300" b="0" strike="sngStrike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flows share the same process. Failure in one flow may impact the other.</a:t>
                      </a:r>
                      <a:endParaRPr lang="en-US" sz="1300" b="0" strike="sngStrike">
                        <a:solidFill>
                          <a:schemeClr val="tx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38020" y="5808971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High</a:t>
            </a:r>
            <a:r>
              <a:rPr lang="en-US" sz="1400"/>
              <a:t>: Fully satisfy</a:t>
            </a:r>
          </a:p>
          <a:p>
            <a:r>
              <a:rPr lang="en-US" sz="1400" b="1">
                <a:solidFill>
                  <a:schemeClr val="accent2"/>
                </a:solidFill>
              </a:rPr>
              <a:t>Medium</a:t>
            </a:r>
            <a:r>
              <a:rPr lang="en-US" sz="1400"/>
              <a:t>: Partially satisfy</a:t>
            </a:r>
          </a:p>
          <a:p>
            <a:r>
              <a:rPr lang="en-US" sz="1400" b="1">
                <a:solidFill>
                  <a:srgbClr val="FF0000"/>
                </a:solidFill>
              </a:rPr>
              <a:t>Low</a:t>
            </a:r>
            <a:r>
              <a:rPr lang="en-US" sz="1400"/>
              <a:t>: Not satisfy</a:t>
            </a:r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="" xmlns:a16="http://schemas.microsoft.com/office/drawing/2014/main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4245" y="5392287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CA99A5D-DD39-1919-FD58-65B06FA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Detail design: Forward </a:t>
            </a:r>
            <a:r>
              <a:rPr lang="en-US" dirty="0"/>
              <a:t>API call from proxy to </a:t>
            </a:r>
            <a:r>
              <a:rPr lang="en-US" dirty="0" err="1"/>
              <a:t>remotediag</a:t>
            </a:r>
            <a:r>
              <a:rPr lang="en-US" dirty="0"/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="" xmlns:a16="http://schemas.microsoft.com/office/drawing/2014/main" id="{20EC3E71-48BE-FEC7-88E8-47DB96F90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2" y="1043549"/>
            <a:ext cx="12163910" cy="536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64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643E24B-1160-F6BA-5A0C-DB3B3DD9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Detail design: Filter </a:t>
            </a:r>
            <a:r>
              <a:rPr lang="en-US" dirty="0"/>
              <a:t>scenario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="" xmlns:a16="http://schemas.microsoft.com/office/drawing/2014/main" id="{3D875D97-63D9-E3DF-760D-4A57DB7A2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596" y="862011"/>
            <a:ext cx="10936808" cy="561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6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40" y="4219575"/>
            <a:ext cx="10269609" cy="192790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85" y="1399738"/>
            <a:ext cx="10544082" cy="2338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4900" y="1030406"/>
            <a:ext cx="5251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mtClean="0"/>
              <a:t>SidFilter blocks reprogramming diagnostic requests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and RemoteDiag communication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="" xmlns:a16="http://schemas.microsoft.com/office/drawing/2014/main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7968</TotalTime>
  <Words>976</Words>
  <Application>Microsoft Office PowerPoint</Application>
  <PresentationFormat>Widescreen</PresentationFormat>
  <Paragraphs>172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Malgun Gothic</vt:lpstr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 – Toyota 24DCM project</vt:lpstr>
      <vt:lpstr>Context &amp; Motivation – Toyota 24DCM project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Detail design: Forward API call from proxy to remotediag </vt:lpstr>
      <vt:lpstr>Detail design: Filter scenario</vt:lpstr>
      <vt:lpstr>Implementation and Verification</vt:lpstr>
      <vt:lpstr>Implementation and Verification</vt:lpstr>
      <vt:lpstr>PowerPoint Presentation</vt:lpstr>
      <vt:lpstr>PowerPoint Presentation</vt:lpstr>
      <vt:lpstr>Diagnostic filtering requirements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HOANG VU/LGEDV SOFTWARE ENGINEERING 1 TEAM</cp:lastModifiedBy>
  <cp:revision>633</cp:revision>
  <dcterms:created xsi:type="dcterms:W3CDTF">2026-08-17T04:18:20Z</dcterms:created>
  <dcterms:modified xsi:type="dcterms:W3CDTF">2026-09-29T13:14:41Z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