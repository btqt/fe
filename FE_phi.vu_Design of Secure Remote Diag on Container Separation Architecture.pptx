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1.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7" r:id="rId2"/>
    <p:sldId id="258" r:id="rId3"/>
    <p:sldId id="333" r:id="rId4"/>
    <p:sldId id="337" r:id="rId5"/>
    <p:sldId id="334" r:id="rId6"/>
    <p:sldId id="338" r:id="rId7"/>
    <p:sldId id="335" r:id="rId8"/>
    <p:sldId id="340" r:id="rId9"/>
    <p:sldId id="341" r:id="rId10"/>
    <p:sldId id="342" r:id="rId11"/>
    <p:sldId id="343" r:id="rId12"/>
    <p:sldId id="345" r:id="rId13"/>
    <p:sldId id="332" r:id="rId14"/>
    <p:sldId id="316" r:id="rId15"/>
    <p:sldId id="311" r:id="rId16"/>
    <p:sldId id="289" r:id="rId17"/>
    <p:sldId id="321" r:id="rId18"/>
    <p:sldId id="307" r:id="rId19"/>
    <p:sldId id="291" r:id="rId20"/>
    <p:sldId id="293" r:id="rId21"/>
    <p:sldId id="296" r:id="rId22"/>
    <p:sldId id="312" r:id="rId23"/>
    <p:sldId id="324" r:id="rId24"/>
    <p:sldId id="325" r:id="rId25"/>
    <p:sldId id="320" r:id="rId26"/>
    <p:sldId id="272" r:id="rId27"/>
    <p:sldId id="339" r:id="rId28"/>
    <p:sldId id="259" r:id="rId29"/>
    <p:sldId id="323" r:id="rId30"/>
    <p:sldId id="326" r:id="rId31"/>
    <p:sldId id="328" r:id="rId32"/>
    <p:sldId id="330" r:id="rId33"/>
    <p:sldId id="313" r:id="rId34"/>
    <p:sldId id="314" r:id="rId35"/>
    <p:sldId id="315" r:id="rId36"/>
    <p:sldId id="297" r:id="rId37"/>
    <p:sldId id="318" r:id="rId38"/>
    <p:sldId id="319" r:id="rId39"/>
    <p:sldId id="329" r:id="rId40"/>
    <p:sldId id="331"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IEU TRUNG NGUYEN/LGEVH VS FUNCTIONAL TECHNOLOGY 1(hieu4.nguyen@lge.com)" initials="HTNVFT1" lastIdx="9" clrIdx="0">
    <p:extLst>
      <p:ext uri="{19B8F6BF-5375-455C-9EA6-DF929625EA0E}">
        <p15:presenceInfo xmlns:p15="http://schemas.microsoft.com/office/powerpoint/2012/main" userId="S-1-5-21-2543426832-1914326140-3112152631-235930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339933"/>
    <a:srgbClr val="C2F0FF"/>
    <a:srgbClr val="FFFFE0"/>
    <a:srgbClr val="FF9900"/>
    <a:srgbClr val="FFCC00"/>
    <a:srgbClr val="FFFF00"/>
    <a:srgbClr val="00CC00"/>
    <a:srgbClr val="E2F0D9"/>
    <a:srgbClr val="EEF4E8"/>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83" autoAdjust="0"/>
    <p:restoredTop sz="87870" autoAdjust="0"/>
  </p:normalViewPr>
  <p:slideViewPr>
    <p:cSldViewPr snapToGrid="0">
      <p:cViewPr varScale="1">
        <p:scale>
          <a:sx n="107" d="100"/>
          <a:sy n="107" d="100"/>
        </p:scale>
        <p:origin x="562"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B218C26-8816-4FD3-9B17-7F2E73681755}" type="datetimeFigureOut">
              <a:rPr lang="en-US" smtClean="0"/>
              <a:t>8/6/2026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3B1B1D3-8EA0-465B-9072-DEFAD8935BF3}" type="slidenum">
              <a:rPr lang="en-US" smtClean="0"/>
              <a:t>‹#›</a:t>
            </a:fld>
            <a:endParaRPr lang="en-US"/>
          </a:p>
        </p:txBody>
      </p:sp>
    </p:spTree>
    <p:extLst>
      <p:ext uri="{BB962C8B-B14F-4D97-AF65-F5344CB8AC3E}">
        <p14:creationId xmlns:p14="http://schemas.microsoft.com/office/powerpoint/2010/main" val="1688801008"/>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9CA27A-F676-47EB-A31E-770B0E5356FD}" type="datetimeFigureOut">
              <a:rPr lang="en-US" smtClean="0"/>
              <a:t>8/6/2026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A60F03A-8D08-47FF-BD61-2DB64D8362EE}" type="slidenum">
              <a:rPr lang="en-US" smtClean="0"/>
              <a:t>‹#›</a:t>
            </a:fld>
            <a:endParaRPr lang="en-US"/>
          </a:p>
        </p:txBody>
      </p:sp>
    </p:spTree>
    <p:extLst>
      <p:ext uri="{BB962C8B-B14F-4D97-AF65-F5344CB8AC3E}">
        <p14:creationId xmlns:p14="http://schemas.microsoft.com/office/powerpoint/2010/main" val="254806734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89D669C-416E-45F6-8D23-9D8DF4957456}" type="slidenum">
              <a:rPr lang="en-US" smtClean="0"/>
              <a:t>1</a:t>
            </a:fld>
            <a:endParaRPr lang="en-US"/>
          </a:p>
        </p:txBody>
      </p:sp>
    </p:spTree>
    <p:extLst>
      <p:ext uri="{BB962C8B-B14F-4D97-AF65-F5344CB8AC3E}">
        <p14:creationId xmlns:p14="http://schemas.microsoft.com/office/powerpoint/2010/main" val="42026061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989D669C-416E-45F6-8D23-9D8DF4957456}" type="slidenum">
              <a:rPr lang="en-US" smtClean="0"/>
              <a:t>2</a:t>
            </a:fld>
            <a:endParaRPr lang="en-US"/>
          </a:p>
        </p:txBody>
      </p:sp>
    </p:spTree>
    <p:extLst>
      <p:ext uri="{BB962C8B-B14F-4D97-AF65-F5344CB8AC3E}">
        <p14:creationId xmlns:p14="http://schemas.microsoft.com/office/powerpoint/2010/main" val="290158710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60F03A-8D08-47FF-BD61-2DB64D8362EE}" type="slidenum">
              <a:rPr lang="en-US" smtClean="0"/>
              <a:t>4</a:t>
            </a:fld>
            <a:endParaRPr lang="en-US"/>
          </a:p>
        </p:txBody>
      </p:sp>
    </p:spTree>
    <p:extLst>
      <p:ext uri="{BB962C8B-B14F-4D97-AF65-F5344CB8AC3E}">
        <p14:creationId xmlns:p14="http://schemas.microsoft.com/office/powerpoint/2010/main" val="170923412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2C7D1D-2A8E-B591-97D0-5B728C3147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4D1053-7B8A-A7D9-92A6-1BCD421C4E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D6874D-A993-566D-7727-631A99EB1319}"/>
              </a:ext>
            </a:extLst>
          </p:cNvPr>
          <p:cNvSpPr>
            <a:spLocks noGrp="1"/>
          </p:cNvSpPr>
          <p:nvPr>
            <p:ph type="body" idx="1"/>
          </p:nvPr>
        </p:nvSpPr>
        <p:spPr/>
        <p:txBody>
          <a:bodyPr/>
          <a:lstStyle/>
          <a:p>
            <a:r>
              <a:rPr lang="en-US" sz="1200" b="1" dirty="0"/>
              <a:t>That’s all of my presentation</a:t>
            </a:r>
          </a:p>
          <a:p>
            <a:r>
              <a:rPr lang="en-US" sz="1200" b="1" dirty="0"/>
              <a:t>Thanks for listening.</a:t>
            </a:r>
            <a:r>
              <a:rPr lang="en-US" sz="1200" b="1" baseline="0" dirty="0"/>
              <a:t> Please let me know if</a:t>
            </a:r>
            <a:r>
              <a:rPr lang="en-US" sz="1200" b="1" dirty="0"/>
              <a:t> you have any questions</a:t>
            </a:r>
          </a:p>
          <a:p>
            <a:endParaRPr lang="en-US" b="1" dirty="0"/>
          </a:p>
        </p:txBody>
      </p:sp>
      <p:sp>
        <p:nvSpPr>
          <p:cNvPr id="4" name="Slide Number Placeholder 3">
            <a:extLst>
              <a:ext uri="{FF2B5EF4-FFF2-40B4-BE49-F238E27FC236}">
                <a16:creationId xmlns:a16="http://schemas.microsoft.com/office/drawing/2014/main" id="{B2E86A50-8FED-7147-DDB6-68D52FB2B1FC}"/>
              </a:ext>
            </a:extLst>
          </p:cNvPr>
          <p:cNvSpPr>
            <a:spLocks noGrp="1"/>
          </p:cNvSpPr>
          <p:nvPr>
            <p:ph type="sldNum" sz="quarter" idx="10"/>
          </p:nvPr>
        </p:nvSpPr>
        <p:spPr/>
        <p:txBody>
          <a:bodyPr/>
          <a:lstStyle/>
          <a:p>
            <a:fld id="{7A60F03A-8D08-47FF-BD61-2DB64D8362EE}" type="slidenum">
              <a:rPr lang="en-US" smtClean="0"/>
              <a:t>12</a:t>
            </a:fld>
            <a:endParaRPr lang="en-US"/>
          </a:p>
        </p:txBody>
      </p:sp>
    </p:spTree>
    <p:extLst>
      <p:ext uri="{BB962C8B-B14F-4D97-AF65-F5344CB8AC3E}">
        <p14:creationId xmlns:p14="http://schemas.microsoft.com/office/powerpoint/2010/main" val="1140565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13</a:t>
            </a:fld>
            <a:endParaRPr lang="en-US"/>
          </a:p>
        </p:txBody>
      </p:sp>
    </p:spTree>
    <p:extLst>
      <p:ext uri="{BB962C8B-B14F-4D97-AF65-F5344CB8AC3E}">
        <p14:creationId xmlns:p14="http://schemas.microsoft.com/office/powerpoint/2010/main" val="27259030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14</a:t>
            </a:fld>
            <a:endParaRPr lang="en-US"/>
          </a:p>
        </p:txBody>
      </p:sp>
    </p:spTree>
    <p:extLst>
      <p:ext uri="{BB962C8B-B14F-4D97-AF65-F5344CB8AC3E}">
        <p14:creationId xmlns:p14="http://schemas.microsoft.com/office/powerpoint/2010/main" val="771949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7A60F03A-8D08-47FF-BD61-2DB64D8362EE}" type="slidenum">
              <a:rPr lang="en-US" smtClean="0"/>
              <a:t>15</a:t>
            </a:fld>
            <a:endParaRPr lang="en-US"/>
          </a:p>
        </p:txBody>
      </p:sp>
    </p:spTree>
    <p:extLst>
      <p:ext uri="{BB962C8B-B14F-4D97-AF65-F5344CB8AC3E}">
        <p14:creationId xmlns:p14="http://schemas.microsoft.com/office/powerpoint/2010/main" val="217800032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16</a:t>
            </a:fld>
            <a:endParaRPr lang="en-US"/>
          </a:p>
        </p:txBody>
      </p:sp>
    </p:spTree>
    <p:extLst>
      <p:ext uri="{BB962C8B-B14F-4D97-AF65-F5344CB8AC3E}">
        <p14:creationId xmlns:p14="http://schemas.microsoft.com/office/powerpoint/2010/main" val="39034457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17</a:t>
            </a:fld>
            <a:endParaRPr lang="en-US"/>
          </a:p>
        </p:txBody>
      </p:sp>
    </p:spTree>
    <p:extLst>
      <p:ext uri="{BB962C8B-B14F-4D97-AF65-F5344CB8AC3E}">
        <p14:creationId xmlns:p14="http://schemas.microsoft.com/office/powerpoint/2010/main" val="9943927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18</a:t>
            </a:fld>
            <a:endParaRPr lang="en-US"/>
          </a:p>
        </p:txBody>
      </p:sp>
    </p:spTree>
    <p:extLst>
      <p:ext uri="{BB962C8B-B14F-4D97-AF65-F5344CB8AC3E}">
        <p14:creationId xmlns:p14="http://schemas.microsoft.com/office/powerpoint/2010/main" val="36972546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19</a:t>
            </a:fld>
            <a:endParaRPr lang="en-US"/>
          </a:p>
        </p:txBody>
      </p:sp>
    </p:spTree>
    <p:extLst>
      <p:ext uri="{BB962C8B-B14F-4D97-AF65-F5344CB8AC3E}">
        <p14:creationId xmlns:p14="http://schemas.microsoft.com/office/powerpoint/2010/main" val="1140347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20</a:t>
            </a:fld>
            <a:endParaRPr lang="en-US"/>
          </a:p>
        </p:txBody>
      </p:sp>
    </p:spTree>
    <p:extLst>
      <p:ext uri="{BB962C8B-B14F-4D97-AF65-F5344CB8AC3E}">
        <p14:creationId xmlns:p14="http://schemas.microsoft.com/office/powerpoint/2010/main" val="33420145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21</a:t>
            </a:fld>
            <a:endParaRPr lang="en-US"/>
          </a:p>
        </p:txBody>
      </p:sp>
    </p:spTree>
    <p:extLst>
      <p:ext uri="{BB962C8B-B14F-4D97-AF65-F5344CB8AC3E}">
        <p14:creationId xmlns:p14="http://schemas.microsoft.com/office/powerpoint/2010/main" val="5708990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22</a:t>
            </a:fld>
            <a:endParaRPr lang="en-US"/>
          </a:p>
        </p:txBody>
      </p:sp>
    </p:spTree>
    <p:extLst>
      <p:ext uri="{BB962C8B-B14F-4D97-AF65-F5344CB8AC3E}">
        <p14:creationId xmlns:p14="http://schemas.microsoft.com/office/powerpoint/2010/main" val="285667193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23</a:t>
            </a:fld>
            <a:endParaRPr lang="en-US"/>
          </a:p>
        </p:txBody>
      </p:sp>
    </p:spTree>
    <p:extLst>
      <p:ext uri="{BB962C8B-B14F-4D97-AF65-F5344CB8AC3E}">
        <p14:creationId xmlns:p14="http://schemas.microsoft.com/office/powerpoint/2010/main" val="265793512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24</a:t>
            </a:fld>
            <a:endParaRPr lang="en-US"/>
          </a:p>
        </p:txBody>
      </p:sp>
    </p:spTree>
    <p:extLst>
      <p:ext uri="{BB962C8B-B14F-4D97-AF65-F5344CB8AC3E}">
        <p14:creationId xmlns:p14="http://schemas.microsoft.com/office/powerpoint/2010/main" val="20622944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25</a:t>
            </a:fld>
            <a:endParaRPr lang="en-US"/>
          </a:p>
        </p:txBody>
      </p:sp>
    </p:spTree>
    <p:extLst>
      <p:ext uri="{BB962C8B-B14F-4D97-AF65-F5344CB8AC3E}">
        <p14:creationId xmlns:p14="http://schemas.microsoft.com/office/powerpoint/2010/main" val="11787627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That’s all of my presentation</a:t>
            </a:r>
          </a:p>
          <a:p>
            <a:r>
              <a:rPr lang="en-US" sz="1200" b="1" dirty="0"/>
              <a:t>Thanks for listening.</a:t>
            </a:r>
            <a:r>
              <a:rPr lang="en-US" sz="1200" b="1" baseline="0" dirty="0"/>
              <a:t> Please let me know if</a:t>
            </a:r>
            <a:r>
              <a:rPr lang="en-US" sz="1200" b="1" dirty="0"/>
              <a:t> you have any questions</a:t>
            </a:r>
          </a:p>
          <a:p>
            <a:endParaRPr lang="en-US" b="1" dirty="0"/>
          </a:p>
        </p:txBody>
      </p:sp>
      <p:sp>
        <p:nvSpPr>
          <p:cNvPr id="4" name="Slide Number Placeholder 3"/>
          <p:cNvSpPr>
            <a:spLocks noGrp="1"/>
          </p:cNvSpPr>
          <p:nvPr>
            <p:ph type="sldNum" sz="quarter" idx="10"/>
          </p:nvPr>
        </p:nvSpPr>
        <p:spPr/>
        <p:txBody>
          <a:bodyPr/>
          <a:lstStyle/>
          <a:p>
            <a:fld id="{7A60F03A-8D08-47FF-BD61-2DB64D8362EE}" type="slidenum">
              <a:rPr lang="en-US" smtClean="0"/>
              <a:t>26</a:t>
            </a:fld>
            <a:endParaRPr lang="en-US"/>
          </a:p>
        </p:txBody>
      </p:sp>
    </p:spTree>
    <p:extLst>
      <p:ext uri="{BB962C8B-B14F-4D97-AF65-F5344CB8AC3E}">
        <p14:creationId xmlns:p14="http://schemas.microsoft.com/office/powerpoint/2010/main" val="1225475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28</a:t>
            </a:fld>
            <a:endParaRPr lang="en-US"/>
          </a:p>
        </p:txBody>
      </p:sp>
    </p:spTree>
    <p:extLst>
      <p:ext uri="{BB962C8B-B14F-4D97-AF65-F5344CB8AC3E}">
        <p14:creationId xmlns:p14="http://schemas.microsoft.com/office/powerpoint/2010/main" val="8299278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29</a:t>
            </a:fld>
            <a:endParaRPr lang="en-US"/>
          </a:p>
        </p:txBody>
      </p:sp>
    </p:spTree>
    <p:extLst>
      <p:ext uri="{BB962C8B-B14F-4D97-AF65-F5344CB8AC3E}">
        <p14:creationId xmlns:p14="http://schemas.microsoft.com/office/powerpoint/2010/main" val="12247865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30</a:t>
            </a:fld>
            <a:endParaRPr lang="en-US"/>
          </a:p>
        </p:txBody>
      </p:sp>
    </p:spTree>
    <p:extLst>
      <p:ext uri="{BB962C8B-B14F-4D97-AF65-F5344CB8AC3E}">
        <p14:creationId xmlns:p14="http://schemas.microsoft.com/office/powerpoint/2010/main" val="1990730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1" i="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7A60F03A-8D08-47FF-BD61-2DB64D8362EE}" type="slidenum">
              <a:rPr lang="en-US" smtClean="0"/>
              <a:t>31</a:t>
            </a:fld>
            <a:endParaRPr lang="en-US"/>
          </a:p>
        </p:txBody>
      </p:sp>
    </p:spTree>
    <p:extLst>
      <p:ext uri="{BB962C8B-B14F-4D97-AF65-F5344CB8AC3E}">
        <p14:creationId xmlns:p14="http://schemas.microsoft.com/office/powerpoint/2010/main" val="40697968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32</a:t>
            </a:fld>
            <a:endParaRPr lang="en-US"/>
          </a:p>
        </p:txBody>
      </p:sp>
    </p:spTree>
    <p:extLst>
      <p:ext uri="{BB962C8B-B14F-4D97-AF65-F5344CB8AC3E}">
        <p14:creationId xmlns:p14="http://schemas.microsoft.com/office/powerpoint/2010/main" val="32390882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60F03A-8D08-47FF-BD61-2DB64D8362EE}" type="slidenum">
              <a:rPr lang="en-US" smtClean="0"/>
              <a:t>33</a:t>
            </a:fld>
            <a:endParaRPr lang="en-US"/>
          </a:p>
        </p:txBody>
      </p:sp>
    </p:spTree>
    <p:extLst>
      <p:ext uri="{BB962C8B-B14F-4D97-AF65-F5344CB8AC3E}">
        <p14:creationId xmlns:p14="http://schemas.microsoft.com/office/powerpoint/2010/main" val="2784359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60F03A-8D08-47FF-BD61-2DB64D8362EE}" type="slidenum">
              <a:rPr lang="en-US" smtClean="0"/>
              <a:t>34</a:t>
            </a:fld>
            <a:endParaRPr lang="en-US"/>
          </a:p>
        </p:txBody>
      </p:sp>
    </p:spTree>
    <p:extLst>
      <p:ext uri="{BB962C8B-B14F-4D97-AF65-F5344CB8AC3E}">
        <p14:creationId xmlns:p14="http://schemas.microsoft.com/office/powerpoint/2010/main" val="27075560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A60F03A-8D08-47FF-BD61-2DB64D8362EE}" type="slidenum">
              <a:rPr lang="en-US" smtClean="0"/>
              <a:t>35</a:t>
            </a:fld>
            <a:endParaRPr lang="en-US"/>
          </a:p>
        </p:txBody>
      </p:sp>
    </p:spTree>
    <p:extLst>
      <p:ext uri="{BB962C8B-B14F-4D97-AF65-F5344CB8AC3E}">
        <p14:creationId xmlns:p14="http://schemas.microsoft.com/office/powerpoint/2010/main" val="361498531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36</a:t>
            </a:fld>
            <a:endParaRPr lang="en-US"/>
          </a:p>
        </p:txBody>
      </p:sp>
    </p:spTree>
    <p:extLst>
      <p:ext uri="{BB962C8B-B14F-4D97-AF65-F5344CB8AC3E}">
        <p14:creationId xmlns:p14="http://schemas.microsoft.com/office/powerpoint/2010/main" val="32098672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37</a:t>
            </a:fld>
            <a:endParaRPr lang="en-US"/>
          </a:p>
        </p:txBody>
      </p:sp>
    </p:spTree>
    <p:extLst>
      <p:ext uri="{BB962C8B-B14F-4D97-AF65-F5344CB8AC3E}">
        <p14:creationId xmlns:p14="http://schemas.microsoft.com/office/powerpoint/2010/main" val="8128430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38</a:t>
            </a:fld>
            <a:endParaRPr lang="en-US"/>
          </a:p>
        </p:txBody>
      </p:sp>
    </p:spTree>
    <p:extLst>
      <p:ext uri="{BB962C8B-B14F-4D97-AF65-F5344CB8AC3E}">
        <p14:creationId xmlns:p14="http://schemas.microsoft.com/office/powerpoint/2010/main" val="427464693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39</a:t>
            </a:fld>
            <a:endParaRPr lang="en-US"/>
          </a:p>
        </p:txBody>
      </p:sp>
    </p:spTree>
    <p:extLst>
      <p:ext uri="{BB962C8B-B14F-4D97-AF65-F5344CB8AC3E}">
        <p14:creationId xmlns:p14="http://schemas.microsoft.com/office/powerpoint/2010/main" val="278472658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aseline="0" dirty="0"/>
          </a:p>
        </p:txBody>
      </p:sp>
      <p:sp>
        <p:nvSpPr>
          <p:cNvPr id="4" name="Slide Number Placeholder 3"/>
          <p:cNvSpPr>
            <a:spLocks noGrp="1"/>
          </p:cNvSpPr>
          <p:nvPr>
            <p:ph type="sldNum" sz="quarter" idx="10"/>
          </p:nvPr>
        </p:nvSpPr>
        <p:spPr/>
        <p:txBody>
          <a:bodyPr/>
          <a:lstStyle/>
          <a:p>
            <a:fld id="{7A60F03A-8D08-47FF-BD61-2DB64D8362EE}" type="slidenum">
              <a:rPr lang="en-US" smtClean="0"/>
              <a:t>40</a:t>
            </a:fld>
            <a:endParaRPr lang="en-US"/>
          </a:p>
        </p:txBody>
      </p:sp>
    </p:spTree>
    <p:extLst>
      <p:ext uri="{BB962C8B-B14F-4D97-AF65-F5344CB8AC3E}">
        <p14:creationId xmlns:p14="http://schemas.microsoft.com/office/powerpoint/2010/main" val="2868816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878CBB9-6FF2-4408-8A02-FA250E6DADFF}"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1146082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4F8EC64-8665-4E0B-982B-ED46F077C4AB}"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381843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72590F1-3ADF-4A76-9FE6-A348BFF9DB9E}"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13313997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7896F7E-2851-4004-9460-41E65427C53D}" type="datetime1">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42791666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F7998FB4-5829-42E0-A9D5-99D0FBB0B6A3}" type="datetime1">
              <a:rPr lang="en-US" smtClean="0"/>
              <a:t>8/6/2026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21514491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55D052A-9B3D-435C-B749-96EA1DA0429C}" type="datetime1">
              <a:rPr lang="en-US" smtClean="0"/>
              <a:t>8/6/2026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9212890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722ADC-E74C-4D4C-831A-215E2830B826}" type="datetime1">
              <a:rPr lang="en-US" smtClean="0"/>
              <a:t>8/6/2026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2244994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FC1BB0E-03E3-4611-A204-B76C0E88FDC2}" type="datetime1">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10718243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3959ADC-53DD-4875-BF19-29B108C18F70}" type="datetime1">
              <a:rPr lang="en-US" smtClean="0"/>
              <a:t>8/6/2026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16605372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FBDAE4B-4D99-4659-89DA-3B79C7A8C296}"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36278869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16CE2A-C56E-4CCE-8E86-C37DB779CDCF}" type="datetime1">
              <a:rPr lang="en-US" smtClean="0"/>
              <a:t>8/6/2026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059130C-D5A7-43F1-8BDF-D4DD1699FE09}" type="slidenum">
              <a:rPr lang="en-US" smtClean="0"/>
              <a:t>‹#›</a:t>
            </a:fld>
            <a:endParaRPr lang="en-US"/>
          </a:p>
        </p:txBody>
      </p:sp>
    </p:spTree>
    <p:extLst>
      <p:ext uri="{BB962C8B-B14F-4D97-AF65-F5344CB8AC3E}">
        <p14:creationId xmlns:p14="http://schemas.microsoft.com/office/powerpoint/2010/main" val="41737456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F5DB7C-A5ED-406B-BE59-F684C3C031D1}" type="datetime1">
              <a:rPr lang="en-US" smtClean="0"/>
              <a:t>8/6/2026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059130C-D5A7-43F1-8BDF-D4DD1699FE09}" type="slidenum">
              <a:rPr lang="en-US" smtClean="0"/>
              <a:t>‹#›</a:t>
            </a:fld>
            <a:endParaRPr lang="en-US"/>
          </a:p>
        </p:txBody>
      </p:sp>
    </p:spTree>
    <p:extLst>
      <p:ext uri="{BB962C8B-B14F-4D97-AF65-F5344CB8AC3E}">
        <p14:creationId xmlns:p14="http://schemas.microsoft.com/office/powerpoint/2010/main" val="23434808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5.png"/><Relationship Id="rId7"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16.png"/><Relationship Id="rId9" Type="http://schemas.openxmlformats.org/officeDocument/2006/relationships/image" Target="../media/image25.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35.png"/></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51840" y="1806027"/>
            <a:ext cx="10830560" cy="1620837"/>
          </a:xfrm>
        </p:spPr>
        <p:txBody>
          <a:bodyPr>
            <a:noAutofit/>
          </a:bodyPr>
          <a:lstStyle/>
          <a:p>
            <a:r>
              <a:rPr lang="en-US" sz="4400" b="1" dirty="0">
                <a:latin typeface="+mn-lt"/>
                <a:cs typeface="Times New Roman" panose="02020603050405020304" pitchFamily="18" charset="0"/>
              </a:rPr>
              <a:t>Design of Secure Remote </a:t>
            </a:r>
            <a:r>
              <a:rPr lang="en-US" sz="4400" b="1" dirty="0" err="1">
                <a:latin typeface="+mn-lt"/>
                <a:cs typeface="Times New Roman" panose="02020603050405020304" pitchFamily="18" charset="0"/>
              </a:rPr>
              <a:t>Diag</a:t>
            </a:r>
            <a:r>
              <a:rPr lang="en-US" sz="4400" b="1" dirty="0">
                <a:latin typeface="+mn-lt"/>
                <a:cs typeface="Times New Roman" panose="02020603050405020304" pitchFamily="18" charset="0"/>
              </a:rPr>
              <a:t> on Container Separation Architecture</a:t>
            </a:r>
          </a:p>
        </p:txBody>
      </p:sp>
      <p:sp>
        <p:nvSpPr>
          <p:cNvPr id="3" name="직사각형 2"/>
          <p:cNvSpPr>
            <a:spLocks noChangeArrowheads="1"/>
          </p:cNvSpPr>
          <p:nvPr/>
        </p:nvSpPr>
        <p:spPr bwMode="auto">
          <a:xfrm>
            <a:off x="3762314" y="3830677"/>
            <a:ext cx="4385881"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lnSpc>
                <a:spcPct val="130000"/>
              </a:lnSpc>
              <a:spcBef>
                <a:spcPct val="70000"/>
              </a:spcBef>
              <a:buClr>
                <a:schemeClr val="tx1"/>
              </a:buClr>
              <a:buFont typeface="Wingdings" pitchFamily="2" charset="2"/>
              <a:buChar char="q"/>
              <a:defRPr kumimoji="1" sz="1400" b="1">
                <a:solidFill>
                  <a:schemeClr val="tx1"/>
                </a:solidFill>
                <a:latin typeface="Arial" charset="0"/>
                <a:ea typeface="맑은 고딕" pitchFamily="50" charset="-127"/>
              </a:defRPr>
            </a:lvl1pPr>
            <a:lvl2pPr marL="742950" indent="-285750" eaLnBrk="0" hangingPunct="0">
              <a:lnSpc>
                <a:spcPct val="130000"/>
              </a:lnSpc>
              <a:spcBef>
                <a:spcPct val="50000"/>
              </a:spcBef>
              <a:buFont typeface="Wingdings" pitchFamily="2" charset="2"/>
              <a:buChar char="l"/>
              <a:defRPr kumimoji="1" sz="1200" b="1">
                <a:solidFill>
                  <a:schemeClr val="tx1"/>
                </a:solidFill>
                <a:latin typeface="Arial" charset="0"/>
                <a:ea typeface="맑은 고딕" pitchFamily="50" charset="-127"/>
              </a:defRPr>
            </a:lvl2pPr>
            <a:lvl3pPr marL="1143000" indent="-228600" eaLnBrk="0" hangingPunct="0">
              <a:lnSpc>
                <a:spcPct val="110000"/>
              </a:lnSpc>
              <a:spcBef>
                <a:spcPct val="20000"/>
              </a:spcBef>
              <a:buFont typeface="Trebuchet MS" pitchFamily="34" charset="0"/>
              <a:buChar char="−"/>
              <a:defRPr kumimoji="1" sz="1200">
                <a:solidFill>
                  <a:schemeClr val="tx1"/>
                </a:solidFill>
                <a:latin typeface="Arial" charset="0"/>
                <a:ea typeface="맑은 고딕" pitchFamily="50" charset="-127"/>
              </a:defRPr>
            </a:lvl3pPr>
            <a:lvl4pPr marL="1600200" indent="-228600" eaLnBrk="0" hangingPunct="0">
              <a:lnSpc>
                <a:spcPct val="120000"/>
              </a:lnSpc>
              <a:buFont typeface="Trebuchet MS" pitchFamily="34" charset="0"/>
              <a:buChar char="―"/>
              <a:defRPr kumimoji="1" sz="1200">
                <a:solidFill>
                  <a:schemeClr val="tx1"/>
                </a:solidFill>
                <a:latin typeface="Arial" charset="0"/>
                <a:ea typeface="맑은 고딕" pitchFamily="50" charset="-127"/>
              </a:defRPr>
            </a:lvl4pPr>
            <a:lvl5pPr marL="2057400" indent="-228600" eaLnBrk="0" hangingPunct="0">
              <a:lnSpc>
                <a:spcPct val="120000"/>
              </a:lnSpc>
              <a:buFont typeface="Trebuchet MS" pitchFamily="34" charset="0"/>
              <a:buChar char="―"/>
              <a:defRPr kumimoji="1" sz="1200">
                <a:solidFill>
                  <a:schemeClr val="tx1"/>
                </a:solidFill>
                <a:latin typeface="Arial" charset="0"/>
                <a:ea typeface="맑은 고딕" pitchFamily="50" charset="-127"/>
              </a:defRPr>
            </a:lvl5pPr>
            <a:lvl6pPr marL="2514600" indent="-228600" eaLnBrk="0" fontAlgn="base" hangingPunct="0">
              <a:lnSpc>
                <a:spcPct val="120000"/>
              </a:lnSpc>
              <a:spcBef>
                <a:spcPct val="0"/>
              </a:spcBef>
              <a:spcAft>
                <a:spcPct val="0"/>
              </a:spcAft>
              <a:buFont typeface="Trebuchet MS" pitchFamily="34" charset="0"/>
              <a:buChar char="―"/>
              <a:defRPr kumimoji="1" sz="1200">
                <a:solidFill>
                  <a:schemeClr val="tx1"/>
                </a:solidFill>
                <a:latin typeface="Arial" charset="0"/>
                <a:ea typeface="맑은 고딕" pitchFamily="50" charset="-127"/>
              </a:defRPr>
            </a:lvl6pPr>
            <a:lvl7pPr marL="2971800" indent="-228600" eaLnBrk="0" fontAlgn="base" hangingPunct="0">
              <a:lnSpc>
                <a:spcPct val="120000"/>
              </a:lnSpc>
              <a:spcBef>
                <a:spcPct val="0"/>
              </a:spcBef>
              <a:spcAft>
                <a:spcPct val="0"/>
              </a:spcAft>
              <a:buFont typeface="Trebuchet MS" pitchFamily="34" charset="0"/>
              <a:buChar char="―"/>
              <a:defRPr kumimoji="1" sz="1200">
                <a:solidFill>
                  <a:schemeClr val="tx1"/>
                </a:solidFill>
                <a:latin typeface="Arial" charset="0"/>
                <a:ea typeface="맑은 고딕" pitchFamily="50" charset="-127"/>
              </a:defRPr>
            </a:lvl7pPr>
            <a:lvl8pPr marL="3429000" indent="-228600" eaLnBrk="0" fontAlgn="base" hangingPunct="0">
              <a:lnSpc>
                <a:spcPct val="120000"/>
              </a:lnSpc>
              <a:spcBef>
                <a:spcPct val="0"/>
              </a:spcBef>
              <a:spcAft>
                <a:spcPct val="0"/>
              </a:spcAft>
              <a:buFont typeface="Trebuchet MS" pitchFamily="34" charset="0"/>
              <a:buChar char="―"/>
              <a:defRPr kumimoji="1" sz="1200">
                <a:solidFill>
                  <a:schemeClr val="tx1"/>
                </a:solidFill>
                <a:latin typeface="Arial" charset="0"/>
                <a:ea typeface="맑은 고딕" pitchFamily="50" charset="-127"/>
              </a:defRPr>
            </a:lvl8pPr>
            <a:lvl9pPr marL="3886200" indent="-228600" eaLnBrk="0" fontAlgn="base" hangingPunct="0">
              <a:lnSpc>
                <a:spcPct val="120000"/>
              </a:lnSpc>
              <a:spcBef>
                <a:spcPct val="0"/>
              </a:spcBef>
              <a:spcAft>
                <a:spcPct val="0"/>
              </a:spcAft>
              <a:buFont typeface="Trebuchet MS" pitchFamily="34" charset="0"/>
              <a:buChar char="―"/>
              <a:defRPr kumimoji="1" sz="1200">
                <a:solidFill>
                  <a:schemeClr val="tx1"/>
                </a:solidFill>
                <a:latin typeface="Arial" charset="0"/>
                <a:ea typeface="맑은 고딕" pitchFamily="50" charset="-127"/>
              </a:defRPr>
            </a:lvl9pPr>
          </a:lstStyle>
          <a:p>
            <a:pPr algn="ctr" eaLnBrk="1" hangingPunct="1">
              <a:lnSpc>
                <a:spcPct val="150000"/>
              </a:lnSpc>
              <a:spcBef>
                <a:spcPct val="0"/>
              </a:spcBef>
              <a:buClrTx/>
              <a:buFontTx/>
              <a:buNone/>
            </a:pPr>
            <a:r>
              <a:rPr lang="en-US" altLang="ko-KR" sz="2400" dirty="0">
                <a:latin typeface="+mn-lt"/>
                <a:ea typeface="LG스마트체 Regular" panose="020B0600000101010101" pitchFamily="50" charset="-127"/>
                <a:cs typeface="Times New Roman" panose="02020603050405020304" pitchFamily="18" charset="0"/>
              </a:rPr>
              <a:t>Candidate: Vu Hoang Phi (phi.vu)</a:t>
            </a:r>
            <a:endParaRPr lang="en-US" altLang="ko-KR" sz="2400" dirty="0">
              <a:latin typeface="+mn-lt"/>
              <a:cs typeface="Times New Roman" panose="02020603050405020304" pitchFamily="18" charset="0"/>
            </a:endParaRPr>
          </a:p>
          <a:p>
            <a:pPr algn="ctr" eaLnBrk="1" hangingPunct="1">
              <a:lnSpc>
                <a:spcPct val="150000"/>
              </a:lnSpc>
              <a:spcBef>
                <a:spcPct val="0"/>
              </a:spcBef>
              <a:buClrTx/>
              <a:buFontTx/>
              <a:buNone/>
            </a:pPr>
            <a:r>
              <a:rPr lang="en-US" altLang="ko-KR" sz="2400" dirty="0">
                <a:latin typeface="+mn-lt"/>
                <a:ea typeface="LG스마트체 Regular" panose="020B0600000101010101" pitchFamily="50" charset="-127"/>
                <a:cs typeface="Times New Roman" panose="02020603050405020304" pitchFamily="18" charset="0"/>
              </a:rPr>
              <a:t>Supervisor: </a:t>
            </a:r>
            <a:r>
              <a:rPr lang="en-US" altLang="ko-KR" sz="2400" dirty="0">
                <a:latin typeface="+mn-lt"/>
                <a:cs typeface="Times New Roman" panose="02020603050405020304" pitchFamily="18" charset="0"/>
              </a:rPr>
              <a:t>Mr. </a:t>
            </a:r>
            <a:r>
              <a:rPr lang="en-US" sz="2400" dirty="0">
                <a:latin typeface="+mn-lt"/>
                <a:cs typeface="Times New Roman" panose="02020603050405020304" pitchFamily="18" charset="0"/>
              </a:rPr>
              <a:t>Byung Yong Kim</a:t>
            </a:r>
            <a:endParaRPr lang="en-US" altLang="ko-KR" sz="2400" dirty="0">
              <a:latin typeface="+mn-lt"/>
              <a:ea typeface="LG스마트체 Regular" panose="020B0600000101010101" pitchFamily="50" charset="-127"/>
              <a:cs typeface="Times New Roman" panose="02020603050405020304" pitchFamily="18" charset="0"/>
            </a:endParaRPr>
          </a:p>
          <a:p>
            <a:pPr algn="ctr" eaLnBrk="1" hangingPunct="1">
              <a:lnSpc>
                <a:spcPct val="150000"/>
              </a:lnSpc>
              <a:spcBef>
                <a:spcPct val="0"/>
              </a:spcBef>
              <a:buClrTx/>
              <a:buFontTx/>
              <a:buNone/>
            </a:pPr>
            <a:r>
              <a:rPr lang="en-US" sz="2400" dirty="0">
                <a:latin typeface="+mn-lt"/>
                <a:cs typeface="Times New Roman" panose="02020603050405020304" pitchFamily="18" charset="0"/>
              </a:rPr>
              <a:t>LGEDV – August 2026</a:t>
            </a:r>
          </a:p>
          <a:p>
            <a:pPr algn="ctr" eaLnBrk="1" hangingPunct="1">
              <a:lnSpc>
                <a:spcPct val="100000"/>
              </a:lnSpc>
              <a:spcBef>
                <a:spcPct val="0"/>
              </a:spcBef>
              <a:buClrTx/>
              <a:buNone/>
            </a:pPr>
            <a:endParaRPr lang="ko-KR" altLang="en-US" sz="2400" dirty="0">
              <a:latin typeface="+mj-lt"/>
              <a:ea typeface="LG스마트체 Regular" panose="020B0600000101010101" pitchFamily="50" charset="-127"/>
            </a:endParaRPr>
          </a:p>
          <a:p>
            <a:pPr algn="ctr" eaLnBrk="1" hangingPunct="1">
              <a:lnSpc>
                <a:spcPct val="100000"/>
              </a:lnSpc>
              <a:spcBef>
                <a:spcPct val="0"/>
              </a:spcBef>
              <a:buClrTx/>
              <a:buFontTx/>
              <a:buNone/>
            </a:pPr>
            <a:endParaRPr lang="ko-KR" altLang="en-US" sz="2400" dirty="0">
              <a:latin typeface="+mj-lt"/>
              <a:ea typeface="LG스마트체 Regular" panose="020B0600000101010101" pitchFamily="50" charset="-127"/>
            </a:endParaRPr>
          </a:p>
        </p:txBody>
      </p:sp>
      <p:sp>
        <p:nvSpPr>
          <p:cNvPr id="4" name="Slide Number Placeholder 3"/>
          <p:cNvSpPr>
            <a:spLocks noGrp="1"/>
          </p:cNvSpPr>
          <p:nvPr>
            <p:ph type="sldNum" sz="quarter" idx="12"/>
          </p:nvPr>
        </p:nvSpPr>
        <p:spPr/>
        <p:txBody>
          <a:bodyPr/>
          <a:lstStyle/>
          <a:p>
            <a:fld id="{0059130C-D5A7-43F1-8BDF-D4DD1699FE09}" type="slidenum">
              <a:rPr lang="en-US" smtClean="0"/>
              <a:t>1</a:t>
            </a:fld>
            <a:endParaRPr lang="en-US" dirty="0"/>
          </a:p>
        </p:txBody>
      </p:sp>
    </p:spTree>
    <p:extLst>
      <p:ext uri="{BB962C8B-B14F-4D97-AF65-F5344CB8AC3E}">
        <p14:creationId xmlns:p14="http://schemas.microsoft.com/office/powerpoint/2010/main" val="24174174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2618"/>
            <a:ext cx="10515600" cy="1325563"/>
          </a:xfrm>
        </p:spPr>
        <p:txBody>
          <a:bodyPr/>
          <a:lstStyle/>
          <a:p>
            <a:pPr algn="ctr"/>
            <a:r>
              <a:rPr lang="en-US" dirty="0">
                <a:latin typeface="+mn-lt"/>
                <a:cs typeface="Times New Roman" panose="02020603050405020304" pitchFamily="18" charset="0"/>
              </a:rPr>
              <a:t>Table of contents</a:t>
            </a:r>
          </a:p>
        </p:txBody>
      </p:sp>
      <p:grpSp>
        <p:nvGrpSpPr>
          <p:cNvPr id="5" name="Group 3"/>
          <p:cNvGrpSpPr>
            <a:grpSpLocks/>
          </p:cNvGrpSpPr>
          <p:nvPr/>
        </p:nvGrpSpPr>
        <p:grpSpPr bwMode="auto">
          <a:xfrm>
            <a:off x="2431279" y="1160030"/>
            <a:ext cx="762000" cy="665163"/>
            <a:chOff x="1110" y="2656"/>
            <a:chExt cx="1549" cy="1351"/>
          </a:xfrm>
          <a:solidFill>
            <a:schemeClr val="tx1">
              <a:lumMod val="85000"/>
              <a:lumOff val="15000"/>
            </a:schemeClr>
          </a:solidFill>
        </p:grpSpPr>
        <p:sp>
          <p:nvSpPr>
            <p:cNvPr id="6" name="AutoShape 4"/>
            <p:cNvSpPr>
              <a:spLocks noChangeArrowheads="1"/>
            </p:cNvSpPr>
            <p:nvPr/>
          </p:nvSpPr>
          <p:spPr bwMode="gray">
            <a:xfrm>
              <a:off x="1123"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7" name="AutoShape 5"/>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8" name="AutoShape 6"/>
            <p:cNvSpPr>
              <a:spLocks noChangeArrowheads="1"/>
            </p:cNvSpPr>
            <p:nvPr/>
          </p:nvSpPr>
          <p:spPr bwMode="gray">
            <a:xfrm>
              <a:off x="1200" y="2737"/>
              <a:ext cx="1349" cy="1167"/>
            </a:xfrm>
            <a:prstGeom prst="hexagon">
              <a:avLst>
                <a:gd name="adj" fmla="val 28896"/>
                <a:gd name="vf" fmla="val 115470"/>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sz="2500">
                <a:cs typeface="Arial" panose="020B0604020202020204" pitchFamily="34" charset="0"/>
              </a:endParaRPr>
            </a:p>
          </p:txBody>
        </p:sp>
      </p:grpSp>
      <p:grpSp>
        <p:nvGrpSpPr>
          <p:cNvPr id="9" name="Group 7"/>
          <p:cNvGrpSpPr>
            <a:grpSpLocks/>
          </p:cNvGrpSpPr>
          <p:nvPr/>
        </p:nvGrpSpPr>
        <p:grpSpPr bwMode="auto">
          <a:xfrm>
            <a:off x="2463253" y="2717757"/>
            <a:ext cx="762000" cy="665163"/>
            <a:chOff x="3174" y="2656"/>
            <a:chExt cx="1549" cy="1351"/>
          </a:xfrm>
          <a:solidFill>
            <a:schemeClr val="tx1">
              <a:lumMod val="85000"/>
              <a:lumOff val="15000"/>
            </a:schemeClr>
          </a:solidFill>
        </p:grpSpPr>
        <p:sp>
          <p:nvSpPr>
            <p:cNvPr id="10" name="AutoShape 8"/>
            <p:cNvSpPr>
              <a:spLocks noChangeArrowheads="1"/>
            </p:cNvSpPr>
            <p:nvPr/>
          </p:nvSpPr>
          <p:spPr bwMode="gray">
            <a:xfrm>
              <a:off x="3187"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11" name="AutoShape 9"/>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12" name="AutoShape 10"/>
            <p:cNvSpPr>
              <a:spLocks noChangeArrowheads="1"/>
            </p:cNvSpPr>
            <p:nvPr/>
          </p:nvSpPr>
          <p:spPr bwMode="gray">
            <a:xfrm>
              <a:off x="3264" y="2737"/>
              <a:ext cx="1349" cy="1167"/>
            </a:xfrm>
            <a:prstGeom prst="hexagon">
              <a:avLst>
                <a:gd name="adj" fmla="val 28896"/>
                <a:gd name="vf" fmla="val 115470"/>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sz="2500">
                <a:cs typeface="Arial" panose="020B0604020202020204" pitchFamily="34" charset="0"/>
              </a:endParaRPr>
            </a:p>
          </p:txBody>
        </p:sp>
      </p:grpSp>
      <p:sp>
        <p:nvSpPr>
          <p:cNvPr id="13" name="Line 11"/>
          <p:cNvSpPr>
            <a:spLocks noChangeShapeType="1"/>
          </p:cNvSpPr>
          <p:nvPr/>
        </p:nvSpPr>
        <p:spPr bwMode="auto">
          <a:xfrm flipV="1">
            <a:off x="3231648" y="1763204"/>
            <a:ext cx="6539130" cy="5723"/>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00">
              <a:latin typeface="Arial" panose="020B0604020202020204" pitchFamily="34" charset="0"/>
              <a:cs typeface="Arial" panose="020B0604020202020204" pitchFamily="34" charset="0"/>
            </a:endParaRPr>
          </a:p>
        </p:txBody>
      </p:sp>
      <p:sp>
        <p:nvSpPr>
          <p:cNvPr id="14" name="Text Box 13"/>
          <p:cNvSpPr txBox="1">
            <a:spLocks noChangeArrowheads="1"/>
          </p:cNvSpPr>
          <p:nvPr/>
        </p:nvSpPr>
        <p:spPr bwMode="gray">
          <a:xfrm>
            <a:off x="2614206" y="1238084"/>
            <a:ext cx="362600"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2500" b="1" dirty="0">
                <a:solidFill>
                  <a:schemeClr val="bg1"/>
                </a:solidFill>
                <a:cs typeface="Arial" panose="020B0604020202020204" pitchFamily="34" charset="0"/>
              </a:rPr>
              <a:t>1</a:t>
            </a:r>
          </a:p>
        </p:txBody>
      </p:sp>
      <p:sp>
        <p:nvSpPr>
          <p:cNvPr id="15" name="Line 14"/>
          <p:cNvSpPr>
            <a:spLocks noChangeShapeType="1"/>
          </p:cNvSpPr>
          <p:nvPr/>
        </p:nvSpPr>
        <p:spPr bwMode="auto">
          <a:xfrm>
            <a:off x="3331495" y="3318210"/>
            <a:ext cx="6439283" cy="8926"/>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00">
              <a:latin typeface="Arial" panose="020B0604020202020204" pitchFamily="34" charset="0"/>
              <a:cs typeface="Arial" panose="020B0604020202020204" pitchFamily="34" charset="0"/>
            </a:endParaRPr>
          </a:p>
        </p:txBody>
      </p:sp>
      <p:sp>
        <p:nvSpPr>
          <p:cNvPr id="17" name="Text Box 16"/>
          <p:cNvSpPr txBox="1">
            <a:spLocks noChangeArrowheads="1"/>
          </p:cNvSpPr>
          <p:nvPr/>
        </p:nvSpPr>
        <p:spPr bwMode="gray">
          <a:xfrm>
            <a:off x="2655811" y="2816181"/>
            <a:ext cx="362600"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2500" b="1" dirty="0">
                <a:solidFill>
                  <a:schemeClr val="bg1"/>
                </a:solidFill>
                <a:cs typeface="Arial" panose="020B0604020202020204" pitchFamily="34" charset="0"/>
              </a:rPr>
              <a:t>3</a:t>
            </a:r>
          </a:p>
        </p:txBody>
      </p:sp>
      <p:grpSp>
        <p:nvGrpSpPr>
          <p:cNvPr id="18" name="Group 17"/>
          <p:cNvGrpSpPr>
            <a:grpSpLocks/>
          </p:cNvGrpSpPr>
          <p:nvPr/>
        </p:nvGrpSpPr>
        <p:grpSpPr bwMode="auto">
          <a:xfrm>
            <a:off x="2456858" y="3501165"/>
            <a:ext cx="762000" cy="665163"/>
            <a:chOff x="1110" y="2656"/>
            <a:chExt cx="1549" cy="1351"/>
          </a:xfrm>
          <a:solidFill>
            <a:schemeClr val="tx1">
              <a:lumMod val="85000"/>
              <a:lumOff val="15000"/>
            </a:schemeClr>
          </a:solidFill>
        </p:grpSpPr>
        <p:sp>
          <p:nvSpPr>
            <p:cNvPr id="19" name="AutoShape 18"/>
            <p:cNvSpPr>
              <a:spLocks noChangeArrowheads="1"/>
            </p:cNvSpPr>
            <p:nvPr/>
          </p:nvSpPr>
          <p:spPr bwMode="gray">
            <a:xfrm>
              <a:off x="1123"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20"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21" name="AutoShape 20"/>
            <p:cNvSpPr>
              <a:spLocks noChangeArrowheads="1"/>
            </p:cNvSpPr>
            <p:nvPr/>
          </p:nvSpPr>
          <p:spPr bwMode="gray">
            <a:xfrm>
              <a:off x="1200" y="2737"/>
              <a:ext cx="1349" cy="1167"/>
            </a:xfrm>
            <a:prstGeom prst="hexagon">
              <a:avLst>
                <a:gd name="adj" fmla="val 28896"/>
                <a:gd name="vf" fmla="val 115470"/>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sz="2500">
                <a:cs typeface="Arial" panose="020B0604020202020204" pitchFamily="34" charset="0"/>
              </a:endParaRPr>
            </a:p>
          </p:txBody>
        </p:sp>
      </p:grpSp>
      <p:sp>
        <p:nvSpPr>
          <p:cNvPr id="22" name="Line 25"/>
          <p:cNvSpPr>
            <a:spLocks noChangeShapeType="1"/>
          </p:cNvSpPr>
          <p:nvPr/>
        </p:nvSpPr>
        <p:spPr bwMode="auto">
          <a:xfrm>
            <a:off x="3291865" y="4076643"/>
            <a:ext cx="6478913" cy="5009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00">
              <a:latin typeface="Arial" panose="020B0604020202020204" pitchFamily="34" charset="0"/>
              <a:cs typeface="Arial" panose="020B0604020202020204" pitchFamily="34" charset="0"/>
            </a:endParaRPr>
          </a:p>
        </p:txBody>
      </p:sp>
      <p:sp>
        <p:nvSpPr>
          <p:cNvPr id="23" name="Text Box 26"/>
          <p:cNvSpPr txBox="1">
            <a:spLocks noChangeArrowheads="1"/>
          </p:cNvSpPr>
          <p:nvPr/>
        </p:nvSpPr>
        <p:spPr bwMode="auto">
          <a:xfrm>
            <a:off x="3357073" y="3613221"/>
            <a:ext cx="60218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lvl="1" indent="0">
              <a:buClr>
                <a:schemeClr val="tx2"/>
              </a:buClr>
              <a:buNone/>
            </a:pPr>
            <a:r>
              <a:rPr lang="en-US" sz="2400" b="1" dirty="0">
                <a:latin typeface="+mn-lt"/>
                <a:cs typeface="Times New Roman" panose="02020603050405020304" pitchFamily="18" charset="0"/>
              </a:rPr>
              <a:t>Design Proposals for Selected Solution</a:t>
            </a:r>
          </a:p>
        </p:txBody>
      </p:sp>
      <p:sp>
        <p:nvSpPr>
          <p:cNvPr id="24" name="Text Box 27"/>
          <p:cNvSpPr txBox="1">
            <a:spLocks noChangeArrowheads="1"/>
          </p:cNvSpPr>
          <p:nvPr/>
        </p:nvSpPr>
        <p:spPr bwMode="gray">
          <a:xfrm>
            <a:off x="2649416" y="3599589"/>
            <a:ext cx="362600" cy="477054"/>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2500" b="1" dirty="0">
                <a:solidFill>
                  <a:schemeClr val="bg1"/>
                </a:solidFill>
                <a:cs typeface="Arial" panose="020B0604020202020204" pitchFamily="34" charset="0"/>
              </a:rPr>
              <a:t>4</a:t>
            </a:r>
          </a:p>
        </p:txBody>
      </p:sp>
      <p:sp>
        <p:nvSpPr>
          <p:cNvPr id="25" name="Rectangle 24"/>
          <p:cNvSpPr/>
          <p:nvPr/>
        </p:nvSpPr>
        <p:spPr>
          <a:xfrm>
            <a:off x="3360271" y="1219118"/>
            <a:ext cx="6410508" cy="461665"/>
          </a:xfrm>
          <a:prstGeom prst="rect">
            <a:avLst/>
          </a:prstGeom>
        </p:spPr>
        <p:txBody>
          <a:bodyPr wrap="square">
            <a:spAutoFit/>
          </a:bodyPr>
          <a:lstStyle/>
          <a:p>
            <a:r>
              <a:rPr lang="en-US" sz="2400" b="1" dirty="0">
                <a:cs typeface="Times New Roman" panose="02020603050405020304" pitchFamily="18" charset="0"/>
              </a:rPr>
              <a:t>Overview</a:t>
            </a:r>
          </a:p>
        </p:txBody>
      </p:sp>
      <p:grpSp>
        <p:nvGrpSpPr>
          <p:cNvPr id="26" name="Group 17"/>
          <p:cNvGrpSpPr>
            <a:grpSpLocks/>
          </p:cNvGrpSpPr>
          <p:nvPr/>
        </p:nvGrpSpPr>
        <p:grpSpPr bwMode="auto">
          <a:xfrm>
            <a:off x="2456858" y="4276383"/>
            <a:ext cx="762000" cy="665163"/>
            <a:chOff x="1110" y="2656"/>
            <a:chExt cx="1549" cy="1351"/>
          </a:xfrm>
          <a:solidFill>
            <a:schemeClr val="tx1">
              <a:lumMod val="85000"/>
              <a:lumOff val="15000"/>
            </a:schemeClr>
          </a:solidFill>
        </p:grpSpPr>
        <p:sp>
          <p:nvSpPr>
            <p:cNvPr id="27" name="AutoShape 18"/>
            <p:cNvSpPr>
              <a:spLocks noChangeArrowheads="1"/>
            </p:cNvSpPr>
            <p:nvPr/>
          </p:nvSpPr>
          <p:spPr bwMode="gray">
            <a:xfrm>
              <a:off x="1123"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28"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29" name="AutoShape 20"/>
            <p:cNvSpPr>
              <a:spLocks noChangeArrowheads="1"/>
            </p:cNvSpPr>
            <p:nvPr/>
          </p:nvSpPr>
          <p:spPr bwMode="gray">
            <a:xfrm>
              <a:off x="1200" y="2737"/>
              <a:ext cx="1349" cy="1167"/>
            </a:xfrm>
            <a:prstGeom prst="hexagon">
              <a:avLst>
                <a:gd name="adj" fmla="val 28896"/>
                <a:gd name="vf" fmla="val 115470"/>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sz="2500">
                <a:cs typeface="Arial" panose="020B0604020202020204" pitchFamily="34" charset="0"/>
              </a:endParaRPr>
            </a:p>
          </p:txBody>
        </p:sp>
      </p:grpSp>
      <p:sp>
        <p:nvSpPr>
          <p:cNvPr id="30" name="Line 25"/>
          <p:cNvSpPr>
            <a:spLocks noChangeShapeType="1"/>
          </p:cNvSpPr>
          <p:nvPr/>
        </p:nvSpPr>
        <p:spPr bwMode="auto">
          <a:xfrm>
            <a:off x="3291865" y="4851861"/>
            <a:ext cx="6478913" cy="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00">
              <a:latin typeface="Arial" panose="020B0604020202020204" pitchFamily="34" charset="0"/>
              <a:cs typeface="Arial" panose="020B0604020202020204" pitchFamily="34" charset="0"/>
            </a:endParaRPr>
          </a:p>
        </p:txBody>
      </p:sp>
      <p:sp>
        <p:nvSpPr>
          <p:cNvPr id="31" name="Text Box 26"/>
          <p:cNvSpPr txBox="1">
            <a:spLocks noChangeArrowheads="1"/>
          </p:cNvSpPr>
          <p:nvPr/>
        </p:nvSpPr>
        <p:spPr bwMode="auto">
          <a:xfrm>
            <a:off x="3339726" y="4353709"/>
            <a:ext cx="65391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None/>
            </a:pPr>
            <a:r>
              <a:rPr lang="en-US" sz="2400" b="1" dirty="0">
                <a:latin typeface="+mn-lt"/>
                <a:cs typeface="Times New Roman" panose="02020603050405020304" pitchFamily="18" charset="0"/>
              </a:rPr>
              <a:t>Implementation and Verification</a:t>
            </a:r>
          </a:p>
        </p:txBody>
      </p:sp>
      <p:sp>
        <p:nvSpPr>
          <p:cNvPr id="32" name="Text Box 27"/>
          <p:cNvSpPr txBox="1">
            <a:spLocks noChangeArrowheads="1"/>
          </p:cNvSpPr>
          <p:nvPr/>
        </p:nvSpPr>
        <p:spPr bwMode="gray">
          <a:xfrm>
            <a:off x="2649416" y="4374807"/>
            <a:ext cx="362600" cy="477054"/>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2500" b="1" dirty="0">
                <a:solidFill>
                  <a:schemeClr val="bg1"/>
                </a:solidFill>
                <a:cs typeface="Arial" panose="020B0604020202020204" pitchFamily="34" charset="0"/>
              </a:rPr>
              <a:t>5</a:t>
            </a:r>
          </a:p>
        </p:txBody>
      </p:sp>
      <p:sp>
        <p:nvSpPr>
          <p:cNvPr id="33" name="Text Box 27"/>
          <p:cNvSpPr txBox="1">
            <a:spLocks noChangeArrowheads="1"/>
          </p:cNvSpPr>
          <p:nvPr/>
        </p:nvSpPr>
        <p:spPr bwMode="gray">
          <a:xfrm>
            <a:off x="2643021" y="5241235"/>
            <a:ext cx="362600" cy="477054"/>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2500" b="1" dirty="0">
                <a:solidFill>
                  <a:schemeClr val="bg1"/>
                </a:solidFill>
                <a:cs typeface="Arial" panose="020B0604020202020204" pitchFamily="34" charset="0"/>
              </a:rPr>
              <a:t>6</a:t>
            </a:r>
          </a:p>
        </p:txBody>
      </p:sp>
      <p:grpSp>
        <p:nvGrpSpPr>
          <p:cNvPr id="34" name="Group 7"/>
          <p:cNvGrpSpPr>
            <a:grpSpLocks/>
          </p:cNvGrpSpPr>
          <p:nvPr/>
        </p:nvGrpSpPr>
        <p:grpSpPr bwMode="auto">
          <a:xfrm>
            <a:off x="2450463" y="1958524"/>
            <a:ext cx="762000" cy="665163"/>
            <a:chOff x="3174" y="2656"/>
            <a:chExt cx="1549" cy="1351"/>
          </a:xfrm>
          <a:solidFill>
            <a:schemeClr val="tx1">
              <a:lumMod val="85000"/>
              <a:lumOff val="15000"/>
            </a:schemeClr>
          </a:solidFill>
        </p:grpSpPr>
        <p:sp>
          <p:nvSpPr>
            <p:cNvPr id="35" name="AutoShape 8"/>
            <p:cNvSpPr>
              <a:spLocks noChangeArrowheads="1"/>
            </p:cNvSpPr>
            <p:nvPr/>
          </p:nvSpPr>
          <p:spPr bwMode="gray">
            <a:xfrm>
              <a:off x="3187"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36" name="AutoShape 9"/>
            <p:cNvSpPr>
              <a:spLocks noChangeArrowheads="1"/>
            </p:cNvSpPr>
            <p:nvPr/>
          </p:nvSpPr>
          <p:spPr bwMode="gray">
            <a:xfrm>
              <a:off x="3174"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37" name="AutoShape 10"/>
            <p:cNvSpPr>
              <a:spLocks noChangeArrowheads="1"/>
            </p:cNvSpPr>
            <p:nvPr/>
          </p:nvSpPr>
          <p:spPr bwMode="gray">
            <a:xfrm>
              <a:off x="3264" y="2737"/>
              <a:ext cx="1349" cy="1167"/>
            </a:xfrm>
            <a:prstGeom prst="hexagon">
              <a:avLst>
                <a:gd name="adj" fmla="val 28896"/>
                <a:gd name="vf" fmla="val 115470"/>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sz="2500">
                <a:cs typeface="Arial" panose="020B0604020202020204" pitchFamily="34" charset="0"/>
              </a:endParaRPr>
            </a:p>
          </p:txBody>
        </p:sp>
      </p:grpSp>
      <p:sp>
        <p:nvSpPr>
          <p:cNvPr id="38" name="Line 14"/>
          <p:cNvSpPr>
            <a:spLocks noChangeShapeType="1"/>
          </p:cNvSpPr>
          <p:nvPr/>
        </p:nvSpPr>
        <p:spPr bwMode="auto">
          <a:xfrm flipV="1">
            <a:off x="3234342" y="2506044"/>
            <a:ext cx="6536436" cy="4690"/>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00">
              <a:latin typeface="Arial" panose="020B0604020202020204" pitchFamily="34" charset="0"/>
              <a:cs typeface="Arial" panose="020B0604020202020204" pitchFamily="34" charset="0"/>
            </a:endParaRPr>
          </a:p>
        </p:txBody>
      </p:sp>
      <p:sp>
        <p:nvSpPr>
          <p:cNvPr id="39" name="Text Box 15"/>
          <p:cNvSpPr txBox="1">
            <a:spLocks noChangeArrowheads="1"/>
          </p:cNvSpPr>
          <p:nvPr/>
        </p:nvSpPr>
        <p:spPr bwMode="auto">
          <a:xfrm>
            <a:off x="3360748" y="2062610"/>
            <a:ext cx="6410030" cy="47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lvl="1" indent="0">
              <a:spcBef>
                <a:spcPts val="0"/>
              </a:spcBef>
              <a:buNone/>
            </a:pPr>
            <a:r>
              <a:rPr lang="en-US" sz="2400" b="1" dirty="0">
                <a:latin typeface="+mn-lt"/>
                <a:cs typeface="Times New Roman" panose="02020603050405020304" pitchFamily="18" charset="0"/>
              </a:rPr>
              <a:t>Problem Identification </a:t>
            </a:r>
          </a:p>
        </p:txBody>
      </p:sp>
      <p:sp>
        <p:nvSpPr>
          <p:cNvPr id="40" name="Text Box 16"/>
          <p:cNvSpPr txBox="1">
            <a:spLocks noChangeArrowheads="1"/>
          </p:cNvSpPr>
          <p:nvPr/>
        </p:nvSpPr>
        <p:spPr bwMode="gray">
          <a:xfrm>
            <a:off x="2643021" y="2056948"/>
            <a:ext cx="362600" cy="477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2500" b="1" dirty="0">
                <a:solidFill>
                  <a:schemeClr val="bg1"/>
                </a:solidFill>
                <a:cs typeface="Arial" panose="020B0604020202020204" pitchFamily="34" charset="0"/>
              </a:rPr>
              <a:t>2</a:t>
            </a:r>
          </a:p>
        </p:txBody>
      </p:sp>
      <p:grpSp>
        <p:nvGrpSpPr>
          <p:cNvPr id="41" name="Group 17"/>
          <p:cNvGrpSpPr>
            <a:grpSpLocks/>
          </p:cNvGrpSpPr>
          <p:nvPr/>
        </p:nvGrpSpPr>
        <p:grpSpPr bwMode="auto">
          <a:xfrm>
            <a:off x="2469648" y="5108855"/>
            <a:ext cx="762000" cy="665163"/>
            <a:chOff x="1110" y="2656"/>
            <a:chExt cx="1549" cy="1351"/>
          </a:xfrm>
          <a:solidFill>
            <a:schemeClr val="tx1">
              <a:lumMod val="85000"/>
              <a:lumOff val="15000"/>
            </a:schemeClr>
          </a:solidFill>
        </p:grpSpPr>
        <p:sp>
          <p:nvSpPr>
            <p:cNvPr id="42" name="AutoShape 18"/>
            <p:cNvSpPr>
              <a:spLocks noChangeArrowheads="1"/>
            </p:cNvSpPr>
            <p:nvPr/>
          </p:nvSpPr>
          <p:spPr bwMode="gray">
            <a:xfrm>
              <a:off x="1123"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43"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44" name="AutoShape 20"/>
            <p:cNvSpPr>
              <a:spLocks noChangeArrowheads="1"/>
            </p:cNvSpPr>
            <p:nvPr/>
          </p:nvSpPr>
          <p:spPr bwMode="gray">
            <a:xfrm>
              <a:off x="1200" y="2737"/>
              <a:ext cx="1349" cy="1167"/>
            </a:xfrm>
            <a:prstGeom prst="hexagon">
              <a:avLst>
                <a:gd name="adj" fmla="val 28896"/>
                <a:gd name="vf" fmla="val 115470"/>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sz="2500">
                <a:cs typeface="Arial" panose="020B0604020202020204" pitchFamily="34" charset="0"/>
              </a:endParaRPr>
            </a:p>
          </p:txBody>
        </p:sp>
      </p:grpSp>
      <p:sp>
        <p:nvSpPr>
          <p:cNvPr id="45" name="Line 25"/>
          <p:cNvSpPr>
            <a:spLocks noChangeShapeType="1"/>
          </p:cNvSpPr>
          <p:nvPr/>
        </p:nvSpPr>
        <p:spPr bwMode="auto">
          <a:xfrm flipV="1">
            <a:off x="3304656" y="5654256"/>
            <a:ext cx="6466122" cy="1501"/>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00">
              <a:latin typeface="Arial" panose="020B0604020202020204" pitchFamily="34" charset="0"/>
              <a:cs typeface="Arial" panose="020B0604020202020204" pitchFamily="34" charset="0"/>
            </a:endParaRPr>
          </a:p>
        </p:txBody>
      </p:sp>
      <p:sp>
        <p:nvSpPr>
          <p:cNvPr id="46" name="Text Box 26"/>
          <p:cNvSpPr txBox="1">
            <a:spLocks noChangeArrowheads="1"/>
          </p:cNvSpPr>
          <p:nvPr/>
        </p:nvSpPr>
        <p:spPr bwMode="auto">
          <a:xfrm>
            <a:off x="3363440" y="5169320"/>
            <a:ext cx="649170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None/>
            </a:pPr>
            <a:r>
              <a:rPr lang="en-US" sz="2400" b="1" dirty="0">
                <a:latin typeface="+mn-lt"/>
                <a:cs typeface="Times New Roman" panose="02020603050405020304" pitchFamily="18" charset="0"/>
              </a:rPr>
              <a:t>Conclusion</a:t>
            </a:r>
          </a:p>
        </p:txBody>
      </p:sp>
      <p:sp>
        <p:nvSpPr>
          <p:cNvPr id="47" name="Text Box 27"/>
          <p:cNvSpPr txBox="1">
            <a:spLocks noChangeArrowheads="1"/>
          </p:cNvSpPr>
          <p:nvPr/>
        </p:nvSpPr>
        <p:spPr bwMode="gray">
          <a:xfrm>
            <a:off x="2667183" y="5205778"/>
            <a:ext cx="362600" cy="477054"/>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2500" b="1" dirty="0">
                <a:solidFill>
                  <a:schemeClr val="bg1"/>
                </a:solidFill>
                <a:cs typeface="Arial" panose="020B0604020202020204" pitchFamily="34" charset="0"/>
              </a:rPr>
              <a:t>6</a:t>
            </a:r>
          </a:p>
        </p:txBody>
      </p:sp>
      <p:sp>
        <p:nvSpPr>
          <p:cNvPr id="3" name="Slide Number Placeholder 2"/>
          <p:cNvSpPr>
            <a:spLocks noGrp="1"/>
          </p:cNvSpPr>
          <p:nvPr>
            <p:ph type="sldNum" sz="quarter" idx="12"/>
          </p:nvPr>
        </p:nvSpPr>
        <p:spPr/>
        <p:txBody>
          <a:bodyPr/>
          <a:lstStyle/>
          <a:p>
            <a:fld id="{0059130C-D5A7-43F1-8BDF-D4DD1699FE09}" type="slidenum">
              <a:rPr lang="en-US" smtClean="0"/>
              <a:t>2</a:t>
            </a:fld>
            <a:endParaRPr lang="en-US"/>
          </a:p>
        </p:txBody>
      </p:sp>
      <p:grpSp>
        <p:nvGrpSpPr>
          <p:cNvPr id="51" name="Group 17"/>
          <p:cNvGrpSpPr>
            <a:grpSpLocks/>
          </p:cNvGrpSpPr>
          <p:nvPr/>
        </p:nvGrpSpPr>
        <p:grpSpPr bwMode="auto">
          <a:xfrm>
            <a:off x="2476043" y="5901990"/>
            <a:ext cx="762000" cy="665163"/>
            <a:chOff x="1110" y="2656"/>
            <a:chExt cx="1549" cy="1351"/>
          </a:xfrm>
          <a:solidFill>
            <a:schemeClr val="tx1">
              <a:lumMod val="85000"/>
              <a:lumOff val="15000"/>
            </a:schemeClr>
          </a:solidFill>
        </p:grpSpPr>
        <p:sp>
          <p:nvSpPr>
            <p:cNvPr id="52" name="AutoShape 18"/>
            <p:cNvSpPr>
              <a:spLocks noChangeArrowheads="1"/>
            </p:cNvSpPr>
            <p:nvPr/>
          </p:nvSpPr>
          <p:spPr bwMode="gray">
            <a:xfrm>
              <a:off x="1123" y="2679"/>
              <a:ext cx="1536" cy="1328"/>
            </a:xfrm>
            <a:prstGeom prst="hexagon">
              <a:avLst>
                <a:gd name="adj" fmla="val 28916"/>
                <a:gd name="vf" fmla="val 115470"/>
              </a:avLst>
            </a:prstGeom>
            <a:grpFill/>
            <a:ln>
              <a:noFill/>
            </a:ln>
            <a:effectLst/>
            <a:extLst>
              <a:ext uri="{91240B29-F687-4F45-9708-019B960494DF}">
                <a14:hiddenLine xmlns:a14="http://schemas.microsoft.com/office/drawing/2010/main" w="9525">
                  <a:solidFill>
                    <a:srgbClr val="C0C0C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53" name="AutoShape 19"/>
            <p:cNvSpPr>
              <a:spLocks noChangeArrowheads="1"/>
            </p:cNvSpPr>
            <p:nvPr/>
          </p:nvSpPr>
          <p:spPr bwMode="gray">
            <a:xfrm>
              <a:off x="1110" y="2656"/>
              <a:ext cx="1536" cy="1328"/>
            </a:xfrm>
            <a:prstGeom prst="hexagon">
              <a:avLst>
                <a:gd name="adj" fmla="val 28916"/>
                <a:gd name="vf" fmla="val 115470"/>
              </a:avLst>
            </a:prstGeom>
            <a:grpFill/>
            <a:ln w="9525">
              <a:solidFill>
                <a:srgbClr val="C0C0C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ClrTx/>
                <a:buFontTx/>
                <a:buNone/>
              </a:pPr>
              <a:endParaRPr lang="en-US" sz="2500">
                <a:cs typeface="Arial" panose="020B0604020202020204" pitchFamily="34" charset="0"/>
              </a:endParaRPr>
            </a:p>
          </p:txBody>
        </p:sp>
        <p:sp>
          <p:nvSpPr>
            <p:cNvPr id="54" name="AutoShape 20"/>
            <p:cNvSpPr>
              <a:spLocks noChangeArrowheads="1"/>
            </p:cNvSpPr>
            <p:nvPr/>
          </p:nvSpPr>
          <p:spPr bwMode="gray">
            <a:xfrm>
              <a:off x="1200" y="2737"/>
              <a:ext cx="1349" cy="1167"/>
            </a:xfrm>
            <a:prstGeom prst="hexagon">
              <a:avLst>
                <a:gd name="adj" fmla="val 28896"/>
                <a:gd name="vf" fmla="val 115470"/>
              </a:avLst>
            </a:prstGeom>
            <a:grp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sz="2500">
                <a:cs typeface="Arial" panose="020B0604020202020204" pitchFamily="34" charset="0"/>
              </a:endParaRPr>
            </a:p>
          </p:txBody>
        </p:sp>
      </p:grpSp>
      <p:sp>
        <p:nvSpPr>
          <p:cNvPr id="55" name="Line 25"/>
          <p:cNvSpPr>
            <a:spLocks noChangeShapeType="1"/>
          </p:cNvSpPr>
          <p:nvPr/>
        </p:nvSpPr>
        <p:spPr bwMode="auto">
          <a:xfrm>
            <a:off x="3311051" y="6448892"/>
            <a:ext cx="6459727" cy="37834"/>
          </a:xfrm>
          <a:prstGeom prst="line">
            <a:avLst/>
          </a:prstGeom>
          <a:noFill/>
          <a:ln w="25400">
            <a:solidFill>
              <a:srgbClr val="C0C0C0"/>
            </a:solidFill>
            <a:prstDash val="sysDot"/>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500">
              <a:latin typeface="Arial" panose="020B0604020202020204" pitchFamily="34" charset="0"/>
              <a:cs typeface="Arial" panose="020B0604020202020204" pitchFamily="34" charset="0"/>
            </a:endParaRPr>
          </a:p>
        </p:txBody>
      </p:sp>
      <p:sp>
        <p:nvSpPr>
          <p:cNvPr id="56" name="Text Box 26"/>
          <p:cNvSpPr txBox="1">
            <a:spLocks noChangeArrowheads="1"/>
          </p:cNvSpPr>
          <p:nvPr/>
        </p:nvSpPr>
        <p:spPr bwMode="auto">
          <a:xfrm>
            <a:off x="3331495" y="5976835"/>
            <a:ext cx="653913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buNone/>
            </a:pPr>
            <a:r>
              <a:rPr lang="en-US" sz="2400" b="1" dirty="0">
                <a:latin typeface="+mn-lt"/>
                <a:cs typeface="Times New Roman" panose="02020603050405020304" pitchFamily="18" charset="0"/>
              </a:rPr>
              <a:t>Q&amp;A</a:t>
            </a:r>
          </a:p>
        </p:txBody>
      </p:sp>
      <p:sp>
        <p:nvSpPr>
          <p:cNvPr id="57" name="Text Box 27"/>
          <p:cNvSpPr txBox="1">
            <a:spLocks noChangeArrowheads="1"/>
          </p:cNvSpPr>
          <p:nvPr/>
        </p:nvSpPr>
        <p:spPr bwMode="gray">
          <a:xfrm>
            <a:off x="2673578" y="5998913"/>
            <a:ext cx="362600" cy="477054"/>
          </a:xfrm>
          <a:prstGeom prst="rect">
            <a:avLst/>
          </a:prstGeom>
          <a:noFill/>
          <a:ln w="9525" algn="ctr">
            <a:no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ClrTx/>
              <a:buFontTx/>
              <a:buNone/>
            </a:pPr>
            <a:r>
              <a:rPr lang="en-US" sz="2500" b="1" dirty="0">
                <a:solidFill>
                  <a:schemeClr val="bg1"/>
                </a:solidFill>
                <a:cs typeface="Arial" panose="020B0604020202020204" pitchFamily="34" charset="0"/>
              </a:rPr>
              <a:t>7</a:t>
            </a:r>
          </a:p>
        </p:txBody>
      </p:sp>
      <p:sp>
        <p:nvSpPr>
          <p:cNvPr id="58" name="Text Box 15"/>
          <p:cNvSpPr txBox="1">
            <a:spLocks noChangeArrowheads="1"/>
          </p:cNvSpPr>
          <p:nvPr/>
        </p:nvSpPr>
        <p:spPr bwMode="auto">
          <a:xfrm>
            <a:off x="3339726" y="2839285"/>
            <a:ext cx="6248774" cy="4713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lr>
                <a:schemeClr val="tx2"/>
              </a:buClr>
              <a:buFont typeface="Wingdings" panose="05000000000000000000" pitchFamily="2" charset="2"/>
              <a:buChar char="§"/>
              <a:defRPr sz="3200">
                <a:solidFill>
                  <a:schemeClr val="tx1"/>
                </a:solidFill>
                <a:latin typeface="Arial" panose="020B0604020202020204" pitchFamily="34" charset="0"/>
              </a:defRPr>
            </a:lvl1pPr>
            <a:lvl2pPr marL="742950" indent="-285750">
              <a:spcBef>
                <a:spcPct val="20000"/>
              </a:spcBef>
              <a:buClr>
                <a:schemeClr val="accent1"/>
              </a:buClr>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tx1"/>
              </a:buClr>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marL="0" lvl="1" indent="0">
              <a:spcBef>
                <a:spcPts val="0"/>
              </a:spcBef>
              <a:buNone/>
            </a:pPr>
            <a:r>
              <a:rPr lang="en-US" sz="2400" b="1" dirty="0">
                <a:latin typeface="+mn-lt"/>
                <a:cs typeface="Times New Roman" panose="02020603050405020304" pitchFamily="18" charset="0"/>
              </a:rPr>
              <a:t>Solution Proposals</a:t>
            </a:r>
          </a:p>
        </p:txBody>
      </p:sp>
    </p:spTree>
    <p:extLst>
      <p:ext uri="{BB962C8B-B14F-4D97-AF65-F5344CB8AC3E}">
        <p14:creationId xmlns:p14="http://schemas.microsoft.com/office/powerpoint/2010/main" val="4150609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cs typeface="Times New Roman" panose="02020603050405020304" pitchFamily="18" charset="0"/>
              </a:rPr>
              <a:t>1. Overview - DCM and the RDG Module in Toyota 24LM</a:t>
            </a:r>
            <a:endParaRPr lang="en-US" dirty="0"/>
          </a:p>
        </p:txBody>
      </p:sp>
      <p:sp>
        <p:nvSpPr>
          <p:cNvPr id="3" name="Content Placeholder 2"/>
          <p:cNvSpPr>
            <a:spLocks noGrp="1"/>
          </p:cNvSpPr>
          <p:nvPr>
            <p:ph idx="1"/>
          </p:nvPr>
        </p:nvSpPr>
        <p:spPr/>
        <p:txBody>
          <a:bodyPr>
            <a:normAutofit/>
          </a:bodyPr>
          <a:lstStyle/>
          <a:p>
            <a:pPr algn="just"/>
            <a:r>
              <a:rPr lang="en-US" dirty="0"/>
              <a:t>DCM simultaneously holding 2 conflicting security roles:</a:t>
            </a:r>
          </a:p>
          <a:p>
            <a:pPr lvl="1" algn="just"/>
            <a:r>
              <a:rPr lang="en-US" dirty="0"/>
              <a:t>Entry Point (EP): wirelessly communicates with TMC Center (HTTP/MQTT), SOME/IP, OTA - the largest attack surface on the vehicle.</a:t>
            </a:r>
          </a:p>
          <a:p>
            <a:pPr lvl="1" algn="just"/>
            <a:r>
              <a:rPr lang="en-US" dirty="0"/>
              <a:t>Internal diagnostic client: sends UDS requests to MCU and in-vehicle CAN bus.</a:t>
            </a:r>
          </a:p>
          <a:p>
            <a:pPr algn="just"/>
            <a:r>
              <a:rPr lang="en-US" dirty="0"/>
              <a:t>Confirmed system-level solution: split DCM software into 2 partitions running Linux Containers (LXC): </a:t>
            </a:r>
            <a:r>
              <a:rPr lang="en-US" b="1" dirty="0"/>
              <a:t>EP container</a:t>
            </a:r>
            <a:r>
              <a:rPr lang="en-US" dirty="0"/>
              <a:t> and </a:t>
            </a:r>
            <a:r>
              <a:rPr lang="en-US" b="1" dirty="0"/>
              <a:t>Internal Container</a:t>
            </a:r>
          </a:p>
          <a:p>
            <a:pPr algn="just"/>
            <a:r>
              <a:rPr lang="en-US" b="1" dirty="0"/>
              <a:t>Remote </a:t>
            </a:r>
            <a:r>
              <a:rPr lang="en-US" b="1" dirty="0" err="1"/>
              <a:t>Diag</a:t>
            </a:r>
            <a:r>
              <a:rPr lang="en-US" b="1" dirty="0"/>
              <a:t> (RDG)</a:t>
            </a:r>
            <a:r>
              <a:rPr lang="en-US" dirty="0"/>
              <a:t>:</a:t>
            </a:r>
          </a:p>
          <a:p>
            <a:pPr lvl="1" algn="just"/>
            <a:r>
              <a:rPr lang="en-US" dirty="0"/>
              <a:t>Send </a:t>
            </a:r>
            <a:r>
              <a:rPr lang="en-US" dirty="0" err="1"/>
              <a:t>diag</a:t>
            </a:r>
            <a:r>
              <a:rPr lang="en-US" dirty="0"/>
              <a:t> commands to CAN</a:t>
            </a:r>
          </a:p>
          <a:p>
            <a:pPr lvl="1" algn="just"/>
            <a:r>
              <a:rPr lang="en-US" dirty="0"/>
              <a:t>High Fan-out: depends on ~12 services in EP (</a:t>
            </a:r>
            <a:r>
              <a:rPr lang="en-US" dirty="0" err="1"/>
              <a:t>CommMgr</a:t>
            </a:r>
            <a:r>
              <a:rPr lang="en-US" dirty="0"/>
              <a:t>, OBC, </a:t>
            </a:r>
            <a:r>
              <a:rPr lang="en-US" dirty="0" err="1"/>
              <a:t>DiagMgr</a:t>
            </a:r>
            <a:r>
              <a:rPr lang="en-US" dirty="0"/>
              <a:t>, </a:t>
            </a:r>
            <a:r>
              <a:rPr lang="en-US" dirty="0" err="1"/>
              <a:t>PowerMgr</a:t>
            </a:r>
            <a:r>
              <a:rPr lang="en-US" dirty="0"/>
              <a:t>, </a:t>
            </a:r>
            <a:r>
              <a:rPr lang="en-US" dirty="0" err="1"/>
              <a:t>MQTTMgr</a:t>
            </a:r>
            <a:r>
              <a:rPr lang="en-US" dirty="0"/>
              <a:t>, etc.)</a:t>
            </a:r>
          </a:p>
        </p:txBody>
      </p:sp>
      <p:sp>
        <p:nvSpPr>
          <p:cNvPr id="4" name="Slide Number Placeholder 3"/>
          <p:cNvSpPr>
            <a:spLocks noGrp="1"/>
          </p:cNvSpPr>
          <p:nvPr>
            <p:ph type="sldNum" sz="quarter" idx="12"/>
          </p:nvPr>
        </p:nvSpPr>
        <p:spPr/>
        <p:txBody>
          <a:bodyPr/>
          <a:lstStyle/>
          <a:p>
            <a:fld id="{0059130C-D5A7-43F1-8BDF-D4DD1699FE09}" type="slidenum">
              <a:rPr lang="en-US" smtClean="0"/>
              <a:t>3</a:t>
            </a:fld>
            <a:endParaRPr lang="en-US"/>
          </a:p>
        </p:txBody>
      </p:sp>
    </p:spTree>
    <p:extLst>
      <p:ext uri="{BB962C8B-B14F-4D97-AF65-F5344CB8AC3E}">
        <p14:creationId xmlns:p14="http://schemas.microsoft.com/office/powerpoint/2010/main" val="19162898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cs typeface="Times New Roman" panose="02020603050405020304" pitchFamily="18" charset="0"/>
              </a:rPr>
              <a:t>1. Overview - DCM and the RDG Module in Toyota 24LM</a:t>
            </a:r>
            <a:endParaRPr lang="en-US" dirty="0"/>
          </a:p>
        </p:txBody>
      </p:sp>
      <p:sp>
        <p:nvSpPr>
          <p:cNvPr id="4" name="Slide Number Placeholder 3"/>
          <p:cNvSpPr>
            <a:spLocks noGrp="1"/>
          </p:cNvSpPr>
          <p:nvPr>
            <p:ph type="sldNum" sz="quarter" idx="12"/>
          </p:nvPr>
        </p:nvSpPr>
        <p:spPr>
          <a:xfrm>
            <a:off x="9189811" y="6356350"/>
            <a:ext cx="2163989" cy="365125"/>
          </a:xfrm>
        </p:spPr>
        <p:txBody>
          <a:bodyPr/>
          <a:lstStyle/>
          <a:p>
            <a:fld id="{0059130C-D5A7-43F1-8BDF-D4DD1699FE09}" type="slidenum">
              <a:rPr lang="en-US" smtClean="0"/>
              <a:t>4</a:t>
            </a:fld>
            <a:endParaRPr lang="en-US" dirty="0"/>
          </a:p>
        </p:txBody>
      </p:sp>
      <p:sp>
        <p:nvSpPr>
          <p:cNvPr id="5" name="AutoShape 2" descr="http://collab.lge.com/main/download/attachments/3435532529/image-2026-2-23_15-43-36.png?version=1&amp;modificationDate=1771829016000&amp;api=v2"/>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6" name="Rectangle 25"/>
          <p:cNvSpPr/>
          <p:nvPr/>
        </p:nvSpPr>
        <p:spPr>
          <a:xfrm>
            <a:off x="2676524" y="1627188"/>
            <a:ext cx="6010275" cy="4948237"/>
          </a:xfrm>
          <a:prstGeom prst="rect">
            <a:avLst/>
          </a:prstGeom>
          <a:solidFill>
            <a:srgbClr val="FFFFE0"/>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95000"/>
                    <a:lumOff val="5000"/>
                  </a:schemeClr>
                </a:solidFill>
              </a:rPr>
              <a:t>DCM</a:t>
            </a:r>
          </a:p>
        </p:txBody>
      </p:sp>
      <p:sp>
        <p:nvSpPr>
          <p:cNvPr id="27" name="Rectangle 26"/>
          <p:cNvSpPr/>
          <p:nvPr/>
        </p:nvSpPr>
        <p:spPr>
          <a:xfrm>
            <a:off x="2948031" y="1995489"/>
            <a:ext cx="2811221" cy="3805826"/>
          </a:xfrm>
          <a:prstGeom prst="rect">
            <a:avLst/>
          </a:prstGeom>
          <a:solidFill>
            <a:srgbClr val="FFFFE0"/>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95000"/>
                    <a:lumOff val="5000"/>
                  </a:schemeClr>
                </a:solidFill>
              </a:rPr>
              <a:t>EP Container</a:t>
            </a:r>
          </a:p>
        </p:txBody>
      </p:sp>
      <p:sp>
        <p:nvSpPr>
          <p:cNvPr id="28" name="Rectangle 27"/>
          <p:cNvSpPr/>
          <p:nvPr/>
        </p:nvSpPr>
        <p:spPr>
          <a:xfrm>
            <a:off x="5883079" y="1995489"/>
            <a:ext cx="2638426" cy="2672318"/>
          </a:xfrm>
          <a:prstGeom prst="rect">
            <a:avLst/>
          </a:prstGeom>
          <a:solidFill>
            <a:srgbClr val="FFFFE0"/>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95000"/>
                    <a:lumOff val="5000"/>
                  </a:schemeClr>
                </a:solidFill>
              </a:rPr>
              <a:t>Internal Container</a:t>
            </a:r>
          </a:p>
        </p:txBody>
      </p:sp>
      <p:sp>
        <p:nvSpPr>
          <p:cNvPr id="29" name="Rectangle 28"/>
          <p:cNvSpPr/>
          <p:nvPr/>
        </p:nvSpPr>
        <p:spPr>
          <a:xfrm>
            <a:off x="3237723" y="3941121"/>
            <a:ext cx="2266949" cy="373326"/>
          </a:xfrm>
          <a:prstGeom prst="rect">
            <a:avLst/>
          </a:prstGeom>
          <a:solidFill>
            <a:srgbClr val="C2F0FF"/>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Remote </a:t>
            </a:r>
            <a:r>
              <a:rPr lang="en-US" dirty="0" err="1">
                <a:solidFill>
                  <a:schemeClr val="tx1">
                    <a:lumMod val="95000"/>
                    <a:lumOff val="5000"/>
                  </a:schemeClr>
                </a:solidFill>
              </a:rPr>
              <a:t>Diag</a:t>
            </a:r>
            <a:endParaRPr lang="en-US" dirty="0">
              <a:solidFill>
                <a:schemeClr val="tx1">
                  <a:lumMod val="95000"/>
                  <a:lumOff val="5000"/>
                </a:schemeClr>
              </a:solidFill>
            </a:endParaRPr>
          </a:p>
        </p:txBody>
      </p:sp>
      <p:sp>
        <p:nvSpPr>
          <p:cNvPr id="30" name="Rectangle 29"/>
          <p:cNvSpPr/>
          <p:nvPr/>
        </p:nvSpPr>
        <p:spPr>
          <a:xfrm>
            <a:off x="3237721" y="2528888"/>
            <a:ext cx="2266949" cy="319085"/>
          </a:xfrm>
          <a:prstGeom prst="rect">
            <a:avLst/>
          </a:prstGeom>
          <a:solidFill>
            <a:schemeClr val="accent6">
              <a:lumMod val="7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b="1" dirty="0">
                <a:solidFill>
                  <a:schemeClr val="bg1"/>
                </a:solidFill>
              </a:rPr>
              <a:t>TMC Apps</a:t>
            </a:r>
          </a:p>
        </p:txBody>
      </p:sp>
      <p:grpSp>
        <p:nvGrpSpPr>
          <p:cNvPr id="49" name="Group 48"/>
          <p:cNvGrpSpPr/>
          <p:nvPr/>
        </p:nvGrpSpPr>
        <p:grpSpPr>
          <a:xfrm>
            <a:off x="3232943" y="3055620"/>
            <a:ext cx="2280443" cy="406078"/>
            <a:chOff x="2191543" y="3101340"/>
            <a:chExt cx="2280443" cy="406078"/>
          </a:xfrm>
        </p:grpSpPr>
        <p:sp>
          <p:nvSpPr>
            <p:cNvPr id="31" name="Rectangle 30"/>
            <p:cNvSpPr/>
            <p:nvPr/>
          </p:nvSpPr>
          <p:spPr>
            <a:xfrm>
              <a:off x="2239816" y="3134677"/>
              <a:ext cx="2232170" cy="372741"/>
            </a:xfrm>
            <a:prstGeom prst="rect">
              <a:avLst/>
            </a:prstGeom>
            <a:solidFill>
              <a:srgbClr val="C2F0FF"/>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endParaRPr lang="en-US" dirty="0">
                <a:solidFill>
                  <a:schemeClr val="tx1">
                    <a:lumMod val="95000"/>
                    <a:lumOff val="5000"/>
                  </a:schemeClr>
                </a:solidFill>
              </a:endParaRPr>
            </a:p>
          </p:txBody>
        </p:sp>
        <p:sp>
          <p:nvSpPr>
            <p:cNvPr id="32" name="Rectangle 31"/>
            <p:cNvSpPr/>
            <p:nvPr/>
          </p:nvSpPr>
          <p:spPr>
            <a:xfrm>
              <a:off x="2191543" y="3101340"/>
              <a:ext cx="2232170" cy="354643"/>
            </a:xfrm>
            <a:prstGeom prst="rect">
              <a:avLst/>
            </a:prstGeom>
            <a:solidFill>
              <a:srgbClr val="C2F0FF"/>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LGE Apps/Services</a:t>
              </a:r>
            </a:p>
          </p:txBody>
        </p:sp>
      </p:grpSp>
      <p:grpSp>
        <p:nvGrpSpPr>
          <p:cNvPr id="48" name="Group 47"/>
          <p:cNvGrpSpPr/>
          <p:nvPr/>
        </p:nvGrpSpPr>
        <p:grpSpPr>
          <a:xfrm>
            <a:off x="2771774" y="5950540"/>
            <a:ext cx="5819775" cy="498162"/>
            <a:chOff x="2024063" y="5348285"/>
            <a:chExt cx="5448299" cy="498162"/>
          </a:xfrm>
        </p:grpSpPr>
        <p:sp>
          <p:nvSpPr>
            <p:cNvPr id="34" name="Rectangle 33"/>
            <p:cNvSpPr/>
            <p:nvPr/>
          </p:nvSpPr>
          <p:spPr>
            <a:xfrm>
              <a:off x="2024063" y="5348285"/>
              <a:ext cx="5448299" cy="498162"/>
            </a:xfrm>
            <a:prstGeom prst="rect">
              <a:avLst/>
            </a:prstGeom>
            <a:solidFill>
              <a:schemeClr val="bg2">
                <a:lumMod val="7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en-US" sz="1400" dirty="0">
                  <a:solidFill>
                    <a:schemeClr val="tx1">
                      <a:lumMod val="95000"/>
                      <a:lumOff val="5000"/>
                    </a:schemeClr>
                  </a:solidFill>
                </a:rPr>
                <a:t>Linux Kernel/Driver</a:t>
              </a:r>
            </a:p>
          </p:txBody>
        </p:sp>
        <p:grpSp>
          <p:nvGrpSpPr>
            <p:cNvPr id="35" name="Group 34"/>
            <p:cNvGrpSpPr/>
            <p:nvPr/>
          </p:nvGrpSpPr>
          <p:grpSpPr>
            <a:xfrm>
              <a:off x="3570786" y="5459252"/>
              <a:ext cx="3577924" cy="276228"/>
              <a:chOff x="3099299" y="4330539"/>
              <a:chExt cx="3577924" cy="276228"/>
            </a:xfrm>
          </p:grpSpPr>
          <p:sp>
            <p:nvSpPr>
              <p:cNvPr id="36" name="Rectangle 35"/>
              <p:cNvSpPr/>
              <p:nvPr/>
            </p:nvSpPr>
            <p:spPr>
              <a:xfrm>
                <a:off x="3099299" y="4330540"/>
                <a:ext cx="820340" cy="276227"/>
              </a:xfrm>
              <a:prstGeom prst="rect">
                <a:avLst/>
              </a:prstGeom>
              <a:solidFill>
                <a:schemeClr val="bg2">
                  <a:lumMod val="90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600" dirty="0">
                    <a:solidFill>
                      <a:schemeClr val="tx1">
                        <a:lumMod val="95000"/>
                        <a:lumOff val="5000"/>
                      </a:schemeClr>
                    </a:solidFill>
                  </a:rPr>
                  <a:t>SPI Rx</a:t>
                </a:r>
              </a:p>
            </p:txBody>
          </p:sp>
          <p:sp>
            <p:nvSpPr>
              <p:cNvPr id="37" name="Rectangle 36"/>
              <p:cNvSpPr/>
              <p:nvPr/>
            </p:nvSpPr>
            <p:spPr>
              <a:xfrm>
                <a:off x="5856883" y="4330539"/>
                <a:ext cx="820340" cy="276227"/>
              </a:xfrm>
              <a:prstGeom prst="rect">
                <a:avLst/>
              </a:prstGeom>
              <a:solidFill>
                <a:schemeClr val="bg2">
                  <a:lumMod val="90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600" dirty="0">
                    <a:solidFill>
                      <a:schemeClr val="tx1">
                        <a:lumMod val="95000"/>
                        <a:lumOff val="5000"/>
                      </a:schemeClr>
                    </a:solidFill>
                  </a:rPr>
                  <a:t>SPI </a:t>
                </a:r>
                <a:r>
                  <a:rPr lang="en-US" sz="1600" dirty="0" err="1">
                    <a:solidFill>
                      <a:schemeClr val="tx1">
                        <a:lumMod val="95000"/>
                        <a:lumOff val="5000"/>
                      </a:schemeClr>
                    </a:solidFill>
                  </a:rPr>
                  <a:t>Tx</a:t>
                </a:r>
                <a:endParaRPr lang="en-US" sz="1600" dirty="0">
                  <a:solidFill>
                    <a:schemeClr val="tx1">
                      <a:lumMod val="95000"/>
                      <a:lumOff val="5000"/>
                    </a:schemeClr>
                  </a:solidFill>
                </a:endParaRPr>
              </a:p>
            </p:txBody>
          </p:sp>
        </p:grpSp>
      </p:grpSp>
      <p:grpSp>
        <p:nvGrpSpPr>
          <p:cNvPr id="51" name="Group 50"/>
          <p:cNvGrpSpPr/>
          <p:nvPr/>
        </p:nvGrpSpPr>
        <p:grpSpPr>
          <a:xfrm>
            <a:off x="9210783" y="1598098"/>
            <a:ext cx="2572040" cy="3467099"/>
            <a:chOff x="7681621" y="1624012"/>
            <a:chExt cx="2572040" cy="3467099"/>
          </a:xfrm>
        </p:grpSpPr>
        <p:sp>
          <p:nvSpPr>
            <p:cNvPr id="38" name="Rectangle 37"/>
            <p:cNvSpPr/>
            <p:nvPr/>
          </p:nvSpPr>
          <p:spPr>
            <a:xfrm>
              <a:off x="7681621" y="1624012"/>
              <a:ext cx="1810042" cy="2476499"/>
            </a:xfrm>
            <a:prstGeom prst="rect">
              <a:avLst/>
            </a:prstGeom>
            <a:solidFill>
              <a:schemeClr val="bg2">
                <a:lumMod val="7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95000"/>
                      <a:lumOff val="5000"/>
                    </a:schemeClr>
                  </a:solidFill>
                </a:rPr>
                <a:t>MCU</a:t>
              </a:r>
            </a:p>
          </p:txBody>
        </p:sp>
        <p:sp>
          <p:nvSpPr>
            <p:cNvPr id="39" name="Rectangle 38"/>
            <p:cNvSpPr/>
            <p:nvPr/>
          </p:nvSpPr>
          <p:spPr>
            <a:xfrm>
              <a:off x="7824786" y="1995488"/>
              <a:ext cx="1543050" cy="647700"/>
            </a:xfrm>
            <a:prstGeom prst="rect">
              <a:avLst/>
            </a:prstGeom>
            <a:solidFill>
              <a:schemeClr val="bg2">
                <a:lumMod val="90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MCU Apps</a:t>
              </a:r>
            </a:p>
          </p:txBody>
        </p:sp>
        <p:sp>
          <p:nvSpPr>
            <p:cNvPr id="40" name="Rectangle 39"/>
            <p:cNvSpPr/>
            <p:nvPr/>
          </p:nvSpPr>
          <p:spPr>
            <a:xfrm>
              <a:off x="7834309" y="2763836"/>
              <a:ext cx="1533527" cy="1231902"/>
            </a:xfrm>
            <a:prstGeom prst="rect">
              <a:avLst/>
            </a:prstGeom>
            <a:solidFill>
              <a:schemeClr val="bg2">
                <a:lumMod val="90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AUTOSAR</a:t>
              </a:r>
            </a:p>
          </p:txBody>
        </p:sp>
        <p:cxnSp>
          <p:nvCxnSpPr>
            <p:cNvPr id="41" name="Straight Arrow Connector 40"/>
            <p:cNvCxnSpPr>
              <a:stCxn id="38" idx="2"/>
            </p:cNvCxnSpPr>
            <p:nvPr/>
          </p:nvCxnSpPr>
          <p:spPr>
            <a:xfrm flipH="1">
              <a:off x="8582022" y="4100511"/>
              <a:ext cx="4620" cy="914400"/>
            </a:xfrm>
            <a:prstGeom prst="straightConnector1">
              <a:avLst/>
            </a:prstGeom>
            <a:ln w="381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8648698" y="4667807"/>
              <a:ext cx="1495425" cy="369332"/>
            </a:xfrm>
            <a:prstGeom prst="rect">
              <a:avLst/>
            </a:prstGeom>
            <a:noFill/>
          </p:spPr>
          <p:txBody>
            <a:bodyPr wrap="square" rtlCol="0">
              <a:spAutoFit/>
            </a:bodyPr>
            <a:lstStyle/>
            <a:p>
              <a:r>
                <a:rPr lang="en-US" dirty="0"/>
                <a:t>Internal CAN</a:t>
              </a:r>
            </a:p>
          </p:txBody>
        </p:sp>
        <p:cxnSp>
          <p:nvCxnSpPr>
            <p:cNvPr id="43" name="Straight Connector 42"/>
            <p:cNvCxnSpPr/>
            <p:nvPr/>
          </p:nvCxnSpPr>
          <p:spPr>
            <a:xfrm>
              <a:off x="8101012" y="5024436"/>
              <a:ext cx="2000250"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p:nvPr/>
          </p:nvCxnSpPr>
          <p:spPr>
            <a:xfrm>
              <a:off x="8253411" y="5091111"/>
              <a:ext cx="2000250"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grpSp>
      <p:sp>
        <p:nvSpPr>
          <p:cNvPr id="47" name="Rectangle 46"/>
          <p:cNvSpPr/>
          <p:nvPr/>
        </p:nvSpPr>
        <p:spPr>
          <a:xfrm>
            <a:off x="3237722" y="5105888"/>
            <a:ext cx="2266949" cy="347341"/>
          </a:xfrm>
          <a:prstGeom prst="rect">
            <a:avLst/>
          </a:prstGeom>
          <a:solidFill>
            <a:srgbClr val="C2F0FF"/>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err="1">
                <a:solidFill>
                  <a:schemeClr val="tx1">
                    <a:lumMod val="95000"/>
                    <a:lumOff val="5000"/>
                  </a:schemeClr>
                </a:solidFill>
              </a:rPr>
              <a:t>OnBoardClient</a:t>
            </a:r>
            <a:endParaRPr lang="en-US" dirty="0">
              <a:solidFill>
                <a:schemeClr val="tx1">
                  <a:lumMod val="95000"/>
                  <a:lumOff val="5000"/>
                </a:schemeClr>
              </a:solidFill>
            </a:endParaRPr>
          </a:p>
        </p:txBody>
      </p:sp>
      <p:grpSp>
        <p:nvGrpSpPr>
          <p:cNvPr id="52" name="Group 51"/>
          <p:cNvGrpSpPr/>
          <p:nvPr/>
        </p:nvGrpSpPr>
        <p:grpSpPr>
          <a:xfrm>
            <a:off x="6041633" y="3945272"/>
            <a:ext cx="2321318" cy="617203"/>
            <a:chOff x="5027220" y="3862389"/>
            <a:chExt cx="2321318" cy="617203"/>
          </a:xfrm>
        </p:grpSpPr>
        <p:sp>
          <p:nvSpPr>
            <p:cNvPr id="33" name="Rectangle 32"/>
            <p:cNvSpPr/>
            <p:nvPr/>
          </p:nvSpPr>
          <p:spPr>
            <a:xfrm>
              <a:off x="5027220" y="4231564"/>
              <a:ext cx="2321318" cy="248028"/>
            </a:xfrm>
            <a:prstGeom prst="rect">
              <a:avLst/>
            </a:prstGeom>
            <a:solidFill>
              <a:srgbClr val="C2F0FF"/>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sz="1500" dirty="0">
                  <a:solidFill>
                    <a:schemeClr val="tx1">
                      <a:lumMod val="95000"/>
                      <a:lumOff val="5000"/>
                    </a:schemeClr>
                  </a:solidFill>
                </a:rPr>
                <a:t>Filter</a:t>
              </a:r>
            </a:p>
          </p:txBody>
        </p:sp>
        <p:sp>
          <p:nvSpPr>
            <p:cNvPr id="50" name="Rectangle 49"/>
            <p:cNvSpPr/>
            <p:nvPr/>
          </p:nvSpPr>
          <p:spPr>
            <a:xfrm>
              <a:off x="5027220" y="3862389"/>
              <a:ext cx="2321318" cy="373619"/>
            </a:xfrm>
            <a:prstGeom prst="rect">
              <a:avLst/>
            </a:prstGeom>
            <a:solidFill>
              <a:srgbClr val="C2F0FF"/>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err="1">
                  <a:solidFill>
                    <a:schemeClr val="tx1">
                      <a:lumMod val="95000"/>
                      <a:lumOff val="5000"/>
                    </a:schemeClr>
                  </a:solidFill>
                </a:rPr>
                <a:t>InternalOnBoardClient</a:t>
              </a:r>
              <a:endParaRPr lang="en-US" dirty="0">
                <a:solidFill>
                  <a:schemeClr val="tx1">
                    <a:lumMod val="95000"/>
                    <a:lumOff val="5000"/>
                  </a:schemeClr>
                </a:solidFill>
              </a:endParaRPr>
            </a:p>
          </p:txBody>
        </p:sp>
      </p:grpSp>
      <p:cxnSp>
        <p:nvCxnSpPr>
          <p:cNvPr id="55" name="Straight Arrow Connector 54"/>
          <p:cNvCxnSpPr/>
          <p:nvPr/>
        </p:nvCxnSpPr>
        <p:spPr>
          <a:xfrm>
            <a:off x="4442579" y="4314447"/>
            <a:ext cx="0" cy="789235"/>
          </a:xfrm>
          <a:prstGeom prst="straightConnector1">
            <a:avLst/>
          </a:prstGeom>
          <a:ln w="381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7613650" y="4562475"/>
            <a:ext cx="0" cy="1499032"/>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a:stCxn id="29" idx="3"/>
          </p:cNvCxnSpPr>
          <p:nvPr/>
        </p:nvCxnSpPr>
        <p:spPr>
          <a:xfrm>
            <a:off x="5504672" y="4127784"/>
            <a:ext cx="536961" cy="5362"/>
          </a:xfrm>
          <a:prstGeom prst="straightConnector1">
            <a:avLst/>
          </a:prstGeom>
          <a:ln w="28575">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7" idx="3"/>
            <a:endCxn id="38" idx="1"/>
          </p:cNvCxnSpPr>
          <p:nvPr/>
        </p:nvCxnSpPr>
        <p:spPr>
          <a:xfrm flipV="1">
            <a:off x="8245830" y="2836348"/>
            <a:ext cx="964953" cy="3363273"/>
          </a:xfrm>
          <a:prstGeom prst="bentConnector3">
            <a:avLst>
              <a:gd name="adj1" fmla="val 55923"/>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7" name="Elbow Connector 76"/>
          <p:cNvCxnSpPr>
            <a:endCxn id="36" idx="2"/>
          </p:cNvCxnSpPr>
          <p:nvPr/>
        </p:nvCxnSpPr>
        <p:spPr>
          <a:xfrm rot="10800000" flipV="1">
            <a:off x="4862092" y="3395975"/>
            <a:ext cx="4320516" cy="2941760"/>
          </a:xfrm>
          <a:prstGeom prst="bentConnector4">
            <a:avLst>
              <a:gd name="adj1" fmla="val 6350"/>
              <a:gd name="adj2" fmla="val 111656"/>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p:cNvCxnSpPr/>
          <p:nvPr/>
        </p:nvCxnSpPr>
        <p:spPr>
          <a:xfrm flipV="1">
            <a:off x="4862092" y="5453229"/>
            <a:ext cx="0" cy="608278"/>
          </a:xfrm>
          <a:prstGeom prst="straightConnector1">
            <a:avLst/>
          </a:prstGeom>
          <a:ln w="28575">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5" name="Straight Arrow Connector 104"/>
          <p:cNvCxnSpPr/>
          <p:nvPr/>
        </p:nvCxnSpPr>
        <p:spPr>
          <a:xfrm flipH="1">
            <a:off x="123507" y="2327519"/>
            <a:ext cx="464741" cy="0"/>
          </a:xfrm>
          <a:prstGeom prst="straightConnector1">
            <a:avLst/>
          </a:prstGeom>
          <a:ln w="127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110" name="Group 109"/>
          <p:cNvGrpSpPr/>
          <p:nvPr/>
        </p:nvGrpSpPr>
        <p:grpSpPr>
          <a:xfrm>
            <a:off x="155575" y="1872378"/>
            <a:ext cx="2044929" cy="246221"/>
            <a:chOff x="155575" y="1872378"/>
            <a:chExt cx="2044929" cy="246221"/>
          </a:xfrm>
        </p:grpSpPr>
        <p:cxnSp>
          <p:nvCxnSpPr>
            <p:cNvPr id="103" name="Straight Arrow Connector 102"/>
            <p:cNvCxnSpPr/>
            <p:nvPr/>
          </p:nvCxnSpPr>
          <p:spPr>
            <a:xfrm>
              <a:off x="155575" y="1995489"/>
              <a:ext cx="400606" cy="0"/>
            </a:xfrm>
            <a:prstGeom prst="straightConnector1">
              <a:avLst/>
            </a:prstGeom>
            <a:ln w="12700">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109" name="TextBox 108"/>
            <p:cNvSpPr txBox="1"/>
            <p:nvPr/>
          </p:nvSpPr>
          <p:spPr>
            <a:xfrm>
              <a:off x="584356" y="1872378"/>
              <a:ext cx="1616148" cy="246221"/>
            </a:xfrm>
            <a:prstGeom prst="rect">
              <a:avLst/>
            </a:prstGeom>
            <a:noFill/>
          </p:spPr>
          <p:txBody>
            <a:bodyPr wrap="none" rtlCol="0">
              <a:spAutoFit/>
            </a:bodyPr>
            <a:lstStyle/>
            <a:p>
              <a:r>
                <a:rPr lang="en-US" sz="1000" dirty="0"/>
                <a:t>Authorized Communication</a:t>
              </a:r>
            </a:p>
          </p:txBody>
        </p:sp>
      </p:grpSp>
      <p:cxnSp>
        <p:nvCxnSpPr>
          <p:cNvPr id="112" name="Straight Arrow Connector 111"/>
          <p:cNvCxnSpPr/>
          <p:nvPr/>
        </p:nvCxnSpPr>
        <p:spPr>
          <a:xfrm>
            <a:off x="123507" y="2648446"/>
            <a:ext cx="432674" cy="0"/>
          </a:xfrm>
          <a:prstGeom prst="straightConnector1">
            <a:avLst/>
          </a:prstGeom>
          <a:ln w="127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588248" y="2525335"/>
            <a:ext cx="1197764" cy="246221"/>
          </a:xfrm>
          <a:prstGeom prst="rect">
            <a:avLst/>
          </a:prstGeom>
          <a:noFill/>
        </p:spPr>
        <p:txBody>
          <a:bodyPr wrap="none" rtlCol="0">
            <a:spAutoFit/>
          </a:bodyPr>
          <a:lstStyle/>
          <a:p>
            <a:r>
              <a:rPr lang="en-US" sz="1000" dirty="0"/>
              <a:t>Message Reception</a:t>
            </a:r>
          </a:p>
        </p:txBody>
      </p:sp>
      <p:cxnSp>
        <p:nvCxnSpPr>
          <p:cNvPr id="115" name="Straight Arrow Connector 114"/>
          <p:cNvCxnSpPr/>
          <p:nvPr/>
        </p:nvCxnSpPr>
        <p:spPr>
          <a:xfrm>
            <a:off x="123507" y="2938006"/>
            <a:ext cx="432674" cy="0"/>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6" name="TextBox 115"/>
          <p:cNvSpPr txBox="1"/>
          <p:nvPr/>
        </p:nvSpPr>
        <p:spPr>
          <a:xfrm>
            <a:off x="574200" y="2824182"/>
            <a:ext cx="1351652" cy="246221"/>
          </a:xfrm>
          <a:prstGeom prst="rect">
            <a:avLst/>
          </a:prstGeom>
          <a:noFill/>
        </p:spPr>
        <p:txBody>
          <a:bodyPr wrap="none" rtlCol="0">
            <a:spAutoFit/>
          </a:bodyPr>
          <a:lstStyle/>
          <a:p>
            <a:r>
              <a:rPr lang="en-US" sz="1000" dirty="0"/>
              <a:t>Message Transmission</a:t>
            </a:r>
          </a:p>
        </p:txBody>
      </p:sp>
      <p:sp>
        <p:nvSpPr>
          <p:cNvPr id="3" name="TextBox 2">
            <a:extLst>
              <a:ext uri="{FF2B5EF4-FFF2-40B4-BE49-F238E27FC236}">
                <a16:creationId xmlns:a16="http://schemas.microsoft.com/office/drawing/2014/main" id="{76019B33-88F9-7F14-0639-270DF24A0CA5}"/>
              </a:ext>
            </a:extLst>
          </p:cNvPr>
          <p:cNvSpPr txBox="1"/>
          <p:nvPr/>
        </p:nvSpPr>
        <p:spPr>
          <a:xfrm>
            <a:off x="771525" y="2328863"/>
            <a:ext cx="184731" cy="369332"/>
          </a:xfrm>
          <a:prstGeom prst="rect">
            <a:avLst/>
          </a:prstGeom>
          <a:noFill/>
        </p:spPr>
        <p:txBody>
          <a:bodyPr wrap="none" rtlCol="0">
            <a:spAutoFit/>
          </a:bodyPr>
          <a:lstStyle/>
          <a:p>
            <a:endParaRPr lang="en-US" dirty="0"/>
          </a:p>
        </p:txBody>
      </p:sp>
      <p:sp>
        <p:nvSpPr>
          <p:cNvPr id="7" name="TextBox 6">
            <a:extLst>
              <a:ext uri="{FF2B5EF4-FFF2-40B4-BE49-F238E27FC236}">
                <a16:creationId xmlns:a16="http://schemas.microsoft.com/office/drawing/2014/main" id="{5CF124BE-ACDE-3151-E53A-943162AA1780}"/>
              </a:ext>
            </a:extLst>
          </p:cNvPr>
          <p:cNvSpPr txBox="1"/>
          <p:nvPr/>
        </p:nvSpPr>
        <p:spPr>
          <a:xfrm>
            <a:off x="584356" y="2198856"/>
            <a:ext cx="1850186" cy="246221"/>
          </a:xfrm>
          <a:prstGeom prst="rect">
            <a:avLst/>
          </a:prstGeom>
          <a:noFill/>
        </p:spPr>
        <p:txBody>
          <a:bodyPr wrap="none" rtlCol="0">
            <a:spAutoFit/>
          </a:bodyPr>
          <a:lstStyle/>
          <a:p>
            <a:r>
              <a:rPr lang="en-US" sz="1000" dirty="0"/>
              <a:t>Bidirectional Message Exchange</a:t>
            </a:r>
          </a:p>
        </p:txBody>
      </p:sp>
    </p:spTree>
    <p:extLst>
      <p:ext uri="{BB962C8B-B14F-4D97-AF65-F5344CB8AC3E}">
        <p14:creationId xmlns:p14="http://schemas.microsoft.com/office/powerpoint/2010/main" val="17316852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cs typeface="Times New Roman" panose="02020603050405020304" pitchFamily="18" charset="0"/>
              </a:rPr>
              <a:t>2. Problem identification</a:t>
            </a:r>
            <a:endParaRPr lang="en-US" dirty="0"/>
          </a:p>
        </p:txBody>
      </p:sp>
      <p:sp>
        <p:nvSpPr>
          <p:cNvPr id="3" name="Content Placeholder 2"/>
          <p:cNvSpPr>
            <a:spLocks noGrp="1"/>
          </p:cNvSpPr>
          <p:nvPr>
            <p:ph idx="1"/>
          </p:nvPr>
        </p:nvSpPr>
        <p:spPr>
          <a:xfrm>
            <a:off x="838201" y="1825624"/>
            <a:ext cx="6572250" cy="4803775"/>
          </a:xfrm>
        </p:spPr>
        <p:txBody>
          <a:bodyPr>
            <a:normAutofit/>
          </a:bodyPr>
          <a:lstStyle/>
          <a:p>
            <a:r>
              <a:rPr lang="en-US" sz="2200" dirty="0"/>
              <a:t>Context</a:t>
            </a:r>
          </a:p>
          <a:p>
            <a:pPr lvl="1"/>
            <a:r>
              <a:rPr lang="en-US" sz="1900" dirty="0"/>
              <a:t>TMC’s </a:t>
            </a:r>
            <a:r>
              <a:rPr lang="en-US" sz="1900" dirty="0" err="1"/>
              <a:t>Cybersecurity</a:t>
            </a:r>
            <a:r>
              <a:rPr lang="en-US" sz="1900" dirty="0"/>
              <a:t> requirements </a:t>
            </a:r>
          </a:p>
          <a:p>
            <a:pPr lvl="2"/>
            <a:r>
              <a:rPr lang="en-US" sz="1700" dirty="0"/>
              <a:t>When EP Partition is compromised, the damage must not propagate to Internal Partition and in-vehicle CAN bus.</a:t>
            </a:r>
          </a:p>
          <a:p>
            <a:pPr lvl="2"/>
            <a:r>
              <a:rPr lang="en-US" sz="1700" dirty="0"/>
              <a:t>Unauthorized diagnostic commands related to reprogramming must be filtered.</a:t>
            </a:r>
          </a:p>
          <a:p>
            <a:r>
              <a:rPr lang="en-US" sz="2200" dirty="0"/>
              <a:t>Issues arising with RDG when separating partitions:</a:t>
            </a:r>
          </a:p>
          <a:p>
            <a:pPr lvl="1"/>
            <a:r>
              <a:rPr lang="en-US" sz="1900" dirty="0"/>
              <a:t>Trust boundary </a:t>
            </a:r>
            <a:r>
              <a:rPr lang="en-US" sz="1900" dirty="0" err="1"/>
              <a:t>vs</a:t>
            </a:r>
            <a:r>
              <a:rPr lang="en-US" sz="1900" dirty="0"/>
              <a:t> functional dependency conflict: RDG belongs to the trusted zone but depends on ~12 modules in the EP — requires cross-trust-boundary communication without breaking isolation or causing IPC cost explosion.</a:t>
            </a:r>
          </a:p>
          <a:p>
            <a:pPr lvl="1"/>
            <a:r>
              <a:rPr lang="en-US" sz="1900" dirty="0"/>
              <a:t>SID Filter placement: an attacker who compromises EP must not be able to disable the filter.</a:t>
            </a:r>
          </a:p>
        </p:txBody>
      </p:sp>
      <p:sp>
        <p:nvSpPr>
          <p:cNvPr id="4" name="Slide Number Placeholder 3"/>
          <p:cNvSpPr>
            <a:spLocks noGrp="1"/>
          </p:cNvSpPr>
          <p:nvPr>
            <p:ph type="sldNum" sz="quarter" idx="12"/>
          </p:nvPr>
        </p:nvSpPr>
        <p:spPr/>
        <p:txBody>
          <a:bodyPr/>
          <a:lstStyle/>
          <a:p>
            <a:fld id="{0059130C-D5A7-43F1-8BDF-D4DD1699FE09}" type="slidenum">
              <a:rPr lang="en-US" smtClean="0"/>
              <a:t>5</a:t>
            </a:fld>
            <a:endParaRPr lang="en-US"/>
          </a:p>
        </p:txBody>
      </p:sp>
      <p:pic>
        <p:nvPicPr>
          <p:cNvPr id="6" name="Picture 5"/>
          <p:cNvPicPr>
            <a:picLocks noChangeAspect="1"/>
          </p:cNvPicPr>
          <p:nvPr/>
        </p:nvPicPr>
        <p:blipFill>
          <a:blip r:embed="rId2"/>
          <a:stretch>
            <a:fillRect/>
          </a:stretch>
        </p:blipFill>
        <p:spPr>
          <a:xfrm>
            <a:off x="7800975" y="1099526"/>
            <a:ext cx="3482339" cy="2860493"/>
          </a:xfrm>
          <a:prstGeom prst="rect">
            <a:avLst/>
          </a:prstGeom>
        </p:spPr>
      </p:pic>
      <p:pic>
        <p:nvPicPr>
          <p:cNvPr id="7" name="Picture 6"/>
          <p:cNvPicPr>
            <a:picLocks noChangeAspect="1"/>
          </p:cNvPicPr>
          <p:nvPr/>
        </p:nvPicPr>
        <p:blipFill>
          <a:blip r:embed="rId3"/>
          <a:stretch>
            <a:fillRect/>
          </a:stretch>
        </p:blipFill>
        <p:spPr>
          <a:xfrm>
            <a:off x="8551243" y="3960019"/>
            <a:ext cx="2570146" cy="1812131"/>
          </a:xfrm>
          <a:prstGeom prst="rect">
            <a:avLst/>
          </a:prstGeom>
        </p:spPr>
      </p:pic>
    </p:spTree>
    <p:extLst>
      <p:ext uri="{BB962C8B-B14F-4D97-AF65-F5344CB8AC3E}">
        <p14:creationId xmlns:p14="http://schemas.microsoft.com/office/powerpoint/2010/main" val="25624902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cs typeface="Times New Roman" panose="02020603050405020304" pitchFamily="18" charset="0"/>
              </a:rPr>
              <a:t>2. Problem identification – Key Quality Attributes</a:t>
            </a:r>
            <a:endParaRPr lang="en-US" dirty="0"/>
          </a:p>
        </p:txBody>
      </p:sp>
      <p:sp>
        <p:nvSpPr>
          <p:cNvPr id="4" name="Slide Number Placeholder 3"/>
          <p:cNvSpPr>
            <a:spLocks noGrp="1"/>
          </p:cNvSpPr>
          <p:nvPr>
            <p:ph type="sldNum" sz="quarter" idx="12"/>
          </p:nvPr>
        </p:nvSpPr>
        <p:spPr/>
        <p:txBody>
          <a:bodyPr/>
          <a:lstStyle/>
          <a:p>
            <a:fld id="{0059130C-D5A7-43F1-8BDF-D4DD1699FE09}" type="slidenum">
              <a:rPr lang="en-US" smtClean="0"/>
              <a:t>6</a:t>
            </a:fld>
            <a:endParaRPr lang="en-US"/>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632713185"/>
              </p:ext>
            </p:extLst>
          </p:nvPr>
        </p:nvGraphicFramePr>
        <p:xfrm>
          <a:off x="838200" y="1825625"/>
          <a:ext cx="10725150" cy="2291080"/>
        </p:xfrm>
        <a:graphic>
          <a:graphicData uri="http://schemas.openxmlformats.org/drawingml/2006/table">
            <a:tbl>
              <a:tblPr firstRow="1" bandRow="1">
                <a:tableStyleId>{5C22544A-7EE6-4342-B048-85BDC9FD1C3A}</a:tableStyleId>
              </a:tblPr>
              <a:tblGrid>
                <a:gridCol w="1787525">
                  <a:extLst>
                    <a:ext uri="{9D8B030D-6E8A-4147-A177-3AD203B41FA5}">
                      <a16:colId xmlns:a16="http://schemas.microsoft.com/office/drawing/2014/main" val="20000"/>
                    </a:ext>
                  </a:extLst>
                </a:gridCol>
                <a:gridCol w="1167363">
                  <a:extLst>
                    <a:ext uri="{9D8B030D-6E8A-4147-A177-3AD203B41FA5}">
                      <a16:colId xmlns:a16="http://schemas.microsoft.com/office/drawing/2014/main" val="20001"/>
                    </a:ext>
                  </a:extLst>
                </a:gridCol>
                <a:gridCol w="7770262">
                  <a:extLst>
                    <a:ext uri="{9D8B030D-6E8A-4147-A177-3AD203B41FA5}">
                      <a16:colId xmlns:a16="http://schemas.microsoft.com/office/drawing/2014/main" val="20002"/>
                    </a:ext>
                  </a:extLst>
                </a:gridCol>
              </a:tblGrid>
              <a:tr h="370840">
                <a:tc>
                  <a:txBody>
                    <a:bodyPr/>
                    <a:lstStyle/>
                    <a:p>
                      <a:pPr algn="ctr"/>
                      <a:r>
                        <a:rPr lang="en-US" dirty="0"/>
                        <a:t>Quality</a:t>
                      </a:r>
                      <a:r>
                        <a:rPr lang="en-US" baseline="0" dirty="0"/>
                        <a:t> Attribute</a:t>
                      </a:r>
                      <a:endParaRPr lang="en-US" dirty="0"/>
                    </a:p>
                  </a:txBody>
                  <a:tcPr/>
                </a:tc>
                <a:tc>
                  <a:txBody>
                    <a:bodyPr/>
                    <a:lstStyle/>
                    <a:p>
                      <a:pPr algn="ctr"/>
                      <a:r>
                        <a:rPr lang="en-US" dirty="0"/>
                        <a:t>Priority</a:t>
                      </a:r>
                    </a:p>
                  </a:txBody>
                  <a:tcPr/>
                </a:tc>
                <a:tc>
                  <a:txBody>
                    <a:bodyPr/>
                    <a:lstStyle/>
                    <a:p>
                      <a:pPr algn="ctr"/>
                      <a:r>
                        <a:rPr lang="en-US" dirty="0"/>
                        <a:t>Description</a:t>
                      </a:r>
                    </a:p>
                  </a:txBody>
                  <a:tcPr/>
                </a:tc>
                <a:extLst>
                  <a:ext uri="{0D108BD9-81ED-4DB2-BD59-A6C34878D82A}">
                    <a16:rowId xmlns:a16="http://schemas.microsoft.com/office/drawing/2014/main" val="10000"/>
                  </a:ext>
                </a:extLst>
              </a:tr>
              <a:tr h="370840">
                <a:tc>
                  <a:txBody>
                    <a:bodyPr/>
                    <a:lstStyle/>
                    <a:p>
                      <a:pPr algn="l"/>
                      <a:r>
                        <a:rPr lang="en-US" dirty="0"/>
                        <a:t>Security</a:t>
                      </a:r>
                    </a:p>
                  </a:txBody>
                  <a:tcPr/>
                </a:tc>
                <a:tc>
                  <a:txBody>
                    <a:bodyPr/>
                    <a:lstStyle/>
                    <a:p>
                      <a:pPr algn="ctr"/>
                      <a:r>
                        <a:rPr lang="en-US" dirty="0"/>
                        <a:t>HIGH</a:t>
                      </a:r>
                    </a:p>
                  </a:txBody>
                  <a:tcPr/>
                </a:tc>
                <a:tc>
                  <a:txBody>
                    <a:bodyPr/>
                    <a:lstStyle/>
                    <a:p>
                      <a:pPr algn="l"/>
                      <a:r>
                        <a:rPr lang="en-US" sz="1800" b="0" i="0" kern="1200" dirty="0">
                          <a:solidFill>
                            <a:schemeClr val="dk1"/>
                          </a:solidFill>
                          <a:effectLst/>
                          <a:latin typeface="+mn-lt"/>
                          <a:ea typeface="+mn-ea"/>
                          <a:cs typeface="+mn-cs"/>
                        </a:rPr>
                        <a:t>Compromise contained within EP; EP impersonating DIAG client → discard; filter SID reprogramming (NFR-01/02/03)</a:t>
                      </a:r>
                      <a:endParaRPr lang="en-US" dirty="0"/>
                    </a:p>
                  </a:txBody>
                  <a:tcPr/>
                </a:tc>
                <a:extLst>
                  <a:ext uri="{0D108BD9-81ED-4DB2-BD59-A6C34878D82A}">
                    <a16:rowId xmlns:a16="http://schemas.microsoft.com/office/drawing/2014/main" val="10001"/>
                  </a:ext>
                </a:extLst>
              </a:tr>
              <a:tr h="370840">
                <a:tc>
                  <a:txBody>
                    <a:bodyPr/>
                    <a:lstStyle/>
                    <a:p>
                      <a:pPr algn="l"/>
                      <a:r>
                        <a:rPr lang="en-US" sz="1800" b="0" i="0" kern="1200" dirty="0">
                          <a:solidFill>
                            <a:schemeClr val="dk1"/>
                          </a:solidFill>
                          <a:effectLst/>
                          <a:latin typeface="+mn-lt"/>
                          <a:ea typeface="+mn-ea"/>
                          <a:cs typeface="+mn-cs"/>
                        </a:rPr>
                        <a:t>Maintainability</a:t>
                      </a:r>
                      <a:endParaRPr lang="en-US" dirty="0"/>
                    </a:p>
                  </a:txBody>
                  <a:tcPr/>
                </a:tc>
                <a:tc>
                  <a:txBody>
                    <a:bodyPr/>
                    <a:lstStyle/>
                    <a:p>
                      <a:pPr algn="ctr"/>
                      <a:r>
                        <a:rPr lang="en-US" dirty="0"/>
                        <a:t>MEDIUM</a:t>
                      </a:r>
                    </a:p>
                  </a:txBody>
                  <a:tcPr/>
                </a:tc>
                <a:tc>
                  <a:txBody>
                    <a:bodyPr/>
                    <a:lstStyle/>
                    <a:p>
                      <a:pPr algn="l"/>
                      <a:r>
                        <a:rPr lang="en-US" dirty="0"/>
                        <a:t>The new design should ensure that the system is able to support the changes in the future.</a:t>
                      </a:r>
                    </a:p>
                  </a:txBody>
                  <a:tcPr/>
                </a:tc>
                <a:extLst>
                  <a:ext uri="{0D108BD9-81ED-4DB2-BD59-A6C34878D82A}">
                    <a16:rowId xmlns:a16="http://schemas.microsoft.com/office/drawing/2014/main" val="10002"/>
                  </a:ext>
                </a:extLst>
              </a:tr>
              <a:tr h="370840">
                <a:tc>
                  <a:txBody>
                    <a:bodyPr/>
                    <a:lstStyle/>
                    <a:p>
                      <a:pPr algn="l"/>
                      <a:r>
                        <a:rPr lang="en-US" dirty="0"/>
                        <a:t>Simplicity</a:t>
                      </a:r>
                    </a:p>
                  </a:txBody>
                  <a:tcPr/>
                </a:tc>
                <a:tc>
                  <a:txBody>
                    <a:bodyPr/>
                    <a:lstStyle/>
                    <a:p>
                      <a:pPr algn="ctr"/>
                      <a:r>
                        <a:rPr lang="en-US" dirty="0"/>
                        <a:t>LOW</a:t>
                      </a:r>
                    </a:p>
                  </a:txBody>
                  <a:tcPr/>
                </a:tc>
                <a:tc>
                  <a:txBody>
                    <a:bodyPr/>
                    <a:lstStyle/>
                    <a:p>
                      <a:pPr algn="l"/>
                      <a:r>
                        <a:rPr lang="en-US" dirty="0"/>
                        <a:t>Balance implementation complexity with operational reliability for mission-critical systems.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186836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cs typeface="Times New Roman" panose="02020603050405020304" pitchFamily="18" charset="0"/>
              </a:rPr>
              <a:t>3. Solution proposals – Proposal A</a:t>
            </a:r>
            <a:endParaRPr lang="en-US" dirty="0"/>
          </a:p>
        </p:txBody>
      </p:sp>
      <p:sp>
        <p:nvSpPr>
          <p:cNvPr id="3" name="Content Placeholder 2"/>
          <p:cNvSpPr>
            <a:spLocks noGrp="1"/>
          </p:cNvSpPr>
          <p:nvPr>
            <p:ph idx="1"/>
          </p:nvPr>
        </p:nvSpPr>
        <p:spPr>
          <a:xfrm>
            <a:off x="838200" y="1825625"/>
            <a:ext cx="6193477" cy="4351338"/>
          </a:xfrm>
        </p:spPr>
        <p:txBody>
          <a:bodyPr>
            <a:normAutofit/>
          </a:bodyPr>
          <a:lstStyle/>
          <a:p>
            <a:r>
              <a:rPr lang="en-US" sz="2000" dirty="0"/>
              <a:t>Move the entire RDG module into IP container</a:t>
            </a:r>
          </a:p>
          <a:p>
            <a:r>
              <a:rPr lang="en-US" sz="2000" dirty="0"/>
              <a:t>For each dependency module in EP, define and implement an IPC socket for communication across containers.</a:t>
            </a:r>
          </a:p>
          <a:p>
            <a:r>
              <a:rPr lang="en-US" sz="2000" dirty="0"/>
              <a:t> </a:t>
            </a:r>
            <a:r>
              <a:rPr lang="en-US" sz="1400" dirty="0"/>
              <a:t>✅</a:t>
            </a:r>
            <a:r>
              <a:rPr lang="en-US" sz="2000" dirty="0"/>
              <a:t> Advantages:</a:t>
            </a:r>
          </a:p>
          <a:p>
            <a:pPr lvl="1"/>
            <a:r>
              <a:rPr lang="en-US" sz="2000" dirty="0"/>
              <a:t>Security: RDG fully within trusted zone.</a:t>
            </a:r>
          </a:p>
          <a:p>
            <a:r>
              <a:rPr lang="en-US" sz="2000" dirty="0"/>
              <a:t> </a:t>
            </a:r>
            <a:r>
              <a:rPr lang="en-US" sz="1400" dirty="0"/>
              <a:t>❌</a:t>
            </a:r>
            <a:r>
              <a:rPr lang="en-US" sz="2000" dirty="0"/>
              <a:t> Disadvantages:</a:t>
            </a:r>
          </a:p>
          <a:p>
            <a:pPr lvl="1"/>
            <a:r>
              <a:rPr lang="en-US" sz="2000" dirty="0"/>
              <a:t>Maintainability: ~12 EP modules must modify code and implement socket client - effort multiplied × N.</a:t>
            </a:r>
          </a:p>
          <a:p>
            <a:pPr lvl="1"/>
            <a:r>
              <a:rPr lang="en-US" sz="2000" dirty="0"/>
              <a:t>Reliability: N socket channels = N separate fail-safe points required.</a:t>
            </a:r>
          </a:p>
        </p:txBody>
      </p:sp>
      <p:sp>
        <p:nvSpPr>
          <p:cNvPr id="4" name="Slide Number Placeholder 3"/>
          <p:cNvSpPr>
            <a:spLocks noGrp="1"/>
          </p:cNvSpPr>
          <p:nvPr>
            <p:ph type="sldNum" sz="quarter" idx="12"/>
          </p:nvPr>
        </p:nvSpPr>
        <p:spPr/>
        <p:txBody>
          <a:bodyPr/>
          <a:lstStyle/>
          <a:p>
            <a:fld id="{0059130C-D5A7-43F1-8BDF-D4DD1699FE09}" type="slidenum">
              <a:rPr lang="en-US" smtClean="0"/>
              <a:t>7</a:t>
            </a:fld>
            <a:endParaRPr lang="en-US"/>
          </a:p>
        </p:txBody>
      </p:sp>
      <p:pic>
        <p:nvPicPr>
          <p:cNvPr id="8" name="Picture 7">
            <a:extLst>
              <a:ext uri="{FF2B5EF4-FFF2-40B4-BE49-F238E27FC236}">
                <a16:creationId xmlns:a16="http://schemas.microsoft.com/office/drawing/2014/main" id="{B7A33856-0E23-23C9-0631-B65ABC85F70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988813" y="1825624"/>
            <a:ext cx="4927900" cy="3702083"/>
          </a:xfrm>
          <a:prstGeom prst="rect">
            <a:avLst/>
          </a:prstGeom>
        </p:spPr>
      </p:pic>
    </p:spTree>
    <p:extLst>
      <p:ext uri="{BB962C8B-B14F-4D97-AF65-F5344CB8AC3E}">
        <p14:creationId xmlns:p14="http://schemas.microsoft.com/office/powerpoint/2010/main" val="34745433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300" dirty="0">
                <a:cs typeface="Times New Roman" panose="02020603050405020304" pitchFamily="18" charset="0"/>
              </a:rPr>
              <a:t>3. Solution proposals – Proposal B</a:t>
            </a:r>
            <a:endParaRPr lang="en-US" dirty="0"/>
          </a:p>
        </p:txBody>
      </p:sp>
      <p:sp>
        <p:nvSpPr>
          <p:cNvPr id="3" name="Content Placeholder 2"/>
          <p:cNvSpPr>
            <a:spLocks noGrp="1"/>
          </p:cNvSpPr>
          <p:nvPr>
            <p:ph idx="1"/>
          </p:nvPr>
        </p:nvSpPr>
        <p:spPr>
          <a:xfrm>
            <a:off x="838200" y="1825625"/>
            <a:ext cx="5770483" cy="4667250"/>
          </a:xfrm>
        </p:spPr>
        <p:txBody>
          <a:bodyPr>
            <a:normAutofit fontScale="92500" lnSpcReduction="10000"/>
          </a:bodyPr>
          <a:lstStyle/>
          <a:p>
            <a:r>
              <a:rPr lang="en-US" sz="2200" dirty="0"/>
              <a:t>Move the entire RDG module into IP container</a:t>
            </a:r>
          </a:p>
          <a:p>
            <a:r>
              <a:rPr lang="en-US" sz="2200" dirty="0"/>
              <a:t>Add </a:t>
            </a:r>
            <a:r>
              <a:rPr lang="en-US" sz="2200" dirty="0" err="1"/>
              <a:t>RemoteDiagProxy</a:t>
            </a:r>
            <a:r>
              <a:rPr lang="en-US" sz="2200" dirty="0"/>
              <a:t> (RDP) in EP acting as a </a:t>
            </a:r>
            <a:r>
              <a:rPr lang="en-US" sz="2200" b="1" dirty="0"/>
              <a:t>transparent proxy</a:t>
            </a:r>
            <a:r>
              <a:rPr lang="en-US" sz="2200" dirty="0"/>
              <a:t> – all EP modules treat RDP as the actual RDG itself.</a:t>
            </a:r>
          </a:p>
          <a:p>
            <a:r>
              <a:rPr lang="en-US" sz="2200" dirty="0"/>
              <a:t>Data flow is sent through one single Socket at the container edge.</a:t>
            </a:r>
          </a:p>
          <a:p>
            <a:r>
              <a:rPr lang="en-US" sz="2000" dirty="0"/>
              <a:t> </a:t>
            </a:r>
            <a:r>
              <a:rPr lang="en-US" sz="1400" dirty="0"/>
              <a:t>✅</a:t>
            </a:r>
            <a:r>
              <a:rPr lang="en-US" sz="2000" dirty="0"/>
              <a:t> Advantages:</a:t>
            </a:r>
          </a:p>
          <a:p>
            <a:pPr lvl="1"/>
            <a:r>
              <a:rPr lang="en-US" sz="2000" dirty="0"/>
              <a:t>Security: RDG + SID Filter fully in trusted zone.</a:t>
            </a:r>
          </a:p>
          <a:p>
            <a:pPr lvl="1"/>
            <a:r>
              <a:rPr lang="en-US" sz="2000" dirty="0"/>
              <a:t>Maintainability: EP modules zero change – keep original Binder contract.</a:t>
            </a:r>
          </a:p>
          <a:p>
            <a:r>
              <a:rPr lang="en-US" sz="2000" dirty="0"/>
              <a:t> </a:t>
            </a:r>
            <a:r>
              <a:rPr lang="en-US" sz="1400" dirty="0"/>
              <a:t>❌</a:t>
            </a:r>
            <a:r>
              <a:rPr lang="en-US" sz="2000" dirty="0"/>
              <a:t> Disadvantages:</a:t>
            </a:r>
          </a:p>
          <a:p>
            <a:pPr lvl="1"/>
            <a:r>
              <a:rPr lang="en-US" sz="2000" dirty="0"/>
              <a:t>Reliability: RDP is a single point of failure (requires fail-safe).</a:t>
            </a:r>
          </a:p>
          <a:p>
            <a:pPr lvl="1"/>
            <a:r>
              <a:rPr lang="en-US" sz="2000" dirty="0"/>
              <a:t>Performance: one additional socket hop per transaction (acceptable)..</a:t>
            </a:r>
          </a:p>
          <a:p>
            <a:pPr marL="0" indent="0">
              <a:buNone/>
            </a:pPr>
            <a:endParaRPr lang="en-US" sz="2200" dirty="0"/>
          </a:p>
          <a:p>
            <a:endParaRPr lang="en-US" dirty="0"/>
          </a:p>
        </p:txBody>
      </p:sp>
      <p:sp>
        <p:nvSpPr>
          <p:cNvPr id="4" name="Slide Number Placeholder 3"/>
          <p:cNvSpPr>
            <a:spLocks noGrp="1"/>
          </p:cNvSpPr>
          <p:nvPr>
            <p:ph type="sldNum" sz="quarter" idx="12"/>
          </p:nvPr>
        </p:nvSpPr>
        <p:spPr/>
        <p:txBody>
          <a:bodyPr/>
          <a:lstStyle/>
          <a:p>
            <a:fld id="{0059130C-D5A7-43F1-8BDF-D4DD1699FE09}" type="slidenum">
              <a:rPr lang="en-US" smtClean="0"/>
              <a:t>8</a:t>
            </a:fld>
            <a:endParaRPr lang="en-US"/>
          </a:p>
        </p:txBody>
      </p:sp>
      <p:pic>
        <p:nvPicPr>
          <p:cNvPr id="12" name="Picture 11">
            <a:extLst>
              <a:ext uri="{FF2B5EF4-FFF2-40B4-BE49-F238E27FC236}">
                <a16:creationId xmlns:a16="http://schemas.microsoft.com/office/drawing/2014/main" id="{F6A0E935-5D82-0B69-61CF-1BED416088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608683" y="1825625"/>
            <a:ext cx="5519023" cy="2323329"/>
          </a:xfrm>
          <a:prstGeom prst="rect">
            <a:avLst/>
          </a:prstGeom>
        </p:spPr>
      </p:pic>
    </p:spTree>
    <p:extLst>
      <p:ext uri="{BB962C8B-B14F-4D97-AF65-F5344CB8AC3E}">
        <p14:creationId xmlns:p14="http://schemas.microsoft.com/office/powerpoint/2010/main" val="23998890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37E0DD-2726-37B0-2354-5EFBD14E3D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7D78A3-63C3-6EBA-E20E-E7036848EB1F}"/>
              </a:ext>
            </a:extLst>
          </p:cNvPr>
          <p:cNvSpPr>
            <a:spLocks noGrp="1"/>
          </p:cNvSpPr>
          <p:nvPr>
            <p:ph type="title"/>
          </p:nvPr>
        </p:nvSpPr>
        <p:spPr/>
        <p:txBody>
          <a:bodyPr>
            <a:normAutofit/>
          </a:bodyPr>
          <a:lstStyle/>
          <a:p>
            <a:r>
              <a:rPr lang="en-US" sz="3300" dirty="0">
                <a:cs typeface="Times New Roman" panose="02020603050405020304" pitchFamily="18" charset="0"/>
              </a:rPr>
              <a:t>3. Solution proposals – Comparison &amp; Selection</a:t>
            </a:r>
            <a:endParaRPr lang="en-US" dirty="0"/>
          </a:p>
        </p:txBody>
      </p:sp>
      <p:sp>
        <p:nvSpPr>
          <p:cNvPr id="3" name="Content Placeholder 2">
            <a:extLst>
              <a:ext uri="{FF2B5EF4-FFF2-40B4-BE49-F238E27FC236}">
                <a16:creationId xmlns:a16="http://schemas.microsoft.com/office/drawing/2014/main" id="{C4BD57AB-BC00-26A6-3992-CF9E88FCF2D8}"/>
              </a:ext>
            </a:extLst>
          </p:cNvPr>
          <p:cNvSpPr>
            <a:spLocks noGrp="1"/>
          </p:cNvSpPr>
          <p:nvPr>
            <p:ph idx="1"/>
          </p:nvPr>
        </p:nvSpPr>
        <p:spPr>
          <a:xfrm>
            <a:off x="838200" y="3672521"/>
            <a:ext cx="10515600" cy="2504441"/>
          </a:xfrm>
        </p:spPr>
        <p:txBody>
          <a:bodyPr/>
          <a:lstStyle/>
          <a:p>
            <a:endParaRPr lang="en-US" dirty="0"/>
          </a:p>
        </p:txBody>
      </p:sp>
      <p:sp>
        <p:nvSpPr>
          <p:cNvPr id="4" name="Slide Number Placeholder 3">
            <a:extLst>
              <a:ext uri="{FF2B5EF4-FFF2-40B4-BE49-F238E27FC236}">
                <a16:creationId xmlns:a16="http://schemas.microsoft.com/office/drawing/2014/main" id="{2B8360BE-0BE9-EAC5-2BC5-EAB6B0B2060E}"/>
              </a:ext>
            </a:extLst>
          </p:cNvPr>
          <p:cNvSpPr>
            <a:spLocks noGrp="1"/>
          </p:cNvSpPr>
          <p:nvPr>
            <p:ph type="sldNum" sz="quarter" idx="12"/>
          </p:nvPr>
        </p:nvSpPr>
        <p:spPr/>
        <p:txBody>
          <a:bodyPr/>
          <a:lstStyle/>
          <a:p>
            <a:fld id="{0059130C-D5A7-43F1-8BDF-D4DD1699FE09}" type="slidenum">
              <a:rPr lang="en-US" smtClean="0"/>
              <a:t>9</a:t>
            </a:fld>
            <a:endParaRPr lang="en-US"/>
          </a:p>
        </p:txBody>
      </p:sp>
      <p:graphicFrame>
        <p:nvGraphicFramePr>
          <p:cNvPr id="8" name="Content Placeholder 4">
            <a:extLst>
              <a:ext uri="{FF2B5EF4-FFF2-40B4-BE49-F238E27FC236}">
                <a16:creationId xmlns:a16="http://schemas.microsoft.com/office/drawing/2014/main" id="{7A558006-E608-00FC-0599-C4CB0EB87572}"/>
              </a:ext>
            </a:extLst>
          </p:cNvPr>
          <p:cNvGraphicFramePr>
            <a:graphicFrameLocks/>
          </p:cNvGraphicFramePr>
          <p:nvPr>
            <p:extLst>
              <p:ext uri="{D42A27DB-BD31-4B8C-83A1-F6EECF244321}">
                <p14:modId xmlns:p14="http://schemas.microsoft.com/office/powerpoint/2010/main" val="4246676051"/>
              </p:ext>
            </p:extLst>
          </p:nvPr>
        </p:nvGraphicFramePr>
        <p:xfrm>
          <a:off x="838200" y="1825625"/>
          <a:ext cx="10515601" cy="1711960"/>
        </p:xfrm>
        <a:graphic>
          <a:graphicData uri="http://schemas.openxmlformats.org/drawingml/2006/table">
            <a:tbl>
              <a:tblPr firstRow="1" bandRow="1">
                <a:tableStyleId>{5C22544A-7EE6-4342-B048-85BDC9FD1C3A}</a:tableStyleId>
              </a:tblPr>
              <a:tblGrid>
                <a:gridCol w="1690688">
                  <a:extLst>
                    <a:ext uri="{9D8B030D-6E8A-4147-A177-3AD203B41FA5}">
                      <a16:colId xmlns:a16="http://schemas.microsoft.com/office/drawing/2014/main" val="20000"/>
                    </a:ext>
                  </a:extLst>
                </a:gridCol>
                <a:gridCol w="964406">
                  <a:extLst>
                    <a:ext uri="{9D8B030D-6E8A-4147-A177-3AD203B41FA5}">
                      <a16:colId xmlns:a16="http://schemas.microsoft.com/office/drawing/2014/main" val="20001"/>
                    </a:ext>
                  </a:extLst>
                </a:gridCol>
                <a:gridCol w="3629025">
                  <a:extLst>
                    <a:ext uri="{9D8B030D-6E8A-4147-A177-3AD203B41FA5}">
                      <a16:colId xmlns:a16="http://schemas.microsoft.com/office/drawing/2014/main" val="20002"/>
                    </a:ext>
                  </a:extLst>
                </a:gridCol>
                <a:gridCol w="4231482">
                  <a:extLst>
                    <a:ext uri="{9D8B030D-6E8A-4147-A177-3AD203B41FA5}">
                      <a16:colId xmlns:a16="http://schemas.microsoft.com/office/drawing/2014/main" val="1786694800"/>
                    </a:ext>
                  </a:extLst>
                </a:gridCol>
              </a:tblGrid>
              <a:tr h="301625">
                <a:tc>
                  <a:txBody>
                    <a:bodyPr/>
                    <a:lstStyle/>
                    <a:p>
                      <a:pPr algn="ctr"/>
                      <a:r>
                        <a:rPr lang="en-US" sz="1400" dirty="0"/>
                        <a:t>Quality</a:t>
                      </a:r>
                      <a:r>
                        <a:rPr lang="en-US" sz="1400" baseline="0" dirty="0"/>
                        <a:t> Attribute</a:t>
                      </a:r>
                      <a:endParaRPr lang="en-US" sz="1400" dirty="0"/>
                    </a:p>
                  </a:txBody>
                  <a:tcPr/>
                </a:tc>
                <a:tc>
                  <a:txBody>
                    <a:bodyPr/>
                    <a:lstStyle/>
                    <a:p>
                      <a:pPr algn="ctr"/>
                      <a:r>
                        <a:rPr lang="en-US" sz="1400" dirty="0"/>
                        <a:t>Priority</a:t>
                      </a:r>
                    </a:p>
                  </a:txBody>
                  <a:tcPr/>
                </a:tc>
                <a:tc>
                  <a:txBody>
                    <a:bodyPr/>
                    <a:lstStyle/>
                    <a:p>
                      <a:pPr algn="ctr"/>
                      <a:r>
                        <a:rPr lang="en-US" sz="1400" dirty="0"/>
                        <a:t>Proposal A</a:t>
                      </a:r>
                    </a:p>
                  </a:txBody>
                  <a:tcPr/>
                </a:tc>
                <a:tc>
                  <a:txBody>
                    <a:bodyPr/>
                    <a:lstStyle/>
                    <a:p>
                      <a:pPr algn="ctr"/>
                      <a:r>
                        <a:rPr lang="en-US" sz="1400" dirty="0"/>
                        <a:t>Proposal B</a:t>
                      </a:r>
                    </a:p>
                  </a:txBody>
                  <a:tcPr/>
                </a:tc>
                <a:extLst>
                  <a:ext uri="{0D108BD9-81ED-4DB2-BD59-A6C34878D82A}">
                    <a16:rowId xmlns:a16="http://schemas.microsoft.com/office/drawing/2014/main" val="10000"/>
                  </a:ext>
                </a:extLst>
              </a:tr>
              <a:tr h="370840">
                <a:tc>
                  <a:txBody>
                    <a:bodyPr/>
                    <a:lstStyle/>
                    <a:p>
                      <a:pPr algn="l"/>
                      <a:r>
                        <a:rPr lang="en-US" sz="1400" dirty="0"/>
                        <a:t>Security</a:t>
                      </a:r>
                    </a:p>
                  </a:txBody>
                  <a:tcPr/>
                </a:tc>
                <a:tc>
                  <a:txBody>
                    <a:bodyPr/>
                    <a:lstStyle/>
                    <a:p>
                      <a:pPr algn="ctr"/>
                      <a:r>
                        <a:rPr lang="en-US" sz="1400" dirty="0"/>
                        <a:t>HIGH</a:t>
                      </a:r>
                    </a:p>
                  </a:txBody>
                  <a:tcPr/>
                </a:tc>
                <a:tc>
                  <a:txBody>
                    <a:bodyPr/>
                    <a:lstStyle/>
                    <a:p>
                      <a:pPr algn="l"/>
                      <a:r>
                        <a:rPr lang="en-US" sz="1400" b="0" i="0" kern="1200" dirty="0">
                          <a:solidFill>
                            <a:schemeClr val="dk1"/>
                          </a:solidFill>
                          <a:effectLst/>
                          <a:latin typeface="+mn-lt"/>
                          <a:ea typeface="+mn-ea"/>
                          <a:cs typeface="+mn-cs"/>
                        </a:rPr>
                        <a:t>✓ </a:t>
                      </a:r>
                      <a:r>
                        <a:rPr lang="en-US" sz="1400" dirty="0"/>
                        <a:t>RDG is fully in trusted zone</a:t>
                      </a:r>
                    </a:p>
                  </a:txBody>
                  <a:tcPr/>
                </a:tc>
                <a:tc>
                  <a:txBody>
                    <a:bodyPr/>
                    <a:lstStyle/>
                    <a:p>
                      <a:pPr algn="l"/>
                      <a:r>
                        <a:rPr lang="en-US" sz="1400" dirty="0"/>
                        <a:t>✓ RDG is fully in trusted zone</a:t>
                      </a:r>
                    </a:p>
                  </a:txBody>
                  <a:tcPr/>
                </a:tc>
                <a:extLst>
                  <a:ext uri="{0D108BD9-81ED-4DB2-BD59-A6C34878D82A}">
                    <a16:rowId xmlns:a16="http://schemas.microsoft.com/office/drawing/2014/main" val="10001"/>
                  </a:ext>
                </a:extLst>
              </a:tr>
              <a:tr h="370840">
                <a:tc>
                  <a:txBody>
                    <a:bodyPr/>
                    <a:lstStyle/>
                    <a:p>
                      <a:pPr algn="l"/>
                      <a:r>
                        <a:rPr lang="en-US" sz="1400" b="0" i="0" kern="1200" dirty="0">
                          <a:solidFill>
                            <a:schemeClr val="dk1"/>
                          </a:solidFill>
                          <a:effectLst/>
                          <a:latin typeface="+mn-lt"/>
                          <a:ea typeface="+mn-ea"/>
                          <a:cs typeface="+mn-cs"/>
                        </a:rPr>
                        <a:t>Maintainability</a:t>
                      </a:r>
                      <a:endParaRPr lang="en-US" sz="1400" dirty="0"/>
                    </a:p>
                  </a:txBody>
                  <a:tcPr/>
                </a:tc>
                <a:tc>
                  <a:txBody>
                    <a:bodyPr/>
                    <a:lstStyle/>
                    <a:p>
                      <a:pPr algn="ctr"/>
                      <a:r>
                        <a:rPr lang="en-US" sz="1400" dirty="0"/>
                        <a:t>MEDIUM</a:t>
                      </a:r>
                    </a:p>
                  </a:txBody>
                  <a:tcPr/>
                </a:tc>
                <a:tc>
                  <a:txBody>
                    <a:bodyPr/>
                    <a:lstStyle/>
                    <a:p>
                      <a:pPr algn="l"/>
                      <a:r>
                        <a:rPr lang="en-US" sz="1400" b="0" i="0" kern="1200" dirty="0">
                          <a:solidFill>
                            <a:schemeClr val="dk1"/>
                          </a:solidFill>
                          <a:effectLst/>
                          <a:latin typeface="+mn-lt"/>
                          <a:ea typeface="+mn-ea"/>
                          <a:cs typeface="+mn-cs"/>
                        </a:rPr>
                        <a:t>✗ ~12 dependency modules must modify code</a:t>
                      </a:r>
                      <a:endParaRPr lang="en-US" sz="1600" dirty="0"/>
                    </a:p>
                  </a:txBody>
                  <a:tcPr/>
                </a:tc>
                <a:tc>
                  <a:txBody>
                    <a:bodyPr/>
                    <a:lstStyle/>
                    <a:p>
                      <a:pPr algn="l"/>
                      <a:r>
                        <a:rPr lang="en-US" sz="1400" dirty="0"/>
                        <a:t>✓ No change in the dependencies. Keep original Binder contract.</a:t>
                      </a:r>
                    </a:p>
                  </a:txBody>
                  <a:tcPr/>
                </a:tc>
                <a:extLst>
                  <a:ext uri="{0D108BD9-81ED-4DB2-BD59-A6C34878D82A}">
                    <a16:rowId xmlns:a16="http://schemas.microsoft.com/office/drawing/2014/main" val="10002"/>
                  </a:ext>
                </a:extLst>
              </a:tr>
              <a:tr h="370840">
                <a:tc>
                  <a:txBody>
                    <a:bodyPr/>
                    <a:lstStyle/>
                    <a:p>
                      <a:pPr algn="l"/>
                      <a:r>
                        <a:rPr lang="en-US" sz="1400" dirty="0"/>
                        <a:t>Simplicity</a:t>
                      </a:r>
                    </a:p>
                  </a:txBody>
                  <a:tcPr/>
                </a:tc>
                <a:tc>
                  <a:txBody>
                    <a:bodyPr/>
                    <a:lstStyle/>
                    <a:p>
                      <a:pPr algn="ctr"/>
                      <a:r>
                        <a:rPr lang="en-US" sz="1400" dirty="0"/>
                        <a:t>LOW</a:t>
                      </a:r>
                    </a:p>
                  </a:txBody>
                  <a:tcPr/>
                </a:tc>
                <a:tc>
                  <a:txBody>
                    <a:bodyPr/>
                    <a:lstStyle/>
                    <a:p>
                      <a:pPr algn="l"/>
                      <a:r>
                        <a:rPr lang="en-US" sz="1400" dirty="0"/>
                        <a:t>✗ Effort x N</a:t>
                      </a:r>
                    </a:p>
                    <a:p>
                      <a:pPr algn="l"/>
                      <a:endParaRPr lang="en-US" sz="1400" dirty="0"/>
                    </a:p>
                  </a:txBody>
                  <a:tcPr/>
                </a:tc>
                <a:tc>
                  <a:txBody>
                    <a:bodyPr/>
                    <a:lstStyle/>
                    <a:p>
                      <a:pPr algn="l"/>
                      <a:r>
                        <a:rPr lang="en-US" sz="1400" dirty="0"/>
                        <a:t>✓ Reuse most of existing framework. Just develop socket communication between RDP and RDG</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975896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586DF0-191D-CFF2-6EB8-9D38C56723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F0EC6A-24C4-882A-6982-0D75943FDC6D}"/>
              </a:ext>
            </a:extLst>
          </p:cNvPr>
          <p:cNvSpPr>
            <a:spLocks noGrp="1"/>
          </p:cNvSpPr>
          <p:nvPr>
            <p:ph type="title"/>
          </p:nvPr>
        </p:nvSpPr>
        <p:spPr/>
        <p:txBody>
          <a:bodyPr>
            <a:normAutofit/>
          </a:bodyPr>
          <a:lstStyle/>
          <a:p>
            <a:r>
              <a:rPr lang="en-US" sz="3300" dirty="0">
                <a:cs typeface="Times New Roman" panose="02020603050405020304" pitchFamily="18" charset="0"/>
              </a:rPr>
              <a:t>4. Design proposal for selected solution</a:t>
            </a:r>
            <a:endParaRPr lang="en-US" dirty="0"/>
          </a:p>
        </p:txBody>
      </p:sp>
      <p:sp>
        <p:nvSpPr>
          <p:cNvPr id="3" name="Content Placeholder 2">
            <a:extLst>
              <a:ext uri="{FF2B5EF4-FFF2-40B4-BE49-F238E27FC236}">
                <a16:creationId xmlns:a16="http://schemas.microsoft.com/office/drawing/2014/main" id="{355D8189-09B1-4310-3DFF-0AD4AB59C951}"/>
              </a:ext>
            </a:extLst>
          </p:cNvPr>
          <p:cNvSpPr>
            <a:spLocks noGrp="1"/>
          </p:cNvSpPr>
          <p:nvPr>
            <p:ph idx="1"/>
          </p:nvPr>
        </p:nvSpPr>
        <p:spPr/>
        <p:txBody>
          <a:bodyPr/>
          <a:lstStyle/>
          <a:p>
            <a:r>
              <a:rPr lang="en-US" dirty="0"/>
              <a:t>TBD</a:t>
            </a:r>
          </a:p>
        </p:txBody>
      </p:sp>
      <p:sp>
        <p:nvSpPr>
          <p:cNvPr id="4" name="Slide Number Placeholder 3">
            <a:extLst>
              <a:ext uri="{FF2B5EF4-FFF2-40B4-BE49-F238E27FC236}">
                <a16:creationId xmlns:a16="http://schemas.microsoft.com/office/drawing/2014/main" id="{BE5729C1-C03E-660D-7792-5EF10479DFCE}"/>
              </a:ext>
            </a:extLst>
          </p:cNvPr>
          <p:cNvSpPr>
            <a:spLocks noGrp="1"/>
          </p:cNvSpPr>
          <p:nvPr>
            <p:ph type="sldNum" sz="quarter" idx="12"/>
          </p:nvPr>
        </p:nvSpPr>
        <p:spPr/>
        <p:txBody>
          <a:bodyPr/>
          <a:lstStyle/>
          <a:p>
            <a:fld id="{0059130C-D5A7-43F1-8BDF-D4DD1699FE09}" type="slidenum">
              <a:rPr lang="en-US" smtClean="0"/>
              <a:t>10</a:t>
            </a:fld>
            <a:endParaRPr lang="en-US"/>
          </a:p>
        </p:txBody>
      </p:sp>
    </p:spTree>
    <p:extLst>
      <p:ext uri="{BB962C8B-B14F-4D97-AF65-F5344CB8AC3E}">
        <p14:creationId xmlns:p14="http://schemas.microsoft.com/office/powerpoint/2010/main" val="38668066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83B470-C549-916E-A530-B5AB0F910B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50140-10FB-0B27-20D7-65A1BC7BA315}"/>
              </a:ext>
            </a:extLst>
          </p:cNvPr>
          <p:cNvSpPr>
            <a:spLocks noGrp="1"/>
          </p:cNvSpPr>
          <p:nvPr>
            <p:ph type="title"/>
          </p:nvPr>
        </p:nvSpPr>
        <p:spPr/>
        <p:txBody>
          <a:bodyPr>
            <a:normAutofit/>
          </a:bodyPr>
          <a:lstStyle/>
          <a:p>
            <a:r>
              <a:rPr lang="en-US" sz="3300" dirty="0">
                <a:cs typeface="Times New Roman" panose="02020603050405020304" pitchFamily="18" charset="0"/>
              </a:rPr>
              <a:t>4. Design proposal for selected solution</a:t>
            </a:r>
            <a:endParaRPr lang="en-US" dirty="0"/>
          </a:p>
        </p:txBody>
      </p:sp>
      <p:sp>
        <p:nvSpPr>
          <p:cNvPr id="3" name="Content Placeholder 2">
            <a:extLst>
              <a:ext uri="{FF2B5EF4-FFF2-40B4-BE49-F238E27FC236}">
                <a16:creationId xmlns:a16="http://schemas.microsoft.com/office/drawing/2014/main" id="{3C41283E-DFE9-97E8-25F3-B74CE3F9D7FF}"/>
              </a:ext>
            </a:extLst>
          </p:cNvPr>
          <p:cNvSpPr>
            <a:spLocks noGrp="1"/>
          </p:cNvSpPr>
          <p:nvPr>
            <p:ph idx="1"/>
          </p:nvPr>
        </p:nvSpPr>
        <p:spPr/>
        <p:txBody>
          <a:bodyPr/>
          <a:lstStyle/>
          <a:p>
            <a:r>
              <a:rPr lang="en-US" dirty="0"/>
              <a:t>TBD</a:t>
            </a:r>
          </a:p>
        </p:txBody>
      </p:sp>
      <p:sp>
        <p:nvSpPr>
          <p:cNvPr id="4" name="Slide Number Placeholder 3">
            <a:extLst>
              <a:ext uri="{FF2B5EF4-FFF2-40B4-BE49-F238E27FC236}">
                <a16:creationId xmlns:a16="http://schemas.microsoft.com/office/drawing/2014/main" id="{2E344B66-62B5-0310-55FE-8D189F6F056C}"/>
              </a:ext>
            </a:extLst>
          </p:cNvPr>
          <p:cNvSpPr>
            <a:spLocks noGrp="1"/>
          </p:cNvSpPr>
          <p:nvPr>
            <p:ph type="sldNum" sz="quarter" idx="12"/>
          </p:nvPr>
        </p:nvSpPr>
        <p:spPr/>
        <p:txBody>
          <a:bodyPr/>
          <a:lstStyle/>
          <a:p>
            <a:fld id="{0059130C-D5A7-43F1-8BDF-D4DD1699FE09}" type="slidenum">
              <a:rPr lang="en-US" smtClean="0"/>
              <a:t>11</a:t>
            </a:fld>
            <a:endParaRPr lang="en-US"/>
          </a:p>
        </p:txBody>
      </p:sp>
    </p:spTree>
    <p:extLst>
      <p:ext uri="{BB962C8B-B14F-4D97-AF65-F5344CB8AC3E}">
        <p14:creationId xmlns:p14="http://schemas.microsoft.com/office/powerpoint/2010/main" val="2581752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9A5D8-FD83-B524-8985-C0EA78A4374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F1A3009-9137-13E2-FFF0-7602FAC6E104}"/>
              </a:ext>
            </a:extLst>
          </p:cNvPr>
          <p:cNvSpPr txBox="1"/>
          <p:nvPr/>
        </p:nvSpPr>
        <p:spPr>
          <a:xfrm>
            <a:off x="2182552" y="1995722"/>
            <a:ext cx="7619394" cy="2862322"/>
          </a:xfrm>
          <a:prstGeom prst="rect">
            <a:avLst/>
          </a:prstGeom>
          <a:noFill/>
        </p:spPr>
        <p:txBody>
          <a:bodyPr wrap="none" rtlCol="0">
            <a:spAutoFit/>
          </a:bodyPr>
          <a:lstStyle/>
          <a:p>
            <a:pPr algn="ctr"/>
            <a:r>
              <a:rPr lang="en-US" sz="6000">
                <a:latin typeface="Times New Roman" panose="02020603050405020304" pitchFamily="18" charset="0"/>
                <a:cs typeface="Times New Roman" panose="02020603050405020304" pitchFamily="18" charset="0"/>
              </a:rPr>
              <a:t>Q&amp;A</a:t>
            </a:r>
          </a:p>
          <a:p>
            <a:pPr algn="ctr"/>
            <a:r>
              <a:rPr lang="en-US" sz="6000">
                <a:latin typeface="Times New Roman" panose="02020603050405020304" pitchFamily="18" charset="0"/>
                <a:cs typeface="Times New Roman" panose="02020603050405020304" pitchFamily="18" charset="0"/>
              </a:rPr>
              <a:t>Thank you for listening </a:t>
            </a:r>
          </a:p>
          <a:p>
            <a:pPr algn="ctr"/>
            <a:endParaRPr lang="en-US" sz="600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4EE4F3FD-949D-EA8C-E470-930E6C6DB50B}"/>
              </a:ext>
            </a:extLst>
          </p:cNvPr>
          <p:cNvSpPr>
            <a:spLocks noGrp="1"/>
          </p:cNvSpPr>
          <p:nvPr>
            <p:ph type="sldNum" sz="quarter" idx="12"/>
          </p:nvPr>
        </p:nvSpPr>
        <p:spPr/>
        <p:txBody>
          <a:bodyPr/>
          <a:lstStyle/>
          <a:p>
            <a:fld id="{0059130C-D5A7-43F1-8BDF-D4DD1699FE09}" type="slidenum">
              <a:rPr lang="en-US" smtClean="0"/>
              <a:t>12</a:t>
            </a:fld>
            <a:endParaRPr lang="en-US"/>
          </a:p>
        </p:txBody>
      </p:sp>
    </p:spTree>
    <p:extLst>
      <p:ext uri="{BB962C8B-B14F-4D97-AF65-F5344CB8AC3E}">
        <p14:creationId xmlns:p14="http://schemas.microsoft.com/office/powerpoint/2010/main" val="28379892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6038" y="3957077"/>
            <a:ext cx="5998561" cy="1892826"/>
          </a:xfrm>
          <a:prstGeom prst="rect">
            <a:avLst/>
          </a:prstGeom>
          <a:noFill/>
        </p:spPr>
        <p:txBody>
          <a:bodyPr wrap="square" rtlCol="0">
            <a:spAutoFit/>
          </a:bodyPr>
          <a:lstStyle/>
          <a:p>
            <a:pPr algn="just">
              <a:lnSpc>
                <a:spcPct val="250000"/>
              </a:lnSpc>
            </a:pPr>
            <a:r>
              <a:rPr lang="en-US" b="1" dirty="0">
                <a:latin typeface="Times New Roman" panose="02020603050405020304" pitchFamily="18" charset="0"/>
                <a:cs typeface="Times New Roman" panose="02020603050405020304" pitchFamily="18" charset="0"/>
              </a:rPr>
              <a:t>Power Manager service’s characteristics :</a:t>
            </a:r>
          </a:p>
          <a:p>
            <a:pPr marL="285750" indent="-28575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High Fan-out</a:t>
            </a:r>
            <a:r>
              <a:rPr lang="en-US" dirty="0">
                <a:latin typeface="Times New Roman" panose="02020603050405020304" pitchFamily="18" charset="0"/>
                <a:cs typeface="Times New Roman" panose="02020603050405020304" pitchFamily="18" charset="0"/>
              </a:rPr>
              <a:t>: ~38 service receivers in 24DCM project.</a:t>
            </a:r>
          </a:p>
          <a:p>
            <a:pPr marL="285750" indent="-28575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Sequential Processing</a:t>
            </a:r>
            <a:r>
              <a:rPr lang="en-US" dirty="0">
                <a:latin typeface="Times New Roman" panose="02020603050405020304" pitchFamily="18" charset="0"/>
                <a:cs typeface="Times New Roman" panose="02020603050405020304" pitchFamily="18" charset="0"/>
              </a:rPr>
              <a:t>: Events must be processed in order.</a:t>
            </a:r>
          </a:p>
          <a:p>
            <a:pPr marL="285750" indent="-285750" algn="just">
              <a:buFont typeface="Wingdings" panose="05000000000000000000" pitchFamily="2" charset="2"/>
              <a:buChar char="§"/>
            </a:pPr>
            <a:r>
              <a:rPr lang="en-US" b="1" dirty="0">
                <a:latin typeface="Times New Roman" panose="02020603050405020304" pitchFamily="18" charset="0"/>
                <a:cs typeface="Times New Roman" panose="02020603050405020304" pitchFamily="18" charset="0"/>
              </a:rPr>
              <a:t>High Reliability Required</a:t>
            </a:r>
            <a:r>
              <a:rPr lang="en-US" dirty="0">
                <a:latin typeface="Times New Roman" panose="02020603050405020304" pitchFamily="18" charset="0"/>
                <a:cs typeface="Times New Roman" panose="02020603050405020304" pitchFamily="18" charset="0"/>
              </a:rPr>
              <a:t>: Failures or delays in event notification can cause battery drain and system-wide issues.</a:t>
            </a:r>
          </a:p>
        </p:txBody>
      </p:sp>
      <p:sp>
        <p:nvSpPr>
          <p:cNvPr id="8" name="Rectangle 7"/>
          <p:cNvSpPr/>
          <p:nvPr/>
        </p:nvSpPr>
        <p:spPr>
          <a:xfrm>
            <a:off x="459789" y="146304"/>
            <a:ext cx="7635616" cy="461665"/>
          </a:xfrm>
          <a:prstGeom prst="rect">
            <a:avLst/>
          </a:prstGeom>
          <a:solidFill>
            <a:schemeClr val="bg1"/>
          </a:solidFill>
        </p:spPr>
        <p:txBody>
          <a:bodyPr wrap="none">
            <a:spAutoFit/>
          </a:bodyPr>
          <a:lstStyle/>
          <a:p>
            <a:r>
              <a:rPr lang="en-US" sz="2400" u="sng" dirty="0">
                <a:latin typeface="Times New Roman" panose="02020603050405020304" pitchFamily="18" charset="0"/>
                <a:cs typeface="Times New Roman" panose="02020603050405020304" pitchFamily="18" charset="0"/>
              </a:rPr>
              <a:t>1. Overview - DCM and the RDG Module in Toyota 24LM</a:t>
            </a:r>
          </a:p>
        </p:txBody>
      </p:sp>
      <p:sp>
        <p:nvSpPr>
          <p:cNvPr id="7" name="TextBox 6"/>
          <p:cNvSpPr txBox="1"/>
          <p:nvPr/>
        </p:nvSpPr>
        <p:spPr>
          <a:xfrm>
            <a:off x="326038" y="1278837"/>
            <a:ext cx="5846161" cy="1477328"/>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Power Manager </a:t>
            </a:r>
            <a:r>
              <a:rPr lang="en-US" dirty="0">
                <a:latin typeface="Times New Roman" panose="02020603050405020304" pitchFamily="18" charset="0"/>
                <a:cs typeface="Times New Roman" panose="02020603050405020304" pitchFamily="18" charset="0"/>
              </a:rPr>
              <a:t>service</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one of the services in the telematics system.</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It is responsible for collecting and managing power-related information from various modules, and actively notifies other applications and services about changes in power state, power source, and battery status…</a:t>
            </a:r>
          </a:p>
        </p:txBody>
      </p:sp>
      <p:sp>
        <p:nvSpPr>
          <p:cNvPr id="2" name="Slide Number Placeholder 1"/>
          <p:cNvSpPr>
            <a:spLocks noGrp="1"/>
          </p:cNvSpPr>
          <p:nvPr>
            <p:ph type="sldNum" sz="quarter" idx="12"/>
          </p:nvPr>
        </p:nvSpPr>
        <p:spPr/>
        <p:txBody>
          <a:bodyPr/>
          <a:lstStyle/>
          <a:p>
            <a:fld id="{0059130C-D5A7-43F1-8BDF-D4DD1699FE09}" type="slidenum">
              <a:rPr lang="en-US" smtClean="0"/>
              <a:t>13</a:t>
            </a:fld>
            <a:endParaRPr lang="en-US"/>
          </a:p>
        </p:txBody>
      </p:sp>
      <p:sp>
        <p:nvSpPr>
          <p:cNvPr id="4" name="Rectangle 3"/>
          <p:cNvSpPr/>
          <p:nvPr/>
        </p:nvSpPr>
        <p:spPr>
          <a:xfrm>
            <a:off x="9598448" y="4868443"/>
            <a:ext cx="1698781" cy="9340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p:nvPr/>
        </p:nvGrpSpPr>
        <p:grpSpPr>
          <a:xfrm>
            <a:off x="6449300" y="1064306"/>
            <a:ext cx="5401331" cy="4792806"/>
            <a:chOff x="6449300" y="1064306"/>
            <a:chExt cx="5401331" cy="4792806"/>
          </a:xfrm>
        </p:grpSpPr>
        <p:pic>
          <p:nvPicPr>
            <p:cNvPr id="3" name="Picture 2"/>
            <p:cNvPicPr>
              <a:picLocks noChangeAspect="1"/>
            </p:cNvPicPr>
            <p:nvPr/>
          </p:nvPicPr>
          <p:blipFill>
            <a:blip r:embed="rId3"/>
            <a:stretch>
              <a:fillRect/>
            </a:stretch>
          </p:blipFill>
          <p:spPr>
            <a:xfrm>
              <a:off x="6449300" y="1064306"/>
              <a:ext cx="5401331" cy="4792806"/>
            </a:xfrm>
            <a:prstGeom prst="rect">
              <a:avLst/>
            </a:prstGeom>
            <a:ln>
              <a:solidFill>
                <a:schemeClr val="tx1"/>
              </a:solidFill>
            </a:ln>
          </p:spPr>
        </p:pic>
        <p:sp>
          <p:nvSpPr>
            <p:cNvPr id="5" name="Rectangle 4"/>
            <p:cNvSpPr/>
            <p:nvPr/>
          </p:nvSpPr>
          <p:spPr>
            <a:xfrm>
              <a:off x="9686544" y="4825692"/>
              <a:ext cx="1755648" cy="9289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 name="Rectangle 12"/>
          <p:cNvSpPr/>
          <p:nvPr/>
        </p:nvSpPr>
        <p:spPr>
          <a:xfrm>
            <a:off x="9943070" y="6112651"/>
            <a:ext cx="2248930" cy="40159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i="1" dirty="0">
                <a:solidFill>
                  <a:schemeClr val="tx1"/>
                </a:solidFill>
                <a:latin typeface="Times New Roman" panose="02020603050405020304" pitchFamily="18" charset="0"/>
                <a:cs typeface="Times New Roman" panose="02020603050405020304" pitchFamily="18" charset="0"/>
              </a:rPr>
              <a:t>More details at Appendix 1</a:t>
            </a:r>
          </a:p>
          <a:p>
            <a:pPr algn="ctr"/>
            <a:endParaRPr lang="en-US" sz="1200"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430721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p:cNvPicPr>
            <a:picLocks noChangeAspect="1"/>
          </p:cNvPicPr>
          <p:nvPr/>
        </p:nvPicPr>
        <p:blipFill>
          <a:blip r:embed="rId3"/>
          <a:stretch>
            <a:fillRect/>
          </a:stretch>
        </p:blipFill>
        <p:spPr>
          <a:xfrm>
            <a:off x="6426730" y="168064"/>
            <a:ext cx="4963646" cy="6449895"/>
          </a:xfrm>
          <a:prstGeom prst="rect">
            <a:avLst/>
          </a:prstGeom>
        </p:spPr>
      </p:pic>
      <p:sp>
        <p:nvSpPr>
          <p:cNvPr id="5" name="Rectangle 4"/>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2. Problem Identification </a:t>
            </a:r>
          </a:p>
        </p:txBody>
      </p:sp>
      <p:sp>
        <p:nvSpPr>
          <p:cNvPr id="7" name="Rectangle 6"/>
          <p:cNvSpPr/>
          <p:nvPr/>
        </p:nvSpPr>
        <p:spPr>
          <a:xfrm>
            <a:off x="525588" y="887274"/>
            <a:ext cx="412805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Starting point: issue DCM24MON-4575</a:t>
            </a:r>
          </a:p>
        </p:txBody>
      </p:sp>
      <p:sp>
        <p:nvSpPr>
          <p:cNvPr id="16" name="Rectangle 15"/>
          <p:cNvSpPr/>
          <p:nvPr/>
        </p:nvSpPr>
        <p:spPr>
          <a:xfrm>
            <a:off x="525588" y="1418688"/>
            <a:ext cx="6096000" cy="1754326"/>
          </a:xfrm>
          <a:prstGeom prst="rect">
            <a:avLst/>
          </a:prstGeom>
        </p:spPr>
        <p:txBody>
          <a:bodyPr>
            <a:spAutoFit/>
          </a:bodyPr>
          <a:lstStyle/>
          <a:p>
            <a:r>
              <a:rPr lang="en-US" u="sng" dirty="0">
                <a:latin typeface="Times New Roman" panose="02020603050405020304" pitchFamily="18" charset="0"/>
                <a:cs typeface="Times New Roman" panose="02020603050405020304" pitchFamily="18" charset="0"/>
              </a:rPr>
              <a:t>Scenario</a:t>
            </a:r>
            <a:r>
              <a:rPr lang="en-US" dirty="0">
                <a:latin typeface="Times New Roman" panose="02020603050405020304" pitchFamily="18" charset="0"/>
                <a:cs typeface="Times New Roman" panose="02020603050405020304" pitchFamily="18" charset="0"/>
              </a:rPr>
              <a:t>:  User turns off Ignition (IG)</a:t>
            </a:r>
          </a:p>
          <a:p>
            <a:r>
              <a:rPr lang="en-US" u="sng" dirty="0">
                <a:latin typeface="Times New Roman" panose="02020603050405020304" pitchFamily="18" charset="0"/>
                <a:cs typeface="Times New Roman" panose="02020603050405020304" pitchFamily="18" charset="0"/>
              </a:rPr>
              <a:t>Expected</a:t>
            </a:r>
            <a:r>
              <a:rPr lang="en-US" dirty="0">
                <a:latin typeface="Times New Roman" panose="02020603050405020304" pitchFamily="18" charset="0"/>
                <a:cs typeface="Times New Roman" panose="02020603050405020304" pitchFamily="18" charset="0"/>
              </a:rPr>
              <a:t>: Remote Air Conditioner stops after 1.5s</a:t>
            </a:r>
          </a:p>
          <a:p>
            <a:r>
              <a:rPr lang="en-US" u="sng" dirty="0">
                <a:latin typeface="Times New Roman" panose="02020603050405020304" pitchFamily="18" charset="0"/>
                <a:cs typeface="Times New Roman" panose="02020603050405020304" pitchFamily="18" charset="0"/>
              </a:rPr>
              <a:t>Actual</a:t>
            </a:r>
            <a:r>
              <a:rPr lang="en-US" dirty="0">
                <a:latin typeface="Times New Roman" panose="02020603050405020304" pitchFamily="18" charset="0"/>
                <a:cs typeface="Times New Roman" panose="02020603050405020304" pitchFamily="18" charset="0"/>
              </a:rPr>
              <a:t>:     Remote Air Conditioner takes 4s to respond</a:t>
            </a:r>
          </a:p>
          <a:p>
            <a:endParaRPr lang="en-US" dirty="0">
              <a:latin typeface="Times New Roman" panose="02020603050405020304" pitchFamily="18" charset="0"/>
              <a:cs typeface="Times New Roman" panose="02020603050405020304" pitchFamily="18" charset="0"/>
            </a:endParaRPr>
          </a:p>
          <a:p>
            <a:r>
              <a:rPr lang="en-US" u="sng" dirty="0">
                <a:latin typeface="Times New Roman" panose="02020603050405020304" pitchFamily="18" charset="0"/>
                <a:cs typeface="Times New Roman" panose="02020603050405020304" pitchFamily="18" charset="0"/>
              </a:rPr>
              <a:t>Cause</a:t>
            </a:r>
            <a:r>
              <a:rPr lang="en-US" dirty="0">
                <a:latin typeface="Times New Roman" panose="02020603050405020304" pitchFamily="18" charset="0"/>
                <a:cs typeface="Times New Roman" panose="02020603050405020304" pitchFamily="18" charset="0"/>
              </a:rPr>
              <a:t>: The IG off status is delayed </a:t>
            </a:r>
            <a:r>
              <a:rPr lang="en-US" b="1" dirty="0">
                <a:latin typeface="Times New Roman" panose="02020603050405020304" pitchFamily="18" charset="0"/>
                <a:cs typeface="Times New Roman" panose="02020603050405020304" pitchFamily="18" charset="0"/>
              </a:rPr>
              <a:t>4 seconds </a:t>
            </a:r>
            <a:r>
              <a:rPr lang="en-US" dirty="0">
                <a:latin typeface="Times New Roman" panose="02020603050405020304" pitchFamily="18" charset="0"/>
                <a:cs typeface="Times New Roman" panose="02020603050405020304" pitchFamily="18" charset="0"/>
              </a:rPr>
              <a:t>in Power Manager before notified to Remote Service.</a:t>
            </a:r>
          </a:p>
        </p:txBody>
      </p:sp>
      <p:sp>
        <p:nvSpPr>
          <p:cNvPr id="9" name="Rectangle 8"/>
          <p:cNvSpPr/>
          <p:nvPr/>
        </p:nvSpPr>
        <p:spPr>
          <a:xfrm>
            <a:off x="459789" y="3706697"/>
            <a:ext cx="5542703" cy="1200329"/>
          </a:xfrm>
          <a:prstGeom prst="rect">
            <a:avLst/>
          </a:prstGeom>
          <a:solidFill>
            <a:srgbClr val="DA9B8C"/>
          </a:solidFill>
        </p:spPr>
        <p:txBody>
          <a:bodyPr wrap="square">
            <a:spAutoFit/>
          </a:bodyPr>
          <a:lstStyle/>
          <a:p>
            <a:pPr algn="just"/>
            <a:r>
              <a:rPr lang="en-US" dirty="0">
                <a:latin typeface="Times New Roman" panose="02020603050405020304" pitchFamily="18" charset="0"/>
                <a:cs typeface="Times New Roman" panose="02020603050405020304" pitchFamily="18" charset="0"/>
              </a:rPr>
              <a:t>Delayed notifications are primarily a </a:t>
            </a: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issue, but when they lead to functional errors, they also compromise system </a:t>
            </a:r>
            <a:r>
              <a:rPr lang="en-US" b="1" dirty="0">
                <a:latin typeface="Times New Roman" panose="02020603050405020304" pitchFamily="18" charset="0"/>
                <a:cs typeface="Times New Roman" panose="02020603050405020304" pitchFamily="18" charset="0"/>
              </a:rPr>
              <a:t>reliability</a:t>
            </a:r>
            <a:r>
              <a:rPr lang="en-US" dirty="0">
                <a:latin typeface="Times New Roman" panose="02020603050405020304" pitchFamily="18" charset="0"/>
                <a:cs typeface="Times New Roman" panose="02020603050405020304" pitchFamily="18" charset="0"/>
              </a:rPr>
              <a:t>, especially during critical power transitions.</a:t>
            </a:r>
          </a:p>
        </p:txBody>
      </p:sp>
      <p:grpSp>
        <p:nvGrpSpPr>
          <p:cNvPr id="17" name="Group 16"/>
          <p:cNvGrpSpPr/>
          <p:nvPr/>
        </p:nvGrpSpPr>
        <p:grpSpPr>
          <a:xfrm>
            <a:off x="9529479" y="3027228"/>
            <a:ext cx="2122675" cy="523220"/>
            <a:chOff x="5308119" y="2974955"/>
            <a:chExt cx="2122675" cy="523220"/>
          </a:xfrm>
        </p:grpSpPr>
        <p:sp>
          <p:nvSpPr>
            <p:cNvPr id="2" name="Line Callout 1 1"/>
            <p:cNvSpPr/>
            <p:nvPr/>
          </p:nvSpPr>
          <p:spPr>
            <a:xfrm>
              <a:off x="5915319" y="2974955"/>
              <a:ext cx="1515475" cy="523220"/>
            </a:xfrm>
            <a:prstGeom prst="borderCallout1">
              <a:avLst>
                <a:gd name="adj1" fmla="val 18750"/>
                <a:gd name="adj2" fmla="val -8333"/>
                <a:gd name="adj3" fmla="val -43882"/>
                <a:gd name="adj4" fmla="val -167837"/>
              </a:avLst>
            </a:prstGeom>
            <a:solidFill>
              <a:srgbClr val="92D050"/>
            </a:solidFill>
          </p:spPr>
          <p:txBody>
            <a:bodyPr wrap="square">
              <a:spAutoFit/>
            </a:bodyPr>
            <a:lstStyle/>
            <a:p>
              <a:pPr algn="ctr"/>
              <a:r>
                <a:rPr lang="en-US" sz="1400" b="1" dirty="0">
                  <a:solidFill>
                    <a:schemeClr val="tx1"/>
                  </a:solidFill>
                  <a:latin typeface="Times New Roman" panose="02020603050405020304" pitchFamily="18" charset="0"/>
                  <a:cs typeface="Times New Roman" panose="02020603050405020304" pitchFamily="18" charset="0"/>
                </a:rPr>
                <a:t>Target for improvement</a:t>
              </a:r>
            </a:p>
          </p:txBody>
        </p:sp>
        <p:cxnSp>
          <p:nvCxnSpPr>
            <p:cNvPr id="4" name="Straight Arrow Connector 3"/>
            <p:cNvCxnSpPr>
              <a:stCxn id="2" idx="2"/>
            </p:cNvCxnSpPr>
            <p:nvPr/>
          </p:nvCxnSpPr>
          <p:spPr>
            <a:xfrm flipH="1">
              <a:off x="5308119" y="3236565"/>
              <a:ext cx="607200" cy="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grpSp>
      <p:sp>
        <p:nvSpPr>
          <p:cNvPr id="18" name="Rectangle 17"/>
          <p:cNvSpPr/>
          <p:nvPr/>
        </p:nvSpPr>
        <p:spPr>
          <a:xfrm>
            <a:off x="459789" y="5242389"/>
            <a:ext cx="5768362" cy="646331"/>
          </a:xfrm>
          <a:prstGeom prst="rect">
            <a:avLst/>
          </a:prstGeom>
        </p:spPr>
        <p:txBody>
          <a:bodyPr wrap="square">
            <a:spAutoFit/>
          </a:bodyPr>
          <a:lstStyle/>
          <a:p>
            <a:r>
              <a:rPr lang="en-US" b="1" dirty="0">
                <a:latin typeface="Times New Roman" panose="02020603050405020304" pitchFamily="18" charset="0"/>
                <a:cs typeface="Times New Roman" panose="02020603050405020304" pitchFamily="18" charset="0"/>
              </a:rPr>
              <a:t>→ Improving the power notification mechanism is essential for both performance and system reliability</a:t>
            </a:r>
            <a:r>
              <a:rPr lang="en-US" dirty="0">
                <a:latin typeface="Times New Roman" panose="02020603050405020304" pitchFamily="18" charset="0"/>
                <a:cs typeface="Times New Roman" panose="02020603050405020304" pitchFamily="18" charset="0"/>
              </a:rPr>
              <a:t>.</a:t>
            </a:r>
            <a:endParaRPr lang="en-US"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059130C-D5A7-43F1-8BDF-D4DD1699FE09}" type="slidenum">
              <a:rPr lang="en-US" smtClean="0"/>
              <a:t>14</a:t>
            </a:fld>
            <a:endParaRPr lang="en-US"/>
          </a:p>
        </p:txBody>
      </p:sp>
      <p:sp>
        <p:nvSpPr>
          <p:cNvPr id="6" name="Rectangle 5"/>
          <p:cNvSpPr/>
          <p:nvPr/>
        </p:nvSpPr>
        <p:spPr>
          <a:xfrm>
            <a:off x="9009951" y="6216364"/>
            <a:ext cx="2248930" cy="40159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i="1" dirty="0">
                <a:solidFill>
                  <a:schemeClr val="tx1"/>
                </a:solidFill>
                <a:latin typeface="Times New Roman" panose="02020603050405020304" pitchFamily="18" charset="0"/>
                <a:cs typeface="Times New Roman" panose="02020603050405020304" pitchFamily="18" charset="0"/>
              </a:rPr>
              <a:t>More details at Appendix 5, 6, 7</a:t>
            </a:r>
          </a:p>
          <a:p>
            <a:pPr algn="ctr"/>
            <a:endParaRPr lang="en-US" sz="1200"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207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p:nvSpPr>
        <p:spPr>
          <a:xfrm>
            <a:off x="466183"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2. Problem Identification </a:t>
            </a:r>
          </a:p>
        </p:txBody>
      </p:sp>
      <p:graphicFrame>
        <p:nvGraphicFramePr>
          <p:cNvPr id="4" name="Table 3">
            <a:extLst>
              <a:ext uri="{FF2B5EF4-FFF2-40B4-BE49-F238E27FC236}">
                <a16:creationId xmlns:a16="http://schemas.microsoft.com/office/drawing/2014/main" id="{56D77E60-BE34-C8BB-2710-0C915E9E0C34}"/>
              </a:ext>
            </a:extLst>
          </p:cNvPr>
          <p:cNvGraphicFramePr>
            <a:graphicFrameLocks noGrp="1"/>
          </p:cNvGraphicFramePr>
          <p:nvPr>
            <p:extLst>
              <p:ext uri="{D42A27DB-BD31-4B8C-83A1-F6EECF244321}">
                <p14:modId xmlns:p14="http://schemas.microsoft.com/office/powerpoint/2010/main" val="2231955159"/>
              </p:ext>
            </p:extLst>
          </p:nvPr>
        </p:nvGraphicFramePr>
        <p:xfrm>
          <a:off x="466182" y="1491281"/>
          <a:ext cx="11197213" cy="4573812"/>
        </p:xfrm>
        <a:graphic>
          <a:graphicData uri="http://schemas.openxmlformats.org/drawingml/2006/table">
            <a:tbl>
              <a:tblPr firstRow="1" firstCol="1" bandRow="1">
                <a:tableStyleId>{0505E3EF-67EA-436B-97B2-0124C06EBD24}</a:tableStyleId>
              </a:tblPr>
              <a:tblGrid>
                <a:gridCol w="2118268">
                  <a:extLst>
                    <a:ext uri="{9D8B030D-6E8A-4147-A177-3AD203B41FA5}">
                      <a16:colId xmlns:a16="http://schemas.microsoft.com/office/drawing/2014/main" val="1582101385"/>
                    </a:ext>
                  </a:extLst>
                </a:gridCol>
                <a:gridCol w="1104900">
                  <a:extLst>
                    <a:ext uri="{9D8B030D-6E8A-4147-A177-3AD203B41FA5}">
                      <a16:colId xmlns:a16="http://schemas.microsoft.com/office/drawing/2014/main" val="3606558556"/>
                    </a:ext>
                  </a:extLst>
                </a:gridCol>
                <a:gridCol w="7974045">
                  <a:extLst>
                    <a:ext uri="{9D8B030D-6E8A-4147-A177-3AD203B41FA5}">
                      <a16:colId xmlns:a16="http://schemas.microsoft.com/office/drawing/2014/main" val="3174540060"/>
                    </a:ext>
                  </a:extLst>
                </a:gridCol>
              </a:tblGrid>
              <a:tr h="415168">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Quality Attribute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9882093"/>
                  </a:ext>
                </a:extLst>
              </a:tr>
              <a:tr h="887906">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Performance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High</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System must meet timing requirements for critical operations with consistent response times.</a:t>
                      </a:r>
                      <a:br>
                        <a:rPr lang="en-US" sz="1800" kern="1200" dirty="0">
                          <a:solidFill>
                            <a:schemeClr val="tx1"/>
                          </a:solidFill>
                          <a:latin typeface="Times New Roman" panose="02020603050405020304" pitchFamily="18" charset="0"/>
                          <a:ea typeface="+mn-ea"/>
                          <a:cs typeface="Times New Roman" panose="02020603050405020304" pitchFamily="18" charset="0"/>
                        </a:rPr>
                      </a:br>
                      <a:r>
                        <a:rPr lang="en-US" sz="1800" i="1" kern="1200" dirty="0">
                          <a:solidFill>
                            <a:schemeClr val="tx1"/>
                          </a:solidFill>
                          <a:latin typeface="Times New Roman" panose="02020603050405020304" pitchFamily="18" charset="0"/>
                          <a:ea typeface="+mn-ea"/>
                          <a:cs typeface="Times New Roman" panose="02020603050405020304" pitchFamily="18" charset="0"/>
                        </a:rPr>
                        <a:t>(From 760ms to under 250ms for 1 event </a:t>
                      </a:r>
                      <a:r>
                        <a:rPr lang="en-US" sz="1800" b="1" i="1" dirty="0">
                          <a:latin typeface="Times New Roman" panose="02020603050405020304" pitchFamily="18" charset="0"/>
                          <a:cs typeface="Times New Roman" panose="02020603050405020304" pitchFamily="18" charset="0"/>
                        </a:rPr>
                        <a:t>→</a:t>
                      </a:r>
                      <a:r>
                        <a:rPr lang="en-US" sz="1800" i="1" kern="1200" dirty="0">
                          <a:solidFill>
                            <a:schemeClr val="tx1"/>
                          </a:solidFill>
                          <a:latin typeface="Times New Roman" panose="02020603050405020304" pitchFamily="18" charset="0"/>
                          <a:ea typeface="+mn-ea"/>
                          <a:cs typeface="Times New Roman" panose="02020603050405020304" pitchFamily="18" charset="0"/>
                        </a:rPr>
                        <a:t> total time for 6 notifies &lt; 1.5 seconds)</a:t>
                      </a:r>
                      <a:endParaRPr lang="en-US" sz="2000" i="1" kern="120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824361779"/>
                  </a:ext>
                </a:extLst>
              </a:tr>
              <a:tr h="65223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Reliability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High</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Ensure all services/apps receive notifications even when other services/apps fail.</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853277442"/>
                  </a:ext>
                </a:extLst>
              </a:tr>
              <a:tr h="668215">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Resource Efficiency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Medium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Efficiently manage resources since power notifications occur infrequently, avoiding waste while ensuring rapid response when needed.</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r h="645835">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Maintainability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Medium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The new design must ensure that the system is able to support the changes in the future.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645835">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Reusability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Medium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New design would be beneficial if it can be reused for other services since all services utilize this notification mechanism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5"/>
                  </a:ext>
                </a:extLst>
              </a:tr>
              <a:tr h="658623">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Simplicity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E8"/>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Low</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E8"/>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Balance implementation complexity with operational reliability for mission-critical systems.</a:t>
                      </a:r>
                    </a:p>
                  </a:txBody>
                  <a:tcPr marL="38100" marR="381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E8"/>
                    </a:solidFill>
                  </a:tcPr>
                </a:tc>
                <a:extLst>
                  <a:ext uri="{0D108BD9-81ED-4DB2-BD59-A6C34878D82A}">
                    <a16:rowId xmlns:a16="http://schemas.microsoft.com/office/drawing/2014/main" val="2918095390"/>
                  </a:ext>
                </a:extLst>
              </a:tr>
            </a:tbl>
          </a:graphicData>
        </a:graphic>
      </p:graphicFrame>
      <p:sp>
        <p:nvSpPr>
          <p:cNvPr id="2" name="Rectangle 1"/>
          <p:cNvSpPr/>
          <p:nvPr/>
        </p:nvSpPr>
        <p:spPr>
          <a:xfrm>
            <a:off x="402238" y="923165"/>
            <a:ext cx="3839513"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Key quality attributes while improving:</a:t>
            </a:r>
          </a:p>
        </p:txBody>
      </p:sp>
      <p:sp>
        <p:nvSpPr>
          <p:cNvPr id="3" name="Slide Number Placeholder 2"/>
          <p:cNvSpPr>
            <a:spLocks noGrp="1"/>
          </p:cNvSpPr>
          <p:nvPr>
            <p:ph type="sldNum" sz="quarter" idx="12"/>
          </p:nvPr>
        </p:nvSpPr>
        <p:spPr/>
        <p:txBody>
          <a:bodyPr/>
          <a:lstStyle/>
          <a:p>
            <a:fld id="{0059130C-D5A7-43F1-8BDF-D4DD1699FE09}" type="slidenum">
              <a:rPr lang="en-US" smtClean="0"/>
              <a:t>15</a:t>
            </a:fld>
            <a:endParaRPr lang="en-US"/>
          </a:p>
        </p:txBody>
      </p:sp>
    </p:spTree>
    <p:extLst>
      <p:ext uri="{BB962C8B-B14F-4D97-AF65-F5344CB8AC3E}">
        <p14:creationId xmlns:p14="http://schemas.microsoft.com/office/powerpoint/2010/main" val="2026555256"/>
      </p:ext>
    </p:extLst>
  </p:cSld>
  <p:clrMapOvr>
    <a:overrideClrMapping bg1="lt1" tx1="dk1" bg2="lt2" tx2="dk2" accent1="accent1" accent2="accent2" accent3="accent3" accent4="accent4" accent5="accent5" accent6="accent6" hlink="hlink" folHlink="folHlink"/>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6415970" y="396240"/>
            <a:ext cx="5536079" cy="6148768"/>
          </a:xfrm>
          <a:prstGeom prst="rect">
            <a:avLst/>
          </a:prstGeom>
        </p:spPr>
      </p:pic>
      <p:sp>
        <p:nvSpPr>
          <p:cNvPr id="9" name="Rectangle 8"/>
          <p:cNvSpPr/>
          <p:nvPr/>
        </p:nvSpPr>
        <p:spPr>
          <a:xfrm>
            <a:off x="466183"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2. Problem Identification </a:t>
            </a:r>
          </a:p>
        </p:txBody>
      </p:sp>
      <p:sp>
        <p:nvSpPr>
          <p:cNvPr id="5" name="Rectangle 4"/>
          <p:cNvSpPr/>
          <p:nvPr/>
        </p:nvSpPr>
        <p:spPr>
          <a:xfrm>
            <a:off x="274352" y="2280011"/>
            <a:ext cx="6509655" cy="2862322"/>
          </a:xfrm>
          <a:prstGeom prst="rect">
            <a:avLst/>
          </a:prstGeom>
        </p:spPr>
        <p:txBody>
          <a:bodyPr wrap="square">
            <a:spAutoFit/>
          </a:bodyPr>
          <a:lstStyle/>
          <a:p>
            <a:r>
              <a:rPr lang="en-US" dirty="0">
                <a:solidFill>
                  <a:schemeClr val="accent6"/>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Reliability</a:t>
            </a:r>
            <a:r>
              <a:rPr lang="en-US" dirty="0">
                <a:latin typeface="Times New Roman" panose="02020603050405020304" pitchFamily="18" charset="0"/>
                <a:cs typeface="Times New Roman" panose="02020603050405020304" pitchFamily="18" charset="0"/>
              </a:rPr>
              <a:t>: High reliability - each receiver has dedicated thread, guarantees all receivers get notifications.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Simplicity</a:t>
            </a:r>
            <a:r>
              <a:rPr lang="en-US" dirty="0">
                <a:latin typeface="Times New Roman" panose="02020603050405020304" pitchFamily="18" charset="0"/>
                <a:cs typeface="Times New Roman" panose="02020603050405020304" pitchFamily="18" charset="0"/>
              </a:rPr>
              <a:t>: Straightforward implementation.</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Resource Efficiency</a:t>
            </a:r>
            <a:r>
              <a:rPr lang="en-US" dirty="0">
                <a:latin typeface="Times New Roman" panose="02020603050405020304" pitchFamily="18" charset="0"/>
                <a:cs typeface="Times New Roman" panose="02020603050405020304" pitchFamily="18" charset="0"/>
              </a:rPr>
              <a:t>: No permanent threads when idle.</a:t>
            </a:r>
          </a:p>
          <a:p>
            <a:pPr lvl="1"/>
            <a:endParaRPr lang="en-US" dirty="0">
              <a:latin typeface="Times New Roman" panose="02020603050405020304" pitchFamily="18" charset="0"/>
              <a:cs typeface="Times New Roman" panose="02020603050405020304" pitchFamily="18" charset="0"/>
            </a:endParaRPr>
          </a:p>
          <a:p>
            <a:r>
              <a:rPr lang="en-US" dirty="0">
                <a:solidFill>
                  <a:srgbClr val="C0000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Disadvantage</a:t>
            </a:r>
            <a:r>
              <a:rPr lang="en-US" dirty="0">
                <a:latin typeface="Times New Roman" panose="02020603050405020304" pitchFamily="18" charset="0"/>
                <a:cs typeface="Times New Roman" panose="02020603050405020304" pitchFamily="18" charset="0"/>
              </a:rPr>
              <a:t>:</a:t>
            </a:r>
          </a:p>
          <a:p>
            <a:pPr marL="742950" lvl="2"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Extremely poor due to OS scheduling overhead. </a:t>
            </a:r>
          </a:p>
          <a:p>
            <a:pPr marL="457200" lvl="2"/>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459789" y="910194"/>
            <a:ext cx="4788811"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Current implementation (On-Demand Thread)</a:t>
            </a:r>
          </a:p>
        </p:txBody>
      </p:sp>
      <p:sp>
        <p:nvSpPr>
          <p:cNvPr id="3" name="Slide Number Placeholder 2"/>
          <p:cNvSpPr>
            <a:spLocks noGrp="1"/>
          </p:cNvSpPr>
          <p:nvPr>
            <p:ph type="sldNum" sz="quarter" idx="12"/>
          </p:nvPr>
        </p:nvSpPr>
        <p:spPr/>
        <p:txBody>
          <a:bodyPr/>
          <a:lstStyle/>
          <a:p>
            <a:fld id="{0059130C-D5A7-43F1-8BDF-D4DD1699FE09}" type="slidenum">
              <a:rPr lang="en-US" smtClean="0"/>
              <a:t>16</a:t>
            </a:fld>
            <a:endParaRPr lang="en-US" dirty="0"/>
          </a:p>
        </p:txBody>
      </p:sp>
      <p:sp>
        <p:nvSpPr>
          <p:cNvPr id="12" name="Rectangle 11"/>
          <p:cNvSpPr/>
          <p:nvPr/>
        </p:nvSpPr>
        <p:spPr>
          <a:xfrm>
            <a:off x="459789" y="1511586"/>
            <a:ext cx="6096000" cy="923330"/>
          </a:xfrm>
          <a:prstGeom prst="rect">
            <a:avLst/>
          </a:prstGeom>
        </p:spPr>
        <p:txBody>
          <a:bodyPr>
            <a:spAutoFit/>
          </a:bodyPr>
          <a:lstStyle/>
          <a:p>
            <a:r>
              <a:rPr lang="en-US" dirty="0">
                <a:latin typeface="Times New Roman" panose="02020603050405020304" pitchFamily="18" charset="0"/>
                <a:cs typeface="Times New Roman" panose="02020603050405020304" pitchFamily="18" charset="0"/>
              </a:rPr>
              <a:t>Create a new thread for each notification task, then destroy it immediately after completion.</a:t>
            </a:r>
          </a:p>
          <a:p>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545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74353" y="2280011"/>
            <a:ext cx="6875748" cy="3693319"/>
          </a:xfrm>
          <a:prstGeom prst="rect">
            <a:avLst/>
          </a:prstGeom>
        </p:spPr>
        <p:txBody>
          <a:bodyPr wrap="square">
            <a:spAutoFit/>
          </a:bodyPr>
          <a:lstStyle/>
          <a:p>
            <a:r>
              <a:rPr lang="en-US" dirty="0">
                <a:solidFill>
                  <a:srgbClr val="339933"/>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Zero thread creation delay, instant response (estimated &lt;10ms)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Reliability</a:t>
            </a:r>
            <a:r>
              <a:rPr lang="en-US" dirty="0">
                <a:latin typeface="Times New Roman" panose="02020603050405020304" pitchFamily="18" charset="0"/>
                <a:cs typeface="Times New Roman" panose="02020603050405020304" pitchFamily="18" charset="0"/>
              </a:rPr>
              <a:t>: Threads always available, ensures all receivers always receive notifications immediately.</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Simplicity</a:t>
            </a:r>
            <a:r>
              <a:rPr lang="en-US" dirty="0">
                <a:latin typeface="Times New Roman" panose="02020603050405020304" pitchFamily="18" charset="0"/>
                <a:cs typeface="Times New Roman" panose="02020603050405020304" pitchFamily="18" charset="0"/>
              </a:rPr>
              <a:t>: Straightforward implementation, minimal code changes required.</a:t>
            </a:r>
          </a:p>
          <a:p>
            <a:endParaRPr lang="en-US" dirty="0">
              <a:latin typeface="Times New Roman" panose="02020603050405020304" pitchFamily="18" charset="0"/>
              <a:cs typeface="Times New Roman" panose="02020603050405020304" pitchFamily="18" charset="0"/>
            </a:endParaRPr>
          </a:p>
          <a:p>
            <a:r>
              <a:rPr lang="en-US" dirty="0">
                <a:solidFill>
                  <a:srgbClr val="C00000"/>
                </a:solidFill>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Disadvantage</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Resource Efficiency</a:t>
            </a:r>
            <a:r>
              <a:rPr lang="en-US" dirty="0">
                <a:latin typeface="Times New Roman" panose="02020603050405020304" pitchFamily="18" charset="0"/>
                <a:cs typeface="Times New Roman" panose="02020603050405020304" pitchFamily="18" charset="0"/>
              </a:rPr>
              <a:t>: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Significant memory waste, threads remain idle most of the time.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 CPU usage spikes during notification.</a:t>
            </a:r>
          </a:p>
        </p:txBody>
      </p:sp>
      <p:sp>
        <p:nvSpPr>
          <p:cNvPr id="6" name="Rectangle 5"/>
          <p:cNvSpPr/>
          <p:nvPr/>
        </p:nvSpPr>
        <p:spPr>
          <a:xfrm>
            <a:off x="459789" y="910194"/>
            <a:ext cx="3307637"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Proposal 1 - Thread Cache Pool</a:t>
            </a:r>
          </a:p>
        </p:txBody>
      </p:sp>
      <p:sp>
        <p:nvSpPr>
          <p:cNvPr id="7" name="Rectangle 6"/>
          <p:cNvSpPr/>
          <p:nvPr/>
        </p:nvSpPr>
        <p:spPr>
          <a:xfrm>
            <a:off x="459788" y="1511586"/>
            <a:ext cx="6328361" cy="92333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Pre-create threads matching receiver count (~38), keep them alive permanently for instant response.</a:t>
            </a:r>
            <a:br>
              <a:rPr lang="en-US" dirty="0"/>
            </a:br>
            <a:endParaRPr lang="en-US" dirty="0"/>
          </a:p>
        </p:txBody>
      </p:sp>
      <p:sp>
        <p:nvSpPr>
          <p:cNvPr id="10" name="Rectangle 9"/>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3. Solution Proposals</a:t>
            </a:r>
          </a:p>
        </p:txBody>
      </p:sp>
      <p:sp>
        <p:nvSpPr>
          <p:cNvPr id="3" name="Slide Number Placeholder 2"/>
          <p:cNvSpPr>
            <a:spLocks noGrp="1"/>
          </p:cNvSpPr>
          <p:nvPr>
            <p:ph type="sldNum" sz="quarter" idx="12"/>
          </p:nvPr>
        </p:nvSpPr>
        <p:spPr/>
        <p:txBody>
          <a:bodyPr/>
          <a:lstStyle/>
          <a:p>
            <a:fld id="{0059130C-D5A7-43F1-8BDF-D4DD1699FE09}" type="slidenum">
              <a:rPr lang="en-US" smtClean="0"/>
              <a:t>17</a:t>
            </a:fld>
            <a:endParaRPr lang="en-US" dirty="0"/>
          </a:p>
        </p:txBody>
      </p:sp>
      <p:pic>
        <p:nvPicPr>
          <p:cNvPr id="8" name="Picture 7"/>
          <p:cNvPicPr>
            <a:picLocks noChangeAspect="1"/>
          </p:cNvPicPr>
          <p:nvPr/>
        </p:nvPicPr>
        <p:blipFill>
          <a:blip r:embed="rId3"/>
          <a:stretch>
            <a:fillRect/>
          </a:stretch>
        </p:blipFill>
        <p:spPr>
          <a:xfrm>
            <a:off x="6727189" y="556788"/>
            <a:ext cx="5324965" cy="5551404"/>
          </a:xfrm>
          <a:prstGeom prst="rect">
            <a:avLst/>
          </a:prstGeom>
        </p:spPr>
      </p:pic>
    </p:spTree>
    <p:extLst>
      <p:ext uri="{BB962C8B-B14F-4D97-AF65-F5344CB8AC3E}">
        <p14:creationId xmlns:p14="http://schemas.microsoft.com/office/powerpoint/2010/main" val="34712724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tretch>
            <a:fillRect/>
          </a:stretch>
        </p:blipFill>
        <p:spPr>
          <a:xfrm>
            <a:off x="6504633" y="215114"/>
            <a:ext cx="5362643" cy="6419418"/>
          </a:xfrm>
          <a:prstGeom prst="rect">
            <a:avLst/>
          </a:prstGeom>
        </p:spPr>
      </p:pic>
      <p:sp>
        <p:nvSpPr>
          <p:cNvPr id="5" name="Rectangle 4"/>
          <p:cNvSpPr/>
          <p:nvPr/>
        </p:nvSpPr>
        <p:spPr>
          <a:xfrm>
            <a:off x="313002" y="2336570"/>
            <a:ext cx="6282531" cy="3416320"/>
          </a:xfrm>
          <a:prstGeom prst="rect">
            <a:avLst/>
          </a:prstGeom>
        </p:spPr>
        <p:txBody>
          <a:bodyPr wrap="square">
            <a:spAutoFit/>
          </a:bodyPr>
          <a:lstStyle/>
          <a:p>
            <a:r>
              <a:rPr lang="en-US" dirty="0">
                <a:solidFill>
                  <a:srgbClr val="339933"/>
                </a:solidFill>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High (estimated ~20ms for 40 receives with 2 threads) </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Resource Efficiency</a:t>
            </a:r>
            <a:r>
              <a:rPr lang="en-US" dirty="0">
                <a:latin typeface="Times New Roman" panose="02020603050405020304" pitchFamily="18" charset="0"/>
                <a:cs typeface="Times New Roman" panose="02020603050405020304" pitchFamily="18" charset="0"/>
              </a:rPr>
              <a:t>: Maintain only a fixed number of permanent threads.</a:t>
            </a:r>
          </a:p>
          <a:p>
            <a:pPr lvl="1"/>
            <a:endParaRPr lang="en-US" dirty="0">
              <a:latin typeface="Times New Roman" panose="02020603050405020304" pitchFamily="18" charset="0"/>
              <a:cs typeface="Times New Roman" panose="02020603050405020304" pitchFamily="18" charset="0"/>
            </a:endParaRPr>
          </a:p>
          <a:p>
            <a:r>
              <a:rPr lang="en-US" dirty="0">
                <a:solidFill>
                  <a:srgbClr val="C0000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Disadvantages</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Reliability</a:t>
            </a:r>
            <a:r>
              <a:rPr lang="en-US" dirty="0">
                <a:latin typeface="Times New Roman" panose="02020603050405020304" pitchFamily="18" charset="0"/>
                <a:cs typeface="Times New Roman" panose="02020603050405020304" pitchFamily="18" charset="0"/>
              </a:rPr>
              <a:t>: When all threads delay, other receivers are delayed due to thread delays. </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Simplicity</a:t>
            </a:r>
            <a:r>
              <a:rPr lang="en-US" dirty="0">
                <a:latin typeface="Times New Roman" panose="02020603050405020304" pitchFamily="18" charset="0"/>
                <a:cs typeface="Times New Roman" panose="02020603050405020304" pitchFamily="18" charset="0"/>
              </a:rPr>
              <a:t>: Moderate implementation complexity.</a:t>
            </a:r>
          </a:p>
          <a:p>
            <a:pPr lvl="1"/>
            <a:endParaRPr lang="en-US" dirty="0">
              <a:latin typeface="Times New Roman" panose="02020603050405020304" pitchFamily="18" charset="0"/>
              <a:cs typeface="Times New Roman" panose="02020603050405020304" pitchFamily="18" charset="0"/>
            </a:endParaRP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408633" y="865441"/>
            <a:ext cx="3307637"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Proposal 2 - Fixed Thread Pool</a:t>
            </a:r>
          </a:p>
        </p:txBody>
      </p:sp>
      <p:sp>
        <p:nvSpPr>
          <p:cNvPr id="7" name="Rectangle 6"/>
          <p:cNvSpPr/>
          <p:nvPr/>
        </p:nvSpPr>
        <p:spPr>
          <a:xfrm>
            <a:off x="408633" y="1466833"/>
            <a:ext cx="6096000" cy="923330"/>
          </a:xfrm>
          <a:prstGeom prst="rect">
            <a:avLst/>
          </a:prstGeom>
        </p:spPr>
        <p:txBody>
          <a:bodyPr>
            <a:spAutoFit/>
          </a:bodyPr>
          <a:lstStyle/>
          <a:p>
            <a:r>
              <a:rPr lang="en-US" dirty="0">
                <a:latin typeface="Times New Roman" panose="02020603050405020304" pitchFamily="18" charset="0"/>
                <a:cs typeface="Times New Roman" panose="02020603050405020304" pitchFamily="18" charset="0"/>
              </a:rPr>
              <a:t>Use a fixed thread pool (e.g., 2 permanent threads) to handle all notifications</a:t>
            </a:r>
            <a:br>
              <a:rPr lang="en-US" dirty="0"/>
            </a:br>
            <a:endParaRPr lang="en-US" dirty="0"/>
          </a:p>
        </p:txBody>
      </p:sp>
      <p:sp>
        <p:nvSpPr>
          <p:cNvPr id="10" name="Rectangle 9"/>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3. Solution Proposals</a:t>
            </a:r>
          </a:p>
        </p:txBody>
      </p:sp>
      <p:sp>
        <p:nvSpPr>
          <p:cNvPr id="2" name="Slide Number Placeholder 1"/>
          <p:cNvSpPr>
            <a:spLocks noGrp="1"/>
          </p:cNvSpPr>
          <p:nvPr>
            <p:ph type="sldNum" sz="quarter" idx="12"/>
          </p:nvPr>
        </p:nvSpPr>
        <p:spPr/>
        <p:txBody>
          <a:bodyPr/>
          <a:lstStyle/>
          <a:p>
            <a:fld id="{0059130C-D5A7-43F1-8BDF-D4DD1699FE09}" type="slidenum">
              <a:rPr lang="en-US" smtClean="0"/>
              <a:t>18</a:t>
            </a:fld>
            <a:endParaRPr lang="en-US"/>
          </a:p>
        </p:txBody>
      </p:sp>
    </p:spTree>
    <p:extLst>
      <p:ext uri="{BB962C8B-B14F-4D97-AF65-F5344CB8AC3E}">
        <p14:creationId xmlns:p14="http://schemas.microsoft.com/office/powerpoint/2010/main" val="2996178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751936" y="138835"/>
            <a:ext cx="4966607" cy="6582640"/>
          </a:xfrm>
          <a:prstGeom prst="rect">
            <a:avLst/>
          </a:prstGeom>
        </p:spPr>
      </p:pic>
      <p:sp>
        <p:nvSpPr>
          <p:cNvPr id="5" name="Rectangle 4"/>
          <p:cNvSpPr/>
          <p:nvPr/>
        </p:nvSpPr>
        <p:spPr>
          <a:xfrm>
            <a:off x="239477" y="3194416"/>
            <a:ext cx="6364523" cy="3139321"/>
          </a:xfrm>
          <a:prstGeom prst="rect">
            <a:avLst/>
          </a:prstGeom>
        </p:spPr>
        <p:txBody>
          <a:bodyPr wrap="square">
            <a:spAutoFit/>
          </a:bodyPr>
          <a:lstStyle/>
          <a:p>
            <a:r>
              <a:rPr lang="en-US" dirty="0">
                <a:solidFill>
                  <a:srgbClr val="339933"/>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Advantages</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High (estimated ~20ms for 40 receives with 2 threads)</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Reliability</a:t>
            </a:r>
            <a:r>
              <a:rPr lang="en-US" dirty="0">
                <a:latin typeface="Times New Roman" panose="02020603050405020304" pitchFamily="18" charset="0"/>
                <a:cs typeface="Times New Roman" panose="02020603050405020304" pitchFamily="18" charset="0"/>
              </a:rPr>
              <a:t>: Self-healing with automatic delay thread replacement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Resource Efficiency</a:t>
            </a:r>
            <a:r>
              <a:rPr lang="en-US" dirty="0">
                <a:latin typeface="Times New Roman" panose="02020603050405020304" pitchFamily="18" charset="0"/>
                <a:cs typeface="Times New Roman" panose="02020603050405020304" pitchFamily="18" charset="0"/>
              </a:rPr>
              <a:t>: Adaptive memory usage based on actual demand</a:t>
            </a:r>
          </a:p>
          <a:p>
            <a:pPr lvl="1"/>
            <a:endParaRPr lang="en-US" dirty="0">
              <a:latin typeface="Times New Roman" panose="02020603050405020304" pitchFamily="18" charset="0"/>
              <a:cs typeface="Times New Roman" panose="02020603050405020304" pitchFamily="18" charset="0"/>
            </a:endParaRPr>
          </a:p>
          <a:p>
            <a:r>
              <a:rPr lang="en-US" dirty="0">
                <a:solidFill>
                  <a:srgbClr val="C00000"/>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Disadvantage</a:t>
            </a:r>
            <a:r>
              <a:rPr lang="en-US" dirty="0">
                <a:latin typeface="Times New Roman" panose="02020603050405020304" pitchFamily="18" charset="0"/>
                <a:cs typeface="Times New Roman" panose="02020603050405020304" pitchFamily="18" charset="0"/>
              </a:rPr>
              <a:t>:</a:t>
            </a:r>
          </a:p>
          <a:p>
            <a:pPr marL="742950" lvl="1"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Simplicity</a:t>
            </a:r>
            <a:r>
              <a:rPr lang="en-US" dirty="0">
                <a:latin typeface="Times New Roman" panose="02020603050405020304" pitchFamily="18" charset="0"/>
                <a:cs typeface="Times New Roman" panose="02020603050405020304" pitchFamily="18" charset="0"/>
              </a:rPr>
              <a:t>: Higher implementation complexity with scale algorithm.</a:t>
            </a:r>
          </a:p>
        </p:txBody>
      </p:sp>
      <p:sp>
        <p:nvSpPr>
          <p:cNvPr id="6" name="Rectangle 5"/>
          <p:cNvSpPr/>
          <p:nvPr/>
        </p:nvSpPr>
        <p:spPr>
          <a:xfrm>
            <a:off x="447001" y="807888"/>
            <a:ext cx="3576941"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Proposal 3 - Dynamic Thread Pool</a:t>
            </a:r>
          </a:p>
        </p:txBody>
      </p:sp>
      <p:sp>
        <p:nvSpPr>
          <p:cNvPr id="7" name="Rectangle 6"/>
          <p:cNvSpPr/>
          <p:nvPr/>
        </p:nvSpPr>
        <p:spPr>
          <a:xfrm>
            <a:off x="440607" y="1254375"/>
            <a:ext cx="6106243" cy="1754326"/>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Start with a fixed number of threads (e.g., 2 threads) as baseline thread pool.</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Scale up</a:t>
            </a:r>
            <a:r>
              <a:rPr lang="en-US" dirty="0">
                <a:latin typeface="Times New Roman" panose="02020603050405020304" pitchFamily="18" charset="0"/>
                <a:cs typeface="Times New Roman" panose="02020603050405020304" pitchFamily="18" charset="0"/>
              </a:rPr>
              <a:t>: Auto-create additional threads when individual thread processing time exceeds threshold.</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Scale down</a:t>
            </a:r>
            <a:r>
              <a:rPr lang="en-US" dirty="0">
                <a:latin typeface="Times New Roman" panose="02020603050405020304" pitchFamily="18" charset="0"/>
                <a:cs typeface="Times New Roman" panose="02020603050405020304" pitchFamily="18" charset="0"/>
              </a:rPr>
              <a:t>: Automatically reduce thread count to baseline after a certain period of inactivity to optimize resource usage.</a:t>
            </a:r>
          </a:p>
        </p:txBody>
      </p:sp>
      <p:sp>
        <p:nvSpPr>
          <p:cNvPr id="9" name="Rectangle 8"/>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3. Solution Proposals</a:t>
            </a:r>
          </a:p>
        </p:txBody>
      </p:sp>
      <p:sp>
        <p:nvSpPr>
          <p:cNvPr id="2" name="Slide Number Placeholder 1"/>
          <p:cNvSpPr>
            <a:spLocks noGrp="1"/>
          </p:cNvSpPr>
          <p:nvPr>
            <p:ph type="sldNum" sz="quarter" idx="12"/>
          </p:nvPr>
        </p:nvSpPr>
        <p:spPr/>
        <p:txBody>
          <a:bodyPr/>
          <a:lstStyle/>
          <a:p>
            <a:fld id="{0059130C-D5A7-43F1-8BDF-D4DD1699FE09}" type="slidenum">
              <a:rPr lang="en-US" smtClean="0"/>
              <a:t>19</a:t>
            </a:fld>
            <a:endParaRPr lang="en-US"/>
          </a:p>
        </p:txBody>
      </p:sp>
    </p:spTree>
    <p:extLst>
      <p:ext uri="{BB962C8B-B14F-4D97-AF65-F5344CB8AC3E}">
        <p14:creationId xmlns:p14="http://schemas.microsoft.com/office/powerpoint/2010/main" val="29190255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p:cNvGraphicFramePr>
            <a:graphicFrameLocks noGrp="1"/>
          </p:cNvGraphicFramePr>
          <p:nvPr>
            <p:extLst>
              <p:ext uri="{D42A27DB-BD31-4B8C-83A1-F6EECF244321}">
                <p14:modId xmlns:p14="http://schemas.microsoft.com/office/powerpoint/2010/main" val="176889200"/>
              </p:ext>
            </p:extLst>
          </p:nvPr>
        </p:nvGraphicFramePr>
        <p:xfrm>
          <a:off x="629365" y="864993"/>
          <a:ext cx="10847069" cy="2753881"/>
        </p:xfrm>
        <a:graphic>
          <a:graphicData uri="http://schemas.openxmlformats.org/drawingml/2006/table">
            <a:tbl>
              <a:tblPr>
                <a:tableStyleId>{0505E3EF-67EA-436B-97B2-0124C06EBD24}</a:tableStyleId>
              </a:tblPr>
              <a:tblGrid>
                <a:gridCol w="1617971">
                  <a:extLst>
                    <a:ext uri="{9D8B030D-6E8A-4147-A177-3AD203B41FA5}">
                      <a16:colId xmlns:a16="http://schemas.microsoft.com/office/drawing/2014/main" val="20000"/>
                    </a:ext>
                  </a:extLst>
                </a:gridCol>
                <a:gridCol w="888823">
                  <a:extLst>
                    <a:ext uri="{9D8B030D-6E8A-4147-A177-3AD203B41FA5}">
                      <a16:colId xmlns:a16="http://schemas.microsoft.com/office/drawing/2014/main" val="20001"/>
                    </a:ext>
                  </a:extLst>
                </a:gridCol>
                <a:gridCol w="2441211">
                  <a:extLst>
                    <a:ext uri="{9D8B030D-6E8A-4147-A177-3AD203B41FA5}">
                      <a16:colId xmlns:a16="http://schemas.microsoft.com/office/drawing/2014/main" val="20002"/>
                    </a:ext>
                  </a:extLst>
                </a:gridCol>
                <a:gridCol w="2127115">
                  <a:extLst>
                    <a:ext uri="{9D8B030D-6E8A-4147-A177-3AD203B41FA5}">
                      <a16:colId xmlns:a16="http://schemas.microsoft.com/office/drawing/2014/main" val="20003"/>
                    </a:ext>
                  </a:extLst>
                </a:gridCol>
                <a:gridCol w="1749346">
                  <a:extLst>
                    <a:ext uri="{9D8B030D-6E8A-4147-A177-3AD203B41FA5}">
                      <a16:colId xmlns:a16="http://schemas.microsoft.com/office/drawing/2014/main" val="20004"/>
                    </a:ext>
                  </a:extLst>
                </a:gridCol>
                <a:gridCol w="2022603">
                  <a:extLst>
                    <a:ext uri="{9D8B030D-6E8A-4147-A177-3AD203B41FA5}">
                      <a16:colId xmlns:a16="http://schemas.microsoft.com/office/drawing/2014/main" val="20005"/>
                    </a:ext>
                  </a:extLst>
                </a:gridCol>
              </a:tblGrid>
              <a:tr h="607409">
                <a:tc>
                  <a:txBody>
                    <a:bodyPr/>
                    <a:lstStyle/>
                    <a:p>
                      <a:pPr algn="ctr"/>
                      <a:r>
                        <a:rPr lang="en-US" sz="1400" b="1" dirty="0">
                          <a:effectLst/>
                          <a:latin typeface="Times New Roman" panose="02020603050405020304" pitchFamily="18" charset="0"/>
                          <a:cs typeface="Times New Roman" panose="02020603050405020304" pitchFamily="18" charset="0"/>
                        </a:rPr>
                        <a:t>Criteria</a:t>
                      </a:r>
                      <a:endParaRPr lang="en-US" sz="14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solidFill>
                            <a:srgbClr val="030303"/>
                          </a:solidFill>
                          <a:effectLst/>
                          <a:latin typeface="Times New Roman" panose="02020603050405020304" pitchFamily="18" charset="0"/>
                          <a:cs typeface="Times New Roman" panose="02020603050405020304" pitchFamily="18" charset="0"/>
                        </a:rPr>
                        <a:t>Priority </a:t>
                      </a:r>
                      <a:endParaRPr lang="en-US" sz="12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effectLst/>
                          <a:latin typeface="Times New Roman" panose="02020603050405020304" pitchFamily="18" charset="0"/>
                          <a:cs typeface="Times New Roman" panose="02020603050405020304" pitchFamily="18" charset="0"/>
                        </a:rPr>
                        <a:t>On-Demand</a:t>
                      </a:r>
                      <a:r>
                        <a:rPr lang="en-US" sz="1400" b="1" baseline="0" dirty="0">
                          <a:effectLst/>
                          <a:latin typeface="Times New Roman" panose="02020603050405020304" pitchFamily="18" charset="0"/>
                          <a:cs typeface="Times New Roman" panose="02020603050405020304" pitchFamily="18" charset="0"/>
                        </a:rPr>
                        <a:t> Thread</a:t>
                      </a:r>
                    </a:p>
                    <a:p>
                      <a:pPr marL="0" marR="0" indent="0" algn="ctr" defTabSz="914400" rtl="0" eaLnBrk="1" fontAlgn="auto" latinLnBrk="0" hangingPunct="1">
                        <a:lnSpc>
                          <a:spcPct val="100000"/>
                        </a:lnSpc>
                        <a:spcBef>
                          <a:spcPts val="0"/>
                        </a:spcBef>
                        <a:spcAft>
                          <a:spcPts val="0"/>
                        </a:spcAft>
                        <a:buClrTx/>
                        <a:buSzTx/>
                        <a:buFontTx/>
                        <a:buNone/>
                        <a:tabLst/>
                        <a:defRPr/>
                      </a:pPr>
                      <a:r>
                        <a:rPr lang="en-US" sz="1100" b="1" baseline="0" dirty="0">
                          <a:solidFill>
                            <a:srgbClr val="030303"/>
                          </a:solidFill>
                          <a:effectLst/>
                          <a:latin typeface="Times New Roman" panose="02020603050405020304" pitchFamily="18" charset="0"/>
                          <a:cs typeface="Times New Roman" panose="02020603050405020304" pitchFamily="18" charset="0"/>
                        </a:rPr>
                        <a:t>(Current implementation)</a:t>
                      </a:r>
                      <a:endParaRPr lang="en-US" sz="11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400" b="1" dirty="0">
                          <a:effectLst/>
                          <a:latin typeface="Times New Roman" panose="02020603050405020304" pitchFamily="18" charset="0"/>
                          <a:cs typeface="Times New Roman" panose="02020603050405020304" pitchFamily="18" charset="0"/>
                        </a:rPr>
                        <a:t>Thread Cache</a:t>
                      </a:r>
                    </a:p>
                    <a:p>
                      <a:pPr algn="ctr"/>
                      <a:r>
                        <a:rPr lang="en-US" sz="1100" b="1" dirty="0">
                          <a:latin typeface="Times New Roman" panose="02020603050405020304" pitchFamily="18" charset="0"/>
                          <a:cs typeface="Times New Roman" panose="02020603050405020304" pitchFamily="18" charset="0"/>
                        </a:rPr>
                        <a:t>(Proposal 1)</a:t>
                      </a:r>
                      <a:endParaRPr lang="en-US" sz="11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1" dirty="0">
                          <a:effectLst/>
                          <a:latin typeface="Times New Roman" panose="02020603050405020304" pitchFamily="18" charset="0"/>
                          <a:cs typeface="Times New Roman" panose="02020603050405020304" pitchFamily="18" charset="0"/>
                        </a:rPr>
                        <a:t>Fixed Pool</a:t>
                      </a:r>
                      <a:br>
                        <a:rPr lang="en-US" sz="1400" b="1" dirty="0">
                          <a:effectLst/>
                          <a:latin typeface="Times New Roman" panose="02020603050405020304" pitchFamily="18" charset="0"/>
                          <a:cs typeface="Times New Roman" panose="02020603050405020304" pitchFamily="18" charset="0"/>
                        </a:rPr>
                      </a:br>
                      <a:r>
                        <a:rPr lang="en-US" sz="1100" b="1" dirty="0">
                          <a:latin typeface="Times New Roman" panose="02020603050405020304" pitchFamily="18" charset="0"/>
                          <a:cs typeface="Times New Roman" panose="02020603050405020304" pitchFamily="18" charset="0"/>
                        </a:rPr>
                        <a:t>(Proposal 2)</a:t>
                      </a:r>
                      <a:endParaRPr lang="en-US" sz="11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400" b="1" dirty="0">
                          <a:latin typeface="Times New Roman" panose="02020603050405020304" pitchFamily="18" charset="0"/>
                          <a:cs typeface="Times New Roman" panose="02020603050405020304" pitchFamily="18" charset="0"/>
                        </a:rPr>
                        <a:t>Dynamic Thread Pool</a:t>
                      </a:r>
                    </a:p>
                    <a:p>
                      <a:pPr marL="0" marR="0" indent="0" algn="ctr" defTabSz="914400" rtl="0" eaLnBrk="1" fontAlgn="auto" latinLnBrk="0" hangingPunct="1">
                        <a:lnSpc>
                          <a:spcPct val="100000"/>
                        </a:lnSpc>
                        <a:spcBef>
                          <a:spcPts val="0"/>
                        </a:spcBef>
                        <a:spcAft>
                          <a:spcPts val="0"/>
                        </a:spcAft>
                        <a:buClrTx/>
                        <a:buSzTx/>
                        <a:buFontTx/>
                        <a:buNone/>
                        <a:tabLst/>
                        <a:defRPr/>
                      </a:pPr>
                      <a:r>
                        <a:rPr lang="en-US" sz="1100" b="1" dirty="0">
                          <a:latin typeface="Times New Roman" panose="02020603050405020304" pitchFamily="18" charset="0"/>
                          <a:cs typeface="Times New Roman" panose="02020603050405020304" pitchFamily="18" charset="0"/>
                        </a:rPr>
                        <a:t>(Proposal 3)</a:t>
                      </a:r>
                      <a:endParaRPr lang="en-US" sz="11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389625">
                <a:tc>
                  <a:txBody>
                    <a:bodyPr/>
                    <a:lstStyle/>
                    <a:p>
                      <a:r>
                        <a:rPr lang="en-US" sz="1400" b="0" dirty="0">
                          <a:effectLst/>
                          <a:latin typeface="Times New Roman" panose="02020603050405020304" pitchFamily="18" charset="0"/>
                          <a:cs typeface="Times New Roman" panose="02020603050405020304" pitchFamily="18" charset="0"/>
                        </a:rPr>
                        <a:t>Performance</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400" kern="1200" dirty="0">
                          <a:solidFill>
                            <a:schemeClr val="dk1"/>
                          </a:solidFill>
                          <a:effectLst/>
                          <a:latin typeface="Times New Roman" panose="02020603050405020304" pitchFamily="18" charset="0"/>
                          <a:ea typeface="+mn-ea"/>
                          <a:cs typeface="Times New Roman" panose="02020603050405020304" pitchFamily="18" charset="0"/>
                        </a:rPr>
                        <a:t>High</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solidFill>
                            <a:srgbClr val="C00000"/>
                          </a:solidFill>
                          <a:effectLst/>
                          <a:latin typeface="Times New Roman" panose="02020603050405020304" pitchFamily="18" charset="0"/>
                          <a:cs typeface="Times New Roman" panose="02020603050405020304" pitchFamily="18" charset="0"/>
                        </a:rPr>
                        <a:t>Low</a:t>
                      </a:r>
                    </a:p>
                    <a:p>
                      <a:pPr algn="ctr"/>
                      <a:r>
                        <a:rPr lang="en-US" sz="1200" b="0" dirty="0">
                          <a:solidFill>
                            <a:srgbClr val="C00000"/>
                          </a:solidFill>
                          <a:effectLst/>
                          <a:latin typeface="Times New Roman" panose="02020603050405020304" pitchFamily="18" charset="0"/>
                          <a:cs typeface="Times New Roman" panose="02020603050405020304" pitchFamily="18" charset="0"/>
                        </a:rPr>
                        <a:t>(~800ms)</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dirty="0">
                          <a:solidFill>
                            <a:srgbClr val="339933"/>
                          </a:solidFill>
                          <a:effectLst/>
                          <a:latin typeface="Times New Roman" panose="02020603050405020304" pitchFamily="18" charset="0"/>
                          <a:cs typeface="Times New Roman" panose="02020603050405020304" pitchFamily="18" charset="0"/>
                        </a:rPr>
                        <a:t>High</a:t>
                      </a:r>
                    </a:p>
                    <a:p>
                      <a:pPr algn="ctr"/>
                      <a:r>
                        <a:rPr lang="en-US" sz="1200" b="0" dirty="0">
                          <a:solidFill>
                            <a:srgbClr val="339933"/>
                          </a:solidFill>
                          <a:effectLst/>
                          <a:latin typeface="Times New Roman" panose="02020603050405020304" pitchFamily="18" charset="0"/>
                          <a:cs typeface="Times New Roman" panose="02020603050405020304" pitchFamily="18" charset="0"/>
                        </a:rPr>
                        <a:t>(&lt;10ms)</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0" algn="ctr" defTabSz="914400" rtl="0" eaLnBrk="1" latinLnBrk="0" hangingPunct="1"/>
                      <a:r>
                        <a:rPr lang="en-US" sz="1400" b="0" kern="1200" dirty="0">
                          <a:solidFill>
                            <a:srgbClr val="339933"/>
                          </a:solidFill>
                          <a:effectLst/>
                          <a:latin typeface="Times New Roman" panose="02020603050405020304" pitchFamily="18" charset="0"/>
                          <a:ea typeface="+mn-ea"/>
                          <a:cs typeface="Times New Roman" panose="02020603050405020304" pitchFamily="18" charset="0"/>
                        </a:rPr>
                        <a:t>High</a:t>
                      </a:r>
                    </a:p>
                    <a:p>
                      <a:pPr marL="0" algn="ctr" defTabSz="914400" rtl="0" eaLnBrk="1" latinLnBrk="0" hangingPunct="1"/>
                      <a:r>
                        <a:rPr lang="en-US" sz="1200" b="0" kern="1200" dirty="0">
                          <a:solidFill>
                            <a:srgbClr val="339933"/>
                          </a:solidFill>
                          <a:effectLst/>
                          <a:latin typeface="Times New Roman" panose="02020603050405020304" pitchFamily="18" charset="0"/>
                          <a:ea typeface="+mn-ea"/>
                          <a:cs typeface="Times New Roman" panose="02020603050405020304" pitchFamily="18" charset="0"/>
                        </a:rPr>
                        <a:t>(~20ms)</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kern="1200" dirty="0">
                          <a:solidFill>
                            <a:srgbClr val="339933"/>
                          </a:solidFill>
                          <a:effectLst/>
                          <a:latin typeface="Times New Roman" panose="02020603050405020304" pitchFamily="18" charset="0"/>
                          <a:ea typeface="+mn-ea"/>
                          <a:cs typeface="Times New Roman" panose="02020603050405020304" pitchFamily="18" charset="0"/>
                        </a:rPr>
                        <a:t>High</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b="0" kern="1200" dirty="0">
                          <a:solidFill>
                            <a:srgbClr val="339933"/>
                          </a:solidFill>
                          <a:effectLst/>
                          <a:latin typeface="Times New Roman" panose="02020603050405020304" pitchFamily="18" charset="0"/>
                          <a:ea typeface="+mn-ea"/>
                          <a:cs typeface="Times New Roman" panose="02020603050405020304" pitchFamily="18" charset="0"/>
                        </a:rPr>
                        <a:t>(~20ms)</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r>
                        <a:rPr lang="en-US" sz="1400" b="0" dirty="0">
                          <a:effectLst/>
                          <a:latin typeface="Times New Roman" panose="02020603050405020304" pitchFamily="18" charset="0"/>
                          <a:cs typeface="Times New Roman" panose="02020603050405020304" pitchFamily="18" charset="0"/>
                        </a:rPr>
                        <a:t>Reliability</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400" kern="1200" dirty="0">
                          <a:solidFill>
                            <a:schemeClr val="dk1"/>
                          </a:solidFill>
                          <a:effectLst/>
                          <a:latin typeface="Times New Roman" panose="02020603050405020304" pitchFamily="18" charset="0"/>
                          <a:ea typeface="+mn-ea"/>
                          <a:cs typeface="Times New Roman" panose="02020603050405020304" pitchFamily="18" charset="0"/>
                        </a:rPr>
                        <a:t>High</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400" b="0" dirty="0">
                          <a:solidFill>
                            <a:srgbClr val="339933"/>
                          </a:solidFill>
                          <a:effectLst/>
                          <a:latin typeface="Times New Roman" panose="02020603050405020304" pitchFamily="18" charset="0"/>
                          <a:cs typeface="Times New Roman" panose="02020603050405020304" pitchFamily="18" charset="0"/>
                        </a:rPr>
                        <a:t>High </a:t>
                      </a:r>
                      <a:endParaRPr lang="en-US" sz="1200" b="0" dirty="0">
                        <a:solidFill>
                          <a:srgbClr val="C00000"/>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kern="1200" dirty="0">
                          <a:solidFill>
                            <a:srgbClr val="339933"/>
                          </a:solidFill>
                          <a:effectLst/>
                          <a:latin typeface="Times New Roman" panose="02020603050405020304" pitchFamily="18" charset="0"/>
                          <a:ea typeface="+mn-ea"/>
                          <a:cs typeface="Times New Roman" panose="02020603050405020304" pitchFamily="18" charset="0"/>
                        </a:rPr>
                        <a:t>High</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dirty="0">
                          <a:solidFill>
                            <a:srgbClr val="C00000"/>
                          </a:solidFill>
                          <a:effectLst/>
                          <a:latin typeface="Times New Roman" panose="02020603050405020304" pitchFamily="18" charset="0"/>
                          <a:cs typeface="Times New Roman" panose="02020603050405020304" pitchFamily="18" charset="0"/>
                        </a:rPr>
                        <a:t>Low</a:t>
                      </a:r>
                      <a:r>
                        <a:rPr lang="en-US" sz="1400" b="1" dirty="0">
                          <a:solidFill>
                            <a:srgbClr val="C00000"/>
                          </a:solidFill>
                          <a:effectLst/>
                          <a:latin typeface="Times New Roman" panose="02020603050405020304" pitchFamily="18" charset="0"/>
                          <a:cs typeface="Times New Roman" panose="02020603050405020304" pitchFamily="18" charset="0"/>
                        </a:rPr>
                        <a:t> </a:t>
                      </a:r>
                      <a:br>
                        <a:rPr lang="en-US" sz="1400" b="1" dirty="0">
                          <a:solidFill>
                            <a:srgbClr val="C00000"/>
                          </a:solidFill>
                          <a:effectLst/>
                          <a:latin typeface="Times New Roman" panose="02020603050405020304" pitchFamily="18" charset="0"/>
                          <a:cs typeface="Times New Roman" panose="02020603050405020304" pitchFamily="18" charset="0"/>
                        </a:rPr>
                      </a:br>
                      <a:r>
                        <a:rPr lang="en-US" sz="1100" b="0" dirty="0">
                          <a:solidFill>
                            <a:srgbClr val="C00000"/>
                          </a:solidFill>
                          <a:effectLst/>
                          <a:latin typeface="Times New Roman" panose="02020603050405020304" pitchFamily="18" charset="0"/>
                          <a:cs typeface="Times New Roman" panose="02020603050405020304" pitchFamily="18" charset="0"/>
                        </a:rPr>
                        <a:t>(Delay/fail risk)</a:t>
                      </a:r>
                      <a:endParaRPr lang="en-US" sz="1200" b="0" dirty="0">
                        <a:solidFill>
                          <a:srgbClr val="C00000"/>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dirty="0">
                          <a:solidFill>
                            <a:srgbClr val="339933"/>
                          </a:solidFill>
                          <a:effectLst/>
                          <a:latin typeface="Times New Roman" panose="02020603050405020304" pitchFamily="18" charset="0"/>
                          <a:cs typeface="Times New Roman" panose="02020603050405020304" pitchFamily="18" charset="0"/>
                        </a:rPr>
                        <a:t>High </a:t>
                      </a:r>
                      <a:br>
                        <a:rPr lang="en-US" sz="1200" b="0" dirty="0">
                          <a:solidFill>
                            <a:srgbClr val="339933"/>
                          </a:solidFill>
                          <a:effectLst/>
                          <a:latin typeface="Times New Roman" panose="02020603050405020304" pitchFamily="18" charset="0"/>
                          <a:cs typeface="Times New Roman" panose="02020603050405020304" pitchFamily="18" charset="0"/>
                        </a:rPr>
                      </a:br>
                      <a:r>
                        <a:rPr lang="en-US" sz="1200" b="0" dirty="0">
                          <a:solidFill>
                            <a:srgbClr val="339933"/>
                          </a:solidFill>
                          <a:effectLst/>
                          <a:latin typeface="Times New Roman" panose="02020603050405020304" pitchFamily="18" charset="0"/>
                          <a:cs typeface="Times New Roman" panose="02020603050405020304" pitchFamily="18" charset="0"/>
                        </a:rPr>
                        <a:t>(Auto-scale when</a:t>
                      </a:r>
                      <a:r>
                        <a:rPr lang="en-US" sz="1200" b="0" baseline="0" dirty="0">
                          <a:solidFill>
                            <a:srgbClr val="339933"/>
                          </a:solidFill>
                          <a:effectLst/>
                          <a:latin typeface="Times New Roman" panose="02020603050405020304" pitchFamily="18" charset="0"/>
                          <a:cs typeface="Times New Roman" panose="02020603050405020304" pitchFamily="18" charset="0"/>
                        </a:rPr>
                        <a:t> delay</a:t>
                      </a:r>
                      <a:r>
                        <a:rPr lang="en-US" sz="1200" b="0" dirty="0">
                          <a:solidFill>
                            <a:srgbClr val="339933"/>
                          </a:solidFill>
                          <a:effectLst/>
                          <a:latin typeface="Times New Roman" panose="02020603050405020304" pitchFamily="18" charset="0"/>
                          <a:cs typeface="Times New Roman" panose="02020603050405020304" pitchFamily="18" charset="0"/>
                        </a:rPr>
                        <a:t>)</a:t>
                      </a:r>
                      <a:endParaRPr lang="en-US" sz="1800" b="0" dirty="0">
                        <a:solidFill>
                          <a:srgbClr val="339933"/>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825453">
                <a:tc>
                  <a:txBody>
                    <a:bodyPr/>
                    <a:lstStyle/>
                    <a:p>
                      <a:r>
                        <a:rPr lang="en-US" sz="1400" b="0" dirty="0">
                          <a:effectLst/>
                          <a:latin typeface="Times New Roman" panose="02020603050405020304" pitchFamily="18" charset="0"/>
                          <a:cs typeface="Times New Roman" panose="02020603050405020304" pitchFamily="18" charset="0"/>
                        </a:rPr>
                        <a:t>Resource Efficiency </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effectLst/>
                          <a:latin typeface="Times New Roman" panose="02020603050405020304" pitchFamily="18" charset="0"/>
                          <a:ea typeface="+mn-ea"/>
                          <a:cs typeface="Times New Roman" panose="02020603050405020304" pitchFamily="18" charset="0"/>
                        </a:rPr>
                        <a:t>Medium</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effectLst/>
                          <a:latin typeface="Times New Roman" panose="02020603050405020304" pitchFamily="18" charset="0"/>
                          <a:cs typeface="Times New Roman" panose="02020603050405020304" pitchFamily="18" charset="0"/>
                        </a:rPr>
                        <a:t>Medium </a:t>
                      </a:r>
                      <a:endParaRPr lang="en-US" sz="1400" b="0" dirty="0">
                        <a:solidFill>
                          <a:srgbClr val="339933"/>
                        </a:solidFill>
                        <a:effectLst/>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0" kern="1200" dirty="0">
                          <a:solidFill>
                            <a:srgbClr val="339933"/>
                          </a:solidFill>
                          <a:effectLst/>
                          <a:latin typeface="Times New Roman" panose="02020603050405020304" pitchFamily="18" charset="0"/>
                          <a:ea typeface="+mn-ea"/>
                          <a:cs typeface="Times New Roman" panose="02020603050405020304" pitchFamily="18" charset="0"/>
                        </a:rPr>
                        <a:t>Clear threads when idle</a:t>
                      </a:r>
                    </a:p>
                    <a:p>
                      <a:pPr marL="0" marR="0" lvl="0" indent="0" algn="ctr"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solidFill>
                            <a:srgbClr val="C00000"/>
                          </a:solidFill>
                          <a:effectLst/>
                          <a:latin typeface="Times New Roman" panose="02020603050405020304" pitchFamily="18" charset="0"/>
                          <a:ea typeface="+mn-ea"/>
                          <a:cs typeface="Times New Roman" panose="02020603050405020304" pitchFamily="18" charset="0"/>
                        </a:rPr>
                        <a:t>High CPU when notify</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dirty="0">
                          <a:solidFill>
                            <a:srgbClr val="C00000"/>
                          </a:solidFill>
                          <a:effectLst/>
                          <a:latin typeface="Times New Roman" panose="02020603050405020304" pitchFamily="18" charset="0"/>
                          <a:cs typeface="Times New Roman" panose="02020603050405020304" pitchFamily="18" charset="0"/>
                        </a:rPr>
                        <a:t>Low</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effectLst/>
                          <a:latin typeface="Times New Roman" panose="02020603050405020304" pitchFamily="18" charset="0"/>
                          <a:cs typeface="Times New Roman" panose="02020603050405020304" pitchFamily="18" charset="0"/>
                        </a:rPr>
                        <a:t>Keep lots of threads when</a:t>
                      </a:r>
                      <a:r>
                        <a:rPr lang="en-US" sz="1200" baseline="0" dirty="0">
                          <a:solidFill>
                            <a:srgbClr val="C00000"/>
                          </a:solidFill>
                          <a:effectLst/>
                          <a:latin typeface="Times New Roman" panose="02020603050405020304" pitchFamily="18" charset="0"/>
                          <a:cs typeface="Times New Roman" panose="02020603050405020304" pitchFamily="18" charset="0"/>
                        </a:rPr>
                        <a:t> </a:t>
                      </a:r>
                      <a:r>
                        <a:rPr lang="en-US" sz="1200" dirty="0">
                          <a:solidFill>
                            <a:srgbClr val="C00000"/>
                          </a:solidFill>
                          <a:effectLst/>
                          <a:latin typeface="Times New Roman" panose="02020603050405020304" pitchFamily="18" charset="0"/>
                          <a:cs typeface="Times New Roman" panose="02020603050405020304" pitchFamily="18" charset="0"/>
                        </a:rPr>
                        <a:t>idle</a:t>
                      </a:r>
                    </a:p>
                    <a:p>
                      <a:pPr marL="0" marR="0" indent="0" algn="ctr" defTabSz="914400" rtl="0" eaLnBrk="1" fontAlgn="auto" latinLnBrk="0" hangingPunct="1">
                        <a:lnSpc>
                          <a:spcPct val="100000"/>
                        </a:lnSpc>
                        <a:spcBef>
                          <a:spcPts val="0"/>
                        </a:spcBef>
                        <a:spcAft>
                          <a:spcPts val="0"/>
                        </a:spcAft>
                        <a:buClrTx/>
                        <a:buSzTx/>
                        <a:buFontTx/>
                        <a:buNone/>
                        <a:tabLst/>
                        <a:defRPr/>
                      </a:pPr>
                      <a:r>
                        <a:rPr lang="en-US" sz="1200" dirty="0">
                          <a:solidFill>
                            <a:srgbClr val="C00000"/>
                          </a:solidFill>
                          <a:effectLst/>
                          <a:latin typeface="Times New Roman" panose="02020603050405020304" pitchFamily="18" charset="0"/>
                          <a:cs typeface="Times New Roman" panose="02020603050405020304" pitchFamily="18" charset="0"/>
                        </a:rPr>
                        <a:t>High CPU when notify</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effectLst/>
                          <a:latin typeface="Times New Roman" panose="02020603050405020304" pitchFamily="18" charset="0"/>
                          <a:cs typeface="Times New Roman" panose="02020603050405020304" pitchFamily="18" charset="0"/>
                        </a:rPr>
                        <a:t>Medium</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effectLst/>
                          <a:latin typeface="Times New Roman" panose="02020603050405020304" pitchFamily="18" charset="0"/>
                          <a:cs typeface="Times New Roman" panose="02020603050405020304" pitchFamily="18" charset="0"/>
                        </a:rPr>
                        <a:t>Medium </a:t>
                      </a:r>
                      <a:endParaRPr lang="en-US" sz="1400" b="0" dirty="0">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376139">
                <a:tc>
                  <a:txBody>
                    <a:bodyPr/>
                    <a:lstStyle/>
                    <a:p>
                      <a:r>
                        <a:rPr lang="en-US" sz="1400" b="0" dirty="0">
                          <a:effectLst/>
                          <a:latin typeface="Times New Roman" panose="02020603050405020304" pitchFamily="18" charset="0"/>
                          <a:cs typeface="Times New Roman" panose="02020603050405020304" pitchFamily="18" charset="0"/>
                        </a:rPr>
                        <a:t>Simplicity</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kern="1200" dirty="0">
                          <a:solidFill>
                            <a:schemeClr val="dk1"/>
                          </a:solidFill>
                          <a:effectLst/>
                          <a:latin typeface="Times New Roman" panose="02020603050405020304" pitchFamily="18" charset="0"/>
                          <a:ea typeface="+mn-ea"/>
                          <a:cs typeface="Times New Roman" panose="02020603050405020304" pitchFamily="18" charset="0"/>
                        </a:rPr>
                        <a:t>Low</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b="0" kern="1200" dirty="0">
                          <a:solidFill>
                            <a:srgbClr val="339933"/>
                          </a:solidFill>
                          <a:effectLst/>
                          <a:latin typeface="Times New Roman" panose="02020603050405020304" pitchFamily="18" charset="0"/>
                          <a:ea typeface="+mn-ea"/>
                          <a:cs typeface="Times New Roman" panose="02020603050405020304" pitchFamily="18" charset="0"/>
                        </a:rPr>
                        <a:t>High</a:t>
                      </a:r>
                      <a:r>
                        <a:rPr lang="en-US" sz="1200" b="0" dirty="0">
                          <a:solidFill>
                            <a:srgbClr val="339933"/>
                          </a:solidFill>
                          <a:effectLst/>
                          <a:latin typeface="Times New Roman" panose="02020603050405020304" pitchFamily="18" charset="0"/>
                          <a:cs typeface="Times New Roman" panose="02020603050405020304" pitchFamily="18" charset="0"/>
                        </a:rPr>
                        <a:t> </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kern="1200" dirty="0">
                          <a:solidFill>
                            <a:srgbClr val="339933"/>
                          </a:solidFill>
                          <a:effectLst/>
                          <a:latin typeface="Times New Roman" panose="02020603050405020304" pitchFamily="18" charset="0"/>
                          <a:ea typeface="+mn-ea"/>
                          <a:cs typeface="Times New Roman" panose="02020603050405020304" pitchFamily="18" charset="0"/>
                        </a:rPr>
                        <a:t>High</a:t>
                      </a:r>
                      <a:endParaRPr lang="en-US" sz="1400" b="1" dirty="0">
                        <a:solidFill>
                          <a:srgbClr val="FF0000"/>
                        </a:solidFill>
                        <a:effectLst/>
                        <a:latin typeface="Times New Roman" panose="02020603050405020304" pitchFamily="18" charset="0"/>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dirty="0">
                          <a:effectLst/>
                          <a:latin typeface="Times New Roman" panose="02020603050405020304" pitchFamily="18" charset="0"/>
                          <a:cs typeface="Times New Roman" panose="02020603050405020304" pitchFamily="18" charset="0"/>
                        </a:rPr>
                        <a:t>Medium </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sz="1400" b="0" dirty="0">
                          <a:solidFill>
                            <a:srgbClr val="C00000"/>
                          </a:solidFill>
                          <a:effectLst/>
                          <a:latin typeface="Times New Roman" panose="02020603050405020304" pitchFamily="18" charset="0"/>
                          <a:cs typeface="Times New Roman" panose="02020603050405020304" pitchFamily="18" charset="0"/>
                        </a:rPr>
                        <a:t>Low</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bl>
          </a:graphicData>
        </a:graphic>
      </p:graphicFrame>
      <p:sp>
        <p:nvSpPr>
          <p:cNvPr id="13" name="Rectangle 12"/>
          <p:cNvSpPr/>
          <p:nvPr/>
        </p:nvSpPr>
        <p:spPr>
          <a:xfrm>
            <a:off x="527525" y="3846094"/>
            <a:ext cx="10949354" cy="2477601"/>
          </a:xfrm>
          <a:prstGeom prst="rect">
            <a:avLst/>
          </a:prstGeom>
        </p:spPr>
        <p:txBody>
          <a:bodyPr wrap="square">
            <a:spAutoFit/>
          </a:bodyPr>
          <a:lstStyle/>
          <a:p>
            <a:pPr>
              <a:lnSpc>
                <a:spcPct val="150000"/>
              </a:lnSpc>
            </a:pPr>
            <a:r>
              <a:rPr lang="en-US" dirty="0">
                <a:latin typeface="Times New Roman" panose="02020603050405020304" pitchFamily="18" charset="0"/>
                <a:cs typeface="Times New Roman" panose="02020603050405020304" pitchFamily="18" charset="0"/>
              </a:rPr>
              <a:t>Key Decision Factors: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 vs. Resource</a:t>
            </a:r>
            <a:r>
              <a:rPr lang="en-US" dirty="0">
                <a:latin typeface="Times New Roman" panose="02020603050405020304" pitchFamily="18" charset="0"/>
                <a:cs typeface="Times New Roman" panose="02020603050405020304" pitchFamily="18" charset="0"/>
              </a:rPr>
              <a:t>: Dynamic Pool fast enough (~20ms for 40 receives with 2 core threads), Thread Cache resource waste unacceptable for long-running system.</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Simplicity</a:t>
            </a:r>
            <a:r>
              <a:rPr lang="en-US" dirty="0">
                <a:latin typeface="Times New Roman" panose="02020603050405020304" pitchFamily="18" charset="0"/>
                <a:cs typeface="Times New Roman" panose="02020603050405020304" pitchFamily="18" charset="0"/>
              </a:rPr>
              <a:t>: Complex implementation acceptable due to Power Manager's mission-critical nature where </a:t>
            </a:r>
            <a:r>
              <a:rPr lang="en-US" b="1" dirty="0">
                <a:latin typeface="Times New Roman" panose="02020603050405020304" pitchFamily="18" charset="0"/>
                <a:cs typeface="Times New Roman" panose="02020603050405020304" pitchFamily="18" charset="0"/>
              </a:rPr>
              <a:t>reliability</a:t>
            </a:r>
            <a:r>
              <a:rPr lang="en-US" dirty="0">
                <a:latin typeface="Times New Roman" panose="02020603050405020304" pitchFamily="18" charset="0"/>
                <a:cs typeface="Times New Roman" panose="02020603050405020304" pitchFamily="18" charset="0"/>
              </a:rPr>
              <a:t> outweighs simplicity.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Balanced Trade-offs</a:t>
            </a:r>
            <a:r>
              <a:rPr lang="en-US" dirty="0">
                <a:latin typeface="Times New Roman" panose="02020603050405020304" pitchFamily="18" charset="0"/>
                <a:cs typeface="Times New Roman" panose="02020603050405020304" pitchFamily="18" charset="0"/>
              </a:rPr>
              <a:t>: Good performance + reliability + adaptive efficiency outweigh complexity concerns.</a:t>
            </a:r>
          </a:p>
          <a:p>
            <a:pPr marL="285750"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 Selected proposal 3: </a:t>
            </a:r>
            <a:r>
              <a:rPr lang="en-US" sz="2000" b="1" dirty="0">
                <a:latin typeface="Times New Roman" panose="02020603050405020304" pitchFamily="18" charset="0"/>
                <a:cs typeface="Times New Roman" panose="02020603050405020304" pitchFamily="18" charset="0"/>
              </a:rPr>
              <a:t>Dynamic Thread Pool</a:t>
            </a:r>
          </a:p>
        </p:txBody>
      </p:sp>
      <p:sp>
        <p:nvSpPr>
          <p:cNvPr id="6" name="Rectangle 5"/>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3. Solution Proposals</a:t>
            </a:r>
          </a:p>
        </p:txBody>
      </p:sp>
      <p:sp>
        <p:nvSpPr>
          <p:cNvPr id="2" name="Rectangle 1"/>
          <p:cNvSpPr/>
          <p:nvPr/>
        </p:nvSpPr>
        <p:spPr>
          <a:xfrm>
            <a:off x="9447437" y="860818"/>
            <a:ext cx="2046210" cy="2760739"/>
          </a:xfrm>
          <a:prstGeom prst="rect">
            <a:avLst/>
          </a:prstGeom>
          <a:noFill/>
          <a:ln w="57150">
            <a:solidFill>
              <a:srgbClr val="33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0059130C-D5A7-43F1-8BDF-D4DD1699FE09}" type="slidenum">
              <a:rPr lang="en-US" smtClean="0"/>
              <a:t>20</a:t>
            </a:fld>
            <a:endParaRPr lang="en-US"/>
          </a:p>
        </p:txBody>
      </p:sp>
    </p:spTree>
    <p:extLst>
      <p:ext uri="{BB962C8B-B14F-4D97-AF65-F5344CB8AC3E}">
        <p14:creationId xmlns:p14="http://schemas.microsoft.com/office/powerpoint/2010/main" val="13244338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xEl>
                                              <p:pRg st="5" end="5"/>
                                            </p:txEl>
                                          </p:spTgt>
                                        </p:tgtEl>
                                        <p:attrNameLst>
                                          <p:attrName>style.visibility</p:attrName>
                                        </p:attrNameLst>
                                      </p:cBhvr>
                                      <p:to>
                                        <p:strVal val="visible"/>
                                      </p:to>
                                    </p:set>
                                    <p:animEffect transition="in" filter="fade">
                                      <p:cBhvr>
                                        <p:cTn id="7" dur="500"/>
                                        <p:tgtEl>
                                          <p:spTgt spid="13">
                                            <p:txEl>
                                              <p:pRg st="5" end="5"/>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692112" y="1025517"/>
            <a:ext cx="5073688" cy="5560488"/>
          </a:xfrm>
          <a:prstGeom prst="rect">
            <a:avLst/>
          </a:prstGeom>
          <a:ln>
            <a:noFill/>
          </a:ln>
          <a:effectLst>
            <a:outerShdw blurRad="190500" algn="tl" rotWithShape="0">
              <a:srgbClr val="000000">
                <a:alpha val="70000"/>
              </a:srgbClr>
            </a:outerShdw>
          </a:effectLst>
        </p:spPr>
      </p:pic>
      <p:sp>
        <p:nvSpPr>
          <p:cNvPr id="5" name="Rectangle 4"/>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4. Design Proposals for Selected Solution</a:t>
            </a:r>
          </a:p>
        </p:txBody>
      </p:sp>
      <p:sp>
        <p:nvSpPr>
          <p:cNvPr id="2" name="Slide Number Placeholder 1"/>
          <p:cNvSpPr>
            <a:spLocks noGrp="1"/>
          </p:cNvSpPr>
          <p:nvPr>
            <p:ph type="sldNum" sz="quarter" idx="12"/>
          </p:nvPr>
        </p:nvSpPr>
        <p:spPr/>
        <p:txBody>
          <a:bodyPr/>
          <a:lstStyle/>
          <a:p>
            <a:fld id="{0059130C-D5A7-43F1-8BDF-D4DD1699FE09}" type="slidenum">
              <a:rPr lang="en-US" smtClean="0"/>
              <a:t>21</a:t>
            </a:fld>
            <a:endParaRPr lang="en-US"/>
          </a:p>
        </p:txBody>
      </p:sp>
      <p:sp>
        <p:nvSpPr>
          <p:cNvPr id="17" name="Rectangle 16"/>
          <p:cNvSpPr/>
          <p:nvPr/>
        </p:nvSpPr>
        <p:spPr>
          <a:xfrm>
            <a:off x="859692" y="919136"/>
            <a:ext cx="4737562" cy="307777"/>
          </a:xfrm>
          <a:prstGeom prst="rect">
            <a:avLst/>
          </a:prstGeom>
          <a:solidFill>
            <a:schemeClr val="bg1"/>
          </a:solidFill>
          <a:ln w="12700">
            <a:solidFill>
              <a:schemeClr val="tx1"/>
            </a:solidFill>
          </a:ln>
        </p:spPr>
        <p:txBody>
          <a:bodyPr wrap="square">
            <a:spAutoFit/>
          </a:bodyPr>
          <a:lstStyle/>
          <a:p>
            <a:r>
              <a:rPr lang="en-US" sz="1400" b="1" dirty="0">
                <a:latin typeface="Times New Roman" panose="02020603050405020304" pitchFamily="18" charset="0"/>
                <a:cs typeface="Times New Roman" panose="02020603050405020304" pitchFamily="18" charset="0"/>
              </a:rPr>
              <a:t>Proposal 1: Direct Integration (Power-Specific Thread Pool)</a:t>
            </a:r>
          </a:p>
        </p:txBody>
      </p:sp>
      <p:grpSp>
        <p:nvGrpSpPr>
          <p:cNvPr id="25" name="Group 24"/>
          <p:cNvGrpSpPr/>
          <p:nvPr/>
        </p:nvGrpSpPr>
        <p:grpSpPr>
          <a:xfrm>
            <a:off x="6323761" y="919136"/>
            <a:ext cx="5308018" cy="5652306"/>
            <a:chOff x="6323761" y="919136"/>
            <a:chExt cx="5308018" cy="5652306"/>
          </a:xfrm>
        </p:grpSpPr>
        <p:pic>
          <p:nvPicPr>
            <p:cNvPr id="22" name="Picture 21"/>
            <p:cNvPicPr>
              <a:picLocks noChangeAspect="1"/>
            </p:cNvPicPr>
            <p:nvPr/>
          </p:nvPicPr>
          <p:blipFill>
            <a:blip r:embed="rId4"/>
            <a:stretch>
              <a:fillRect/>
            </a:stretch>
          </p:blipFill>
          <p:spPr>
            <a:xfrm>
              <a:off x="6323761" y="1011890"/>
              <a:ext cx="5308018" cy="5559552"/>
            </a:xfrm>
            <a:prstGeom prst="rect">
              <a:avLst/>
            </a:prstGeom>
            <a:ln>
              <a:noFill/>
            </a:ln>
            <a:effectLst>
              <a:outerShdw blurRad="190500" algn="tl" rotWithShape="0">
                <a:srgbClr val="000000">
                  <a:alpha val="70000"/>
                </a:srgbClr>
              </a:outerShdw>
            </a:effectLst>
          </p:spPr>
        </p:pic>
        <p:sp>
          <p:nvSpPr>
            <p:cNvPr id="18" name="Rectangle 17"/>
            <p:cNvSpPr/>
            <p:nvPr/>
          </p:nvSpPr>
          <p:spPr>
            <a:xfrm>
              <a:off x="7021317" y="919136"/>
              <a:ext cx="3912907" cy="308777"/>
            </a:xfrm>
            <a:prstGeom prst="rect">
              <a:avLst/>
            </a:prstGeom>
            <a:solidFill>
              <a:schemeClr val="bg1"/>
            </a:solidFill>
            <a:ln w="12700">
              <a:solidFill>
                <a:schemeClr val="tx1"/>
              </a:solidFill>
            </a:ln>
          </p:spPr>
          <p:txBody>
            <a:bodyPr wrap="square">
              <a:spAutoFit/>
            </a:bodyPr>
            <a:lstStyle/>
            <a:p>
              <a:pPr algn="ctr"/>
              <a:r>
                <a:rPr lang="en-US" sz="1400" b="1" dirty="0">
                  <a:latin typeface="Times New Roman" panose="02020603050405020304" pitchFamily="18" charset="0"/>
                  <a:cs typeface="Times New Roman" panose="02020603050405020304" pitchFamily="18" charset="0"/>
                </a:rPr>
                <a:t>Proposal 2: Generic Interface Integration</a:t>
              </a:r>
            </a:p>
          </p:txBody>
        </p:sp>
        <p:sp>
          <p:nvSpPr>
            <p:cNvPr id="21" name="Rectangle 20"/>
            <p:cNvSpPr/>
            <p:nvPr/>
          </p:nvSpPr>
          <p:spPr>
            <a:xfrm>
              <a:off x="9653214" y="5746418"/>
              <a:ext cx="1202746" cy="664541"/>
            </a:xfrm>
            <a:prstGeom prst="rect">
              <a:avLst/>
            </a:prstGeom>
            <a:noFill/>
            <a:ln w="28575">
              <a:solidFill>
                <a:srgbClr val="FFCC00"/>
              </a:solid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956228" y="4812499"/>
              <a:ext cx="2030291" cy="332271"/>
            </a:xfrm>
            <a:prstGeom prst="rect">
              <a:avLst/>
            </a:prstGeom>
            <a:noFill/>
            <a:ln w="28575">
              <a:solidFill>
                <a:srgbClr val="FFCC00"/>
              </a:solid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Rectangle 23"/>
          <p:cNvSpPr/>
          <p:nvPr/>
        </p:nvSpPr>
        <p:spPr>
          <a:xfrm>
            <a:off x="2104829" y="5144771"/>
            <a:ext cx="1842332" cy="300990"/>
          </a:xfrm>
          <a:prstGeom prst="rect">
            <a:avLst/>
          </a:prstGeom>
          <a:noFill/>
          <a:ln w="28575">
            <a:solidFill>
              <a:srgbClr val="FFCC00"/>
            </a:solidFill>
            <a:prstDash val="sysDash"/>
          </a:ln>
          <a:effectLst>
            <a:outerShdw blurRad="57785" dist="33020" dir="3180000" algn="ctr">
              <a:srgbClr val="000000">
                <a:alpha val="30000"/>
              </a:srgbClr>
            </a:outerShdw>
          </a:effectLst>
          <a:scene3d>
            <a:camera prst="orthographicFront">
              <a:rot lat="0" lon="0" rev="0"/>
            </a:camera>
            <a:lightRig rig="brightRoom" dir="t">
              <a:rot lat="0" lon="0" rev="600000"/>
            </a:lightRig>
          </a:scene3d>
          <a:sp3d prstMaterial="metal">
            <a:bevelT w="38100" h="57150" prst="angle"/>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p:cNvGrpSpPr/>
          <p:nvPr/>
        </p:nvGrpSpPr>
        <p:grpSpPr>
          <a:xfrm>
            <a:off x="10063233" y="105547"/>
            <a:ext cx="1585453" cy="742455"/>
            <a:chOff x="10046326" y="80184"/>
            <a:chExt cx="1585453" cy="742455"/>
          </a:xfrm>
        </p:grpSpPr>
        <p:grpSp>
          <p:nvGrpSpPr>
            <p:cNvPr id="15" name="Group 14"/>
            <p:cNvGrpSpPr/>
            <p:nvPr/>
          </p:nvGrpSpPr>
          <p:grpSpPr>
            <a:xfrm>
              <a:off x="10128228" y="335697"/>
              <a:ext cx="1503551" cy="486942"/>
              <a:chOff x="6119446" y="5664338"/>
              <a:chExt cx="1503551" cy="486942"/>
            </a:xfrm>
          </p:grpSpPr>
          <p:sp>
            <p:nvSpPr>
              <p:cNvPr id="11" name="Rectangle 10"/>
              <p:cNvSpPr/>
              <p:nvPr/>
            </p:nvSpPr>
            <p:spPr>
              <a:xfrm>
                <a:off x="6119446" y="5719711"/>
                <a:ext cx="185438" cy="166254"/>
              </a:xfrm>
              <a:prstGeom prst="rect">
                <a:avLst/>
              </a:prstGeom>
              <a:solidFill>
                <a:schemeClr val="accent1">
                  <a:lumMod val="60000"/>
                  <a:lumOff val="4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p:cNvSpPr txBox="1"/>
              <p:nvPr/>
            </p:nvSpPr>
            <p:spPr>
              <a:xfrm>
                <a:off x="6260123" y="5664338"/>
                <a:ext cx="1191352" cy="261610"/>
              </a:xfrm>
              <a:prstGeom prst="rect">
                <a:avLst/>
              </a:prstGeom>
              <a:noFill/>
            </p:spPr>
            <p:txBody>
              <a:bodyPr wrap="none" rtlCol="0">
                <a:spAutoFit/>
              </a:bodyPr>
              <a:lstStyle/>
              <a:p>
                <a:r>
                  <a:rPr lang="en-US" sz="1100" dirty="0"/>
                  <a:t>New components</a:t>
                </a:r>
              </a:p>
            </p:txBody>
          </p:sp>
          <p:sp>
            <p:nvSpPr>
              <p:cNvPr id="13" name="Rectangle 12"/>
              <p:cNvSpPr/>
              <p:nvPr/>
            </p:nvSpPr>
            <p:spPr>
              <a:xfrm>
                <a:off x="6119446" y="5966614"/>
                <a:ext cx="185438" cy="166254"/>
              </a:xfrm>
              <a:prstGeom prst="rect">
                <a:avLst/>
              </a:prstGeom>
              <a:solidFill>
                <a:schemeClr val="bg2">
                  <a:lumMod val="9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260123" y="5889670"/>
                <a:ext cx="1362874" cy="261610"/>
              </a:xfrm>
              <a:prstGeom prst="rect">
                <a:avLst/>
              </a:prstGeom>
              <a:noFill/>
            </p:spPr>
            <p:txBody>
              <a:bodyPr wrap="none" rtlCol="0">
                <a:spAutoFit/>
              </a:bodyPr>
              <a:lstStyle/>
              <a:p>
                <a:r>
                  <a:rPr lang="en-US" sz="1100" dirty="0"/>
                  <a:t>Existing components</a:t>
                </a:r>
              </a:p>
            </p:txBody>
          </p:sp>
        </p:grpSp>
        <p:sp>
          <p:nvSpPr>
            <p:cNvPr id="3" name="Rectangle 2"/>
            <p:cNvSpPr/>
            <p:nvPr/>
          </p:nvSpPr>
          <p:spPr>
            <a:xfrm>
              <a:off x="10046326" y="80184"/>
              <a:ext cx="633828" cy="276999"/>
            </a:xfrm>
            <a:prstGeom prst="rect">
              <a:avLst/>
            </a:prstGeom>
          </p:spPr>
          <p:txBody>
            <a:bodyPr wrap="none">
              <a:spAutoFit/>
            </a:bodyPr>
            <a:lstStyle/>
            <a:p>
              <a:r>
                <a:rPr lang="en-US" sz="1200" dirty="0"/>
                <a:t>Legend</a:t>
              </a:r>
            </a:p>
          </p:txBody>
        </p:sp>
      </p:grpSp>
    </p:spTree>
    <p:extLst>
      <p:ext uri="{BB962C8B-B14F-4D97-AF65-F5344CB8AC3E}">
        <p14:creationId xmlns:p14="http://schemas.microsoft.com/office/powerpoint/2010/main" val="3138399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500"/>
                                        <p:tgtEl>
                                          <p:spTgt spid="2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p:cNvGraphicFramePr>
            <a:graphicFrameLocks noGrp="1"/>
          </p:cNvGraphicFramePr>
          <p:nvPr>
            <p:extLst>
              <p:ext uri="{D42A27DB-BD31-4B8C-83A1-F6EECF244321}">
                <p14:modId xmlns:p14="http://schemas.microsoft.com/office/powerpoint/2010/main" val="114328989"/>
              </p:ext>
            </p:extLst>
          </p:nvPr>
        </p:nvGraphicFramePr>
        <p:xfrm>
          <a:off x="654524" y="990391"/>
          <a:ext cx="10924198" cy="2206174"/>
        </p:xfrm>
        <a:graphic>
          <a:graphicData uri="http://schemas.openxmlformats.org/drawingml/2006/table">
            <a:tbl>
              <a:tblPr>
                <a:tableStyleId>{0505E3EF-67EA-436B-97B2-0124C06EBD24}</a:tableStyleId>
              </a:tblPr>
              <a:tblGrid>
                <a:gridCol w="1787536">
                  <a:extLst>
                    <a:ext uri="{9D8B030D-6E8A-4147-A177-3AD203B41FA5}">
                      <a16:colId xmlns:a16="http://schemas.microsoft.com/office/drawing/2014/main" val="20000"/>
                    </a:ext>
                  </a:extLst>
                </a:gridCol>
                <a:gridCol w="1175144">
                  <a:extLst>
                    <a:ext uri="{9D8B030D-6E8A-4147-A177-3AD203B41FA5}">
                      <a16:colId xmlns:a16="http://schemas.microsoft.com/office/drawing/2014/main" val="20001"/>
                    </a:ext>
                  </a:extLst>
                </a:gridCol>
                <a:gridCol w="4297680">
                  <a:extLst>
                    <a:ext uri="{9D8B030D-6E8A-4147-A177-3AD203B41FA5}">
                      <a16:colId xmlns:a16="http://schemas.microsoft.com/office/drawing/2014/main" val="20002"/>
                    </a:ext>
                  </a:extLst>
                </a:gridCol>
                <a:gridCol w="3663838">
                  <a:extLst>
                    <a:ext uri="{9D8B030D-6E8A-4147-A177-3AD203B41FA5}">
                      <a16:colId xmlns:a16="http://schemas.microsoft.com/office/drawing/2014/main" val="20003"/>
                    </a:ext>
                  </a:extLst>
                </a:gridCol>
              </a:tblGrid>
              <a:tr h="601408">
                <a:tc>
                  <a:txBody>
                    <a:bodyPr/>
                    <a:lstStyle/>
                    <a:p>
                      <a:pPr algn="ctr"/>
                      <a:r>
                        <a:rPr lang="en-US" sz="1800" b="1" kern="1200" dirty="0">
                          <a:solidFill>
                            <a:schemeClr val="tx1"/>
                          </a:solidFill>
                          <a:latin typeface="Times New Roman" panose="02020603050405020304" pitchFamily="18" charset="0"/>
                          <a:ea typeface="+mn-ea"/>
                          <a:cs typeface="Times New Roman" panose="02020603050405020304" pitchFamily="18" charset="0"/>
                        </a:rPr>
                        <a:t>Criteria</a:t>
                      </a:r>
                    </a:p>
                  </a:txBody>
                  <a:tcPr marL="38100" marR="381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dirty="0">
                          <a:solidFill>
                            <a:srgbClr val="030303"/>
                          </a:solidFill>
                          <a:effectLst/>
                          <a:latin typeface="Times New Roman" panose="02020603050405020304" pitchFamily="18" charset="0"/>
                          <a:cs typeface="Times New Roman" panose="02020603050405020304" pitchFamily="18" charset="0"/>
                        </a:rPr>
                        <a:t>Priority </a:t>
                      </a:r>
                      <a:endParaRPr lang="en-US" sz="1400" b="1" kern="1200" dirty="0">
                        <a:solidFill>
                          <a:schemeClr val="tx1"/>
                        </a:solidFill>
                        <a:latin typeface="Times New Roman" panose="02020603050405020304" pitchFamily="18" charset="0"/>
                        <a:ea typeface="+mn-ea"/>
                        <a:cs typeface="Times New Roman" panose="02020603050405020304" pitchFamily="18" charset="0"/>
                      </a:endParaRPr>
                    </a:p>
                  </a:txBody>
                  <a:tcPr marL="38100" marR="381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kern="1200" dirty="0">
                          <a:solidFill>
                            <a:schemeClr val="tx1"/>
                          </a:solidFill>
                          <a:latin typeface="Times New Roman" panose="02020603050405020304" pitchFamily="18" charset="0"/>
                          <a:ea typeface="+mn-ea"/>
                          <a:cs typeface="Times New Roman" panose="02020603050405020304" pitchFamily="18" charset="0"/>
                        </a:rPr>
                        <a:t>Direct Integration </a:t>
                      </a:r>
                      <a:br>
                        <a:rPr lang="en-US" sz="1800" b="1" kern="1200" dirty="0">
                          <a:solidFill>
                            <a:schemeClr val="tx1"/>
                          </a:solidFill>
                          <a:latin typeface="Times New Roman" panose="02020603050405020304" pitchFamily="18" charset="0"/>
                          <a:ea typeface="+mn-ea"/>
                          <a:cs typeface="Times New Roman" panose="02020603050405020304" pitchFamily="18" charset="0"/>
                        </a:rPr>
                      </a:br>
                      <a:r>
                        <a:rPr lang="en-US" sz="1400" b="1" kern="1200" dirty="0">
                          <a:solidFill>
                            <a:schemeClr val="tx1"/>
                          </a:solidFill>
                          <a:latin typeface="Times New Roman" panose="02020603050405020304" pitchFamily="18" charset="0"/>
                          <a:ea typeface="+mn-ea"/>
                          <a:cs typeface="Times New Roman" panose="02020603050405020304" pitchFamily="18" charset="0"/>
                        </a:rPr>
                        <a:t>(Proposal 1)</a:t>
                      </a:r>
                    </a:p>
                  </a:txBody>
                  <a:tcPr marL="38100" marR="381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kern="1200" dirty="0">
                          <a:solidFill>
                            <a:schemeClr val="tx1"/>
                          </a:solidFill>
                          <a:latin typeface="Times New Roman" panose="02020603050405020304" pitchFamily="18" charset="0"/>
                          <a:ea typeface="+mn-ea"/>
                          <a:cs typeface="Times New Roman" panose="02020603050405020304" pitchFamily="18" charset="0"/>
                        </a:rPr>
                        <a:t>Generic Interface Integration</a:t>
                      </a:r>
                      <a:br>
                        <a:rPr lang="en-US" sz="1800" b="1" kern="1200" dirty="0">
                          <a:solidFill>
                            <a:schemeClr val="tx1"/>
                          </a:solidFill>
                          <a:latin typeface="Times New Roman" panose="02020603050405020304" pitchFamily="18" charset="0"/>
                          <a:ea typeface="+mn-ea"/>
                          <a:cs typeface="Times New Roman" panose="02020603050405020304" pitchFamily="18" charset="0"/>
                        </a:rPr>
                      </a:br>
                      <a:r>
                        <a:rPr lang="en-US" sz="1400" b="1" kern="1200" dirty="0">
                          <a:solidFill>
                            <a:schemeClr val="tx1"/>
                          </a:solidFill>
                          <a:latin typeface="Times New Roman" panose="02020603050405020304" pitchFamily="18" charset="0"/>
                          <a:ea typeface="+mn-ea"/>
                          <a:cs typeface="Times New Roman" panose="02020603050405020304" pitchFamily="18" charset="0"/>
                        </a:rPr>
                        <a:t>(Proposal 2)</a:t>
                      </a:r>
                    </a:p>
                  </a:txBody>
                  <a:tcPr marL="38100" marR="381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541801">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Maintainability</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Medium</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Low (mixed concerns)</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800" b="1" kern="1200" dirty="0">
                          <a:solidFill>
                            <a:srgbClr val="339933"/>
                          </a:solidFill>
                          <a:latin typeface="Times New Roman" panose="02020603050405020304" pitchFamily="18" charset="0"/>
                          <a:ea typeface="+mn-ea"/>
                          <a:cs typeface="Times New Roman" panose="02020603050405020304" pitchFamily="18" charset="0"/>
                        </a:rPr>
                        <a:t>High (separated concerns)</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1"/>
                  </a:ext>
                </a:extLst>
              </a:tr>
              <a:tr h="524709">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Reusability</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kern="1200" dirty="0">
                          <a:solidFill>
                            <a:schemeClr val="tx1"/>
                          </a:solidFill>
                          <a:effectLst/>
                          <a:latin typeface="Times New Roman" panose="02020603050405020304" pitchFamily="18" charset="0"/>
                          <a:ea typeface="+mn-ea"/>
                          <a:cs typeface="Times New Roman" panose="02020603050405020304" pitchFamily="18" charset="0"/>
                        </a:rPr>
                        <a:t>Medium</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Low (power-specific only)</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800" b="1" kern="1200" dirty="0">
                          <a:solidFill>
                            <a:srgbClr val="339933"/>
                          </a:solidFill>
                          <a:latin typeface="Times New Roman" panose="02020603050405020304" pitchFamily="18" charset="0"/>
                          <a:ea typeface="+mn-ea"/>
                          <a:cs typeface="Times New Roman" panose="02020603050405020304" pitchFamily="18" charset="0"/>
                        </a:rPr>
                        <a:t>High (works across services) </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538256">
                <a:tc>
                  <a:txBody>
                    <a:bodyPr/>
                    <a:lstStyle/>
                    <a:p>
                      <a:pPr algn="l"/>
                      <a:r>
                        <a:rPr lang="en-US" sz="1800" kern="1200" dirty="0">
                          <a:solidFill>
                            <a:schemeClr val="tx1"/>
                          </a:solidFill>
                          <a:latin typeface="Times New Roman" panose="02020603050405020304" pitchFamily="18" charset="0"/>
                          <a:ea typeface="+mn-ea"/>
                          <a:cs typeface="Times New Roman" panose="02020603050405020304" pitchFamily="18" charset="0"/>
                        </a:rPr>
                        <a:t>Simplicity</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0" kern="1200" dirty="0">
                          <a:solidFill>
                            <a:schemeClr val="tx1"/>
                          </a:solidFill>
                          <a:latin typeface="Times New Roman" panose="02020603050405020304" pitchFamily="18" charset="0"/>
                          <a:ea typeface="+mn-ea"/>
                          <a:cs typeface="Times New Roman" panose="02020603050405020304" pitchFamily="18" charset="0"/>
                        </a:rPr>
                        <a:t>Low</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ctr"/>
                      <a:r>
                        <a:rPr lang="en-US" sz="1800" b="1" kern="1200" dirty="0">
                          <a:solidFill>
                            <a:srgbClr val="339933"/>
                          </a:solidFill>
                          <a:latin typeface="Times New Roman" panose="02020603050405020304" pitchFamily="18" charset="0"/>
                          <a:ea typeface="+mn-ea"/>
                          <a:cs typeface="Times New Roman" panose="02020603050405020304" pitchFamily="18" charset="0"/>
                        </a:rPr>
                        <a:t>High (simple integration)</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a:r>
                        <a:rPr lang="en-US" sz="1800" kern="1200" dirty="0">
                          <a:solidFill>
                            <a:schemeClr val="tx1"/>
                          </a:solidFill>
                          <a:latin typeface="Times New Roman" panose="02020603050405020304" pitchFamily="18" charset="0"/>
                          <a:ea typeface="+mn-ea"/>
                          <a:cs typeface="Times New Roman" panose="02020603050405020304" pitchFamily="18" charset="0"/>
                        </a:rPr>
                        <a:t>Medium</a:t>
                      </a:r>
                    </a:p>
                  </a:txBody>
                  <a:tcPr marL="82550" marR="825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3"/>
                  </a:ext>
                </a:extLst>
              </a:tr>
            </a:tbl>
          </a:graphicData>
        </a:graphic>
      </p:graphicFrame>
      <p:sp>
        <p:nvSpPr>
          <p:cNvPr id="13" name="Rectangle 12"/>
          <p:cNvSpPr/>
          <p:nvPr/>
        </p:nvSpPr>
        <p:spPr>
          <a:xfrm>
            <a:off x="654524" y="3162488"/>
            <a:ext cx="10949354" cy="2031325"/>
          </a:xfrm>
          <a:prstGeom prst="rect">
            <a:avLst/>
          </a:prstGeom>
        </p:spPr>
        <p:txBody>
          <a:bodyPr wrap="square">
            <a:spAutoFit/>
          </a:bodyPr>
          <a:lstStyle/>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Key Decision Factors: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Reusability</a:t>
            </a:r>
            <a:r>
              <a:rPr lang="en-US" dirty="0">
                <a:latin typeface="Times New Roman" panose="02020603050405020304" pitchFamily="18" charset="0"/>
                <a:cs typeface="Times New Roman" panose="02020603050405020304" pitchFamily="18" charset="0"/>
              </a:rPr>
              <a:t>: Enable thread pool usage across multiple services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Clean Architecture</a:t>
            </a:r>
            <a:r>
              <a:rPr lang="en-US" dirty="0">
                <a:latin typeface="Times New Roman" panose="02020603050405020304" pitchFamily="18" charset="0"/>
                <a:cs typeface="Times New Roman" panose="02020603050405020304" pitchFamily="18" charset="0"/>
              </a:rPr>
              <a:t>: Separation of concerns for better maintainability</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Trade-off</a:t>
            </a:r>
            <a:r>
              <a:rPr lang="en-US" dirty="0">
                <a:latin typeface="Times New Roman" panose="02020603050405020304" pitchFamily="18" charset="0"/>
                <a:cs typeface="Times New Roman" panose="02020603050405020304" pitchFamily="18" charset="0"/>
              </a:rPr>
              <a:t>: Slightly higher complexity for significantly better long-term value</a:t>
            </a:r>
          </a:p>
          <a:p>
            <a:endParaRPr lang="en-US" dirty="0">
              <a:latin typeface="Times New Roman" panose="02020603050405020304" pitchFamily="18" charset="0"/>
              <a:cs typeface="Times New Roman" panose="02020603050405020304" pitchFamily="18" charset="0"/>
            </a:endParaRPr>
          </a:p>
          <a:p>
            <a:endParaRPr lang="en-US" dirty="0">
              <a:latin typeface="Times New Roman" panose="02020603050405020304" pitchFamily="18" charset="0"/>
              <a:cs typeface="Times New Roman" panose="02020603050405020304" pitchFamily="18" charset="0"/>
            </a:endParaRPr>
          </a:p>
        </p:txBody>
      </p:sp>
      <p:sp>
        <p:nvSpPr>
          <p:cNvPr id="6" name="Rectangle 5"/>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4. Design Proposals for Selected Solution</a:t>
            </a:r>
          </a:p>
        </p:txBody>
      </p:sp>
      <p:sp>
        <p:nvSpPr>
          <p:cNvPr id="2" name="Rectangle 1"/>
          <p:cNvSpPr/>
          <p:nvPr/>
        </p:nvSpPr>
        <p:spPr>
          <a:xfrm>
            <a:off x="580383" y="4824481"/>
            <a:ext cx="10393680" cy="369332"/>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 Selected Design: </a:t>
            </a:r>
            <a:r>
              <a:rPr lang="en-US" b="1" dirty="0">
                <a:latin typeface="Times New Roman" panose="02020603050405020304" pitchFamily="18" charset="0"/>
                <a:cs typeface="Times New Roman" panose="02020603050405020304" pitchFamily="18" charset="0"/>
              </a:rPr>
              <a:t>Generic Interface Integration (Proposal 2)</a:t>
            </a:r>
          </a:p>
        </p:txBody>
      </p:sp>
      <p:sp>
        <p:nvSpPr>
          <p:cNvPr id="7" name="Rectangle 6"/>
          <p:cNvSpPr/>
          <p:nvPr/>
        </p:nvSpPr>
        <p:spPr>
          <a:xfrm>
            <a:off x="7901821" y="964661"/>
            <a:ext cx="3676901" cy="2252671"/>
          </a:xfrm>
          <a:prstGeom prst="rect">
            <a:avLst/>
          </a:prstGeom>
          <a:noFill/>
          <a:ln w="57150">
            <a:solidFill>
              <a:srgbClr val="33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lide Number Placeholder 2"/>
          <p:cNvSpPr>
            <a:spLocks noGrp="1"/>
          </p:cNvSpPr>
          <p:nvPr>
            <p:ph type="sldNum" sz="quarter" idx="12"/>
          </p:nvPr>
        </p:nvSpPr>
        <p:spPr/>
        <p:txBody>
          <a:bodyPr/>
          <a:lstStyle/>
          <a:p>
            <a:fld id="{0059130C-D5A7-43F1-8BDF-D4DD1699FE09}" type="slidenum">
              <a:rPr lang="en-US" smtClean="0"/>
              <a:t>22</a:t>
            </a:fld>
            <a:endParaRPr lang="en-US"/>
          </a:p>
        </p:txBody>
      </p:sp>
    </p:spTree>
    <p:extLst>
      <p:ext uri="{BB962C8B-B14F-4D97-AF65-F5344CB8AC3E}">
        <p14:creationId xmlns:p14="http://schemas.microsoft.com/office/powerpoint/2010/main" val="7911272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519163" y="6382474"/>
            <a:ext cx="2743200" cy="365125"/>
          </a:xfrm>
        </p:spPr>
        <p:txBody>
          <a:bodyPr/>
          <a:lstStyle/>
          <a:p>
            <a:fld id="{0059130C-D5A7-43F1-8BDF-D4DD1699FE09}" type="slidenum">
              <a:rPr lang="en-US" smtClean="0"/>
              <a:t>23</a:t>
            </a:fld>
            <a:endParaRPr lang="en-US"/>
          </a:p>
        </p:txBody>
      </p:sp>
      <p:sp>
        <p:nvSpPr>
          <p:cNvPr id="22" name="Rectangle 21"/>
          <p:cNvSpPr/>
          <p:nvPr/>
        </p:nvSpPr>
        <p:spPr>
          <a:xfrm>
            <a:off x="283725" y="44073"/>
            <a:ext cx="5449521" cy="461665"/>
          </a:xfrm>
          <a:prstGeom prst="rect">
            <a:avLst/>
          </a:prstGeom>
          <a:solidFill>
            <a:schemeClr val="bg1"/>
          </a:solidFill>
        </p:spPr>
        <p:txBody>
          <a:bodyPr wrap="square">
            <a:spAutoFit/>
          </a:bodyPr>
          <a:lstStyle/>
          <a:p>
            <a:endParaRPr lang="en-US" sz="24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674810" y="794036"/>
            <a:ext cx="10341293" cy="1892826"/>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DCM24MON-4575 test results</a:t>
            </a:r>
          </a:p>
          <a:p>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Configuration</a:t>
            </a:r>
            <a:r>
              <a:rPr lang="en-US" dirty="0">
                <a:latin typeface="Times New Roman" panose="02020603050405020304" pitchFamily="18" charset="0"/>
                <a:cs typeface="Times New Roman" panose="02020603050405020304" pitchFamily="18" charset="0"/>
              </a:rPr>
              <a:t>: 2 core threads.</a:t>
            </a:r>
            <a:endParaRPr lang="en-US" i="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Log explanation</a:t>
            </a:r>
            <a:r>
              <a:rPr lang="en-US" dirty="0">
                <a:latin typeface="Times New Roman" panose="02020603050405020304" pitchFamily="18" charset="0"/>
                <a:cs typeface="Times New Roman" panose="02020603050405020304" pitchFamily="18" charset="0"/>
              </a:rPr>
              <a:t>:</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Ignition OFF</a:t>
            </a:r>
            <a:r>
              <a:rPr lang="en-US" i="1" dirty="0">
                <a:latin typeface="Times New Roman" panose="02020603050405020304" pitchFamily="18" charset="0"/>
                <a:cs typeface="Times New Roman" panose="02020603050405020304" pitchFamily="18" charset="0"/>
              </a:rPr>
              <a:t>: </a:t>
            </a:r>
            <a:r>
              <a:rPr lang="en-US" sz="1600" dirty="0">
                <a:solidFill>
                  <a:schemeClr val="bg2">
                    <a:lumMod val="25000"/>
                  </a:schemeClr>
                </a:solidFill>
                <a:latin typeface="Consolas" panose="020B0609020204030204" pitchFamily="49" charset="0"/>
                <a:cs typeface="Courier New" panose="02070309020205020404" pitchFamily="49" charset="0"/>
              </a:rPr>
              <a:t>“IGN-OFF”</a:t>
            </a:r>
          </a:p>
          <a:p>
            <a:pPr marL="285750"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Remote Service received IG OFF status</a:t>
            </a:r>
            <a:r>
              <a:rPr lang="en-US" i="1" dirty="0">
                <a:latin typeface="Times New Roman" panose="02020603050405020304" pitchFamily="18" charset="0"/>
                <a:cs typeface="Times New Roman" panose="02020603050405020304" pitchFamily="18" charset="0"/>
              </a:rPr>
              <a:t>: </a:t>
            </a:r>
            <a:r>
              <a:rPr lang="en-US" sz="1600" dirty="0">
                <a:solidFill>
                  <a:schemeClr val="bg2">
                    <a:lumMod val="25000"/>
                  </a:schemeClr>
                </a:solidFill>
                <a:latin typeface="Consolas" panose="020B0609020204030204" pitchFamily="49" charset="0"/>
                <a:cs typeface="Courier New" panose="02070309020205020404" pitchFamily="49" charset="0"/>
              </a:rPr>
              <a:t>“State = 2 RAC_remoteAcCallback.c racChangeIgnitionCb”</a:t>
            </a:r>
          </a:p>
        </p:txBody>
      </p:sp>
      <p:grpSp>
        <p:nvGrpSpPr>
          <p:cNvPr id="2" name="Group 1"/>
          <p:cNvGrpSpPr/>
          <p:nvPr/>
        </p:nvGrpSpPr>
        <p:grpSpPr>
          <a:xfrm>
            <a:off x="622115" y="3179669"/>
            <a:ext cx="9090309" cy="2945063"/>
            <a:chOff x="622115" y="2923637"/>
            <a:chExt cx="9090309" cy="2945063"/>
          </a:xfrm>
        </p:grpSpPr>
        <p:pic>
          <p:nvPicPr>
            <p:cNvPr id="7" name="Picture 6"/>
            <p:cNvPicPr>
              <a:picLocks noChangeAspect="1"/>
            </p:cNvPicPr>
            <p:nvPr/>
          </p:nvPicPr>
          <p:blipFill rotWithShape="1">
            <a:blip r:embed="rId3"/>
            <a:srcRect l="33882"/>
            <a:stretch/>
          </p:blipFill>
          <p:spPr>
            <a:xfrm>
              <a:off x="845460" y="4954300"/>
              <a:ext cx="6845688" cy="914400"/>
            </a:xfrm>
            <a:prstGeom prst="rect">
              <a:avLst/>
            </a:prstGeom>
          </p:spPr>
        </p:pic>
        <p:pic>
          <p:nvPicPr>
            <p:cNvPr id="8" name="Picture 7"/>
            <p:cNvPicPr>
              <a:picLocks noChangeAspect="1"/>
            </p:cNvPicPr>
            <p:nvPr/>
          </p:nvPicPr>
          <p:blipFill rotWithShape="1">
            <a:blip r:embed="rId4"/>
            <a:srcRect l="405" r="5231"/>
            <a:stretch/>
          </p:blipFill>
          <p:spPr>
            <a:xfrm>
              <a:off x="835152" y="3302041"/>
              <a:ext cx="6795036" cy="885825"/>
            </a:xfrm>
            <a:prstGeom prst="rect">
              <a:avLst/>
            </a:prstGeom>
          </p:spPr>
        </p:pic>
        <p:sp>
          <p:nvSpPr>
            <p:cNvPr id="9" name="Right Bracket 8"/>
            <p:cNvSpPr/>
            <p:nvPr/>
          </p:nvSpPr>
          <p:spPr>
            <a:xfrm>
              <a:off x="7706247" y="3738602"/>
              <a:ext cx="219456" cy="442913"/>
            </a:xfrm>
            <a:prstGeom prst="rightBracket">
              <a:avLst/>
            </a:prstGeom>
            <a:ln w="19050">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1" name="Rectangle 20"/>
            <p:cNvSpPr/>
            <p:nvPr/>
          </p:nvSpPr>
          <p:spPr>
            <a:xfrm>
              <a:off x="7925703" y="3781742"/>
              <a:ext cx="1261884" cy="369332"/>
            </a:xfrm>
            <a:prstGeom prst="rect">
              <a:avLst/>
            </a:prstGeom>
          </p:spPr>
          <p:txBody>
            <a:bodyPr wrap="none">
              <a:spAutoFit/>
            </a:bodyPr>
            <a:lstStyle/>
            <a:p>
              <a:r>
                <a:rPr lang="en-US" dirty="0">
                  <a:solidFill>
                    <a:srgbClr val="C00000"/>
                  </a:solidFill>
                  <a:latin typeface="Times New Roman" panose="02020603050405020304" pitchFamily="18" charset="0"/>
                  <a:cs typeface="Times New Roman" panose="02020603050405020304" pitchFamily="18" charset="0"/>
                </a:rPr>
                <a:t>4.2 seconds</a:t>
              </a:r>
            </a:p>
          </p:txBody>
        </p:sp>
        <p:sp>
          <p:nvSpPr>
            <p:cNvPr id="33" name="Right Bracket 32"/>
            <p:cNvSpPr/>
            <p:nvPr/>
          </p:nvSpPr>
          <p:spPr>
            <a:xfrm>
              <a:off x="7748919" y="5403560"/>
              <a:ext cx="219456" cy="442913"/>
            </a:xfrm>
            <a:prstGeom prst="rightBracket">
              <a:avLst/>
            </a:prstGeom>
            <a:ln w="19050">
              <a:solidFill>
                <a:srgbClr val="339933"/>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solidFill>
                  <a:srgbClr val="339933"/>
                </a:solidFill>
              </a:endParaRPr>
            </a:p>
          </p:txBody>
        </p:sp>
        <p:sp>
          <p:nvSpPr>
            <p:cNvPr id="34" name="Rectangle 33"/>
            <p:cNvSpPr/>
            <p:nvPr/>
          </p:nvSpPr>
          <p:spPr>
            <a:xfrm>
              <a:off x="7943991" y="5434000"/>
              <a:ext cx="1768433" cy="369332"/>
            </a:xfrm>
            <a:prstGeom prst="rect">
              <a:avLst/>
            </a:prstGeom>
          </p:spPr>
          <p:txBody>
            <a:bodyPr wrap="none">
              <a:spAutoFit/>
            </a:bodyPr>
            <a:lstStyle/>
            <a:p>
              <a:r>
                <a:rPr lang="en-US" dirty="0">
                  <a:solidFill>
                    <a:srgbClr val="339933"/>
                  </a:solidFill>
                  <a:latin typeface="Times New Roman" panose="02020603050405020304" pitchFamily="18" charset="0"/>
                  <a:cs typeface="Times New Roman" panose="02020603050405020304" pitchFamily="18" charset="0"/>
                </a:rPr>
                <a:t>140 mili-seconds</a:t>
              </a:r>
            </a:p>
          </p:txBody>
        </p:sp>
        <p:sp>
          <p:nvSpPr>
            <p:cNvPr id="35" name="Rectangle 34"/>
            <p:cNvSpPr/>
            <p:nvPr/>
          </p:nvSpPr>
          <p:spPr>
            <a:xfrm>
              <a:off x="634939" y="2923637"/>
              <a:ext cx="2322111" cy="369332"/>
            </a:xfrm>
            <a:prstGeom prst="rect">
              <a:avLst/>
            </a:prstGeom>
          </p:spPr>
          <p:txBody>
            <a:bodyPr wrap="none">
              <a:spAutoFit/>
            </a:bodyPr>
            <a:lstStyle/>
            <a:p>
              <a:pPr marL="285750" indent="-285750" algn="ctr">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On-Demand Thread</a:t>
              </a:r>
            </a:p>
          </p:txBody>
        </p:sp>
        <p:sp>
          <p:nvSpPr>
            <p:cNvPr id="36" name="Rectangle 35"/>
            <p:cNvSpPr/>
            <p:nvPr/>
          </p:nvSpPr>
          <p:spPr>
            <a:xfrm>
              <a:off x="622115" y="4540804"/>
              <a:ext cx="2508059" cy="369332"/>
            </a:xfrm>
            <a:prstGeom prst="rect">
              <a:avLst/>
            </a:prstGeom>
          </p:spPr>
          <p:txBody>
            <a:bodyPr wrap="none">
              <a:spAutoFit/>
            </a:bodyPr>
            <a:lstStyle/>
            <a:p>
              <a:pPr marL="285750" indent="-285750" algn="ctr">
                <a:buFont typeface="Arial" panose="020B0604020202020204" pitchFamily="34" charset="0"/>
                <a:buChar char="•"/>
                <a:defRPr/>
              </a:pPr>
              <a:r>
                <a:rPr lang="en-US" dirty="0">
                  <a:latin typeface="Times New Roman" panose="02020603050405020304" pitchFamily="18" charset="0"/>
                  <a:cs typeface="Times New Roman" panose="02020603050405020304" pitchFamily="18" charset="0"/>
                </a:rPr>
                <a:t>Dynamic Thread Pool</a:t>
              </a:r>
            </a:p>
          </p:txBody>
        </p:sp>
        <p:sp>
          <p:nvSpPr>
            <p:cNvPr id="37" name="Rectangle 36"/>
            <p:cNvSpPr/>
            <p:nvPr/>
          </p:nvSpPr>
          <p:spPr>
            <a:xfrm>
              <a:off x="845460" y="5403306"/>
              <a:ext cx="648060" cy="442913"/>
            </a:xfrm>
            <a:prstGeom prst="rect">
              <a:avLst/>
            </a:prstGeom>
            <a:noFill/>
            <a:ln w="19050">
              <a:solidFill>
                <a:srgbClr val="33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p:cNvSpPr/>
            <p:nvPr/>
          </p:nvSpPr>
          <p:spPr>
            <a:xfrm>
              <a:off x="835152" y="3744952"/>
              <a:ext cx="648060" cy="442913"/>
            </a:xfrm>
            <a:prstGeom prst="rect">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39" name="Rectangle 38"/>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5. Implementation and Verification</a:t>
            </a:r>
          </a:p>
        </p:txBody>
      </p:sp>
    </p:spTree>
    <p:extLst>
      <p:ext uri="{BB962C8B-B14F-4D97-AF65-F5344CB8AC3E}">
        <p14:creationId xmlns:p14="http://schemas.microsoft.com/office/powerpoint/2010/main" val="16592655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519163" y="6382474"/>
            <a:ext cx="2743200" cy="365125"/>
          </a:xfrm>
        </p:spPr>
        <p:txBody>
          <a:bodyPr/>
          <a:lstStyle/>
          <a:p>
            <a:fld id="{0059130C-D5A7-43F1-8BDF-D4DD1699FE09}" type="slidenum">
              <a:rPr lang="en-US" smtClean="0"/>
              <a:t>24</a:t>
            </a:fld>
            <a:endParaRPr lang="en-US"/>
          </a:p>
        </p:txBody>
      </p:sp>
      <p:sp>
        <p:nvSpPr>
          <p:cNvPr id="22" name="Rectangle 21"/>
          <p:cNvSpPr/>
          <p:nvPr/>
        </p:nvSpPr>
        <p:spPr>
          <a:xfrm>
            <a:off x="283725" y="44073"/>
            <a:ext cx="5449521" cy="461665"/>
          </a:xfrm>
          <a:prstGeom prst="rect">
            <a:avLst/>
          </a:prstGeom>
          <a:solidFill>
            <a:schemeClr val="bg1"/>
          </a:solidFill>
        </p:spPr>
        <p:txBody>
          <a:bodyPr wrap="square">
            <a:spAutoFit/>
          </a:bodyPr>
          <a:lstStyle/>
          <a:p>
            <a:endParaRPr lang="en-US" sz="2400" u="sng" dirty="0">
              <a:latin typeface="Times New Roman" panose="02020603050405020304" pitchFamily="18" charset="0"/>
              <a:cs typeface="Times New Roman" panose="02020603050405020304" pitchFamily="18" charset="0"/>
            </a:endParaRPr>
          </a:p>
        </p:txBody>
      </p:sp>
      <p:sp>
        <p:nvSpPr>
          <p:cNvPr id="4" name="Rectangle 3"/>
          <p:cNvSpPr/>
          <p:nvPr/>
        </p:nvSpPr>
        <p:spPr>
          <a:xfrm>
            <a:off x="459789" y="757166"/>
            <a:ext cx="2924903" cy="369332"/>
          </a:xfrm>
          <a:prstGeom prst="rect">
            <a:avLst/>
          </a:prstGeom>
        </p:spPr>
        <p:txBody>
          <a:bodyPr wrap="none">
            <a:spAutoFit/>
          </a:bodyPr>
          <a:lstStyle/>
          <a:p>
            <a:r>
              <a:rPr lang="en-US" dirty="0">
                <a:latin typeface="Times New Roman" panose="02020603050405020304" pitchFamily="18" charset="0"/>
                <a:cs typeface="Times New Roman" panose="02020603050405020304" pitchFamily="18" charset="0"/>
              </a:rPr>
              <a:t>System Resource Verification</a:t>
            </a:r>
          </a:p>
        </p:txBody>
      </p:sp>
      <p:sp>
        <p:nvSpPr>
          <p:cNvPr id="13" name="Rectangle 12"/>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5. Implementation and Verification</a:t>
            </a:r>
          </a:p>
        </p:txBody>
      </p:sp>
      <p:graphicFrame>
        <p:nvGraphicFramePr>
          <p:cNvPr id="2" name="Table 1"/>
          <p:cNvGraphicFramePr>
            <a:graphicFrameLocks noGrp="1"/>
          </p:cNvGraphicFramePr>
          <p:nvPr>
            <p:extLst>
              <p:ext uri="{D42A27DB-BD31-4B8C-83A1-F6EECF244321}">
                <p14:modId xmlns:p14="http://schemas.microsoft.com/office/powerpoint/2010/main" val="1060961460"/>
              </p:ext>
            </p:extLst>
          </p:nvPr>
        </p:nvGraphicFramePr>
        <p:xfrm>
          <a:off x="549279" y="1396216"/>
          <a:ext cx="5583298" cy="2819400"/>
        </p:xfrm>
        <a:graphic>
          <a:graphicData uri="http://schemas.openxmlformats.org/drawingml/2006/table">
            <a:tbl>
              <a:tblPr>
                <a:tableStyleId>{616DA210-FB5B-4158-B5E0-FEB733F419BA}</a:tableStyleId>
              </a:tblPr>
              <a:tblGrid>
                <a:gridCol w="2098671">
                  <a:extLst>
                    <a:ext uri="{9D8B030D-6E8A-4147-A177-3AD203B41FA5}">
                      <a16:colId xmlns:a16="http://schemas.microsoft.com/office/drawing/2014/main" val="20000"/>
                    </a:ext>
                  </a:extLst>
                </a:gridCol>
                <a:gridCol w="1716786">
                  <a:extLst>
                    <a:ext uri="{9D8B030D-6E8A-4147-A177-3AD203B41FA5}">
                      <a16:colId xmlns:a16="http://schemas.microsoft.com/office/drawing/2014/main" val="20001"/>
                    </a:ext>
                  </a:extLst>
                </a:gridCol>
                <a:gridCol w="1767841">
                  <a:extLst>
                    <a:ext uri="{9D8B030D-6E8A-4147-A177-3AD203B41FA5}">
                      <a16:colId xmlns:a16="http://schemas.microsoft.com/office/drawing/2014/main" val="20002"/>
                    </a:ext>
                  </a:extLst>
                </a:gridCol>
              </a:tblGrid>
              <a:tr h="0">
                <a:tc>
                  <a:txBody>
                    <a:bodyPr/>
                    <a:lstStyle/>
                    <a:p>
                      <a:pPr algn="ctr"/>
                      <a:r>
                        <a:rPr lang="en-US" sz="1600" dirty="0">
                          <a:effectLst/>
                          <a:latin typeface="Times New Roman" panose="02020603050405020304" pitchFamily="18" charset="0"/>
                          <a:cs typeface="Times New Roman" panose="02020603050405020304" pitchFamily="18" charset="0"/>
                        </a:rPr>
                        <a:t>Criteria</a:t>
                      </a:r>
                      <a:endParaRPr lang="en-US" sz="16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solidFill>
                      <a:schemeClr val="bg2"/>
                    </a:solidFill>
                  </a:tcPr>
                </a:tc>
                <a:tc>
                  <a:txBody>
                    <a:bodyPr/>
                    <a:lstStyle/>
                    <a:p>
                      <a:pPr algn="ctr"/>
                      <a:r>
                        <a:rPr lang="en-US" sz="1600" dirty="0">
                          <a:effectLst/>
                          <a:latin typeface="Times New Roman" panose="02020603050405020304" pitchFamily="18" charset="0"/>
                          <a:cs typeface="Times New Roman" panose="02020603050405020304" pitchFamily="18" charset="0"/>
                        </a:rPr>
                        <a:t>On-Demand Thread</a:t>
                      </a:r>
                      <a:endParaRPr lang="en-US" sz="16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solidFill>
                      <a:schemeClr val="bg2"/>
                    </a:solidFill>
                  </a:tcPr>
                </a:tc>
                <a:tc>
                  <a:txBody>
                    <a:bodyPr/>
                    <a:lstStyle/>
                    <a:p>
                      <a:pPr algn="ctr"/>
                      <a:r>
                        <a:rPr lang="en-US" sz="1600" dirty="0">
                          <a:effectLst/>
                          <a:latin typeface="Times New Roman" panose="02020603050405020304" pitchFamily="18" charset="0"/>
                          <a:cs typeface="Times New Roman" panose="02020603050405020304" pitchFamily="18" charset="0"/>
                        </a:rPr>
                        <a:t>Dynamic Thread Pool</a:t>
                      </a:r>
                      <a:endParaRPr lang="en-US" sz="16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solidFill>
                      <a:schemeClr val="bg2"/>
                    </a:solidFill>
                  </a:tcPr>
                </a:tc>
                <a:extLst>
                  <a:ext uri="{0D108BD9-81ED-4DB2-BD59-A6C34878D82A}">
                    <a16:rowId xmlns:a16="http://schemas.microsoft.com/office/drawing/2014/main" val="10000"/>
                  </a:ext>
                </a:extLst>
              </a:tr>
              <a:tr h="503864">
                <a:tc>
                  <a:txBody>
                    <a:bodyPr/>
                    <a:lstStyle/>
                    <a:p>
                      <a:r>
                        <a:rPr lang="en-US" sz="1600" dirty="0">
                          <a:effectLst/>
                          <a:latin typeface="Times New Roman" panose="02020603050405020304" pitchFamily="18" charset="0"/>
                          <a:cs typeface="Times New Roman" panose="02020603050405020304" pitchFamily="18" charset="0"/>
                        </a:rPr>
                        <a:t>Notification time </a:t>
                      </a:r>
                    </a:p>
                    <a:p>
                      <a:r>
                        <a:rPr lang="en-US" sz="1600" dirty="0">
                          <a:effectLst/>
                          <a:latin typeface="Times New Roman" panose="02020603050405020304" pitchFamily="18" charset="0"/>
                          <a:cs typeface="Times New Roman" panose="02020603050405020304" pitchFamily="18" charset="0"/>
                        </a:rPr>
                        <a:t>(for an event)</a:t>
                      </a:r>
                    </a:p>
                  </a:txBody>
                  <a:tcPr marL="82550" marR="82550" marT="38100" marB="38100" anchor="ctr">
                    <a:solidFill>
                      <a:schemeClr val="bg2"/>
                    </a:solidFill>
                  </a:tcPr>
                </a:tc>
                <a:tc>
                  <a:txBody>
                    <a:bodyPr/>
                    <a:lstStyle/>
                    <a:p>
                      <a:pPr algn="ctr"/>
                      <a:r>
                        <a:rPr lang="en-US" sz="1600" dirty="0">
                          <a:effectLst/>
                          <a:latin typeface="Times New Roman" panose="02020603050405020304" pitchFamily="18" charset="0"/>
                          <a:cs typeface="Times New Roman" panose="02020603050405020304" pitchFamily="18" charset="0"/>
                        </a:rPr>
                        <a:t>750 ms</a:t>
                      </a:r>
                    </a:p>
                  </a:txBody>
                  <a:tcPr marL="82550" marR="82550" marT="38100" marB="38100" anchor="c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accent6">
                              <a:lumMod val="75000"/>
                            </a:schemeClr>
                          </a:solidFill>
                          <a:effectLst/>
                          <a:latin typeface="Times New Roman" panose="02020603050405020304" pitchFamily="18" charset="0"/>
                          <a:ea typeface="+mn-ea"/>
                          <a:cs typeface="Times New Roman" panose="02020603050405020304" pitchFamily="18" charset="0"/>
                        </a:rPr>
                        <a:t>22 ms</a:t>
                      </a:r>
                      <a:r>
                        <a:rPr lang="en-US" sz="1600" b="1" kern="1200" baseline="0" dirty="0">
                          <a:solidFill>
                            <a:schemeClr val="accent6">
                              <a:lumMod val="75000"/>
                            </a:schemeClr>
                          </a:solidFill>
                          <a:effectLst/>
                          <a:latin typeface="Times New Roman" panose="02020603050405020304" pitchFamily="18" charset="0"/>
                          <a:ea typeface="+mn-ea"/>
                          <a:cs typeface="Times New Roman" panose="02020603050405020304" pitchFamily="18" charset="0"/>
                        </a:rPr>
                        <a:t> </a:t>
                      </a:r>
                      <a:r>
                        <a:rPr lang="en-US" sz="1600" b="1" dirty="0">
                          <a:solidFill>
                            <a:schemeClr val="accent6">
                              <a:lumMod val="75000"/>
                            </a:schemeClr>
                          </a:solidFill>
                          <a:effectLst/>
                          <a:latin typeface="Times New Roman" panose="02020603050405020304" pitchFamily="18" charset="0"/>
                          <a:cs typeface="Times New Roman" panose="02020603050405020304" pitchFamily="18" charset="0"/>
                        </a:rPr>
                        <a:t>(↓97%)</a:t>
                      </a:r>
                    </a:p>
                  </a:txBody>
                  <a:tcPr marL="82550" marR="82550" marT="38100" marB="38100" anchor="ctr">
                    <a:solidFill>
                      <a:schemeClr val="bg1"/>
                    </a:solidFill>
                  </a:tcPr>
                </a:tc>
                <a:extLst>
                  <a:ext uri="{0D108BD9-81ED-4DB2-BD59-A6C34878D82A}">
                    <a16:rowId xmlns:a16="http://schemas.microsoft.com/office/drawing/2014/main" val="10001"/>
                  </a:ext>
                </a:extLst>
              </a:tr>
              <a:tr h="499872">
                <a:tc>
                  <a:txBody>
                    <a:bodyPr/>
                    <a:lstStyle/>
                    <a:p>
                      <a:r>
                        <a:rPr lang="en-US" sz="1600" dirty="0">
                          <a:effectLst/>
                          <a:latin typeface="Times New Roman" panose="02020603050405020304" pitchFamily="18" charset="0"/>
                          <a:cs typeface="Times New Roman" panose="02020603050405020304" pitchFamily="18" charset="0"/>
                        </a:rPr>
                        <a:t>CPU utilization </a:t>
                      </a:r>
                    </a:p>
                    <a:p>
                      <a:r>
                        <a:rPr lang="en-US" sz="1600" dirty="0">
                          <a:effectLst/>
                          <a:latin typeface="Times New Roman" panose="02020603050405020304" pitchFamily="18" charset="0"/>
                          <a:cs typeface="Times New Roman" panose="02020603050405020304" pitchFamily="18" charset="0"/>
                        </a:rPr>
                        <a:t>(during notifications)</a:t>
                      </a:r>
                    </a:p>
                  </a:txBody>
                  <a:tcPr marL="82550" marR="82550" marT="38100" marB="38100" anchor="ctr">
                    <a:solidFill>
                      <a:schemeClr val="bg2"/>
                    </a:solidFill>
                  </a:tcPr>
                </a:tc>
                <a:tc>
                  <a:txBody>
                    <a:bodyPr/>
                    <a:lstStyle/>
                    <a:p>
                      <a:pPr algn="ctr"/>
                      <a:r>
                        <a:rPr lang="en-US" sz="1600" dirty="0">
                          <a:effectLst/>
                          <a:latin typeface="Times New Roman" panose="02020603050405020304" pitchFamily="18" charset="0"/>
                          <a:cs typeface="Times New Roman" panose="02020603050405020304" pitchFamily="18" charset="0"/>
                        </a:rPr>
                        <a:t>14%</a:t>
                      </a:r>
                    </a:p>
                  </a:txBody>
                  <a:tcPr marL="82550" marR="82550" marT="38100" marB="38100" anchor="ctr">
                    <a:solidFill>
                      <a:schemeClr val="bg1"/>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accent6">
                              <a:lumMod val="75000"/>
                            </a:schemeClr>
                          </a:solidFill>
                          <a:effectLst/>
                          <a:latin typeface="Times New Roman" panose="02020603050405020304" pitchFamily="18" charset="0"/>
                          <a:ea typeface="+mn-ea"/>
                          <a:cs typeface="Times New Roman" panose="02020603050405020304" pitchFamily="18" charset="0"/>
                        </a:rPr>
                        <a:t>3.7% </a:t>
                      </a:r>
                      <a:r>
                        <a:rPr lang="en-US" sz="1600" b="1" dirty="0">
                          <a:solidFill>
                            <a:schemeClr val="accent6">
                              <a:lumMod val="75000"/>
                            </a:schemeClr>
                          </a:solidFill>
                          <a:effectLst/>
                          <a:latin typeface="Times New Roman" panose="02020603050405020304" pitchFamily="18" charset="0"/>
                          <a:cs typeface="Times New Roman" panose="02020603050405020304" pitchFamily="18" charset="0"/>
                        </a:rPr>
                        <a:t>(↓74%)</a:t>
                      </a:r>
                    </a:p>
                  </a:txBody>
                  <a:tcPr marL="82550" marR="82550" marT="38100" marB="38100" anchor="ctr">
                    <a:solidFill>
                      <a:schemeClr val="bg1"/>
                    </a:solidFill>
                  </a:tcPr>
                </a:tc>
                <a:extLst>
                  <a:ext uri="{0D108BD9-81ED-4DB2-BD59-A6C34878D82A}">
                    <a16:rowId xmlns:a16="http://schemas.microsoft.com/office/drawing/2014/main" val="10002"/>
                  </a:ext>
                </a:extLst>
              </a:tr>
              <a:tr h="505968">
                <a:tc>
                  <a:txBody>
                    <a:bodyPr/>
                    <a:lstStyle/>
                    <a:p>
                      <a:r>
                        <a:rPr lang="en-US" sz="1600" dirty="0">
                          <a:effectLst/>
                          <a:latin typeface="Times New Roman" panose="02020603050405020304" pitchFamily="18" charset="0"/>
                          <a:cs typeface="Times New Roman" panose="02020603050405020304" pitchFamily="18" charset="0"/>
                        </a:rPr>
                        <a:t>VmRSS </a:t>
                      </a:r>
                    </a:p>
                    <a:p>
                      <a:r>
                        <a:rPr lang="en-US" sz="1600" dirty="0">
                          <a:effectLst/>
                          <a:latin typeface="Times New Roman" panose="02020603050405020304" pitchFamily="18" charset="0"/>
                          <a:cs typeface="Times New Roman" panose="02020603050405020304" pitchFamily="18" charset="0"/>
                        </a:rPr>
                        <a:t>(Physical RAM)</a:t>
                      </a:r>
                    </a:p>
                  </a:txBody>
                  <a:tcPr marL="82550" marR="82550" marT="38100" marB="38100" anchor="ctr">
                    <a:solidFill>
                      <a:schemeClr val="bg2"/>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b="0" dirty="0">
                          <a:effectLst/>
                          <a:latin typeface="Times New Roman" panose="02020603050405020304" pitchFamily="18" charset="0"/>
                          <a:cs typeface="Times New Roman" panose="02020603050405020304" pitchFamily="18" charset="0"/>
                        </a:rPr>
                        <a:t>6.8</a:t>
                      </a:r>
                      <a:r>
                        <a:rPr lang="en-US" sz="1600" b="0" baseline="0" dirty="0">
                          <a:effectLst/>
                          <a:latin typeface="Times New Roman" panose="02020603050405020304" pitchFamily="18" charset="0"/>
                          <a:cs typeface="Times New Roman" panose="02020603050405020304" pitchFamily="18" charset="0"/>
                        </a:rPr>
                        <a:t> </a:t>
                      </a:r>
                      <a:r>
                        <a:rPr lang="en-US" sz="1600" b="0" dirty="0">
                          <a:effectLst/>
                          <a:latin typeface="Times New Roman" panose="02020603050405020304" pitchFamily="18" charset="0"/>
                          <a:cs typeface="Times New Roman" panose="02020603050405020304" pitchFamily="18" charset="0"/>
                        </a:rPr>
                        <a:t>MB</a:t>
                      </a:r>
                    </a:p>
                  </a:txBody>
                  <a:tcPr marL="82550" marR="82550" marT="38100" marB="38100" anchor="ctr">
                    <a:solidFill>
                      <a:schemeClr val="bg1"/>
                    </a:solidFill>
                  </a:tcPr>
                </a:tc>
                <a:tc>
                  <a:txBody>
                    <a:bodyPr/>
                    <a:lstStyle/>
                    <a:p>
                      <a:pPr algn="ctr"/>
                      <a:r>
                        <a:rPr lang="en-US" sz="1600" b="1" kern="1200" dirty="0">
                          <a:solidFill>
                            <a:schemeClr val="accent6">
                              <a:lumMod val="75000"/>
                            </a:schemeClr>
                          </a:solidFill>
                          <a:effectLst/>
                          <a:latin typeface="Times New Roman" panose="02020603050405020304" pitchFamily="18" charset="0"/>
                          <a:ea typeface="+mn-ea"/>
                          <a:cs typeface="Times New Roman" panose="02020603050405020304" pitchFamily="18" charset="0"/>
                        </a:rPr>
                        <a:t>5.7 MB (</a:t>
                      </a:r>
                      <a:r>
                        <a:rPr lang="en-US" sz="1600" b="1" dirty="0">
                          <a:solidFill>
                            <a:schemeClr val="accent6">
                              <a:lumMod val="75000"/>
                            </a:schemeClr>
                          </a:solidFill>
                          <a:effectLst/>
                          <a:latin typeface="Times New Roman" panose="02020603050405020304" pitchFamily="18" charset="0"/>
                          <a:cs typeface="Times New Roman" panose="02020603050405020304" pitchFamily="18" charset="0"/>
                        </a:rPr>
                        <a:t>↓12%)</a:t>
                      </a:r>
                    </a:p>
                  </a:txBody>
                  <a:tcPr marL="82550" marR="82550" marT="38100" marB="38100" anchor="ctr">
                    <a:solidFill>
                      <a:schemeClr val="bg1"/>
                    </a:solidFill>
                  </a:tcPr>
                </a:tc>
                <a:extLst>
                  <a:ext uri="{0D108BD9-81ED-4DB2-BD59-A6C34878D82A}">
                    <a16:rowId xmlns:a16="http://schemas.microsoft.com/office/drawing/2014/main" val="10003"/>
                  </a:ext>
                </a:extLst>
              </a:tr>
              <a:tr h="493776">
                <a:tc>
                  <a:txBody>
                    <a:bodyPr/>
                    <a:lstStyle/>
                    <a:p>
                      <a:r>
                        <a:rPr lang="en-US" sz="1600" dirty="0">
                          <a:effectLst/>
                          <a:latin typeface="Times New Roman" panose="02020603050405020304" pitchFamily="18" charset="0"/>
                          <a:cs typeface="Times New Roman" panose="02020603050405020304" pitchFamily="18" charset="0"/>
                        </a:rPr>
                        <a:t>VmSize </a:t>
                      </a:r>
                    </a:p>
                    <a:p>
                      <a:r>
                        <a:rPr lang="en-US" sz="1600" dirty="0">
                          <a:effectLst/>
                          <a:latin typeface="Times New Roman" panose="02020603050405020304" pitchFamily="18" charset="0"/>
                          <a:cs typeface="Times New Roman" panose="02020603050405020304" pitchFamily="18" charset="0"/>
                        </a:rPr>
                        <a:t>(Virtual Memory)</a:t>
                      </a:r>
                    </a:p>
                  </a:txBody>
                  <a:tcPr marL="82550" marR="82550" marT="38100" marB="38100" anchor="ctr">
                    <a:solidFill>
                      <a:schemeClr val="bg2"/>
                    </a:solidFill>
                  </a:tcPr>
                </a:tc>
                <a:tc>
                  <a:txBody>
                    <a:bodyPr/>
                    <a:lstStyle/>
                    <a:p>
                      <a:pPr algn="ctr"/>
                      <a:r>
                        <a:rPr lang="en-US" sz="1600" dirty="0">
                          <a:effectLst/>
                          <a:latin typeface="Times New Roman" panose="02020603050405020304" pitchFamily="18" charset="0"/>
                          <a:cs typeface="Times New Roman" panose="02020603050405020304" pitchFamily="18" charset="0"/>
                        </a:rPr>
                        <a:t>335 MB</a:t>
                      </a:r>
                    </a:p>
                  </a:txBody>
                  <a:tcPr marL="82550" marR="82550" marT="38100" marB="38100" anchor="ctr">
                    <a:solidFill>
                      <a:schemeClr val="bg1"/>
                    </a:solidFill>
                  </a:tcPr>
                </a:tc>
                <a:tc>
                  <a:txBody>
                    <a:bodyPr/>
                    <a:lstStyle/>
                    <a:p>
                      <a:pPr algn="ctr"/>
                      <a:r>
                        <a:rPr lang="en-US" sz="1600" b="1" kern="1200" dirty="0">
                          <a:solidFill>
                            <a:schemeClr val="accent6">
                              <a:lumMod val="75000"/>
                            </a:schemeClr>
                          </a:solidFill>
                          <a:effectLst/>
                          <a:latin typeface="Times New Roman" panose="02020603050405020304" pitchFamily="18" charset="0"/>
                          <a:ea typeface="+mn-ea"/>
                          <a:cs typeface="Times New Roman" panose="02020603050405020304" pitchFamily="18" charset="0"/>
                        </a:rPr>
                        <a:t>142 MB </a:t>
                      </a:r>
                      <a:r>
                        <a:rPr lang="en-US" sz="1600" b="1" dirty="0">
                          <a:solidFill>
                            <a:schemeClr val="accent6">
                              <a:lumMod val="75000"/>
                            </a:schemeClr>
                          </a:solidFill>
                          <a:effectLst/>
                          <a:latin typeface="Times New Roman" panose="02020603050405020304" pitchFamily="18" charset="0"/>
                          <a:cs typeface="Times New Roman" panose="02020603050405020304" pitchFamily="18" charset="0"/>
                        </a:rPr>
                        <a:t>(↓58%)</a:t>
                      </a:r>
                    </a:p>
                  </a:txBody>
                  <a:tcPr marL="82550" marR="82550" marT="38100" marB="38100" anchor="ctr">
                    <a:solidFill>
                      <a:schemeClr val="bg1"/>
                    </a:solidFill>
                  </a:tcPr>
                </a:tc>
                <a:extLst>
                  <a:ext uri="{0D108BD9-81ED-4DB2-BD59-A6C34878D82A}">
                    <a16:rowId xmlns:a16="http://schemas.microsoft.com/office/drawing/2014/main" val="10004"/>
                  </a:ext>
                </a:extLst>
              </a:tr>
            </a:tbl>
          </a:graphicData>
        </a:graphic>
      </p:graphicFrame>
      <p:sp>
        <p:nvSpPr>
          <p:cNvPr id="17" name="Rectangle 16"/>
          <p:cNvSpPr/>
          <p:nvPr/>
        </p:nvSpPr>
        <p:spPr>
          <a:xfrm>
            <a:off x="6450924" y="3628321"/>
            <a:ext cx="2343591" cy="369332"/>
          </a:xfrm>
          <a:prstGeom prst="rect">
            <a:avLst/>
          </a:prstGeom>
        </p:spPr>
        <p:txBody>
          <a:bodyPr wrap="none">
            <a:spAutoFit/>
          </a:bodyPr>
          <a:lstStyle/>
          <a:p>
            <a:pPr algn="ctr">
              <a:defRPr/>
            </a:pPr>
            <a:r>
              <a:rPr lang="en-US" b="1" dirty="0">
                <a:latin typeface="Times New Roman" panose="02020603050405020304" pitchFamily="18" charset="0"/>
                <a:cs typeface="Times New Roman" panose="02020603050405020304" pitchFamily="18" charset="0"/>
              </a:rPr>
              <a:t>Dynamic Thread Pool</a:t>
            </a:r>
          </a:p>
        </p:txBody>
      </p:sp>
      <p:sp>
        <p:nvSpPr>
          <p:cNvPr id="20" name="Rectangle 19"/>
          <p:cNvSpPr/>
          <p:nvPr/>
        </p:nvSpPr>
        <p:spPr>
          <a:xfrm>
            <a:off x="6450924" y="372799"/>
            <a:ext cx="2183290" cy="369332"/>
          </a:xfrm>
          <a:prstGeom prst="rect">
            <a:avLst/>
          </a:prstGeom>
        </p:spPr>
        <p:txBody>
          <a:bodyPr wrap="none">
            <a:spAutoFit/>
          </a:bodyPr>
          <a:lstStyle/>
          <a:p>
            <a:pPr algn="ctr">
              <a:defRPr/>
            </a:pPr>
            <a:r>
              <a:rPr lang="en-US" b="1" dirty="0">
                <a:latin typeface="Times New Roman" panose="02020603050405020304" pitchFamily="18" charset="0"/>
                <a:cs typeface="Times New Roman" panose="02020603050405020304" pitchFamily="18" charset="0"/>
              </a:rPr>
              <a:t>On-Demand Thread</a:t>
            </a:r>
          </a:p>
        </p:txBody>
      </p:sp>
      <p:sp>
        <p:nvSpPr>
          <p:cNvPr id="15" name="Rectangle 14"/>
          <p:cNvSpPr/>
          <p:nvPr/>
        </p:nvSpPr>
        <p:spPr>
          <a:xfrm>
            <a:off x="542544" y="4566449"/>
            <a:ext cx="5608320" cy="923330"/>
          </a:xfrm>
          <a:prstGeom prst="rect">
            <a:avLst/>
          </a:prstGeom>
          <a:solidFill>
            <a:schemeClr val="accent6">
              <a:lumMod val="40000"/>
              <a:lumOff val="60000"/>
            </a:schemeClr>
          </a:solidFill>
        </p:spPr>
        <p:txBody>
          <a:bodyPr wrap="square">
            <a:spAutoFit/>
          </a:bodyPr>
          <a:lstStyle/>
          <a:p>
            <a:pPr algn="just"/>
            <a:r>
              <a:rPr lang="en-US" dirty="0">
                <a:latin typeface="Times New Roman" panose="02020603050405020304" pitchFamily="18" charset="0"/>
                <a:cs typeface="Times New Roman" panose="02020603050405020304" pitchFamily="18" charset="0"/>
              </a:rPr>
              <a:t>Dynamic Thread Pool not only improves performance but also uses resources more reasonably and efficiently, making the entire system more </a:t>
            </a:r>
            <a:r>
              <a:rPr lang="en-US" b="1" dirty="0">
                <a:latin typeface="Times New Roman" panose="02020603050405020304" pitchFamily="18" charset="0"/>
                <a:cs typeface="Times New Roman" panose="02020603050405020304" pitchFamily="18" charset="0"/>
              </a:rPr>
              <a:t>stable</a:t>
            </a:r>
            <a:r>
              <a:rPr lang="en-US" dirty="0">
                <a:latin typeface="Times New Roman" panose="02020603050405020304" pitchFamily="18" charset="0"/>
                <a:cs typeface="Times New Roman" panose="02020603050405020304" pitchFamily="18" charset="0"/>
              </a:rPr>
              <a:t>.</a:t>
            </a:r>
          </a:p>
        </p:txBody>
      </p:sp>
      <p:pic>
        <p:nvPicPr>
          <p:cNvPr id="19" name="Picture 18"/>
          <p:cNvPicPr>
            <a:picLocks noChangeAspect="1"/>
          </p:cNvPicPr>
          <p:nvPr/>
        </p:nvPicPr>
        <p:blipFill rotWithShape="1">
          <a:blip r:embed="rId3"/>
          <a:srcRect r="8390"/>
          <a:stretch/>
        </p:blipFill>
        <p:spPr>
          <a:xfrm>
            <a:off x="6528202" y="5274944"/>
            <a:ext cx="5212080" cy="1195415"/>
          </a:xfrm>
          <a:prstGeom prst="rect">
            <a:avLst/>
          </a:prstGeom>
          <a:ln>
            <a:solidFill>
              <a:schemeClr val="tx1"/>
            </a:solidFill>
          </a:ln>
        </p:spPr>
      </p:pic>
      <p:pic>
        <p:nvPicPr>
          <p:cNvPr id="25" name="Picture 24"/>
          <p:cNvPicPr>
            <a:picLocks noChangeAspect="1"/>
          </p:cNvPicPr>
          <p:nvPr/>
        </p:nvPicPr>
        <p:blipFill>
          <a:blip r:embed="rId4"/>
          <a:stretch>
            <a:fillRect/>
          </a:stretch>
        </p:blipFill>
        <p:spPr>
          <a:xfrm>
            <a:off x="6528202" y="4025078"/>
            <a:ext cx="5212080" cy="1171641"/>
          </a:xfrm>
          <a:prstGeom prst="rect">
            <a:avLst/>
          </a:prstGeom>
          <a:ln>
            <a:solidFill>
              <a:schemeClr val="tx1"/>
            </a:solidFill>
          </a:ln>
        </p:spPr>
      </p:pic>
      <p:pic>
        <p:nvPicPr>
          <p:cNvPr id="28" name="Picture 27"/>
          <p:cNvPicPr>
            <a:picLocks noChangeAspect="1"/>
          </p:cNvPicPr>
          <p:nvPr/>
        </p:nvPicPr>
        <p:blipFill rotWithShape="1">
          <a:blip r:embed="rId5"/>
          <a:srcRect r="8788"/>
          <a:stretch/>
        </p:blipFill>
        <p:spPr>
          <a:xfrm>
            <a:off x="6528202" y="2041029"/>
            <a:ext cx="5212080" cy="1136737"/>
          </a:xfrm>
          <a:prstGeom prst="rect">
            <a:avLst/>
          </a:prstGeom>
          <a:ln>
            <a:solidFill>
              <a:schemeClr val="tx1"/>
            </a:solidFill>
          </a:ln>
        </p:spPr>
      </p:pic>
      <p:pic>
        <p:nvPicPr>
          <p:cNvPr id="5" name="Picture 4"/>
          <p:cNvPicPr>
            <a:picLocks noChangeAspect="1"/>
          </p:cNvPicPr>
          <p:nvPr/>
        </p:nvPicPr>
        <p:blipFill>
          <a:blip r:embed="rId6"/>
          <a:stretch>
            <a:fillRect/>
          </a:stretch>
        </p:blipFill>
        <p:spPr>
          <a:xfrm>
            <a:off x="6528201" y="790937"/>
            <a:ext cx="5212081" cy="1202514"/>
          </a:xfrm>
          <a:prstGeom prst="rect">
            <a:avLst/>
          </a:prstGeom>
          <a:ln>
            <a:solidFill>
              <a:schemeClr val="tx1"/>
            </a:solidFill>
          </a:ln>
        </p:spPr>
      </p:pic>
    </p:spTree>
    <p:extLst>
      <p:ext uri="{BB962C8B-B14F-4D97-AF65-F5344CB8AC3E}">
        <p14:creationId xmlns:p14="http://schemas.microsoft.com/office/powerpoint/2010/main" val="9873102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6. Conclusion</a:t>
            </a:r>
          </a:p>
        </p:txBody>
      </p:sp>
      <p:sp>
        <p:nvSpPr>
          <p:cNvPr id="3" name="Slide Number Placeholder 2"/>
          <p:cNvSpPr>
            <a:spLocks noGrp="1"/>
          </p:cNvSpPr>
          <p:nvPr>
            <p:ph type="sldNum" sz="quarter" idx="12"/>
          </p:nvPr>
        </p:nvSpPr>
        <p:spPr/>
        <p:txBody>
          <a:bodyPr/>
          <a:lstStyle/>
          <a:p>
            <a:fld id="{0059130C-D5A7-43F1-8BDF-D4DD1699FE09}" type="slidenum">
              <a:rPr lang="en-US" smtClean="0"/>
              <a:t>25</a:t>
            </a:fld>
            <a:endParaRPr lang="en-US"/>
          </a:p>
        </p:txBody>
      </p:sp>
      <p:graphicFrame>
        <p:nvGraphicFramePr>
          <p:cNvPr id="8" name="Table 7">
            <a:extLst>
              <a:ext uri="{FF2B5EF4-FFF2-40B4-BE49-F238E27FC236}">
                <a16:creationId xmlns:a16="http://schemas.microsoft.com/office/drawing/2014/main" id="{56D77E60-BE34-C8BB-2710-0C915E9E0C34}"/>
              </a:ext>
            </a:extLst>
          </p:cNvPr>
          <p:cNvGraphicFramePr>
            <a:graphicFrameLocks noGrp="1"/>
          </p:cNvGraphicFramePr>
          <p:nvPr>
            <p:extLst>
              <p:ext uri="{D42A27DB-BD31-4B8C-83A1-F6EECF244321}">
                <p14:modId xmlns:p14="http://schemas.microsoft.com/office/powerpoint/2010/main" val="1394884348"/>
              </p:ext>
            </p:extLst>
          </p:nvPr>
        </p:nvGraphicFramePr>
        <p:xfrm>
          <a:off x="508557" y="710319"/>
          <a:ext cx="11197212" cy="3901215"/>
        </p:xfrm>
        <a:graphic>
          <a:graphicData uri="http://schemas.openxmlformats.org/drawingml/2006/table">
            <a:tbl>
              <a:tblPr firstRow="1" firstCol="1" bandRow="1">
                <a:tableStyleId>{0505E3EF-67EA-436B-97B2-0124C06EBD24}</a:tableStyleId>
              </a:tblPr>
              <a:tblGrid>
                <a:gridCol w="2216355">
                  <a:extLst>
                    <a:ext uri="{9D8B030D-6E8A-4147-A177-3AD203B41FA5}">
                      <a16:colId xmlns:a16="http://schemas.microsoft.com/office/drawing/2014/main" val="1582101385"/>
                    </a:ext>
                  </a:extLst>
                </a:gridCol>
                <a:gridCol w="1146048">
                  <a:extLst>
                    <a:ext uri="{9D8B030D-6E8A-4147-A177-3AD203B41FA5}">
                      <a16:colId xmlns:a16="http://schemas.microsoft.com/office/drawing/2014/main" val="3606558556"/>
                    </a:ext>
                  </a:extLst>
                </a:gridCol>
                <a:gridCol w="7006675">
                  <a:extLst>
                    <a:ext uri="{9D8B030D-6E8A-4147-A177-3AD203B41FA5}">
                      <a16:colId xmlns:a16="http://schemas.microsoft.com/office/drawing/2014/main" val="3174540060"/>
                    </a:ext>
                  </a:extLst>
                </a:gridCol>
                <a:gridCol w="828134">
                  <a:extLst>
                    <a:ext uri="{9D8B030D-6E8A-4147-A177-3AD203B41FA5}">
                      <a16:colId xmlns:a16="http://schemas.microsoft.com/office/drawing/2014/main" val="20003"/>
                    </a:ext>
                  </a:extLst>
                </a:gridCol>
              </a:tblGrid>
              <a:tr h="415168">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Quality Attribute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Priority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Description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Result</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9882093"/>
                  </a:ext>
                </a:extLst>
              </a:tr>
              <a:tr h="761897">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Performance</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High</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l"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Improved notification processing to ~22ms per event.</a:t>
                      </a:r>
                      <a:endParaRPr lang="en-US" sz="1800" i="1" kern="120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lang="en-US" dirty="0">
                          <a:solidFill>
                            <a:srgbClr val="339933"/>
                          </a:solidFill>
                          <a:latin typeface="Times New Roman" panose="02020603050405020304" pitchFamily="18" charset="0"/>
                          <a:cs typeface="Times New Roman" panose="02020603050405020304" pitchFamily="18" charset="0"/>
                        </a:rPr>
                        <a:t>✅</a:t>
                      </a:r>
                      <a:endParaRPr lang="en-US" sz="1800" i="1" kern="120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824361779"/>
                  </a:ext>
                </a:extLst>
              </a:tr>
              <a:tr h="6858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Reliability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High</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Implemented fail-safe mechanism to prevent one service from affecting other services during notification processing.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tc>
                  <a:txBody>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lang="en-US" dirty="0">
                          <a:solidFill>
                            <a:srgbClr val="339933"/>
                          </a:solidFill>
                          <a:latin typeface="Times New Roman" panose="02020603050405020304" pitchFamily="18" charset="0"/>
                          <a:cs typeface="Times New Roman" panose="02020603050405020304" pitchFamily="18" charset="0"/>
                        </a:rPr>
                        <a:t>✅</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40000"/>
                        <a:lumOff val="60000"/>
                      </a:schemeClr>
                    </a:solidFill>
                  </a:tcPr>
                </a:tc>
                <a:extLst>
                  <a:ext uri="{0D108BD9-81ED-4DB2-BD59-A6C34878D82A}">
                    <a16:rowId xmlns:a16="http://schemas.microsoft.com/office/drawing/2014/main" val="1853277442"/>
                  </a:ext>
                </a:extLst>
              </a:tr>
              <a:tr h="46355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Resource Efficiency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Medium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Resource optimization mechanism when not in use in</a:t>
                      </a:r>
                      <a:r>
                        <a:rPr lang="en-US" sz="1800" kern="1200" baseline="0" dirty="0">
                          <a:solidFill>
                            <a:schemeClr val="tx1"/>
                          </a:solidFill>
                          <a:latin typeface="Times New Roman" panose="02020603050405020304" pitchFamily="18" charset="0"/>
                          <a:ea typeface="+mn-ea"/>
                          <a:cs typeface="Times New Roman" panose="02020603050405020304" pitchFamily="18" charset="0"/>
                        </a:rPr>
                        <a:t> idle time.</a:t>
                      </a:r>
                      <a:r>
                        <a:rPr lang="en-US" sz="1800" kern="1200" dirty="0">
                          <a:solidFill>
                            <a:schemeClr val="tx1"/>
                          </a:solidFill>
                          <a:latin typeface="Times New Roman" panose="02020603050405020304" pitchFamily="18" charset="0"/>
                          <a:ea typeface="+mn-ea"/>
                          <a:cs typeface="Times New Roman" panose="02020603050405020304" pitchFamily="18" charset="0"/>
                        </a:rPr>
                        <a:t>	</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lang="en-US" dirty="0">
                          <a:solidFill>
                            <a:srgbClr val="339933"/>
                          </a:solidFill>
                          <a:latin typeface="Times New Roman" panose="02020603050405020304" pitchFamily="18" charset="0"/>
                          <a:cs typeface="Times New Roman" panose="02020603050405020304" pitchFamily="18" charset="0"/>
                        </a:rPr>
                        <a:t>✅</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3"/>
                  </a:ext>
                </a:extLst>
              </a:tr>
              <a:tr h="482600">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Maintainability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Medium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New design is modular and independent, making it easy to maintain.</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lang="en-US" dirty="0">
                          <a:solidFill>
                            <a:srgbClr val="339933"/>
                          </a:solidFill>
                          <a:latin typeface="Times New Roman" panose="02020603050405020304" pitchFamily="18" charset="0"/>
                          <a:cs typeface="Times New Roman" panose="02020603050405020304" pitchFamily="18" charset="0"/>
                        </a:rPr>
                        <a:t>✅</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4"/>
                  </a:ext>
                </a:extLst>
              </a:tr>
              <a:tr h="645835">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Reusability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Medium</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New design can be reused for notification tasks or other operations requiring multi-threading capabilities.</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lang="en-US" dirty="0">
                          <a:solidFill>
                            <a:srgbClr val="339933"/>
                          </a:solidFill>
                          <a:latin typeface="Times New Roman" panose="02020603050405020304" pitchFamily="18" charset="0"/>
                          <a:cs typeface="Times New Roman" panose="02020603050405020304" pitchFamily="18" charset="0"/>
                        </a:rPr>
                        <a:t>✅</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10005"/>
                  </a:ext>
                </a:extLst>
              </a:tr>
              <a:tr h="446365">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Simplicity</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E8"/>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Low</a:t>
                      </a: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E8"/>
                    </a:solidFill>
                  </a:tcPr>
                </a:tc>
                <a:tc>
                  <a:txBody>
                    <a:bodyPr/>
                    <a:lstStyle/>
                    <a:p>
                      <a:pPr marL="0" marR="0" lvl="0" indent="0" algn="just" defTabSz="914400" rtl="0" eaLnBrk="1" fontAlgn="auto" latinLnBrk="0" hangingPunct="1">
                        <a:lnSpc>
                          <a:spcPct val="100000"/>
                        </a:lnSpc>
                        <a:spcBef>
                          <a:spcPts val="600"/>
                        </a:spcBef>
                        <a:spcAft>
                          <a:spcPts val="600"/>
                        </a:spcAft>
                        <a:buClrTx/>
                        <a:buSzTx/>
                        <a:buFontTx/>
                        <a:buNone/>
                        <a:tabLst/>
                        <a:defRPr/>
                      </a:pPr>
                      <a:r>
                        <a:rPr lang="en-US" sz="1800" kern="1200" dirty="0">
                          <a:solidFill>
                            <a:schemeClr val="tx1"/>
                          </a:solidFill>
                          <a:latin typeface="Times New Roman" panose="02020603050405020304" pitchFamily="18" charset="0"/>
                          <a:ea typeface="+mn-ea"/>
                          <a:cs typeface="Times New Roman" panose="02020603050405020304" pitchFamily="18" charset="0"/>
                        </a:rPr>
                        <a:t>New implementation is relatively complex but acceptable.</a:t>
                      </a:r>
                    </a:p>
                  </a:txBody>
                  <a:tcPr marL="38100" marR="381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E8"/>
                    </a:solidFill>
                  </a:tcPr>
                </a:tc>
                <a:tc>
                  <a:txBody>
                    <a:bodyPr/>
                    <a:lstStyle/>
                    <a:p>
                      <a:pPr marL="0" marR="0" lvl="0" indent="0" algn="ctr" defTabSz="914400" rtl="0" eaLnBrk="1" fontAlgn="auto" latinLnBrk="0" hangingPunct="1">
                        <a:lnSpc>
                          <a:spcPct val="100000"/>
                        </a:lnSpc>
                        <a:spcBef>
                          <a:spcPts val="600"/>
                        </a:spcBef>
                        <a:spcAft>
                          <a:spcPts val="600"/>
                        </a:spcAft>
                        <a:buClrTx/>
                        <a:buSzTx/>
                        <a:buFontTx/>
                        <a:buNone/>
                        <a:tabLst/>
                        <a:defRPr/>
                      </a:pPr>
                      <a:r>
                        <a:rPr lang="en-US" dirty="0">
                          <a:solidFill>
                            <a:srgbClr val="C00000"/>
                          </a:solidFill>
                          <a:latin typeface="Times New Roman" panose="02020603050405020304" pitchFamily="18" charset="0"/>
                          <a:cs typeface="Times New Roman" panose="02020603050405020304" pitchFamily="18" charset="0"/>
                        </a:rPr>
                        <a:t>❌</a:t>
                      </a:r>
                      <a:endParaRPr lang="en-US" sz="1800" kern="1200" dirty="0">
                        <a:solidFill>
                          <a:schemeClr val="tx1"/>
                        </a:solidFill>
                        <a:latin typeface="Times New Roman" panose="02020603050405020304" pitchFamily="18" charset="0"/>
                        <a:ea typeface="+mn-ea"/>
                        <a:cs typeface="Times New Roman" panose="02020603050405020304" pitchFamily="18" charset="0"/>
                      </a:endParaRPr>
                    </a:p>
                  </a:txBody>
                  <a:tcPr marL="38100" marR="38100" marT="25400" marB="254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EF4E8"/>
                    </a:solidFill>
                  </a:tcPr>
                </a:tc>
                <a:extLst>
                  <a:ext uri="{0D108BD9-81ED-4DB2-BD59-A6C34878D82A}">
                    <a16:rowId xmlns:a16="http://schemas.microsoft.com/office/drawing/2014/main" val="2918095390"/>
                  </a:ext>
                </a:extLst>
              </a:tr>
            </a:tbl>
          </a:graphicData>
        </a:graphic>
      </p:graphicFrame>
      <p:sp>
        <p:nvSpPr>
          <p:cNvPr id="2" name="Rectangle 1"/>
          <p:cNvSpPr/>
          <p:nvPr/>
        </p:nvSpPr>
        <p:spPr>
          <a:xfrm>
            <a:off x="459789" y="4514425"/>
            <a:ext cx="11183571" cy="2585323"/>
          </a:xfrm>
          <a:prstGeom prst="rect">
            <a:avLst/>
          </a:prstGeom>
        </p:spPr>
        <p:txBody>
          <a:bodyPr wrap="square">
            <a:spAutoFit/>
          </a:bodyPr>
          <a:lstStyle/>
          <a:p>
            <a:pPr>
              <a:lnSpc>
                <a:spcPct val="200000"/>
              </a:lnSpc>
            </a:pPr>
            <a:r>
              <a:rPr lang="en-US" b="1" dirty="0">
                <a:latin typeface="Times New Roman" panose="02020603050405020304" pitchFamily="18" charset="0"/>
                <a:cs typeface="Times New Roman" panose="02020603050405020304" pitchFamily="18" charset="0"/>
              </a:rPr>
              <a:t>Plan to apply:</a:t>
            </a:r>
          </a:p>
          <a:p>
            <a:pPr marL="285750" indent="-285750">
              <a:buFont typeface="Arial" panose="020B0604020202020204" pitchFamily="34" charset="0"/>
              <a:buChar char="•"/>
            </a:pPr>
            <a:r>
              <a:rPr lang="en-US" u="sng" dirty="0">
                <a:latin typeface="Times New Roman" panose="02020603050405020304" pitchFamily="18" charset="0"/>
                <a:cs typeface="Times New Roman" panose="02020603050405020304" pitchFamily="18" charset="0"/>
              </a:rPr>
              <a:t>November 2025</a:t>
            </a:r>
            <a:r>
              <a:rPr lang="en-US" dirty="0">
                <a:latin typeface="Times New Roman" panose="02020603050405020304" pitchFamily="18" charset="0"/>
                <a:cs typeface="Times New Roman" panose="02020603050405020304" pitchFamily="18" charset="0"/>
              </a:rPr>
              <a:t>: </a:t>
            </a: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Apply the Dynamic Thread Pool to the Power Manager Service (Core part) in the Toyota 24DCM (SU) project.</a:t>
            </a: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Apply the Dynamic Thread Pool for 26BEV project</a:t>
            </a:r>
          </a:p>
          <a:p>
            <a:pPr marL="285750" indent="-285750">
              <a:buFont typeface="Arial" panose="020B0604020202020204" pitchFamily="34" charset="0"/>
              <a:buChar char="•"/>
            </a:pPr>
            <a:r>
              <a:rPr lang="en-US" u="sng" dirty="0">
                <a:latin typeface="Times New Roman" panose="02020603050405020304" pitchFamily="18" charset="0"/>
                <a:cs typeface="Times New Roman" panose="02020603050405020304" pitchFamily="18" charset="0"/>
              </a:rPr>
              <a:t>May 2026</a:t>
            </a:r>
            <a:r>
              <a:rPr lang="en-US" dirty="0">
                <a:latin typeface="Times New Roman" panose="02020603050405020304" pitchFamily="18" charset="0"/>
                <a:cs typeface="Times New Roman" panose="02020603050405020304" pitchFamily="18" charset="0"/>
              </a:rPr>
              <a:t>: </a:t>
            </a: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Apply the solution to Power Manager Service of all projects.</a:t>
            </a:r>
          </a:p>
          <a:p>
            <a:pPr marL="742950" lvl="1" indent="-285750">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Move the Dynamic Thread Pool source code to the Tiger Framework Until to enable usage by other services. </a:t>
            </a:r>
          </a:p>
          <a:p>
            <a:pPr marL="742950" lvl="1" indent="-28575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16242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182552" y="1995722"/>
            <a:ext cx="7619394" cy="2862322"/>
          </a:xfrm>
          <a:prstGeom prst="rect">
            <a:avLst/>
          </a:prstGeom>
          <a:noFill/>
        </p:spPr>
        <p:txBody>
          <a:bodyPr wrap="none" rtlCol="0">
            <a:spAutoFit/>
          </a:bodyPr>
          <a:lstStyle/>
          <a:p>
            <a:pPr algn="ctr"/>
            <a:r>
              <a:rPr lang="en-US" sz="6000">
                <a:latin typeface="Times New Roman" panose="02020603050405020304" pitchFamily="18" charset="0"/>
                <a:cs typeface="Times New Roman" panose="02020603050405020304" pitchFamily="18" charset="0"/>
              </a:rPr>
              <a:t>Q&amp;A</a:t>
            </a:r>
          </a:p>
          <a:p>
            <a:pPr algn="ctr"/>
            <a:r>
              <a:rPr lang="en-US" sz="6000">
                <a:latin typeface="Times New Roman" panose="02020603050405020304" pitchFamily="18" charset="0"/>
                <a:cs typeface="Times New Roman" panose="02020603050405020304" pitchFamily="18" charset="0"/>
              </a:rPr>
              <a:t>Thank you for listening </a:t>
            </a:r>
          </a:p>
          <a:p>
            <a:pPr algn="ctr"/>
            <a:endParaRPr lang="en-US" sz="6000"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p:txBody>
          <a:bodyPr/>
          <a:lstStyle/>
          <a:p>
            <a:fld id="{0059130C-D5A7-43F1-8BDF-D4DD1699FE09}" type="slidenum">
              <a:rPr lang="en-US" smtClean="0"/>
              <a:t>26</a:t>
            </a:fld>
            <a:endParaRPr lang="en-US"/>
          </a:p>
        </p:txBody>
      </p:sp>
    </p:spTree>
    <p:extLst>
      <p:ext uri="{BB962C8B-B14F-4D97-AF65-F5344CB8AC3E}">
        <p14:creationId xmlns:p14="http://schemas.microsoft.com/office/powerpoint/2010/main" val="3864143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059130C-D5A7-43F1-8BDF-D4DD1699FE09}" type="slidenum">
              <a:rPr lang="en-US" smtClean="0"/>
              <a:t>27</a:t>
            </a:fld>
            <a:endParaRPr lang="en-US"/>
          </a:p>
        </p:txBody>
      </p:sp>
      <p:sp>
        <p:nvSpPr>
          <p:cNvPr id="5" name="Rectangle 4"/>
          <p:cNvSpPr/>
          <p:nvPr/>
        </p:nvSpPr>
        <p:spPr>
          <a:xfrm>
            <a:off x="1466851" y="495300"/>
            <a:ext cx="5667374" cy="4552950"/>
          </a:xfrm>
          <a:prstGeom prst="rect">
            <a:avLst/>
          </a:prstGeom>
          <a:solidFill>
            <a:srgbClr val="FFFFE0"/>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95000"/>
                    <a:lumOff val="5000"/>
                  </a:schemeClr>
                </a:solidFill>
              </a:rPr>
              <a:t>DCM</a:t>
            </a:r>
          </a:p>
        </p:txBody>
      </p:sp>
      <p:sp>
        <p:nvSpPr>
          <p:cNvPr id="7" name="Rectangle 6"/>
          <p:cNvSpPr/>
          <p:nvPr/>
        </p:nvSpPr>
        <p:spPr>
          <a:xfrm>
            <a:off x="1552576" y="866775"/>
            <a:ext cx="2628899" cy="3228975"/>
          </a:xfrm>
          <a:prstGeom prst="rect">
            <a:avLst/>
          </a:prstGeom>
          <a:solidFill>
            <a:srgbClr val="FFFFE0"/>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95000"/>
                    <a:lumOff val="5000"/>
                  </a:schemeClr>
                </a:solidFill>
              </a:rPr>
              <a:t>EP Container</a:t>
            </a:r>
          </a:p>
        </p:txBody>
      </p:sp>
      <p:sp>
        <p:nvSpPr>
          <p:cNvPr id="12" name="Rectangle 11"/>
          <p:cNvSpPr/>
          <p:nvPr/>
        </p:nvSpPr>
        <p:spPr>
          <a:xfrm>
            <a:off x="4362449" y="866775"/>
            <a:ext cx="2638426" cy="3228975"/>
          </a:xfrm>
          <a:prstGeom prst="rect">
            <a:avLst/>
          </a:prstGeom>
          <a:solidFill>
            <a:srgbClr val="FFFFE0"/>
          </a:solidFill>
          <a:ln w="1905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95000"/>
                    <a:lumOff val="5000"/>
                  </a:schemeClr>
                </a:solidFill>
              </a:rPr>
              <a:t>Internal Container</a:t>
            </a:r>
          </a:p>
        </p:txBody>
      </p:sp>
      <p:sp>
        <p:nvSpPr>
          <p:cNvPr id="13" name="Rectangle 12"/>
          <p:cNvSpPr/>
          <p:nvPr/>
        </p:nvSpPr>
        <p:spPr>
          <a:xfrm>
            <a:off x="1741414" y="3248023"/>
            <a:ext cx="2266949" cy="647700"/>
          </a:xfrm>
          <a:prstGeom prst="rect">
            <a:avLst/>
          </a:prstGeom>
          <a:solidFill>
            <a:srgbClr val="C2F0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Remote </a:t>
            </a:r>
            <a:r>
              <a:rPr lang="en-US" dirty="0" err="1">
                <a:solidFill>
                  <a:schemeClr val="tx1">
                    <a:lumMod val="95000"/>
                    <a:lumOff val="5000"/>
                  </a:schemeClr>
                </a:solidFill>
              </a:rPr>
              <a:t>Diag</a:t>
            </a:r>
            <a:endParaRPr lang="en-US" dirty="0">
              <a:solidFill>
                <a:schemeClr val="tx1">
                  <a:lumMod val="95000"/>
                  <a:lumOff val="5000"/>
                </a:schemeClr>
              </a:solidFill>
            </a:endParaRPr>
          </a:p>
        </p:txBody>
      </p:sp>
      <p:sp>
        <p:nvSpPr>
          <p:cNvPr id="14" name="Rectangle 13"/>
          <p:cNvSpPr/>
          <p:nvPr/>
        </p:nvSpPr>
        <p:spPr>
          <a:xfrm>
            <a:off x="1733550" y="1400175"/>
            <a:ext cx="2266949" cy="647700"/>
          </a:xfrm>
          <a:prstGeom prst="rect">
            <a:avLst/>
          </a:prstGeom>
          <a:solidFill>
            <a:schemeClr val="accent6">
              <a:lumMod val="7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b="1" dirty="0">
                <a:solidFill>
                  <a:schemeClr val="bg1"/>
                </a:solidFill>
              </a:rPr>
              <a:t>TMC Apps</a:t>
            </a:r>
          </a:p>
        </p:txBody>
      </p:sp>
      <p:sp>
        <p:nvSpPr>
          <p:cNvPr id="15" name="Rectangle 14"/>
          <p:cNvSpPr/>
          <p:nvPr/>
        </p:nvSpPr>
        <p:spPr>
          <a:xfrm>
            <a:off x="1768329" y="2371724"/>
            <a:ext cx="2232170" cy="647700"/>
          </a:xfrm>
          <a:prstGeom prst="rect">
            <a:avLst/>
          </a:prstGeom>
          <a:solidFill>
            <a:srgbClr val="C2F0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Other</a:t>
            </a:r>
          </a:p>
        </p:txBody>
      </p:sp>
      <p:sp>
        <p:nvSpPr>
          <p:cNvPr id="16" name="Rectangle 15"/>
          <p:cNvSpPr/>
          <p:nvPr/>
        </p:nvSpPr>
        <p:spPr>
          <a:xfrm>
            <a:off x="1733550" y="2324099"/>
            <a:ext cx="2232170" cy="647700"/>
          </a:xfrm>
          <a:prstGeom prst="rect">
            <a:avLst/>
          </a:prstGeom>
          <a:solidFill>
            <a:srgbClr val="C2F0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LGE Apps/Services</a:t>
            </a:r>
          </a:p>
        </p:txBody>
      </p:sp>
      <p:sp>
        <p:nvSpPr>
          <p:cNvPr id="18" name="Rectangle 17"/>
          <p:cNvSpPr/>
          <p:nvPr/>
        </p:nvSpPr>
        <p:spPr>
          <a:xfrm>
            <a:off x="4548187" y="3248023"/>
            <a:ext cx="2266949" cy="647700"/>
          </a:xfrm>
          <a:prstGeom prst="rect">
            <a:avLst/>
          </a:prstGeom>
          <a:solidFill>
            <a:srgbClr val="C2F0FF"/>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OBC</a:t>
            </a:r>
          </a:p>
        </p:txBody>
      </p:sp>
      <p:sp>
        <p:nvSpPr>
          <p:cNvPr id="19" name="Rectangle 18"/>
          <p:cNvSpPr/>
          <p:nvPr/>
        </p:nvSpPr>
        <p:spPr>
          <a:xfrm>
            <a:off x="1552576" y="4219572"/>
            <a:ext cx="5448299" cy="647700"/>
          </a:xfrm>
          <a:prstGeom prst="rect">
            <a:avLst/>
          </a:prstGeom>
          <a:solidFill>
            <a:schemeClr val="bg2">
              <a:lumMod val="7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r>
              <a:rPr lang="en-US" dirty="0">
                <a:solidFill>
                  <a:schemeClr val="tx1">
                    <a:lumMod val="95000"/>
                    <a:lumOff val="5000"/>
                  </a:schemeClr>
                </a:solidFill>
              </a:rPr>
              <a:t>Linux Kernel/Driver</a:t>
            </a:r>
          </a:p>
        </p:txBody>
      </p:sp>
      <p:grpSp>
        <p:nvGrpSpPr>
          <p:cNvPr id="22" name="Group 21"/>
          <p:cNvGrpSpPr/>
          <p:nvPr/>
        </p:nvGrpSpPr>
        <p:grpSpPr>
          <a:xfrm>
            <a:off x="4722017" y="4386261"/>
            <a:ext cx="1935956" cy="276227"/>
            <a:chOff x="4722017" y="4386261"/>
            <a:chExt cx="1935956" cy="276227"/>
          </a:xfrm>
        </p:grpSpPr>
        <p:sp>
          <p:nvSpPr>
            <p:cNvPr id="20" name="Rectangle 19"/>
            <p:cNvSpPr/>
            <p:nvPr/>
          </p:nvSpPr>
          <p:spPr>
            <a:xfrm>
              <a:off x="4722017" y="4386261"/>
              <a:ext cx="820340" cy="276227"/>
            </a:xfrm>
            <a:prstGeom prst="rect">
              <a:avLst/>
            </a:prstGeom>
            <a:solidFill>
              <a:schemeClr val="bg2">
                <a:lumMod val="9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SPI Rx</a:t>
              </a:r>
            </a:p>
          </p:txBody>
        </p:sp>
        <p:sp>
          <p:nvSpPr>
            <p:cNvPr id="21" name="Rectangle 20"/>
            <p:cNvSpPr/>
            <p:nvPr/>
          </p:nvSpPr>
          <p:spPr>
            <a:xfrm>
              <a:off x="5837633" y="4386261"/>
              <a:ext cx="820340" cy="276227"/>
            </a:xfrm>
            <a:prstGeom prst="rect">
              <a:avLst/>
            </a:prstGeom>
            <a:solidFill>
              <a:schemeClr val="bg2">
                <a:lumMod val="9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SPI </a:t>
              </a:r>
              <a:r>
                <a:rPr lang="en-US" dirty="0" err="1">
                  <a:solidFill>
                    <a:schemeClr val="tx1">
                      <a:lumMod val="95000"/>
                      <a:lumOff val="5000"/>
                    </a:schemeClr>
                  </a:solidFill>
                </a:rPr>
                <a:t>Tx</a:t>
              </a:r>
              <a:endParaRPr lang="en-US" dirty="0">
                <a:solidFill>
                  <a:schemeClr val="tx1">
                    <a:lumMod val="95000"/>
                    <a:lumOff val="5000"/>
                  </a:schemeClr>
                </a:solidFill>
              </a:endParaRPr>
            </a:p>
          </p:txBody>
        </p:sp>
      </p:grpSp>
      <p:sp>
        <p:nvSpPr>
          <p:cNvPr id="23" name="Rectangle 22"/>
          <p:cNvSpPr/>
          <p:nvPr/>
        </p:nvSpPr>
        <p:spPr>
          <a:xfrm>
            <a:off x="7258048" y="495299"/>
            <a:ext cx="1762128" cy="2476499"/>
          </a:xfrm>
          <a:prstGeom prst="rect">
            <a:avLst/>
          </a:prstGeom>
          <a:solidFill>
            <a:schemeClr val="bg2">
              <a:lumMod val="75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algn="ctr"/>
            <a:r>
              <a:rPr lang="en-US" dirty="0">
                <a:solidFill>
                  <a:schemeClr val="tx1">
                    <a:lumMod val="95000"/>
                    <a:lumOff val="5000"/>
                  </a:schemeClr>
                </a:solidFill>
              </a:rPr>
              <a:t>MCU</a:t>
            </a:r>
          </a:p>
        </p:txBody>
      </p:sp>
      <p:sp>
        <p:nvSpPr>
          <p:cNvPr id="24" name="Rectangle 23"/>
          <p:cNvSpPr/>
          <p:nvPr/>
        </p:nvSpPr>
        <p:spPr>
          <a:xfrm>
            <a:off x="7353299" y="866775"/>
            <a:ext cx="1543050" cy="647700"/>
          </a:xfrm>
          <a:prstGeom prst="rect">
            <a:avLst/>
          </a:prstGeom>
          <a:solidFill>
            <a:schemeClr val="bg2">
              <a:lumMod val="9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MCU Apps</a:t>
            </a:r>
          </a:p>
        </p:txBody>
      </p:sp>
      <p:sp>
        <p:nvSpPr>
          <p:cNvPr id="25" name="Rectangle 24"/>
          <p:cNvSpPr/>
          <p:nvPr/>
        </p:nvSpPr>
        <p:spPr>
          <a:xfrm>
            <a:off x="7362822" y="1635123"/>
            <a:ext cx="1533527" cy="1231902"/>
          </a:xfrm>
          <a:prstGeom prst="rect">
            <a:avLst/>
          </a:prstGeom>
          <a:solidFill>
            <a:schemeClr val="bg2">
              <a:lumMod val="90000"/>
            </a:schemeClr>
          </a:solidFill>
          <a:ln w="28575"/>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algn="ctr"/>
            <a:r>
              <a:rPr lang="en-US" dirty="0">
                <a:solidFill>
                  <a:schemeClr val="tx1">
                    <a:lumMod val="95000"/>
                    <a:lumOff val="5000"/>
                  </a:schemeClr>
                </a:solidFill>
              </a:rPr>
              <a:t>AUTOSAR</a:t>
            </a:r>
          </a:p>
        </p:txBody>
      </p:sp>
      <p:cxnSp>
        <p:nvCxnSpPr>
          <p:cNvPr id="27" name="Straight Arrow Connector 26"/>
          <p:cNvCxnSpPr/>
          <p:nvPr/>
        </p:nvCxnSpPr>
        <p:spPr>
          <a:xfrm>
            <a:off x="8110535" y="3009899"/>
            <a:ext cx="0" cy="876299"/>
          </a:xfrm>
          <a:prstGeom prst="straightConnector1">
            <a:avLst/>
          </a:prstGeom>
          <a:ln w="38100">
            <a:solidFill>
              <a:schemeClr val="bg2">
                <a:lumMod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0" name="TextBox 29"/>
          <p:cNvSpPr txBox="1"/>
          <p:nvPr/>
        </p:nvSpPr>
        <p:spPr>
          <a:xfrm>
            <a:off x="8177211" y="3539094"/>
            <a:ext cx="1495425" cy="369332"/>
          </a:xfrm>
          <a:prstGeom prst="rect">
            <a:avLst/>
          </a:prstGeom>
          <a:noFill/>
        </p:spPr>
        <p:txBody>
          <a:bodyPr wrap="square" rtlCol="0">
            <a:spAutoFit/>
          </a:bodyPr>
          <a:lstStyle/>
          <a:p>
            <a:r>
              <a:rPr lang="en-US" dirty="0"/>
              <a:t>Internal CAN</a:t>
            </a:r>
          </a:p>
        </p:txBody>
      </p:sp>
      <p:cxnSp>
        <p:nvCxnSpPr>
          <p:cNvPr id="36" name="Straight Connector 35"/>
          <p:cNvCxnSpPr/>
          <p:nvPr/>
        </p:nvCxnSpPr>
        <p:spPr>
          <a:xfrm>
            <a:off x="7629525" y="3895723"/>
            <a:ext cx="2000250"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a:off x="7781924" y="3962398"/>
            <a:ext cx="2000250" cy="0"/>
          </a:xfrm>
          <a:prstGeom prst="line">
            <a:avLst/>
          </a:prstGeom>
          <a:ln w="1905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16175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stretch>
            <a:fillRect/>
          </a:stretch>
        </p:blipFill>
        <p:spPr>
          <a:xfrm>
            <a:off x="1437155" y="953344"/>
            <a:ext cx="8903084" cy="5132942"/>
          </a:xfrm>
          <a:prstGeom prst="rect">
            <a:avLst/>
          </a:prstGeom>
        </p:spPr>
      </p:pic>
      <p:sp>
        <p:nvSpPr>
          <p:cNvPr id="4" name="Rectangle 3"/>
          <p:cNvSpPr/>
          <p:nvPr/>
        </p:nvSpPr>
        <p:spPr>
          <a:xfrm>
            <a:off x="459789" y="146304"/>
            <a:ext cx="221483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1</a:t>
            </a:r>
          </a:p>
        </p:txBody>
      </p:sp>
      <p:sp>
        <p:nvSpPr>
          <p:cNvPr id="2" name="Slide Number Placeholder 1"/>
          <p:cNvSpPr>
            <a:spLocks noGrp="1"/>
          </p:cNvSpPr>
          <p:nvPr>
            <p:ph type="sldNum" sz="quarter" idx="12"/>
          </p:nvPr>
        </p:nvSpPr>
        <p:spPr/>
        <p:txBody>
          <a:bodyPr/>
          <a:lstStyle/>
          <a:p>
            <a:fld id="{0059130C-D5A7-43F1-8BDF-D4DD1699FE09}" type="slidenum">
              <a:rPr lang="en-US" smtClean="0"/>
              <a:t>28</a:t>
            </a:fld>
            <a:endParaRPr lang="en-US"/>
          </a:p>
        </p:txBody>
      </p:sp>
    </p:spTree>
    <p:extLst>
      <p:ext uri="{BB962C8B-B14F-4D97-AF65-F5344CB8AC3E}">
        <p14:creationId xmlns:p14="http://schemas.microsoft.com/office/powerpoint/2010/main" val="32405118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9789" y="146304"/>
            <a:ext cx="221483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2</a:t>
            </a:r>
          </a:p>
        </p:txBody>
      </p:sp>
      <p:sp>
        <p:nvSpPr>
          <p:cNvPr id="2" name="Slide Number Placeholder 1"/>
          <p:cNvSpPr>
            <a:spLocks noGrp="1"/>
          </p:cNvSpPr>
          <p:nvPr>
            <p:ph type="sldNum" sz="quarter" idx="12"/>
          </p:nvPr>
        </p:nvSpPr>
        <p:spPr/>
        <p:txBody>
          <a:bodyPr/>
          <a:lstStyle/>
          <a:p>
            <a:fld id="{0059130C-D5A7-43F1-8BDF-D4DD1699FE09}" type="slidenum">
              <a:rPr lang="en-US" smtClean="0"/>
              <a:t>29</a:t>
            </a:fld>
            <a:endParaRPr lang="en-US"/>
          </a:p>
        </p:txBody>
      </p:sp>
      <p:pic>
        <p:nvPicPr>
          <p:cNvPr id="5" name="Picture 4"/>
          <p:cNvPicPr>
            <a:picLocks noChangeAspect="1"/>
          </p:cNvPicPr>
          <p:nvPr/>
        </p:nvPicPr>
        <p:blipFill>
          <a:blip r:embed="rId3"/>
          <a:stretch>
            <a:fillRect/>
          </a:stretch>
        </p:blipFill>
        <p:spPr>
          <a:xfrm>
            <a:off x="3911346" y="78191"/>
            <a:ext cx="4531614" cy="6643284"/>
          </a:xfrm>
          <a:prstGeom prst="rect">
            <a:avLst/>
          </a:prstGeom>
        </p:spPr>
      </p:pic>
    </p:spTree>
    <p:extLst>
      <p:ext uri="{BB962C8B-B14F-4D97-AF65-F5344CB8AC3E}">
        <p14:creationId xmlns:p14="http://schemas.microsoft.com/office/powerpoint/2010/main" val="39393236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519163" y="6382474"/>
            <a:ext cx="2743200" cy="365125"/>
          </a:xfrm>
        </p:spPr>
        <p:txBody>
          <a:bodyPr/>
          <a:lstStyle/>
          <a:p>
            <a:fld id="{0059130C-D5A7-43F1-8BDF-D4DD1699FE09}" type="slidenum">
              <a:rPr lang="en-US" smtClean="0"/>
              <a:t>30</a:t>
            </a:fld>
            <a:endParaRPr lang="en-US"/>
          </a:p>
        </p:txBody>
      </p:sp>
      <p:sp>
        <p:nvSpPr>
          <p:cNvPr id="22" name="Rectangle 21"/>
          <p:cNvSpPr/>
          <p:nvPr/>
        </p:nvSpPr>
        <p:spPr>
          <a:xfrm>
            <a:off x="283725" y="44073"/>
            <a:ext cx="5449521" cy="461665"/>
          </a:xfrm>
          <a:prstGeom prst="rect">
            <a:avLst/>
          </a:prstGeom>
          <a:solidFill>
            <a:schemeClr val="bg1"/>
          </a:solidFill>
        </p:spPr>
        <p:txBody>
          <a:bodyPr wrap="square">
            <a:spAutoFit/>
          </a:bodyPr>
          <a:lstStyle/>
          <a:p>
            <a:endParaRPr lang="en-US" sz="2400" u="sng" dirty="0">
              <a:latin typeface="Times New Roman" panose="02020603050405020304" pitchFamily="18" charset="0"/>
              <a:cs typeface="Times New Roman" panose="02020603050405020304" pitchFamily="18" charset="0"/>
            </a:endParaRPr>
          </a:p>
        </p:txBody>
      </p:sp>
      <p:sp>
        <p:nvSpPr>
          <p:cNvPr id="13" name="Rectangle 12"/>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3 - Configuration</a:t>
            </a:r>
          </a:p>
        </p:txBody>
      </p:sp>
      <p:sp>
        <p:nvSpPr>
          <p:cNvPr id="17" name="Rectangle 16"/>
          <p:cNvSpPr/>
          <p:nvPr/>
        </p:nvSpPr>
        <p:spPr>
          <a:xfrm>
            <a:off x="6434673" y="607969"/>
            <a:ext cx="3963907" cy="369332"/>
          </a:xfrm>
          <a:prstGeom prst="rect">
            <a:avLst/>
          </a:prstGeom>
        </p:spPr>
        <p:txBody>
          <a:bodyPr wrap="none">
            <a:spAutoFit/>
          </a:bodyPr>
          <a:lstStyle/>
          <a:p>
            <a:pPr algn="ctr">
              <a:defRPr/>
            </a:pPr>
            <a:r>
              <a:rPr lang="en-US" b="1" dirty="0">
                <a:latin typeface="Times New Roman" panose="02020603050405020304" pitchFamily="18" charset="0"/>
                <a:cs typeface="Times New Roman" panose="02020603050405020304" pitchFamily="18" charset="0"/>
              </a:rPr>
              <a:t>Dynamic Thread Pool – 2 core threads</a:t>
            </a:r>
          </a:p>
        </p:txBody>
      </p:sp>
      <p:grpSp>
        <p:nvGrpSpPr>
          <p:cNvPr id="20" name="Group 19"/>
          <p:cNvGrpSpPr/>
          <p:nvPr/>
        </p:nvGrpSpPr>
        <p:grpSpPr>
          <a:xfrm>
            <a:off x="6496050" y="1039597"/>
            <a:ext cx="5212080" cy="2445281"/>
            <a:chOff x="6496050" y="1039597"/>
            <a:chExt cx="5212080" cy="2445281"/>
          </a:xfrm>
        </p:grpSpPr>
        <p:pic>
          <p:nvPicPr>
            <p:cNvPr id="19" name="Picture 18"/>
            <p:cNvPicPr>
              <a:picLocks noChangeAspect="1"/>
            </p:cNvPicPr>
            <p:nvPr/>
          </p:nvPicPr>
          <p:blipFill rotWithShape="1">
            <a:blip r:embed="rId3"/>
            <a:srcRect r="8390"/>
            <a:stretch/>
          </p:blipFill>
          <p:spPr>
            <a:xfrm>
              <a:off x="6496050" y="2289463"/>
              <a:ext cx="5212080" cy="1195415"/>
            </a:xfrm>
            <a:prstGeom prst="rect">
              <a:avLst/>
            </a:prstGeom>
            <a:ln>
              <a:solidFill>
                <a:schemeClr val="tx1"/>
              </a:solidFill>
            </a:ln>
          </p:spPr>
        </p:pic>
        <p:pic>
          <p:nvPicPr>
            <p:cNvPr id="25" name="Picture 24"/>
            <p:cNvPicPr>
              <a:picLocks noChangeAspect="1"/>
            </p:cNvPicPr>
            <p:nvPr/>
          </p:nvPicPr>
          <p:blipFill>
            <a:blip r:embed="rId4"/>
            <a:stretch>
              <a:fillRect/>
            </a:stretch>
          </p:blipFill>
          <p:spPr>
            <a:xfrm>
              <a:off x="6496050" y="1039597"/>
              <a:ext cx="5212080" cy="1171641"/>
            </a:xfrm>
            <a:prstGeom prst="rect">
              <a:avLst/>
            </a:prstGeom>
            <a:ln>
              <a:solidFill>
                <a:schemeClr val="tx1"/>
              </a:solidFill>
            </a:ln>
          </p:spPr>
        </p:pic>
      </p:grpSp>
      <p:sp>
        <p:nvSpPr>
          <p:cNvPr id="16" name="Rectangle 15"/>
          <p:cNvSpPr/>
          <p:nvPr/>
        </p:nvSpPr>
        <p:spPr>
          <a:xfrm>
            <a:off x="555803" y="3671449"/>
            <a:ext cx="3963907" cy="369332"/>
          </a:xfrm>
          <a:prstGeom prst="rect">
            <a:avLst/>
          </a:prstGeom>
        </p:spPr>
        <p:txBody>
          <a:bodyPr wrap="none">
            <a:spAutoFit/>
          </a:bodyPr>
          <a:lstStyle/>
          <a:p>
            <a:pPr algn="ctr">
              <a:defRPr/>
            </a:pPr>
            <a:r>
              <a:rPr lang="en-US" b="1" dirty="0">
                <a:latin typeface="Times New Roman" panose="02020603050405020304" pitchFamily="18" charset="0"/>
                <a:cs typeface="Times New Roman" panose="02020603050405020304" pitchFamily="18" charset="0"/>
              </a:rPr>
              <a:t>Dynamic Thread Pool – 4 core threads</a:t>
            </a:r>
          </a:p>
        </p:txBody>
      </p:sp>
      <p:pic>
        <p:nvPicPr>
          <p:cNvPr id="5" name="Picture 4"/>
          <p:cNvPicPr>
            <a:picLocks noChangeAspect="1"/>
          </p:cNvPicPr>
          <p:nvPr/>
        </p:nvPicPr>
        <p:blipFill rotWithShape="1">
          <a:blip r:embed="rId5">
            <a:extLst>
              <a:ext uri="{28A0092B-C50C-407E-A947-70E740481C1C}">
                <a14:useLocalDpi xmlns:a14="http://schemas.microsoft.com/office/drawing/2010/main" val="0"/>
              </a:ext>
            </a:extLst>
          </a:blip>
          <a:srcRect r="1972" b="10794"/>
          <a:stretch/>
        </p:blipFill>
        <p:spPr>
          <a:xfrm>
            <a:off x="625011" y="4101395"/>
            <a:ext cx="5108235" cy="1104590"/>
          </a:xfrm>
          <a:prstGeom prst="rect">
            <a:avLst/>
          </a:prstGeom>
          <a:ln>
            <a:solidFill>
              <a:schemeClr val="tx1"/>
            </a:solidFill>
          </a:ln>
        </p:spPr>
      </p:pic>
      <p:pic>
        <p:nvPicPr>
          <p:cNvPr id="7" name="Picture 6"/>
          <p:cNvPicPr>
            <a:picLocks noChangeAspect="1"/>
          </p:cNvPicPr>
          <p:nvPr/>
        </p:nvPicPr>
        <p:blipFill rotWithShape="1">
          <a:blip r:embed="rId6">
            <a:extLst>
              <a:ext uri="{28A0092B-C50C-407E-A947-70E740481C1C}">
                <a14:useLocalDpi xmlns:a14="http://schemas.microsoft.com/office/drawing/2010/main" val="0"/>
              </a:ext>
            </a:extLst>
          </a:blip>
          <a:srcRect r="15913"/>
          <a:stretch/>
        </p:blipFill>
        <p:spPr>
          <a:xfrm>
            <a:off x="615909" y="5291174"/>
            <a:ext cx="5107613" cy="1207008"/>
          </a:xfrm>
          <a:prstGeom prst="rect">
            <a:avLst/>
          </a:prstGeom>
          <a:ln>
            <a:solidFill>
              <a:schemeClr val="tx1"/>
            </a:solidFill>
          </a:ln>
        </p:spPr>
      </p:pic>
      <p:sp>
        <p:nvSpPr>
          <p:cNvPr id="21" name="Rectangle 20"/>
          <p:cNvSpPr/>
          <p:nvPr/>
        </p:nvSpPr>
        <p:spPr>
          <a:xfrm>
            <a:off x="6409404" y="3665353"/>
            <a:ext cx="3963907" cy="369332"/>
          </a:xfrm>
          <a:prstGeom prst="rect">
            <a:avLst/>
          </a:prstGeom>
        </p:spPr>
        <p:txBody>
          <a:bodyPr wrap="none">
            <a:spAutoFit/>
          </a:bodyPr>
          <a:lstStyle/>
          <a:p>
            <a:pPr algn="ctr">
              <a:defRPr/>
            </a:pPr>
            <a:r>
              <a:rPr lang="en-US" b="1" dirty="0">
                <a:latin typeface="Times New Roman" panose="02020603050405020304" pitchFamily="18" charset="0"/>
                <a:cs typeface="Times New Roman" panose="02020603050405020304" pitchFamily="18" charset="0"/>
              </a:rPr>
              <a:t>Dynamic Thread Pool – 8 core threads</a:t>
            </a:r>
          </a:p>
        </p:txBody>
      </p:sp>
      <p:pic>
        <p:nvPicPr>
          <p:cNvPr id="8" name="Picture 7"/>
          <p:cNvPicPr>
            <a:picLocks noChangeAspect="1"/>
          </p:cNvPicPr>
          <p:nvPr/>
        </p:nvPicPr>
        <p:blipFill rotWithShape="1">
          <a:blip r:embed="rId7">
            <a:extLst>
              <a:ext uri="{28A0092B-C50C-407E-A947-70E740481C1C}">
                <a14:useLocalDpi xmlns:a14="http://schemas.microsoft.com/office/drawing/2010/main" val="0"/>
              </a:ext>
            </a:extLst>
          </a:blip>
          <a:srcRect r="12375"/>
          <a:stretch/>
        </p:blipFill>
        <p:spPr>
          <a:xfrm>
            <a:off x="6499861" y="5315151"/>
            <a:ext cx="5222748" cy="1207821"/>
          </a:xfrm>
          <a:prstGeom prst="rect">
            <a:avLst/>
          </a:prstGeom>
          <a:ln>
            <a:solidFill>
              <a:schemeClr val="tx1"/>
            </a:solidFill>
          </a:ln>
        </p:spPr>
      </p:pic>
      <p:pic>
        <p:nvPicPr>
          <p:cNvPr id="9" name="Picture 8"/>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505956" y="4107807"/>
            <a:ext cx="5212080" cy="1124847"/>
          </a:xfrm>
          <a:prstGeom prst="rect">
            <a:avLst/>
          </a:prstGeom>
          <a:ln>
            <a:solidFill>
              <a:schemeClr val="tx1"/>
            </a:solidFill>
          </a:ln>
        </p:spPr>
      </p:pic>
      <p:sp>
        <p:nvSpPr>
          <p:cNvPr id="18" name="Rectangle 17"/>
          <p:cNvSpPr/>
          <p:nvPr/>
        </p:nvSpPr>
        <p:spPr>
          <a:xfrm>
            <a:off x="511353" y="638765"/>
            <a:ext cx="3963907" cy="369332"/>
          </a:xfrm>
          <a:prstGeom prst="rect">
            <a:avLst/>
          </a:prstGeom>
        </p:spPr>
        <p:txBody>
          <a:bodyPr wrap="none">
            <a:spAutoFit/>
          </a:bodyPr>
          <a:lstStyle/>
          <a:p>
            <a:pPr algn="ctr">
              <a:defRPr/>
            </a:pPr>
            <a:r>
              <a:rPr lang="en-US" b="1" dirty="0">
                <a:latin typeface="Times New Roman" panose="02020603050405020304" pitchFamily="18" charset="0"/>
                <a:cs typeface="Times New Roman" panose="02020603050405020304" pitchFamily="18" charset="0"/>
              </a:rPr>
              <a:t>Dynamic Thread Pool – 1 core thread</a:t>
            </a:r>
          </a:p>
        </p:txBody>
      </p:sp>
      <p:grpSp>
        <p:nvGrpSpPr>
          <p:cNvPr id="15" name="Group 14"/>
          <p:cNvGrpSpPr/>
          <p:nvPr/>
        </p:nvGrpSpPr>
        <p:grpSpPr>
          <a:xfrm>
            <a:off x="634196" y="1029894"/>
            <a:ext cx="5105564" cy="2461080"/>
            <a:chOff x="634196" y="1029894"/>
            <a:chExt cx="5105564" cy="2461080"/>
          </a:xfrm>
        </p:grpSpPr>
        <p:pic>
          <p:nvPicPr>
            <p:cNvPr id="11" name="Picture 10"/>
            <p:cNvPicPr>
              <a:picLocks noChangeAspect="1"/>
            </p:cNvPicPr>
            <p:nvPr/>
          </p:nvPicPr>
          <p:blipFill rotWithShape="1">
            <a:blip r:embed="rId9"/>
            <a:srcRect r="793"/>
            <a:stretch/>
          </p:blipFill>
          <p:spPr>
            <a:xfrm>
              <a:off x="637408" y="1029894"/>
              <a:ext cx="5102352" cy="1183671"/>
            </a:xfrm>
            <a:prstGeom prst="rect">
              <a:avLst/>
            </a:prstGeom>
            <a:ln>
              <a:solidFill>
                <a:schemeClr val="tx1"/>
              </a:solidFill>
            </a:ln>
          </p:spPr>
        </p:pic>
        <p:pic>
          <p:nvPicPr>
            <p:cNvPr id="14" name="Picture 13"/>
            <p:cNvPicPr>
              <a:picLocks noChangeAspect="1"/>
            </p:cNvPicPr>
            <p:nvPr/>
          </p:nvPicPr>
          <p:blipFill rotWithShape="1">
            <a:blip r:embed="rId10"/>
            <a:srcRect r="13863"/>
            <a:stretch/>
          </p:blipFill>
          <p:spPr>
            <a:xfrm>
              <a:off x="634196" y="2289516"/>
              <a:ext cx="5102140" cy="1201458"/>
            </a:xfrm>
            <a:prstGeom prst="rect">
              <a:avLst/>
            </a:prstGeom>
            <a:ln>
              <a:solidFill>
                <a:schemeClr val="tx1"/>
              </a:solidFill>
            </a:ln>
          </p:spPr>
        </p:pic>
      </p:grpSp>
    </p:spTree>
    <p:extLst>
      <p:ext uri="{BB962C8B-B14F-4D97-AF65-F5344CB8AC3E}">
        <p14:creationId xmlns:p14="http://schemas.microsoft.com/office/powerpoint/2010/main" val="421270771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a:xfrm>
            <a:off x="8519163" y="6382474"/>
            <a:ext cx="2743200" cy="365125"/>
          </a:xfrm>
        </p:spPr>
        <p:txBody>
          <a:bodyPr/>
          <a:lstStyle/>
          <a:p>
            <a:fld id="{0059130C-D5A7-43F1-8BDF-D4DD1699FE09}" type="slidenum">
              <a:rPr lang="en-US" smtClean="0"/>
              <a:t>31</a:t>
            </a:fld>
            <a:endParaRPr lang="en-US" dirty="0"/>
          </a:p>
        </p:txBody>
      </p:sp>
      <p:sp>
        <p:nvSpPr>
          <p:cNvPr id="22" name="Rectangle 21"/>
          <p:cNvSpPr/>
          <p:nvPr/>
        </p:nvSpPr>
        <p:spPr>
          <a:xfrm>
            <a:off x="283725" y="44073"/>
            <a:ext cx="5449521" cy="461665"/>
          </a:xfrm>
          <a:prstGeom prst="rect">
            <a:avLst/>
          </a:prstGeom>
          <a:solidFill>
            <a:schemeClr val="bg1"/>
          </a:solidFill>
        </p:spPr>
        <p:txBody>
          <a:bodyPr wrap="square">
            <a:spAutoFit/>
          </a:bodyPr>
          <a:lstStyle/>
          <a:p>
            <a:endParaRPr lang="en-US" sz="2400" u="sng" dirty="0">
              <a:latin typeface="Times New Roman" panose="02020603050405020304" pitchFamily="18" charset="0"/>
              <a:cs typeface="Times New Roman" panose="02020603050405020304" pitchFamily="18" charset="0"/>
            </a:endParaRPr>
          </a:p>
        </p:txBody>
      </p:sp>
      <p:sp>
        <p:nvSpPr>
          <p:cNvPr id="13" name="Rectangle 12"/>
          <p:cNvSpPr/>
          <p:nvPr/>
        </p:nvSpPr>
        <p:spPr>
          <a:xfrm>
            <a:off x="459789" y="146304"/>
            <a:ext cx="609976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4 - Configuration</a:t>
            </a:r>
          </a:p>
        </p:txBody>
      </p:sp>
      <p:graphicFrame>
        <p:nvGraphicFramePr>
          <p:cNvPr id="10" name="Table 9"/>
          <p:cNvGraphicFramePr>
            <a:graphicFrameLocks noGrp="1"/>
          </p:cNvGraphicFramePr>
          <p:nvPr>
            <p:extLst>
              <p:ext uri="{D42A27DB-BD31-4B8C-83A1-F6EECF244321}">
                <p14:modId xmlns:p14="http://schemas.microsoft.com/office/powerpoint/2010/main" val="2605662832"/>
              </p:ext>
            </p:extLst>
          </p:nvPr>
        </p:nvGraphicFramePr>
        <p:xfrm>
          <a:off x="899163" y="1053417"/>
          <a:ext cx="10363200" cy="2674486"/>
        </p:xfrm>
        <a:graphic>
          <a:graphicData uri="http://schemas.openxmlformats.org/drawingml/2006/table">
            <a:tbl>
              <a:tblPr firstRow="1" bandRow="1">
                <a:tableStyleId>{5940675A-B579-460E-94D1-54222C63F5DA}</a:tableStyleId>
              </a:tblPr>
              <a:tblGrid>
                <a:gridCol w="2739161">
                  <a:extLst>
                    <a:ext uri="{9D8B030D-6E8A-4147-A177-3AD203B41FA5}">
                      <a16:colId xmlns:a16="http://schemas.microsoft.com/office/drawing/2014/main" val="20000"/>
                    </a:ext>
                  </a:extLst>
                </a:gridCol>
                <a:gridCol w="1843381">
                  <a:extLst>
                    <a:ext uri="{9D8B030D-6E8A-4147-A177-3AD203B41FA5}">
                      <a16:colId xmlns:a16="http://schemas.microsoft.com/office/drawing/2014/main" val="20001"/>
                    </a:ext>
                  </a:extLst>
                </a:gridCol>
                <a:gridCol w="1843381">
                  <a:extLst>
                    <a:ext uri="{9D8B030D-6E8A-4147-A177-3AD203B41FA5}">
                      <a16:colId xmlns:a16="http://schemas.microsoft.com/office/drawing/2014/main" val="20002"/>
                    </a:ext>
                  </a:extLst>
                </a:gridCol>
                <a:gridCol w="1900644">
                  <a:extLst>
                    <a:ext uri="{9D8B030D-6E8A-4147-A177-3AD203B41FA5}">
                      <a16:colId xmlns:a16="http://schemas.microsoft.com/office/drawing/2014/main" val="20003"/>
                    </a:ext>
                  </a:extLst>
                </a:gridCol>
                <a:gridCol w="2036633">
                  <a:extLst>
                    <a:ext uri="{9D8B030D-6E8A-4147-A177-3AD203B41FA5}">
                      <a16:colId xmlns:a16="http://schemas.microsoft.com/office/drawing/2014/main" val="20004"/>
                    </a:ext>
                  </a:extLst>
                </a:gridCol>
              </a:tblGrid>
              <a:tr h="418966">
                <a:tc>
                  <a:txBody>
                    <a:bodyPr/>
                    <a:lstStyle/>
                    <a:p>
                      <a:pPr algn="ctr"/>
                      <a:r>
                        <a:rPr lang="en-US" sz="1600" b="1" dirty="0">
                          <a:effectLst/>
                          <a:latin typeface="Times New Roman" panose="02020603050405020304" pitchFamily="18" charset="0"/>
                          <a:cs typeface="Times New Roman" panose="02020603050405020304" pitchFamily="18" charset="0"/>
                        </a:rPr>
                        <a:t>Criteria</a:t>
                      </a:r>
                      <a:endParaRPr lang="en-US" sz="1600" b="1" dirty="0">
                        <a:solidFill>
                          <a:srgbClr val="030303"/>
                        </a:solidFill>
                        <a:effectLst/>
                        <a:latin typeface="Times New Roman" panose="02020603050405020304" pitchFamily="18" charset="0"/>
                        <a:cs typeface="Times New Roman" panose="02020603050405020304" pitchFamily="18" charset="0"/>
                      </a:endParaRPr>
                    </a:p>
                  </a:txBody>
                  <a:tcPr marL="82550" marR="82550" marT="38100" marB="38100" anchor="ctr">
                    <a:solidFill>
                      <a:schemeClr val="bg1">
                        <a:lumMod val="95000"/>
                      </a:schemeClr>
                    </a:solidFill>
                  </a:tcPr>
                </a:tc>
                <a:tc>
                  <a:txBody>
                    <a:bodyPr/>
                    <a:lstStyle/>
                    <a:p>
                      <a:pPr algn="ctr"/>
                      <a:r>
                        <a:rPr lang="en-US" sz="1600" b="1" kern="1200" dirty="0">
                          <a:solidFill>
                            <a:schemeClr val="tx1"/>
                          </a:solidFill>
                          <a:effectLst/>
                          <a:latin typeface="Times New Roman" panose="02020603050405020304" pitchFamily="18" charset="0"/>
                          <a:ea typeface="+mn-ea"/>
                          <a:cs typeface="Times New Roman" panose="02020603050405020304" pitchFamily="18" charset="0"/>
                        </a:rPr>
                        <a:t>1 core</a:t>
                      </a:r>
                      <a:r>
                        <a:rPr lang="en-US" sz="1600" b="1" kern="1200" baseline="0" dirty="0">
                          <a:solidFill>
                            <a:schemeClr val="tx1"/>
                          </a:solidFill>
                          <a:effectLst/>
                          <a:latin typeface="Times New Roman" panose="02020603050405020304" pitchFamily="18" charset="0"/>
                          <a:ea typeface="+mn-ea"/>
                          <a:cs typeface="Times New Roman" panose="02020603050405020304" pitchFamily="18" charset="0"/>
                        </a:rPr>
                        <a:t> thread</a:t>
                      </a:r>
                      <a:endParaRPr lang="en-US" sz="1600" b="1" kern="1200" dirty="0">
                        <a:solidFill>
                          <a:schemeClr val="tx1"/>
                        </a:solidFill>
                        <a:effectLst/>
                        <a:latin typeface="Times New Roman" panose="02020603050405020304" pitchFamily="18" charset="0"/>
                        <a:ea typeface="+mn-ea"/>
                        <a:cs typeface="Times New Roman" panose="02020603050405020304" pitchFamily="18" charset="0"/>
                      </a:endParaRPr>
                    </a:p>
                  </a:txBody>
                  <a:tcPr anchor="ctr">
                    <a:solidFill>
                      <a:schemeClr val="bg1">
                        <a:lumMod val="95000"/>
                      </a:schemeClr>
                    </a:solidFill>
                  </a:tcPr>
                </a:tc>
                <a:tc>
                  <a:txBody>
                    <a:bodyPr/>
                    <a:lstStyle/>
                    <a:p>
                      <a:pPr algn="ctr"/>
                      <a:r>
                        <a:rPr lang="en-US" sz="1600" b="1" kern="1200" dirty="0">
                          <a:solidFill>
                            <a:schemeClr val="tx1"/>
                          </a:solidFill>
                          <a:effectLst/>
                          <a:latin typeface="Times New Roman" panose="02020603050405020304" pitchFamily="18" charset="0"/>
                          <a:ea typeface="+mn-ea"/>
                          <a:cs typeface="Times New Roman" panose="02020603050405020304" pitchFamily="18" charset="0"/>
                        </a:rPr>
                        <a:t>2 core threads</a:t>
                      </a:r>
                    </a:p>
                  </a:txBody>
                  <a:tcPr anchor="ctr">
                    <a:solidFill>
                      <a:schemeClr val="bg1">
                        <a:lumMod val="95000"/>
                      </a:schemeClr>
                    </a:solidFill>
                  </a:tcPr>
                </a:tc>
                <a:tc>
                  <a:txBody>
                    <a:bodyPr/>
                    <a:lstStyle/>
                    <a:p>
                      <a:pPr marL="0" algn="ctr" defTabSz="914400" rtl="0" eaLnBrk="1" latinLnBrk="0" hangingPunct="1"/>
                      <a:r>
                        <a:rPr lang="en-US" sz="1600" b="1" kern="1200" dirty="0">
                          <a:solidFill>
                            <a:schemeClr val="tx1"/>
                          </a:solidFill>
                          <a:effectLst/>
                          <a:latin typeface="Times New Roman" panose="02020603050405020304" pitchFamily="18" charset="0"/>
                          <a:ea typeface="+mn-ea"/>
                          <a:cs typeface="Times New Roman" panose="02020603050405020304" pitchFamily="18" charset="0"/>
                        </a:rPr>
                        <a:t>4 core threads</a:t>
                      </a:r>
                    </a:p>
                  </a:txBody>
                  <a:tcPr anchor="ctr">
                    <a:solidFill>
                      <a:schemeClr val="bg1">
                        <a:lumMod val="95000"/>
                      </a:schemeClr>
                    </a:solidFill>
                  </a:tcPr>
                </a:tc>
                <a:tc>
                  <a:txBody>
                    <a:bodyPr/>
                    <a:lstStyle/>
                    <a:p>
                      <a:pPr marL="0" algn="ctr" defTabSz="914400" rtl="0" eaLnBrk="1" latinLnBrk="0" hangingPunct="1"/>
                      <a:r>
                        <a:rPr lang="en-US" sz="1600" b="1" kern="1200" dirty="0">
                          <a:solidFill>
                            <a:schemeClr val="tx1"/>
                          </a:solidFill>
                          <a:effectLst/>
                          <a:latin typeface="Times New Roman" panose="02020603050405020304" pitchFamily="18" charset="0"/>
                          <a:ea typeface="+mn-ea"/>
                          <a:cs typeface="Times New Roman" panose="02020603050405020304" pitchFamily="18" charset="0"/>
                        </a:rPr>
                        <a:t>8 core threads</a:t>
                      </a:r>
                    </a:p>
                  </a:txBody>
                  <a:tcPr anchor="ctr">
                    <a:solidFill>
                      <a:schemeClr val="bg1">
                        <a:lumMod val="95000"/>
                      </a:schemeClr>
                    </a:solidFill>
                  </a:tcPr>
                </a:tc>
                <a:extLst>
                  <a:ext uri="{0D108BD9-81ED-4DB2-BD59-A6C34878D82A}">
                    <a16:rowId xmlns:a16="http://schemas.microsoft.com/office/drawing/2014/main" val="10000"/>
                  </a:ext>
                </a:extLst>
              </a:tr>
              <a:tr h="514705">
                <a:tc>
                  <a:txBody>
                    <a:bodyPr/>
                    <a:lstStyle/>
                    <a:p>
                      <a:r>
                        <a:rPr lang="en-US" sz="1600" dirty="0">
                          <a:effectLst/>
                          <a:latin typeface="Times New Roman" panose="02020603050405020304" pitchFamily="18" charset="0"/>
                          <a:cs typeface="Times New Roman" panose="02020603050405020304" pitchFamily="18" charset="0"/>
                        </a:rPr>
                        <a:t>Notification time </a:t>
                      </a:r>
                    </a:p>
                    <a:p>
                      <a:r>
                        <a:rPr lang="en-US" sz="1600" dirty="0">
                          <a:effectLst/>
                          <a:latin typeface="Times New Roman" panose="02020603050405020304" pitchFamily="18" charset="0"/>
                          <a:cs typeface="Times New Roman" panose="02020603050405020304" pitchFamily="18" charset="0"/>
                        </a:rPr>
                        <a:t>(for an event)</a:t>
                      </a:r>
                    </a:p>
                  </a:txBody>
                  <a:tcPr marL="82550" marR="82550" marT="38100" marB="38100" anchor="ctr">
                    <a:solidFill>
                      <a:schemeClr val="bg1">
                        <a:lumMod val="95000"/>
                      </a:schemeClr>
                    </a:solidFill>
                  </a:tcP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42ms</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22ms</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19ms</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13ms</a:t>
                      </a:r>
                    </a:p>
                  </a:txBody>
                  <a:tcPr anchor="ctr"/>
                </a:tc>
                <a:extLst>
                  <a:ext uri="{0D108BD9-81ED-4DB2-BD59-A6C34878D82A}">
                    <a16:rowId xmlns:a16="http://schemas.microsoft.com/office/drawing/2014/main" val="10001"/>
                  </a:ext>
                </a:extLst>
              </a:tr>
              <a:tr h="553234">
                <a:tc>
                  <a:txBody>
                    <a:bodyPr/>
                    <a:lstStyle/>
                    <a:p>
                      <a:r>
                        <a:rPr lang="en-US" sz="1600" dirty="0">
                          <a:effectLst/>
                          <a:latin typeface="Times New Roman" panose="02020603050405020304" pitchFamily="18" charset="0"/>
                          <a:cs typeface="Times New Roman" panose="02020603050405020304" pitchFamily="18" charset="0"/>
                        </a:rPr>
                        <a:t>CPU utilization </a:t>
                      </a:r>
                    </a:p>
                    <a:p>
                      <a:r>
                        <a:rPr lang="en-US" sz="1600" dirty="0">
                          <a:effectLst/>
                          <a:latin typeface="Times New Roman" panose="02020603050405020304" pitchFamily="18" charset="0"/>
                          <a:cs typeface="Times New Roman" panose="02020603050405020304" pitchFamily="18" charset="0"/>
                        </a:rPr>
                        <a:t>(during notifications)</a:t>
                      </a:r>
                    </a:p>
                  </a:txBody>
                  <a:tcPr marL="82550" marR="82550" marT="38100" marB="38100" anchor="ctr">
                    <a:solidFill>
                      <a:schemeClr val="bg1">
                        <a:lumMod val="95000"/>
                      </a:schemeClr>
                    </a:solidFill>
                  </a:tcP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3.7%</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3.7%</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4.3%</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5.0%</a:t>
                      </a:r>
                    </a:p>
                  </a:txBody>
                  <a:tcPr anchor="ctr"/>
                </a:tc>
                <a:extLst>
                  <a:ext uri="{0D108BD9-81ED-4DB2-BD59-A6C34878D82A}">
                    <a16:rowId xmlns:a16="http://schemas.microsoft.com/office/drawing/2014/main" val="10002"/>
                  </a:ext>
                </a:extLst>
              </a:tr>
              <a:tr h="527165">
                <a:tc>
                  <a:txBody>
                    <a:bodyPr/>
                    <a:lstStyle/>
                    <a:p>
                      <a:r>
                        <a:rPr lang="en-US" sz="1600" dirty="0">
                          <a:effectLst/>
                          <a:latin typeface="Times New Roman" panose="02020603050405020304" pitchFamily="18" charset="0"/>
                          <a:cs typeface="Times New Roman" panose="02020603050405020304" pitchFamily="18" charset="0"/>
                        </a:rPr>
                        <a:t>VmRSS </a:t>
                      </a:r>
                    </a:p>
                    <a:p>
                      <a:r>
                        <a:rPr lang="en-US" sz="1600" dirty="0">
                          <a:effectLst/>
                          <a:latin typeface="Times New Roman" panose="02020603050405020304" pitchFamily="18" charset="0"/>
                          <a:cs typeface="Times New Roman" panose="02020603050405020304" pitchFamily="18" charset="0"/>
                        </a:rPr>
                        <a:t>(Physical RAM)</a:t>
                      </a:r>
                    </a:p>
                  </a:txBody>
                  <a:tcPr marL="82550" marR="82550" marT="38100" marB="38100" anchor="ctr">
                    <a:solidFill>
                      <a:schemeClr val="bg1">
                        <a:lumMod val="95000"/>
                      </a:schemeClr>
                    </a:solidFill>
                  </a:tcP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5.72 MB</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5.76MB</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600" kern="1200" dirty="0">
                          <a:solidFill>
                            <a:schemeClr val="tx1"/>
                          </a:solidFill>
                          <a:effectLst/>
                          <a:latin typeface="Times New Roman" panose="02020603050405020304" pitchFamily="18" charset="0"/>
                          <a:ea typeface="+mn-ea"/>
                          <a:cs typeface="Times New Roman" panose="02020603050405020304" pitchFamily="18" charset="0"/>
                        </a:rPr>
                        <a:t>5.86MB</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6.03 MB</a:t>
                      </a:r>
                    </a:p>
                  </a:txBody>
                  <a:tcPr anchor="ctr"/>
                </a:tc>
                <a:extLst>
                  <a:ext uri="{0D108BD9-81ED-4DB2-BD59-A6C34878D82A}">
                    <a16:rowId xmlns:a16="http://schemas.microsoft.com/office/drawing/2014/main" val="10003"/>
                  </a:ext>
                </a:extLst>
              </a:tr>
              <a:tr h="447814">
                <a:tc>
                  <a:txBody>
                    <a:bodyPr/>
                    <a:lstStyle/>
                    <a:p>
                      <a:r>
                        <a:rPr lang="en-US" sz="1600" dirty="0">
                          <a:effectLst/>
                          <a:latin typeface="Times New Roman" panose="02020603050405020304" pitchFamily="18" charset="0"/>
                          <a:cs typeface="Times New Roman" panose="02020603050405020304" pitchFamily="18" charset="0"/>
                        </a:rPr>
                        <a:t>VmSize </a:t>
                      </a:r>
                    </a:p>
                    <a:p>
                      <a:r>
                        <a:rPr lang="en-US" sz="1600" dirty="0">
                          <a:effectLst/>
                          <a:latin typeface="Times New Roman" panose="02020603050405020304" pitchFamily="18" charset="0"/>
                          <a:cs typeface="Times New Roman" panose="02020603050405020304" pitchFamily="18" charset="0"/>
                        </a:rPr>
                        <a:t>(Virtual Memory)</a:t>
                      </a:r>
                    </a:p>
                  </a:txBody>
                  <a:tcPr marL="82550" marR="82550" marT="38100" marB="38100" anchor="ctr">
                    <a:solidFill>
                      <a:schemeClr val="bg1">
                        <a:lumMod val="95000"/>
                      </a:schemeClr>
                    </a:solidFill>
                  </a:tcP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134MB</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142 MB</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158 MB</a:t>
                      </a:r>
                    </a:p>
                  </a:txBody>
                  <a:tcPr anchor="ctr"/>
                </a:tc>
                <a:tc>
                  <a:txBody>
                    <a:bodyPr/>
                    <a:lstStyle/>
                    <a:p>
                      <a:pPr marL="0" algn="ctr" defTabSz="914400" rtl="0" eaLnBrk="1" latinLnBrk="0" hangingPunct="1"/>
                      <a:r>
                        <a:rPr lang="en-US" sz="1600" kern="1200" dirty="0">
                          <a:solidFill>
                            <a:schemeClr val="tx1"/>
                          </a:solidFill>
                          <a:effectLst/>
                          <a:latin typeface="Times New Roman" panose="02020603050405020304" pitchFamily="18" charset="0"/>
                          <a:ea typeface="+mn-ea"/>
                          <a:cs typeface="Times New Roman" panose="02020603050405020304" pitchFamily="18" charset="0"/>
                        </a:rPr>
                        <a:t>190 MB</a:t>
                      </a:r>
                    </a:p>
                  </a:txBody>
                  <a:tcPr anchor="ctr"/>
                </a:tc>
                <a:extLst>
                  <a:ext uri="{0D108BD9-81ED-4DB2-BD59-A6C34878D82A}">
                    <a16:rowId xmlns:a16="http://schemas.microsoft.com/office/drawing/2014/main" val="10004"/>
                  </a:ext>
                </a:extLst>
              </a:tr>
            </a:tbl>
          </a:graphicData>
        </a:graphic>
      </p:graphicFrame>
      <p:sp>
        <p:nvSpPr>
          <p:cNvPr id="15" name="Rectangle 14"/>
          <p:cNvSpPr/>
          <p:nvPr/>
        </p:nvSpPr>
        <p:spPr>
          <a:xfrm>
            <a:off x="5489837" y="1050393"/>
            <a:ext cx="1819267" cy="2665388"/>
          </a:xfrm>
          <a:prstGeom prst="rect">
            <a:avLst/>
          </a:prstGeom>
          <a:noFill/>
          <a:ln w="57150">
            <a:solidFill>
              <a:srgbClr val="33993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965200" y="4033465"/>
            <a:ext cx="10220960" cy="2585323"/>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Key Decision Factors:</a:t>
            </a:r>
          </a:p>
          <a:p>
            <a:pPr marL="285750" indent="-2857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Resource Efficiency</a:t>
            </a:r>
            <a:r>
              <a:rPr lang="en-US" dirty="0">
                <a:latin typeface="Times New Roman" panose="02020603050405020304" pitchFamily="18" charset="0"/>
                <a:cs typeface="Times New Roman" panose="02020603050405020304" pitchFamily="18" charset="0"/>
              </a:rPr>
              <a:t>: Use as few resources as possible to keep the system stable.</a:t>
            </a:r>
          </a:p>
          <a:p>
            <a:pPr marL="285750" indent="-285750" algn="just">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Performance</a:t>
            </a:r>
            <a:r>
              <a:rPr lang="en-US" dirty="0">
                <a:latin typeface="Times New Roman" panose="02020603050405020304" pitchFamily="18" charset="0"/>
                <a:cs typeface="Times New Roman" panose="02020603050405020304" pitchFamily="18" charset="0"/>
              </a:rPr>
              <a:t>: All configurations satisfy the target of less than 250ms. However, if a hang occurs, with 1 core thread the Thread Pool will be blocked during hang recovery (~20ms for new thread creation and scheduling), with 2 core threads, one thread continues working while the other thread recovers, minimizing blocking time in notification processing.</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2 core threads</a:t>
            </a:r>
            <a:r>
              <a:rPr lang="en-US" dirty="0">
                <a:latin typeface="Times New Roman" panose="02020603050405020304" pitchFamily="18" charset="0"/>
                <a:cs typeface="Times New Roman" panose="02020603050405020304" pitchFamily="18" charset="0"/>
              </a:rPr>
              <a:t> provides the optimal balance between risk mitigation, resource efficiency, and performance.</a:t>
            </a:r>
          </a:p>
        </p:txBody>
      </p:sp>
      <p:sp>
        <p:nvSpPr>
          <p:cNvPr id="20" name="Rectangle 19"/>
          <p:cNvSpPr/>
          <p:nvPr/>
        </p:nvSpPr>
        <p:spPr>
          <a:xfrm>
            <a:off x="9302559" y="3747323"/>
            <a:ext cx="2248930" cy="401595"/>
          </a:xfrm>
          <a:prstGeom prst="rect">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100" i="1" dirty="0">
                <a:solidFill>
                  <a:schemeClr val="tx1"/>
                </a:solidFill>
                <a:latin typeface="Times New Roman" panose="02020603050405020304" pitchFamily="18" charset="0"/>
                <a:cs typeface="Times New Roman" panose="02020603050405020304" pitchFamily="18" charset="0"/>
              </a:rPr>
              <a:t>More details at Appendix 3</a:t>
            </a:r>
          </a:p>
          <a:p>
            <a:pPr algn="ctr"/>
            <a:endParaRPr lang="en-US" sz="1200" i="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82461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9789" y="146304"/>
            <a:ext cx="4215843"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5 - Configuration</a:t>
            </a:r>
          </a:p>
        </p:txBody>
      </p:sp>
      <p:sp>
        <p:nvSpPr>
          <p:cNvPr id="2" name="Slide Number Placeholder 1"/>
          <p:cNvSpPr>
            <a:spLocks noGrp="1"/>
          </p:cNvSpPr>
          <p:nvPr>
            <p:ph type="sldNum" sz="quarter" idx="12"/>
          </p:nvPr>
        </p:nvSpPr>
        <p:spPr>
          <a:xfrm>
            <a:off x="8220456" y="6258814"/>
            <a:ext cx="2743200" cy="365125"/>
          </a:xfrm>
        </p:spPr>
        <p:txBody>
          <a:bodyPr/>
          <a:lstStyle/>
          <a:p>
            <a:fld id="{0059130C-D5A7-43F1-8BDF-D4DD1699FE09}" type="slidenum">
              <a:rPr lang="en-US" smtClean="0"/>
              <a:t>32</a:t>
            </a:fld>
            <a:endParaRPr lang="en-US"/>
          </a:p>
        </p:txBody>
      </p:sp>
      <p:sp>
        <p:nvSpPr>
          <p:cNvPr id="5" name="Rectangle 4"/>
          <p:cNvSpPr/>
          <p:nvPr/>
        </p:nvSpPr>
        <p:spPr>
          <a:xfrm>
            <a:off x="459789" y="984933"/>
            <a:ext cx="10909251" cy="5632311"/>
          </a:xfrm>
          <a:prstGeom prst="rect">
            <a:avLst/>
          </a:prstGeom>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Hanging threshold (Scale up threshold)</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Measurement Result: Most services process notifications within 10ms under normal conditions.</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Reason: The 500ms threshold balances thread creation overhead with response time - avoiding excessive overhead from too low values (100ms) while preventing notification delays from too high values (1000ms), providing sufficient buffer for both normal operations and heavy tasks like file saves during sleep/reset sequences.</a:t>
            </a:r>
          </a:p>
          <a:p>
            <a:pPr>
              <a:lnSpc>
                <a:spcPct val="150000"/>
              </a:lnSpc>
            </a:pPr>
            <a:r>
              <a:rPr lang="en-US" dirty="0">
                <a:latin typeface="Times New Roman" panose="02020603050405020304" pitchFamily="18" charset="0"/>
                <a:cs typeface="Times New Roman" panose="02020603050405020304" pitchFamily="18" charset="0"/>
              </a:rPr>
              <a:t>→ Selected Value: </a:t>
            </a:r>
            <a:r>
              <a:rPr lang="en-US" b="1" dirty="0">
                <a:latin typeface="Times New Roman" panose="02020603050405020304" pitchFamily="18" charset="0"/>
                <a:cs typeface="Times New Roman" panose="02020603050405020304" pitchFamily="18" charset="0"/>
              </a:rPr>
              <a:t>500ms threshold</a:t>
            </a: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pPr>
              <a:lnSpc>
                <a:spcPct val="150000"/>
              </a:lnSpc>
            </a:pPr>
            <a:r>
              <a:rPr lang="en-US" b="1" dirty="0">
                <a:latin typeface="Times New Roman" panose="02020603050405020304" pitchFamily="18" charset="0"/>
                <a:cs typeface="Times New Roman" panose="02020603050405020304" pitchFamily="18" charset="0"/>
              </a:rPr>
              <a:t>Keep alive time (Scale down threshold)</a:t>
            </a: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Reason: 30 seconds based on automotive power event patterns where events occur in clusters followed by 30 seconds to several minutes of idle time. This duration balances thread availability for subsequent events against resource conservation, avoiding frequent creation/destruction cycles (10s too short) while preventing resource waste during extended idle periods (120s too long).</a:t>
            </a:r>
          </a:p>
          <a:p>
            <a:pPr>
              <a:lnSpc>
                <a:spcPct val="150000"/>
              </a:lnSpc>
            </a:pPr>
            <a:r>
              <a:rPr lang="en-US" dirty="0">
                <a:latin typeface="Times New Roman" panose="02020603050405020304" pitchFamily="18" charset="0"/>
                <a:cs typeface="Times New Roman" panose="02020603050405020304" pitchFamily="18" charset="0"/>
              </a:rPr>
              <a:t>→ Selected Value: </a:t>
            </a:r>
            <a:r>
              <a:rPr lang="en-US" b="1" dirty="0">
                <a:latin typeface="Times New Roman" panose="02020603050405020304" pitchFamily="18" charset="0"/>
                <a:cs typeface="Times New Roman" panose="02020603050405020304" pitchFamily="18" charset="0"/>
              </a:rPr>
              <a:t>30 seconds </a:t>
            </a:r>
          </a:p>
          <a:p>
            <a:endParaRPr lang="en-US"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494038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388608" y="121920"/>
            <a:ext cx="5618025" cy="6656896"/>
          </a:xfrm>
          <a:prstGeom prst="rect">
            <a:avLst/>
          </a:prstGeom>
        </p:spPr>
      </p:pic>
      <p:sp>
        <p:nvSpPr>
          <p:cNvPr id="5" name="Rectangle 4"/>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6</a:t>
            </a:r>
          </a:p>
        </p:txBody>
      </p:sp>
      <p:sp>
        <p:nvSpPr>
          <p:cNvPr id="7" name="Rectangle 6"/>
          <p:cNvSpPr/>
          <p:nvPr/>
        </p:nvSpPr>
        <p:spPr>
          <a:xfrm>
            <a:off x="525588" y="887274"/>
            <a:ext cx="4128053"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Starting Point: issue DCM24MON-4575</a:t>
            </a:r>
          </a:p>
        </p:txBody>
      </p:sp>
      <p:pic>
        <p:nvPicPr>
          <p:cNvPr id="17" name="Picture 16"/>
          <p:cNvPicPr>
            <a:picLocks noChangeAspect="1"/>
          </p:cNvPicPr>
          <p:nvPr/>
        </p:nvPicPr>
        <p:blipFill>
          <a:blip r:embed="rId4"/>
          <a:stretch>
            <a:fillRect/>
          </a:stretch>
        </p:blipFill>
        <p:spPr>
          <a:xfrm>
            <a:off x="275001" y="3265210"/>
            <a:ext cx="4800600" cy="1971675"/>
          </a:xfrm>
          <a:prstGeom prst="rect">
            <a:avLst/>
          </a:prstGeom>
        </p:spPr>
      </p:pic>
      <p:sp>
        <p:nvSpPr>
          <p:cNvPr id="8" name="Rectangle 7"/>
          <p:cNvSpPr/>
          <p:nvPr/>
        </p:nvSpPr>
        <p:spPr>
          <a:xfrm>
            <a:off x="525588" y="5616770"/>
            <a:ext cx="5226636" cy="923330"/>
          </a:xfrm>
          <a:prstGeom prst="rect">
            <a:avLst/>
          </a:prstGeom>
          <a:solidFill>
            <a:schemeClr val="bg2">
              <a:lumMod val="90000"/>
            </a:schemeClr>
          </a:solid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Why does IG OFF status is delayed 4 seconds in Power Manager?</a:t>
            </a:r>
          </a:p>
        </p:txBody>
      </p:sp>
      <p:sp>
        <p:nvSpPr>
          <p:cNvPr id="9" name="Rectangle 8"/>
          <p:cNvSpPr/>
          <p:nvPr/>
        </p:nvSpPr>
        <p:spPr>
          <a:xfrm>
            <a:off x="525588" y="1418688"/>
            <a:ext cx="6096000" cy="1754326"/>
          </a:xfrm>
          <a:prstGeom prst="rect">
            <a:avLst/>
          </a:prstGeom>
        </p:spPr>
        <p:txBody>
          <a:bodyPr>
            <a:spAutoFit/>
          </a:bodyPr>
          <a:lstStyle/>
          <a:p>
            <a:r>
              <a:rPr lang="en-US" u="sng" dirty="0">
                <a:latin typeface="Times New Roman" panose="02020603050405020304" pitchFamily="18" charset="0"/>
                <a:cs typeface="Times New Roman" panose="02020603050405020304" pitchFamily="18" charset="0"/>
              </a:rPr>
              <a:t>Scenario</a:t>
            </a:r>
            <a:r>
              <a:rPr lang="en-US" dirty="0">
                <a:latin typeface="Times New Roman" panose="02020603050405020304" pitchFamily="18" charset="0"/>
                <a:cs typeface="Times New Roman" panose="02020603050405020304" pitchFamily="18" charset="0"/>
              </a:rPr>
              <a:t>:  User turns off Ignition (IG)</a:t>
            </a:r>
          </a:p>
          <a:p>
            <a:r>
              <a:rPr lang="en-US" u="sng" dirty="0">
                <a:latin typeface="Times New Roman" panose="02020603050405020304" pitchFamily="18" charset="0"/>
                <a:cs typeface="Times New Roman" panose="02020603050405020304" pitchFamily="18" charset="0"/>
              </a:rPr>
              <a:t>Expected</a:t>
            </a:r>
            <a:r>
              <a:rPr lang="en-US" dirty="0">
                <a:latin typeface="Times New Roman" panose="02020603050405020304" pitchFamily="18" charset="0"/>
                <a:cs typeface="Times New Roman" panose="02020603050405020304" pitchFamily="18" charset="0"/>
              </a:rPr>
              <a:t>: AC stops within ~1.5s</a:t>
            </a:r>
          </a:p>
          <a:p>
            <a:r>
              <a:rPr lang="en-US" u="sng" dirty="0">
                <a:latin typeface="Times New Roman" panose="02020603050405020304" pitchFamily="18" charset="0"/>
                <a:cs typeface="Times New Roman" panose="02020603050405020304" pitchFamily="18" charset="0"/>
              </a:rPr>
              <a:t>Actual</a:t>
            </a:r>
            <a:r>
              <a:rPr lang="en-US" dirty="0">
                <a:latin typeface="Times New Roman" panose="02020603050405020304" pitchFamily="18" charset="0"/>
                <a:cs typeface="Times New Roman" panose="02020603050405020304" pitchFamily="18" charset="0"/>
              </a:rPr>
              <a:t>:     AC takes 4s to respond</a:t>
            </a:r>
          </a:p>
          <a:p>
            <a:endParaRPr lang="en-US" dirty="0">
              <a:latin typeface="Times New Roman" panose="02020603050405020304" pitchFamily="18" charset="0"/>
              <a:cs typeface="Times New Roman" panose="02020603050405020304" pitchFamily="18" charset="0"/>
            </a:endParaRPr>
          </a:p>
          <a:p>
            <a:r>
              <a:rPr lang="en-US" u="sng" dirty="0">
                <a:latin typeface="Times New Roman" panose="02020603050405020304" pitchFamily="18" charset="0"/>
                <a:cs typeface="Times New Roman" panose="02020603050405020304" pitchFamily="18" charset="0"/>
              </a:rPr>
              <a:t>Cause</a:t>
            </a:r>
            <a:r>
              <a:rPr lang="en-US" dirty="0">
                <a:latin typeface="Times New Roman" panose="02020603050405020304" pitchFamily="18" charset="0"/>
                <a:cs typeface="Times New Roman" panose="02020603050405020304" pitchFamily="18" charset="0"/>
              </a:rPr>
              <a:t>: The IG off status is delayed </a:t>
            </a:r>
            <a:r>
              <a:rPr lang="en-US" b="1" dirty="0">
                <a:latin typeface="Times New Roman" panose="02020603050405020304" pitchFamily="18" charset="0"/>
                <a:cs typeface="Times New Roman" panose="02020603050405020304" pitchFamily="18" charset="0"/>
              </a:rPr>
              <a:t>4 seconds </a:t>
            </a:r>
            <a:r>
              <a:rPr lang="en-US" dirty="0">
                <a:latin typeface="Times New Roman" panose="02020603050405020304" pitchFamily="18" charset="0"/>
                <a:cs typeface="Times New Roman" panose="02020603050405020304" pitchFamily="18" charset="0"/>
              </a:rPr>
              <a:t>in Power Manager before notified to Remote Service (AC controller)</a:t>
            </a:r>
          </a:p>
        </p:txBody>
      </p:sp>
      <p:sp>
        <p:nvSpPr>
          <p:cNvPr id="3" name="Slide Number Placeholder 2"/>
          <p:cNvSpPr>
            <a:spLocks noGrp="1"/>
          </p:cNvSpPr>
          <p:nvPr>
            <p:ph type="sldNum" sz="quarter" idx="12"/>
          </p:nvPr>
        </p:nvSpPr>
        <p:spPr/>
        <p:txBody>
          <a:bodyPr/>
          <a:lstStyle/>
          <a:p>
            <a:fld id="{0059130C-D5A7-43F1-8BDF-D4DD1699FE09}" type="slidenum">
              <a:rPr lang="en-US" smtClean="0"/>
              <a:t>33</a:t>
            </a:fld>
            <a:endParaRPr lang="en-US"/>
          </a:p>
        </p:txBody>
      </p:sp>
      <p:sp>
        <p:nvSpPr>
          <p:cNvPr id="6" name="Rectangle 5"/>
          <p:cNvSpPr/>
          <p:nvPr/>
        </p:nvSpPr>
        <p:spPr>
          <a:xfrm>
            <a:off x="8290560" y="4517136"/>
            <a:ext cx="2084832" cy="938784"/>
          </a:xfrm>
          <a:prstGeom prst="rect">
            <a:avLst/>
          </a:prstGeom>
          <a:noFill/>
          <a:ln w="190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913863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6255609" y="0"/>
            <a:ext cx="5761303" cy="6665037"/>
          </a:xfrm>
          <a:prstGeom prst="rect">
            <a:avLst/>
          </a:prstGeom>
        </p:spPr>
      </p:pic>
      <p:sp>
        <p:nvSpPr>
          <p:cNvPr id="2" name="Rectangle 1"/>
          <p:cNvSpPr/>
          <p:nvPr/>
        </p:nvSpPr>
        <p:spPr>
          <a:xfrm>
            <a:off x="253645" y="752399"/>
            <a:ext cx="6096000" cy="1477328"/>
          </a:xfrm>
          <a:prstGeom prst="rect">
            <a:avLst/>
          </a:prstGeom>
        </p:spPr>
        <p:txBody>
          <a:bodyPr>
            <a:spAutoFit/>
          </a:bodyPr>
          <a:lstStyle/>
          <a:p>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    Powerless Bottleneck:</a:t>
            </a:r>
          </a:p>
          <a:p>
            <a:r>
              <a:rPr lang="en-US" dirty="0">
                <a:latin typeface="Times New Roman" panose="02020603050405020304" pitchFamily="18" charset="0"/>
                <a:cs typeface="Times New Roman" panose="02020603050405020304" pitchFamily="18" charset="0"/>
              </a:rPr>
              <a:t>    • 38 receivers per event × 6 events = massive delay</a:t>
            </a:r>
          </a:p>
          <a:p>
            <a:r>
              <a:rPr lang="en-US" dirty="0">
                <a:latin typeface="Times New Roman" panose="02020603050405020304" pitchFamily="18" charset="0"/>
                <a:cs typeface="Times New Roman" panose="02020603050405020304" pitchFamily="18" charset="0"/>
              </a:rPr>
              <a:t>    • IG-OFF notification stuck behind other system events</a:t>
            </a:r>
          </a:p>
          <a:p>
            <a:r>
              <a:rPr lang="en-US" dirty="0">
                <a:latin typeface="Times New Roman" panose="02020603050405020304" pitchFamily="18" charset="0"/>
                <a:cs typeface="Times New Roman" panose="02020603050405020304" pitchFamily="18" charset="0"/>
              </a:rPr>
              <a:t>    </a:t>
            </a:r>
          </a:p>
        </p:txBody>
      </p:sp>
      <p:sp>
        <p:nvSpPr>
          <p:cNvPr id="4" name="Rectangle 3"/>
          <p:cNvSpPr/>
          <p:nvPr/>
        </p:nvSpPr>
        <p:spPr>
          <a:xfrm>
            <a:off x="571231" y="2374157"/>
            <a:ext cx="5226636" cy="923330"/>
          </a:xfrm>
          <a:prstGeom prst="rect">
            <a:avLst/>
          </a:prstGeom>
          <a:solidFill>
            <a:schemeClr val="bg2">
              <a:lumMod val="90000"/>
            </a:schemeClr>
          </a:solid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Why does Power Manager take ~760ms per notify for ~38 receives?</a:t>
            </a:r>
          </a:p>
        </p:txBody>
      </p:sp>
      <p:cxnSp>
        <p:nvCxnSpPr>
          <p:cNvPr id="11" name="Straight Connector 10"/>
          <p:cNvCxnSpPr/>
          <p:nvPr/>
        </p:nvCxnSpPr>
        <p:spPr>
          <a:xfrm flipV="1">
            <a:off x="7618130" y="2921000"/>
            <a:ext cx="4184403" cy="18544"/>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a:off x="10893159" y="5543246"/>
            <a:ext cx="897571" cy="0"/>
          </a:xfrm>
          <a:prstGeom prst="line">
            <a:avLst/>
          </a:prstGeom>
          <a:ln w="19050">
            <a:solidFill>
              <a:srgbClr val="C00000"/>
            </a:solidFill>
            <a:prstDash val="sysDash"/>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a:off x="11371097" y="3001252"/>
            <a:ext cx="0" cy="2448572"/>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10905649" y="4290613"/>
            <a:ext cx="930896" cy="276999"/>
          </a:xfrm>
          <a:prstGeom prst="rect">
            <a:avLst/>
          </a:prstGeom>
          <a:solidFill>
            <a:srgbClr val="C00000"/>
          </a:solidFill>
          <a:ln>
            <a:solidFill>
              <a:srgbClr val="C00000"/>
            </a:solidFill>
          </a:ln>
        </p:spPr>
        <p:txBody>
          <a:bodyPr wrap="none" rtlCol="0">
            <a:spAutoFit/>
          </a:bodyPr>
          <a:lstStyle/>
          <a:p>
            <a:r>
              <a:rPr lang="en-US" sz="1200" b="1" dirty="0">
                <a:solidFill>
                  <a:schemeClr val="bg1"/>
                </a:solidFill>
              </a:rPr>
              <a:t>4.1 seconds</a:t>
            </a:r>
          </a:p>
        </p:txBody>
      </p:sp>
      <p:sp>
        <p:nvSpPr>
          <p:cNvPr id="22" name="Rectangle 21"/>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7</a:t>
            </a:r>
          </a:p>
        </p:txBody>
      </p:sp>
      <p:sp>
        <p:nvSpPr>
          <p:cNvPr id="5" name="Slide Number Placeholder 4"/>
          <p:cNvSpPr>
            <a:spLocks noGrp="1"/>
          </p:cNvSpPr>
          <p:nvPr>
            <p:ph type="sldNum" sz="quarter" idx="12"/>
          </p:nvPr>
        </p:nvSpPr>
        <p:spPr/>
        <p:txBody>
          <a:bodyPr/>
          <a:lstStyle/>
          <a:p>
            <a:fld id="{0059130C-D5A7-43F1-8BDF-D4DD1699FE09}" type="slidenum">
              <a:rPr lang="en-US" smtClean="0"/>
              <a:t>34</a:t>
            </a:fld>
            <a:endParaRPr lang="en-US"/>
          </a:p>
        </p:txBody>
      </p:sp>
      <p:sp>
        <p:nvSpPr>
          <p:cNvPr id="3" name="Rectangle 2"/>
          <p:cNvSpPr/>
          <p:nvPr/>
        </p:nvSpPr>
        <p:spPr>
          <a:xfrm>
            <a:off x="6553200" y="3419856"/>
            <a:ext cx="2968752" cy="1511807"/>
          </a:xfrm>
          <a:prstGeom prst="rect">
            <a:avLst/>
          </a:prstGeom>
          <a:noFill/>
          <a:ln w="19050">
            <a:solidFill>
              <a:srgbClr val="C00000"/>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1739037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p:nvPr/>
        </p:nvSpPr>
        <p:spPr>
          <a:xfrm>
            <a:off x="459789" y="1927086"/>
            <a:ext cx="5566952" cy="3416320"/>
          </a:xfrm>
          <a:prstGeom prst="rect">
            <a:avLst/>
          </a:prstGeom>
        </p:spPr>
        <p:txBody>
          <a:bodyPr wrap="square">
            <a:spAutoFit/>
          </a:bodyPr>
          <a:lstStyle/>
          <a:p>
            <a:r>
              <a:rPr lang="en-US" dirty="0">
                <a:latin typeface="Times New Roman" panose="02020603050405020304" pitchFamily="18" charset="0"/>
                <a:cs typeface="Times New Roman" panose="02020603050405020304" pitchFamily="18" charset="0"/>
              </a:rPr>
              <a:t>Current Implementation : </a:t>
            </a:r>
            <a:r>
              <a:rPr lang="en-US" b="1" dirty="0">
                <a:latin typeface="Times New Roman" panose="02020603050405020304" pitchFamily="18" charset="0"/>
                <a:cs typeface="Times New Roman" panose="02020603050405020304" pitchFamily="18" charset="0"/>
              </a:rPr>
              <a:t>On-demand Thread Creation</a:t>
            </a:r>
          </a:p>
          <a:p>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Threads are created and destroyed dynamically for each receiver.</a:t>
            </a:r>
          </a:p>
          <a:p>
            <a:endParaRPr lang="en-US"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Thread creation:         30ms x 38 = 760ms</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Actual notification:  1~2ms (parallel)</a:t>
            </a:r>
          </a:p>
          <a:p>
            <a:pPr marL="285750" indent="-285750">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Total time:                  ~760ms</a:t>
            </a:r>
            <a:br>
              <a:rPr lang="en-US"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ROOT CAUSE</a:t>
            </a:r>
            <a:r>
              <a:rPr lang="en-US" dirty="0">
                <a:latin typeface="Times New Roman" panose="02020603050405020304" pitchFamily="18" charset="0"/>
                <a:cs typeface="Times New Roman" panose="02020603050405020304" pitchFamily="18" charset="0"/>
              </a:rPr>
              <a:t>: Sequential thread lifecycle management with OS scheduling overhead</a:t>
            </a:r>
          </a:p>
          <a:p>
            <a:endParaRPr lang="en-US" dirty="0">
              <a:latin typeface="Times New Roman" panose="02020603050405020304" pitchFamily="18" charset="0"/>
              <a:cs typeface="Times New Roman" panose="02020603050405020304" pitchFamily="18" charset="0"/>
            </a:endParaRPr>
          </a:p>
        </p:txBody>
      </p:sp>
      <p:sp>
        <p:nvSpPr>
          <p:cNvPr id="11" name="Rectangle 10"/>
          <p:cNvSpPr/>
          <p:nvPr/>
        </p:nvSpPr>
        <p:spPr>
          <a:xfrm>
            <a:off x="459789" y="146304"/>
            <a:ext cx="544952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8</a:t>
            </a:r>
          </a:p>
        </p:txBody>
      </p:sp>
      <p:sp>
        <p:nvSpPr>
          <p:cNvPr id="12" name="Rectangle 11"/>
          <p:cNvSpPr/>
          <p:nvPr/>
        </p:nvSpPr>
        <p:spPr>
          <a:xfrm>
            <a:off x="459789" y="805862"/>
            <a:ext cx="5257116" cy="923330"/>
          </a:xfrm>
          <a:prstGeom prst="rect">
            <a:avLst/>
          </a:prstGeom>
          <a:solidFill>
            <a:schemeClr val="bg2">
              <a:lumMod val="90000"/>
            </a:schemeClr>
          </a:solidFill>
        </p:spPr>
        <p:txBody>
          <a:bodyPr wrap="square">
            <a:spAutoFit/>
          </a:bodyPr>
          <a:lstStyle/>
          <a:p>
            <a:pPr>
              <a:lnSpc>
                <a:spcPct val="150000"/>
              </a:lnSpc>
            </a:pPr>
            <a:r>
              <a:rPr lang="en-US" b="1" dirty="0">
                <a:latin typeface="Times New Roman" panose="02020603050405020304" pitchFamily="18" charset="0"/>
                <a:cs typeface="Times New Roman" panose="02020603050405020304" pitchFamily="18" charset="0"/>
              </a:rPr>
              <a:t>Why does Power Manager take ~760ms per notify for ~38 receives?</a:t>
            </a:r>
          </a:p>
        </p:txBody>
      </p:sp>
      <p:sp>
        <p:nvSpPr>
          <p:cNvPr id="3" name="Slide Number Placeholder 2"/>
          <p:cNvSpPr>
            <a:spLocks noGrp="1"/>
          </p:cNvSpPr>
          <p:nvPr>
            <p:ph type="sldNum" sz="quarter" idx="12"/>
          </p:nvPr>
        </p:nvSpPr>
        <p:spPr/>
        <p:txBody>
          <a:bodyPr/>
          <a:lstStyle/>
          <a:p>
            <a:fld id="{0059130C-D5A7-43F1-8BDF-D4DD1699FE09}" type="slidenum">
              <a:rPr lang="en-US" smtClean="0"/>
              <a:t>35</a:t>
            </a:fld>
            <a:endParaRPr lang="en-US"/>
          </a:p>
        </p:txBody>
      </p:sp>
      <p:pic>
        <p:nvPicPr>
          <p:cNvPr id="7" name="Picture 6"/>
          <p:cNvPicPr>
            <a:picLocks noChangeAspect="1"/>
          </p:cNvPicPr>
          <p:nvPr/>
        </p:nvPicPr>
        <p:blipFill>
          <a:blip r:embed="rId3"/>
          <a:stretch>
            <a:fillRect/>
          </a:stretch>
        </p:blipFill>
        <p:spPr>
          <a:xfrm>
            <a:off x="6527975" y="237744"/>
            <a:ext cx="5379799" cy="6016880"/>
          </a:xfrm>
          <a:prstGeom prst="rect">
            <a:avLst/>
          </a:prstGeom>
        </p:spPr>
      </p:pic>
    </p:spTree>
    <p:extLst>
      <p:ext uri="{BB962C8B-B14F-4D97-AF65-F5344CB8AC3E}">
        <p14:creationId xmlns:p14="http://schemas.microsoft.com/office/powerpoint/2010/main" val="40142753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3"/>
          <a:stretch>
            <a:fillRect/>
          </a:stretch>
        </p:blipFill>
        <p:spPr>
          <a:xfrm>
            <a:off x="1845794" y="72792"/>
            <a:ext cx="8722745" cy="6785208"/>
          </a:xfrm>
          <a:prstGeom prst="rect">
            <a:avLst/>
          </a:prstGeom>
        </p:spPr>
      </p:pic>
      <p:sp>
        <p:nvSpPr>
          <p:cNvPr id="3" name="Rectangle 2"/>
          <p:cNvSpPr/>
          <p:nvPr/>
        </p:nvSpPr>
        <p:spPr>
          <a:xfrm>
            <a:off x="459789" y="146304"/>
            <a:ext cx="221483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9</a:t>
            </a:r>
          </a:p>
        </p:txBody>
      </p:sp>
      <p:sp>
        <p:nvSpPr>
          <p:cNvPr id="2" name="Slide Number Placeholder 1"/>
          <p:cNvSpPr>
            <a:spLocks noGrp="1"/>
          </p:cNvSpPr>
          <p:nvPr>
            <p:ph type="sldNum" sz="quarter" idx="12"/>
          </p:nvPr>
        </p:nvSpPr>
        <p:spPr/>
        <p:txBody>
          <a:bodyPr/>
          <a:lstStyle/>
          <a:p>
            <a:fld id="{0059130C-D5A7-43F1-8BDF-D4DD1699FE09}" type="slidenum">
              <a:rPr lang="en-US" smtClean="0"/>
              <a:t>36</a:t>
            </a:fld>
            <a:endParaRPr lang="en-US"/>
          </a:p>
        </p:txBody>
      </p:sp>
    </p:spTree>
    <p:extLst>
      <p:ext uri="{BB962C8B-B14F-4D97-AF65-F5344CB8AC3E}">
        <p14:creationId xmlns:p14="http://schemas.microsoft.com/office/powerpoint/2010/main" val="11953239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9789" y="146304"/>
            <a:ext cx="221483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10</a:t>
            </a:r>
          </a:p>
        </p:txBody>
      </p:sp>
      <p:sp>
        <p:nvSpPr>
          <p:cNvPr id="2" name="Slide Number Placeholder 1"/>
          <p:cNvSpPr>
            <a:spLocks noGrp="1"/>
          </p:cNvSpPr>
          <p:nvPr>
            <p:ph type="sldNum" sz="quarter" idx="12"/>
          </p:nvPr>
        </p:nvSpPr>
        <p:spPr/>
        <p:txBody>
          <a:bodyPr/>
          <a:lstStyle/>
          <a:p>
            <a:fld id="{0059130C-D5A7-43F1-8BDF-D4DD1699FE09}" type="slidenum">
              <a:rPr lang="en-US" smtClean="0"/>
              <a:t>37</a:t>
            </a:fld>
            <a:endParaRPr lang="en-US"/>
          </a:p>
        </p:txBody>
      </p:sp>
      <p:pic>
        <p:nvPicPr>
          <p:cNvPr id="5" name="Picture 4"/>
          <p:cNvPicPr>
            <a:picLocks noChangeAspect="1"/>
          </p:cNvPicPr>
          <p:nvPr/>
        </p:nvPicPr>
        <p:blipFill>
          <a:blip r:embed="rId3"/>
          <a:stretch>
            <a:fillRect/>
          </a:stretch>
        </p:blipFill>
        <p:spPr>
          <a:xfrm>
            <a:off x="3016533" y="84473"/>
            <a:ext cx="5641957" cy="6727372"/>
          </a:xfrm>
          <a:prstGeom prst="rect">
            <a:avLst/>
          </a:prstGeom>
        </p:spPr>
      </p:pic>
      <p:pic>
        <p:nvPicPr>
          <p:cNvPr id="6" name="Picture 5"/>
          <p:cNvPicPr>
            <a:picLocks noChangeAspect="1"/>
          </p:cNvPicPr>
          <p:nvPr/>
        </p:nvPicPr>
        <p:blipFill>
          <a:blip r:embed="rId3"/>
          <a:stretch>
            <a:fillRect/>
          </a:stretch>
        </p:blipFill>
        <p:spPr>
          <a:xfrm>
            <a:off x="3016533" y="65937"/>
            <a:ext cx="5641957" cy="6727372"/>
          </a:xfrm>
          <a:prstGeom prst="rect">
            <a:avLst/>
          </a:prstGeom>
        </p:spPr>
      </p:pic>
    </p:spTree>
    <p:extLst>
      <p:ext uri="{BB962C8B-B14F-4D97-AF65-F5344CB8AC3E}">
        <p14:creationId xmlns:p14="http://schemas.microsoft.com/office/powerpoint/2010/main" val="14641934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754631" y="111438"/>
            <a:ext cx="8763001" cy="6591502"/>
          </a:xfrm>
          <a:prstGeom prst="rect">
            <a:avLst/>
          </a:prstGeom>
        </p:spPr>
      </p:pic>
      <p:pic>
        <p:nvPicPr>
          <p:cNvPr id="8" name="Picture 7"/>
          <p:cNvPicPr>
            <a:picLocks noChangeAspect="1"/>
          </p:cNvPicPr>
          <p:nvPr/>
        </p:nvPicPr>
        <p:blipFill>
          <a:blip r:embed="rId3"/>
          <a:stretch>
            <a:fillRect/>
          </a:stretch>
        </p:blipFill>
        <p:spPr>
          <a:xfrm>
            <a:off x="1754631" y="129973"/>
            <a:ext cx="8763001" cy="6591502"/>
          </a:xfrm>
          <a:prstGeom prst="rect">
            <a:avLst/>
          </a:prstGeom>
        </p:spPr>
      </p:pic>
      <p:sp>
        <p:nvSpPr>
          <p:cNvPr id="3" name="Rectangle 2"/>
          <p:cNvSpPr/>
          <p:nvPr/>
        </p:nvSpPr>
        <p:spPr>
          <a:xfrm>
            <a:off x="459789" y="146304"/>
            <a:ext cx="2651711" cy="461665"/>
          </a:xfrm>
          <a:prstGeom prst="rect">
            <a:avLst/>
          </a:prstGeom>
          <a:solidFill>
            <a:schemeClr val="bg1"/>
          </a:solidFill>
        </p:spPr>
        <p:txBody>
          <a:bodyPr wrap="square">
            <a:spAutoFit/>
          </a:bodyPr>
          <a:lstStyle/>
          <a:p>
            <a:r>
              <a:rPr lang="en-US" sz="2400" u="sng" dirty="0">
                <a:solidFill>
                  <a:schemeClr val="bg2">
                    <a:lumMod val="25000"/>
                  </a:schemeClr>
                </a:solidFill>
                <a:latin typeface="Times New Roman" panose="02020603050405020304" pitchFamily="18" charset="0"/>
                <a:cs typeface="Times New Roman" panose="02020603050405020304" pitchFamily="18" charset="0"/>
              </a:rPr>
              <a:t>Appendix 11</a:t>
            </a:r>
          </a:p>
        </p:txBody>
      </p:sp>
      <p:sp>
        <p:nvSpPr>
          <p:cNvPr id="2" name="Slide Number Placeholder 1"/>
          <p:cNvSpPr>
            <a:spLocks noGrp="1"/>
          </p:cNvSpPr>
          <p:nvPr>
            <p:ph type="sldNum" sz="quarter" idx="12"/>
          </p:nvPr>
        </p:nvSpPr>
        <p:spPr/>
        <p:txBody>
          <a:bodyPr/>
          <a:lstStyle/>
          <a:p>
            <a:fld id="{0059130C-D5A7-43F1-8BDF-D4DD1699FE09}" type="slidenum">
              <a:rPr lang="en-US" smtClean="0"/>
              <a:t>38</a:t>
            </a:fld>
            <a:endParaRPr lang="en-US"/>
          </a:p>
        </p:txBody>
      </p:sp>
    </p:spTree>
    <p:extLst>
      <p:ext uri="{BB962C8B-B14F-4D97-AF65-F5344CB8AC3E}">
        <p14:creationId xmlns:p14="http://schemas.microsoft.com/office/powerpoint/2010/main" val="354832071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9789" y="146304"/>
            <a:ext cx="221483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12</a:t>
            </a:r>
          </a:p>
        </p:txBody>
      </p:sp>
      <p:sp>
        <p:nvSpPr>
          <p:cNvPr id="2" name="Slide Number Placeholder 1"/>
          <p:cNvSpPr>
            <a:spLocks noGrp="1"/>
          </p:cNvSpPr>
          <p:nvPr>
            <p:ph type="sldNum" sz="quarter" idx="12"/>
          </p:nvPr>
        </p:nvSpPr>
        <p:spPr>
          <a:xfrm>
            <a:off x="8220456" y="6258814"/>
            <a:ext cx="2743200" cy="365125"/>
          </a:xfrm>
        </p:spPr>
        <p:txBody>
          <a:bodyPr/>
          <a:lstStyle/>
          <a:p>
            <a:fld id="{0059130C-D5A7-43F1-8BDF-D4DD1699FE09}" type="slidenum">
              <a:rPr lang="en-US" smtClean="0"/>
              <a:t>39</a:t>
            </a:fld>
            <a:endParaRPr lang="en-US"/>
          </a:p>
        </p:txBody>
      </p:sp>
      <p:sp>
        <p:nvSpPr>
          <p:cNvPr id="18" name="Rectangle 17"/>
          <p:cNvSpPr/>
          <p:nvPr/>
        </p:nvSpPr>
        <p:spPr>
          <a:xfrm>
            <a:off x="636573" y="788668"/>
            <a:ext cx="10842195" cy="1754326"/>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Test result - Scale up:</a:t>
            </a:r>
          </a:p>
          <a:p>
            <a:pPr algn="just">
              <a:lnSpc>
                <a:spcPct val="150000"/>
              </a:lnSpc>
            </a:pPr>
            <a:r>
              <a:rPr lang="en-US" dirty="0">
                <a:latin typeface="Times New Roman" panose="02020603050405020304" pitchFamily="18" charset="0"/>
                <a:cs typeface="Times New Roman" panose="02020603050405020304" pitchFamily="18" charset="0"/>
              </a:rPr>
              <a:t>Hanging detection triggered when thread 1 processing time reached threshold (500ms) during DiagMgr database save operation (1120ms total duration), successfully creating an additional thread. Pool automatically scaled from 2 to 3 threads (ID=2 created) to maintain system responsiveness during long-running tasks.</a:t>
            </a:r>
          </a:p>
        </p:txBody>
      </p:sp>
      <p:grpSp>
        <p:nvGrpSpPr>
          <p:cNvPr id="21" name="Group 20"/>
          <p:cNvGrpSpPr/>
          <p:nvPr/>
        </p:nvGrpSpPr>
        <p:grpSpPr>
          <a:xfrm>
            <a:off x="636573" y="2730691"/>
            <a:ext cx="10029142" cy="3820096"/>
            <a:chOff x="1147022" y="2615184"/>
            <a:chExt cx="10029142" cy="3820096"/>
          </a:xfrm>
        </p:grpSpPr>
        <p:pic>
          <p:nvPicPr>
            <p:cNvPr id="6" name="Picture 5"/>
            <p:cNvPicPr>
              <a:picLocks noChangeAspect="1"/>
            </p:cNvPicPr>
            <p:nvPr/>
          </p:nvPicPr>
          <p:blipFill rotWithShape="1">
            <a:blip r:embed="rId3"/>
            <a:srcRect l="13466" r="15241"/>
            <a:stretch/>
          </p:blipFill>
          <p:spPr>
            <a:xfrm>
              <a:off x="1147022" y="5449557"/>
              <a:ext cx="8886993" cy="985723"/>
            </a:xfrm>
            <a:prstGeom prst="rect">
              <a:avLst/>
            </a:prstGeom>
          </p:spPr>
        </p:pic>
        <p:pic>
          <p:nvPicPr>
            <p:cNvPr id="7" name="Picture 6"/>
            <p:cNvPicPr>
              <a:picLocks noChangeAspect="1"/>
            </p:cNvPicPr>
            <p:nvPr/>
          </p:nvPicPr>
          <p:blipFill rotWithShape="1">
            <a:blip r:embed="rId4"/>
            <a:srcRect l="15430" r="9641"/>
            <a:stretch/>
          </p:blipFill>
          <p:spPr>
            <a:xfrm>
              <a:off x="1207982" y="2615184"/>
              <a:ext cx="8155891" cy="1046250"/>
            </a:xfrm>
            <a:prstGeom prst="rect">
              <a:avLst/>
            </a:prstGeom>
          </p:spPr>
        </p:pic>
        <p:sp>
          <p:nvSpPr>
            <p:cNvPr id="12" name="Rectangle 11"/>
            <p:cNvSpPr/>
            <p:nvPr/>
          </p:nvSpPr>
          <p:spPr>
            <a:xfrm>
              <a:off x="1207982" y="3031260"/>
              <a:ext cx="8227998" cy="381838"/>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1153117" y="5869218"/>
              <a:ext cx="8192919" cy="193443"/>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p:cNvSpPr/>
            <p:nvPr/>
          </p:nvSpPr>
          <p:spPr>
            <a:xfrm>
              <a:off x="8626180" y="6073954"/>
              <a:ext cx="1413932" cy="202904"/>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Picture 19"/>
            <p:cNvPicPr>
              <a:picLocks noChangeAspect="1"/>
            </p:cNvPicPr>
            <p:nvPr/>
          </p:nvPicPr>
          <p:blipFill>
            <a:blip r:embed="rId5"/>
            <a:stretch>
              <a:fillRect/>
            </a:stretch>
          </p:blipFill>
          <p:spPr>
            <a:xfrm>
              <a:off x="1195789" y="3658337"/>
              <a:ext cx="9980375" cy="1750943"/>
            </a:xfrm>
            <a:prstGeom prst="rect">
              <a:avLst/>
            </a:prstGeom>
          </p:spPr>
        </p:pic>
      </p:grpSp>
      <p:sp>
        <p:nvSpPr>
          <p:cNvPr id="22" name="Rectangle 21"/>
          <p:cNvSpPr/>
          <p:nvPr/>
        </p:nvSpPr>
        <p:spPr>
          <a:xfrm>
            <a:off x="3672232" y="5140138"/>
            <a:ext cx="6904327" cy="193352"/>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9971664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459789" y="146304"/>
            <a:ext cx="2214831" cy="461665"/>
          </a:xfrm>
          <a:prstGeom prst="rect">
            <a:avLst/>
          </a:prstGeom>
          <a:solidFill>
            <a:schemeClr val="bg1"/>
          </a:solidFill>
        </p:spPr>
        <p:txBody>
          <a:bodyPr wrap="square">
            <a:spAutoFit/>
          </a:bodyPr>
          <a:lstStyle/>
          <a:p>
            <a:r>
              <a:rPr lang="en-US" sz="2400" u="sng" dirty="0">
                <a:latin typeface="Times New Roman" panose="02020603050405020304" pitchFamily="18" charset="0"/>
                <a:cs typeface="Times New Roman" panose="02020603050405020304" pitchFamily="18" charset="0"/>
              </a:rPr>
              <a:t>Appendix 13</a:t>
            </a:r>
          </a:p>
        </p:txBody>
      </p:sp>
      <p:sp>
        <p:nvSpPr>
          <p:cNvPr id="2" name="Slide Number Placeholder 1"/>
          <p:cNvSpPr>
            <a:spLocks noGrp="1"/>
          </p:cNvSpPr>
          <p:nvPr>
            <p:ph type="sldNum" sz="quarter" idx="12"/>
          </p:nvPr>
        </p:nvSpPr>
        <p:spPr>
          <a:xfrm>
            <a:off x="8220456" y="6258814"/>
            <a:ext cx="2743200" cy="365125"/>
          </a:xfrm>
        </p:spPr>
        <p:txBody>
          <a:bodyPr/>
          <a:lstStyle/>
          <a:p>
            <a:fld id="{0059130C-D5A7-43F1-8BDF-D4DD1699FE09}" type="slidenum">
              <a:rPr lang="en-US" smtClean="0"/>
              <a:t>40</a:t>
            </a:fld>
            <a:endParaRPr lang="en-US"/>
          </a:p>
        </p:txBody>
      </p:sp>
      <p:sp>
        <p:nvSpPr>
          <p:cNvPr id="18" name="Rectangle 17"/>
          <p:cNvSpPr/>
          <p:nvPr/>
        </p:nvSpPr>
        <p:spPr>
          <a:xfrm>
            <a:off x="636573" y="788668"/>
            <a:ext cx="10842195" cy="458074"/>
          </a:xfrm>
          <a:prstGeom prst="rect">
            <a:avLst/>
          </a:prstGeom>
        </p:spPr>
        <p:txBody>
          <a:bodyPr wrap="square">
            <a:spAutoFit/>
          </a:bodyPr>
          <a:lstStyle/>
          <a:p>
            <a:pPr algn="just">
              <a:lnSpc>
                <a:spcPct val="150000"/>
              </a:lnSpc>
            </a:pPr>
            <a:r>
              <a:rPr lang="en-US" b="1" dirty="0">
                <a:latin typeface="Times New Roman" panose="02020603050405020304" pitchFamily="18" charset="0"/>
                <a:cs typeface="Times New Roman" panose="02020603050405020304" pitchFamily="18" charset="0"/>
              </a:rPr>
              <a:t>Test result - Scale down:</a:t>
            </a:r>
          </a:p>
        </p:txBody>
      </p:sp>
      <p:pic>
        <p:nvPicPr>
          <p:cNvPr id="4" name="Picture 3"/>
          <p:cNvPicPr>
            <a:picLocks noChangeAspect="1"/>
          </p:cNvPicPr>
          <p:nvPr/>
        </p:nvPicPr>
        <p:blipFill>
          <a:blip r:embed="rId3"/>
          <a:stretch>
            <a:fillRect/>
          </a:stretch>
        </p:blipFill>
        <p:spPr>
          <a:xfrm>
            <a:off x="737045" y="2699824"/>
            <a:ext cx="8571548" cy="2355283"/>
          </a:xfrm>
          <a:prstGeom prst="rect">
            <a:avLst/>
          </a:prstGeom>
        </p:spPr>
      </p:pic>
      <p:sp>
        <p:nvSpPr>
          <p:cNvPr id="5" name="Rectangle 4"/>
          <p:cNvSpPr/>
          <p:nvPr/>
        </p:nvSpPr>
        <p:spPr>
          <a:xfrm>
            <a:off x="694372" y="1427441"/>
            <a:ext cx="9693211" cy="923330"/>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Scale down triggered after 30 seconds idle period with no queued tasks. Thread pool detected excess threads (3 active vs. 2 core required) and gracefully terminated thread ID=0, successfully scaling from 3 to 2 threads to optimize resources while maintaining baseline responsiveness.</a:t>
            </a:r>
          </a:p>
        </p:txBody>
      </p:sp>
    </p:spTree>
    <p:extLst>
      <p:ext uri="{BB962C8B-B14F-4D97-AF65-F5344CB8AC3E}">
        <p14:creationId xmlns:p14="http://schemas.microsoft.com/office/powerpoint/2010/main" val="39148704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18568</TotalTime>
  <Words>2813</Words>
  <Application>Microsoft Office PowerPoint</Application>
  <PresentationFormat>Widescreen</PresentationFormat>
  <Paragraphs>523</Paragraphs>
  <Slides>40</Slides>
  <Notes>31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40</vt:i4>
      </vt:variant>
    </vt:vector>
  </HeadingPairs>
  <TitlesOfParts>
    <vt:vector size="47" baseType="lpstr">
      <vt:lpstr>Arial</vt:lpstr>
      <vt:lpstr>Calibri</vt:lpstr>
      <vt:lpstr>Calibri Light</vt:lpstr>
      <vt:lpstr>Consolas</vt:lpstr>
      <vt:lpstr>Times New Roman</vt:lpstr>
      <vt:lpstr>Wingdings</vt:lpstr>
      <vt:lpstr>Office Theme</vt:lpstr>
      <vt:lpstr>Design of Secure Remote Diag on Container Separation Architecture</vt:lpstr>
      <vt:lpstr>Table of contents</vt:lpstr>
      <vt:lpstr>1. Overview - DCM and the RDG Module in Toyota 24LM</vt:lpstr>
      <vt:lpstr>1. Overview - DCM and the RDG Module in Toyota 24LM</vt:lpstr>
      <vt:lpstr>2. Problem identification</vt:lpstr>
      <vt:lpstr>2. Problem identification – Key Quality Attributes</vt:lpstr>
      <vt:lpstr>3. Solution proposals – Proposal A</vt:lpstr>
      <vt:lpstr>3. Solution proposals – Proposal B</vt:lpstr>
      <vt:lpstr>3. Solution proposals – Comparison &amp; Selection</vt:lpstr>
      <vt:lpstr>4. Design proposal for selected solution</vt:lpstr>
      <vt:lpstr>4. Design proposal for selected solution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HIEU TRUNG NGUYEN/LGEVH VS FUNCTIONAL TECHNOLOGY 1(hieu4.nguyen@lge.com)</dc:creator>
  <cp:lastModifiedBy>Phi Vu Hoang</cp:lastModifiedBy>
  <cp:revision>1215</cp:revision>
  <dcterms:created xsi:type="dcterms:W3CDTF">2024-09-16T10:54:45Z</dcterms:created>
  <dcterms:modified xsi:type="dcterms:W3CDTF">2026-08-06T00:45:23Z</dcterms:modified>
</cp:coreProperties>
</file>