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theme/themeOverride1.xml" ContentType="application/vnd.openxmlformats-officedocument.themeOverr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9"/>
  </p:notesMasterIdLst>
  <p:handoutMasterIdLst>
    <p:handoutMasterId r:id="rId40"/>
  </p:handoutMasterIdLst>
  <p:sldIdLst>
    <p:sldId id="257" r:id="rId2"/>
    <p:sldId id="258" r:id="rId3"/>
    <p:sldId id="333" r:id="rId4"/>
    <p:sldId id="337" r:id="rId5"/>
    <p:sldId id="334" r:id="rId6"/>
    <p:sldId id="338" r:id="rId7"/>
    <p:sldId id="335" r:id="rId8"/>
    <p:sldId id="340" r:id="rId9"/>
    <p:sldId id="336" r:id="rId10"/>
    <p:sldId id="332" r:id="rId11"/>
    <p:sldId id="316" r:id="rId12"/>
    <p:sldId id="311" r:id="rId13"/>
    <p:sldId id="289" r:id="rId14"/>
    <p:sldId id="321" r:id="rId15"/>
    <p:sldId id="307" r:id="rId16"/>
    <p:sldId id="291" r:id="rId17"/>
    <p:sldId id="293" r:id="rId18"/>
    <p:sldId id="296" r:id="rId19"/>
    <p:sldId id="312" r:id="rId20"/>
    <p:sldId id="324" r:id="rId21"/>
    <p:sldId id="325" r:id="rId22"/>
    <p:sldId id="320" r:id="rId23"/>
    <p:sldId id="272" r:id="rId24"/>
    <p:sldId id="339" r:id="rId25"/>
    <p:sldId id="259" r:id="rId26"/>
    <p:sldId id="323" r:id="rId27"/>
    <p:sldId id="326" r:id="rId28"/>
    <p:sldId id="328" r:id="rId29"/>
    <p:sldId id="330" r:id="rId30"/>
    <p:sldId id="313" r:id="rId31"/>
    <p:sldId id="314" r:id="rId32"/>
    <p:sldId id="315" r:id="rId33"/>
    <p:sldId id="297" r:id="rId34"/>
    <p:sldId id="318" r:id="rId35"/>
    <p:sldId id="319" r:id="rId36"/>
    <p:sldId id="329" r:id="rId37"/>
    <p:sldId id="331"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HIEU TRUNG NGUYEN/LGEVH VS FUNCTIONAL TECHNOLOGY 1(hieu4.nguyen@lge.com)" initials="HTNVFT1" lastIdx="9" clrIdx="0">
    <p:extLst>
      <p:ext uri="{19B8F6BF-5375-455C-9EA6-DF929625EA0E}">
        <p15:presenceInfo xmlns:p15="http://schemas.microsoft.com/office/powerpoint/2012/main" userId="S-1-5-21-2543426832-1914326140-3112152631-235930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339933"/>
    <a:srgbClr val="C2F0FF"/>
    <a:srgbClr val="FFFFE0"/>
    <a:srgbClr val="FF9900"/>
    <a:srgbClr val="FFCC00"/>
    <a:srgbClr val="FFFF00"/>
    <a:srgbClr val="00CC00"/>
    <a:srgbClr val="E2F0D9"/>
    <a:srgbClr val="EEF4E8"/>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449" autoAdjust="0"/>
    <p:restoredTop sz="87870" autoAdjust="0"/>
  </p:normalViewPr>
  <p:slideViewPr>
    <p:cSldViewPr snapToGrid="0">
      <p:cViewPr>
        <p:scale>
          <a:sx n="125" d="100"/>
          <a:sy n="125" d="100"/>
        </p:scale>
        <p:origin x="294" y="-948"/>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handoutMaster" Target="handoutMasters/handoutMaster1.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commentAuthors" Target="commen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B218C26-8816-4FD3-9B17-7F2E73681755}" type="datetimeFigureOut">
              <a:rPr lang="en-US" smtClean="0"/>
              <a:t>8/5/2026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3B1B1D3-8EA0-465B-9072-DEFAD8935BF3}" type="slidenum">
              <a:rPr lang="en-US" smtClean="0"/>
              <a:t>‹#›</a:t>
            </a:fld>
            <a:endParaRPr lang="en-US"/>
          </a:p>
        </p:txBody>
      </p:sp>
    </p:spTree>
    <p:extLst>
      <p:ext uri="{BB962C8B-B14F-4D97-AF65-F5344CB8AC3E}">
        <p14:creationId xmlns:p14="http://schemas.microsoft.com/office/powerpoint/2010/main" val="168880100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9CA27A-F676-47EB-A31E-770B0E5356FD}" type="datetimeFigureOut">
              <a:rPr lang="en-US" smtClean="0"/>
              <a:t>8/5/2026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A60F03A-8D08-47FF-BD61-2DB64D8362EE}" type="slidenum">
              <a:rPr lang="en-US" smtClean="0"/>
              <a:t>‹#›</a:t>
            </a:fld>
            <a:endParaRPr lang="en-US"/>
          </a:p>
        </p:txBody>
      </p:sp>
    </p:spTree>
    <p:extLst>
      <p:ext uri="{BB962C8B-B14F-4D97-AF65-F5344CB8AC3E}">
        <p14:creationId xmlns:p14="http://schemas.microsoft.com/office/powerpoint/2010/main" val="254806734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989D669C-416E-45F6-8D23-9D8DF4957456}" type="slidenum">
              <a:rPr lang="en-US" smtClean="0"/>
              <a:t>1</a:t>
            </a:fld>
            <a:endParaRPr lang="en-US"/>
          </a:p>
        </p:txBody>
      </p:sp>
    </p:spTree>
    <p:extLst>
      <p:ext uri="{BB962C8B-B14F-4D97-AF65-F5344CB8AC3E}">
        <p14:creationId xmlns:p14="http://schemas.microsoft.com/office/powerpoint/2010/main" val="42026061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smtClean="0"/>
          </a:p>
        </p:txBody>
      </p:sp>
      <p:sp>
        <p:nvSpPr>
          <p:cNvPr id="4" name="Slide Number Placeholder 3"/>
          <p:cNvSpPr>
            <a:spLocks noGrp="1"/>
          </p:cNvSpPr>
          <p:nvPr>
            <p:ph type="sldNum" sz="quarter" idx="10"/>
          </p:nvPr>
        </p:nvSpPr>
        <p:spPr/>
        <p:txBody>
          <a:bodyPr/>
          <a:lstStyle/>
          <a:p>
            <a:fld id="{989D669C-416E-45F6-8D23-9D8DF4957456}" type="slidenum">
              <a:rPr lang="en-US" smtClean="0"/>
              <a:t>2</a:t>
            </a:fld>
            <a:endParaRPr lang="en-US"/>
          </a:p>
        </p:txBody>
      </p:sp>
    </p:spTree>
    <p:extLst>
      <p:ext uri="{BB962C8B-B14F-4D97-AF65-F5344CB8AC3E}">
        <p14:creationId xmlns:p14="http://schemas.microsoft.com/office/powerpoint/2010/main" val="29015871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A60F03A-8D08-47FF-BD61-2DB64D8362EE}" type="slidenum">
              <a:rPr lang="en-US" smtClean="0"/>
              <a:t>4</a:t>
            </a:fld>
            <a:endParaRPr lang="en-US"/>
          </a:p>
        </p:txBody>
      </p:sp>
    </p:spTree>
    <p:extLst>
      <p:ext uri="{BB962C8B-B14F-4D97-AF65-F5344CB8AC3E}">
        <p14:creationId xmlns:p14="http://schemas.microsoft.com/office/powerpoint/2010/main" val="17092341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b="1" i="0" kern="1200" dirty="0" smtClean="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7A60F03A-8D08-47FF-BD61-2DB64D8362EE}" type="slidenum">
              <a:rPr lang="en-US" smtClean="0"/>
              <a:t>10</a:t>
            </a:fld>
            <a:endParaRPr lang="en-US"/>
          </a:p>
        </p:txBody>
      </p:sp>
    </p:spTree>
    <p:extLst>
      <p:ext uri="{BB962C8B-B14F-4D97-AF65-F5344CB8AC3E}">
        <p14:creationId xmlns:p14="http://schemas.microsoft.com/office/powerpoint/2010/main" val="27259030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b="0" i="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7A60F03A-8D08-47FF-BD61-2DB64D8362EE}" type="slidenum">
              <a:rPr lang="en-US" smtClean="0"/>
              <a:t>11</a:t>
            </a:fld>
            <a:endParaRPr lang="en-US"/>
          </a:p>
        </p:txBody>
      </p:sp>
    </p:spTree>
    <p:extLst>
      <p:ext uri="{BB962C8B-B14F-4D97-AF65-F5344CB8AC3E}">
        <p14:creationId xmlns:p14="http://schemas.microsoft.com/office/powerpoint/2010/main" val="77194943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1" dirty="0"/>
          </a:p>
        </p:txBody>
      </p:sp>
      <p:sp>
        <p:nvSpPr>
          <p:cNvPr id="4" name="Slide Number Placeholder 3"/>
          <p:cNvSpPr>
            <a:spLocks noGrp="1"/>
          </p:cNvSpPr>
          <p:nvPr>
            <p:ph type="sldNum" sz="quarter" idx="10"/>
          </p:nvPr>
        </p:nvSpPr>
        <p:spPr/>
        <p:txBody>
          <a:bodyPr/>
          <a:lstStyle/>
          <a:p>
            <a:fld id="{7A60F03A-8D08-47FF-BD61-2DB64D8362EE}" type="slidenum">
              <a:rPr lang="en-US" smtClean="0"/>
              <a:t>12</a:t>
            </a:fld>
            <a:endParaRPr lang="en-US"/>
          </a:p>
        </p:txBody>
      </p:sp>
    </p:spTree>
    <p:extLst>
      <p:ext uri="{BB962C8B-B14F-4D97-AF65-F5344CB8AC3E}">
        <p14:creationId xmlns:p14="http://schemas.microsoft.com/office/powerpoint/2010/main" val="217800032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b="1" i="0" kern="1200" dirty="0" smtClean="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7A60F03A-8D08-47FF-BD61-2DB64D8362EE}" type="slidenum">
              <a:rPr lang="en-US" smtClean="0"/>
              <a:t>13</a:t>
            </a:fld>
            <a:endParaRPr lang="en-US"/>
          </a:p>
        </p:txBody>
      </p:sp>
    </p:spTree>
    <p:extLst>
      <p:ext uri="{BB962C8B-B14F-4D97-AF65-F5344CB8AC3E}">
        <p14:creationId xmlns:p14="http://schemas.microsoft.com/office/powerpoint/2010/main" val="39034457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b="1" i="0" kern="1200" dirty="0" smtClean="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7A60F03A-8D08-47FF-BD61-2DB64D8362EE}" type="slidenum">
              <a:rPr lang="en-US" smtClean="0"/>
              <a:t>14</a:t>
            </a:fld>
            <a:endParaRPr lang="en-US"/>
          </a:p>
        </p:txBody>
      </p:sp>
    </p:spTree>
    <p:extLst>
      <p:ext uri="{BB962C8B-B14F-4D97-AF65-F5344CB8AC3E}">
        <p14:creationId xmlns:p14="http://schemas.microsoft.com/office/powerpoint/2010/main" val="9943927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b="1" i="0" kern="1200" dirty="0" smtClean="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7A60F03A-8D08-47FF-BD61-2DB64D8362EE}" type="slidenum">
              <a:rPr lang="en-US" smtClean="0"/>
              <a:t>15</a:t>
            </a:fld>
            <a:endParaRPr lang="en-US"/>
          </a:p>
        </p:txBody>
      </p:sp>
    </p:spTree>
    <p:extLst>
      <p:ext uri="{BB962C8B-B14F-4D97-AF65-F5344CB8AC3E}">
        <p14:creationId xmlns:p14="http://schemas.microsoft.com/office/powerpoint/2010/main" val="36972546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b="0" i="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7A60F03A-8D08-47FF-BD61-2DB64D8362EE}" type="slidenum">
              <a:rPr lang="en-US" smtClean="0"/>
              <a:t>16</a:t>
            </a:fld>
            <a:endParaRPr lang="en-US"/>
          </a:p>
        </p:txBody>
      </p:sp>
    </p:spTree>
    <p:extLst>
      <p:ext uri="{BB962C8B-B14F-4D97-AF65-F5344CB8AC3E}">
        <p14:creationId xmlns:p14="http://schemas.microsoft.com/office/powerpoint/2010/main" val="1140347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smtClean="0"/>
          </a:p>
        </p:txBody>
      </p:sp>
      <p:sp>
        <p:nvSpPr>
          <p:cNvPr id="4" name="Slide Number Placeholder 3"/>
          <p:cNvSpPr>
            <a:spLocks noGrp="1"/>
          </p:cNvSpPr>
          <p:nvPr>
            <p:ph type="sldNum" sz="quarter" idx="10"/>
          </p:nvPr>
        </p:nvSpPr>
        <p:spPr/>
        <p:txBody>
          <a:bodyPr/>
          <a:lstStyle/>
          <a:p>
            <a:fld id="{7A60F03A-8D08-47FF-BD61-2DB64D8362EE}" type="slidenum">
              <a:rPr lang="en-US" smtClean="0"/>
              <a:t>17</a:t>
            </a:fld>
            <a:endParaRPr lang="en-US"/>
          </a:p>
        </p:txBody>
      </p:sp>
    </p:spTree>
    <p:extLst>
      <p:ext uri="{BB962C8B-B14F-4D97-AF65-F5344CB8AC3E}">
        <p14:creationId xmlns:p14="http://schemas.microsoft.com/office/powerpoint/2010/main" val="33420145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smtClean="0"/>
          </a:p>
        </p:txBody>
      </p:sp>
      <p:sp>
        <p:nvSpPr>
          <p:cNvPr id="4" name="Slide Number Placeholder 3"/>
          <p:cNvSpPr>
            <a:spLocks noGrp="1"/>
          </p:cNvSpPr>
          <p:nvPr>
            <p:ph type="sldNum" sz="quarter" idx="10"/>
          </p:nvPr>
        </p:nvSpPr>
        <p:spPr/>
        <p:txBody>
          <a:bodyPr/>
          <a:lstStyle/>
          <a:p>
            <a:fld id="{7A60F03A-8D08-47FF-BD61-2DB64D8362EE}" type="slidenum">
              <a:rPr lang="en-US" smtClean="0"/>
              <a:t>18</a:t>
            </a:fld>
            <a:endParaRPr lang="en-US"/>
          </a:p>
        </p:txBody>
      </p:sp>
    </p:spTree>
    <p:extLst>
      <p:ext uri="{BB962C8B-B14F-4D97-AF65-F5344CB8AC3E}">
        <p14:creationId xmlns:p14="http://schemas.microsoft.com/office/powerpoint/2010/main" val="57089902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b="1" i="0" kern="1200" dirty="0" smtClean="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7A60F03A-8D08-47FF-BD61-2DB64D8362EE}" type="slidenum">
              <a:rPr lang="en-US" smtClean="0"/>
              <a:t>19</a:t>
            </a:fld>
            <a:endParaRPr lang="en-US"/>
          </a:p>
        </p:txBody>
      </p:sp>
    </p:spTree>
    <p:extLst>
      <p:ext uri="{BB962C8B-B14F-4D97-AF65-F5344CB8AC3E}">
        <p14:creationId xmlns:p14="http://schemas.microsoft.com/office/powerpoint/2010/main" val="28566719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b="1" i="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7A60F03A-8D08-47FF-BD61-2DB64D8362EE}" type="slidenum">
              <a:rPr lang="en-US" smtClean="0"/>
              <a:t>20</a:t>
            </a:fld>
            <a:endParaRPr lang="en-US"/>
          </a:p>
        </p:txBody>
      </p:sp>
    </p:spTree>
    <p:extLst>
      <p:ext uri="{BB962C8B-B14F-4D97-AF65-F5344CB8AC3E}">
        <p14:creationId xmlns:p14="http://schemas.microsoft.com/office/powerpoint/2010/main" val="26579351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b="1" i="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7A60F03A-8D08-47FF-BD61-2DB64D8362EE}" type="slidenum">
              <a:rPr lang="en-US" smtClean="0"/>
              <a:t>21</a:t>
            </a:fld>
            <a:endParaRPr lang="en-US"/>
          </a:p>
        </p:txBody>
      </p:sp>
    </p:spTree>
    <p:extLst>
      <p:ext uri="{BB962C8B-B14F-4D97-AF65-F5344CB8AC3E}">
        <p14:creationId xmlns:p14="http://schemas.microsoft.com/office/powerpoint/2010/main" val="206229442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latin typeface="Times New Roman" panose="02020603050405020304" pitchFamily="18" charset="0"/>
              <a:cs typeface="Times New Roman" panose="02020603050405020304" pitchFamily="18" charset="0"/>
            </a:endParaRPr>
          </a:p>
        </p:txBody>
      </p:sp>
      <p:sp>
        <p:nvSpPr>
          <p:cNvPr id="4" name="Slide Number Placeholder 3"/>
          <p:cNvSpPr>
            <a:spLocks noGrp="1"/>
          </p:cNvSpPr>
          <p:nvPr>
            <p:ph type="sldNum" sz="quarter" idx="10"/>
          </p:nvPr>
        </p:nvSpPr>
        <p:spPr/>
        <p:txBody>
          <a:bodyPr/>
          <a:lstStyle/>
          <a:p>
            <a:fld id="{7A60F03A-8D08-47FF-BD61-2DB64D8362EE}" type="slidenum">
              <a:rPr lang="en-US" smtClean="0"/>
              <a:t>22</a:t>
            </a:fld>
            <a:endParaRPr lang="en-US"/>
          </a:p>
        </p:txBody>
      </p:sp>
    </p:spTree>
    <p:extLst>
      <p:ext uri="{BB962C8B-B14F-4D97-AF65-F5344CB8AC3E}">
        <p14:creationId xmlns:p14="http://schemas.microsoft.com/office/powerpoint/2010/main" val="11787627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smtClean="0"/>
              <a:t>That’s all of my presentation</a:t>
            </a:r>
          </a:p>
          <a:p>
            <a:r>
              <a:rPr lang="en-US" sz="1200" b="1" dirty="0" smtClean="0"/>
              <a:t>Thanks for listening.</a:t>
            </a:r>
            <a:r>
              <a:rPr lang="en-US" sz="1200" b="1" baseline="0" dirty="0" smtClean="0"/>
              <a:t> Please let me know if</a:t>
            </a:r>
            <a:r>
              <a:rPr lang="en-US" sz="1200" b="1" dirty="0" smtClean="0"/>
              <a:t> you have any questions</a:t>
            </a:r>
          </a:p>
          <a:p>
            <a:endParaRPr lang="en-US" b="1" dirty="0"/>
          </a:p>
        </p:txBody>
      </p:sp>
      <p:sp>
        <p:nvSpPr>
          <p:cNvPr id="4" name="Slide Number Placeholder 3"/>
          <p:cNvSpPr>
            <a:spLocks noGrp="1"/>
          </p:cNvSpPr>
          <p:nvPr>
            <p:ph type="sldNum" sz="quarter" idx="10"/>
          </p:nvPr>
        </p:nvSpPr>
        <p:spPr/>
        <p:txBody>
          <a:bodyPr/>
          <a:lstStyle/>
          <a:p>
            <a:fld id="{7A60F03A-8D08-47FF-BD61-2DB64D8362EE}" type="slidenum">
              <a:rPr lang="en-US" smtClean="0"/>
              <a:t>23</a:t>
            </a:fld>
            <a:endParaRPr lang="en-US"/>
          </a:p>
        </p:txBody>
      </p:sp>
    </p:spTree>
    <p:extLst>
      <p:ext uri="{BB962C8B-B14F-4D97-AF65-F5344CB8AC3E}">
        <p14:creationId xmlns:p14="http://schemas.microsoft.com/office/powerpoint/2010/main" val="12254754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smtClean="0"/>
          </a:p>
        </p:txBody>
      </p:sp>
      <p:sp>
        <p:nvSpPr>
          <p:cNvPr id="4" name="Slide Number Placeholder 3"/>
          <p:cNvSpPr>
            <a:spLocks noGrp="1"/>
          </p:cNvSpPr>
          <p:nvPr>
            <p:ph type="sldNum" sz="quarter" idx="10"/>
          </p:nvPr>
        </p:nvSpPr>
        <p:spPr/>
        <p:txBody>
          <a:bodyPr/>
          <a:lstStyle/>
          <a:p>
            <a:fld id="{7A60F03A-8D08-47FF-BD61-2DB64D8362EE}" type="slidenum">
              <a:rPr lang="en-US" smtClean="0"/>
              <a:t>25</a:t>
            </a:fld>
            <a:endParaRPr lang="en-US"/>
          </a:p>
        </p:txBody>
      </p:sp>
    </p:spTree>
    <p:extLst>
      <p:ext uri="{BB962C8B-B14F-4D97-AF65-F5344CB8AC3E}">
        <p14:creationId xmlns:p14="http://schemas.microsoft.com/office/powerpoint/2010/main" val="82992785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smtClean="0"/>
          </a:p>
        </p:txBody>
      </p:sp>
      <p:sp>
        <p:nvSpPr>
          <p:cNvPr id="4" name="Slide Number Placeholder 3"/>
          <p:cNvSpPr>
            <a:spLocks noGrp="1"/>
          </p:cNvSpPr>
          <p:nvPr>
            <p:ph type="sldNum" sz="quarter" idx="10"/>
          </p:nvPr>
        </p:nvSpPr>
        <p:spPr/>
        <p:txBody>
          <a:bodyPr/>
          <a:lstStyle/>
          <a:p>
            <a:fld id="{7A60F03A-8D08-47FF-BD61-2DB64D8362EE}" type="slidenum">
              <a:rPr lang="en-US" smtClean="0"/>
              <a:t>26</a:t>
            </a:fld>
            <a:endParaRPr lang="en-US"/>
          </a:p>
        </p:txBody>
      </p:sp>
    </p:spTree>
    <p:extLst>
      <p:ext uri="{BB962C8B-B14F-4D97-AF65-F5344CB8AC3E}">
        <p14:creationId xmlns:p14="http://schemas.microsoft.com/office/powerpoint/2010/main" val="122478652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b="1" i="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7A60F03A-8D08-47FF-BD61-2DB64D8362EE}" type="slidenum">
              <a:rPr lang="en-US" smtClean="0"/>
              <a:t>27</a:t>
            </a:fld>
            <a:endParaRPr lang="en-US"/>
          </a:p>
        </p:txBody>
      </p:sp>
    </p:spTree>
    <p:extLst>
      <p:ext uri="{BB962C8B-B14F-4D97-AF65-F5344CB8AC3E}">
        <p14:creationId xmlns:p14="http://schemas.microsoft.com/office/powerpoint/2010/main" val="19907306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b="1" i="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7A60F03A-8D08-47FF-BD61-2DB64D8362EE}" type="slidenum">
              <a:rPr lang="en-US" smtClean="0"/>
              <a:t>28</a:t>
            </a:fld>
            <a:endParaRPr lang="en-US"/>
          </a:p>
        </p:txBody>
      </p:sp>
    </p:spTree>
    <p:extLst>
      <p:ext uri="{BB962C8B-B14F-4D97-AF65-F5344CB8AC3E}">
        <p14:creationId xmlns:p14="http://schemas.microsoft.com/office/powerpoint/2010/main" val="40697968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smtClean="0"/>
          </a:p>
        </p:txBody>
      </p:sp>
      <p:sp>
        <p:nvSpPr>
          <p:cNvPr id="4" name="Slide Number Placeholder 3"/>
          <p:cNvSpPr>
            <a:spLocks noGrp="1"/>
          </p:cNvSpPr>
          <p:nvPr>
            <p:ph type="sldNum" sz="quarter" idx="10"/>
          </p:nvPr>
        </p:nvSpPr>
        <p:spPr/>
        <p:txBody>
          <a:bodyPr/>
          <a:lstStyle/>
          <a:p>
            <a:fld id="{7A60F03A-8D08-47FF-BD61-2DB64D8362EE}" type="slidenum">
              <a:rPr lang="en-US" smtClean="0"/>
              <a:t>29</a:t>
            </a:fld>
            <a:endParaRPr lang="en-US"/>
          </a:p>
        </p:txBody>
      </p:sp>
    </p:spTree>
    <p:extLst>
      <p:ext uri="{BB962C8B-B14F-4D97-AF65-F5344CB8AC3E}">
        <p14:creationId xmlns:p14="http://schemas.microsoft.com/office/powerpoint/2010/main" val="32390882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A60F03A-8D08-47FF-BD61-2DB64D8362EE}" type="slidenum">
              <a:rPr lang="en-US" smtClean="0"/>
              <a:t>30</a:t>
            </a:fld>
            <a:endParaRPr lang="en-US"/>
          </a:p>
        </p:txBody>
      </p:sp>
    </p:spTree>
    <p:extLst>
      <p:ext uri="{BB962C8B-B14F-4D97-AF65-F5344CB8AC3E}">
        <p14:creationId xmlns:p14="http://schemas.microsoft.com/office/powerpoint/2010/main" val="27843598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A60F03A-8D08-47FF-BD61-2DB64D8362EE}" type="slidenum">
              <a:rPr lang="en-US" smtClean="0"/>
              <a:t>31</a:t>
            </a:fld>
            <a:endParaRPr lang="en-US"/>
          </a:p>
        </p:txBody>
      </p:sp>
    </p:spTree>
    <p:extLst>
      <p:ext uri="{BB962C8B-B14F-4D97-AF65-F5344CB8AC3E}">
        <p14:creationId xmlns:p14="http://schemas.microsoft.com/office/powerpoint/2010/main" val="270755604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A60F03A-8D08-47FF-BD61-2DB64D8362EE}" type="slidenum">
              <a:rPr lang="en-US" smtClean="0"/>
              <a:t>32</a:t>
            </a:fld>
            <a:endParaRPr lang="en-US"/>
          </a:p>
        </p:txBody>
      </p:sp>
    </p:spTree>
    <p:extLst>
      <p:ext uri="{BB962C8B-B14F-4D97-AF65-F5344CB8AC3E}">
        <p14:creationId xmlns:p14="http://schemas.microsoft.com/office/powerpoint/2010/main" val="36149853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smtClean="0"/>
          </a:p>
        </p:txBody>
      </p:sp>
      <p:sp>
        <p:nvSpPr>
          <p:cNvPr id="4" name="Slide Number Placeholder 3"/>
          <p:cNvSpPr>
            <a:spLocks noGrp="1"/>
          </p:cNvSpPr>
          <p:nvPr>
            <p:ph type="sldNum" sz="quarter" idx="10"/>
          </p:nvPr>
        </p:nvSpPr>
        <p:spPr/>
        <p:txBody>
          <a:bodyPr/>
          <a:lstStyle/>
          <a:p>
            <a:fld id="{7A60F03A-8D08-47FF-BD61-2DB64D8362EE}" type="slidenum">
              <a:rPr lang="en-US" smtClean="0"/>
              <a:t>33</a:t>
            </a:fld>
            <a:endParaRPr lang="en-US"/>
          </a:p>
        </p:txBody>
      </p:sp>
    </p:spTree>
    <p:extLst>
      <p:ext uri="{BB962C8B-B14F-4D97-AF65-F5344CB8AC3E}">
        <p14:creationId xmlns:p14="http://schemas.microsoft.com/office/powerpoint/2010/main" val="32098672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smtClean="0"/>
          </a:p>
        </p:txBody>
      </p:sp>
      <p:sp>
        <p:nvSpPr>
          <p:cNvPr id="4" name="Slide Number Placeholder 3"/>
          <p:cNvSpPr>
            <a:spLocks noGrp="1"/>
          </p:cNvSpPr>
          <p:nvPr>
            <p:ph type="sldNum" sz="quarter" idx="10"/>
          </p:nvPr>
        </p:nvSpPr>
        <p:spPr/>
        <p:txBody>
          <a:bodyPr/>
          <a:lstStyle/>
          <a:p>
            <a:fld id="{7A60F03A-8D08-47FF-BD61-2DB64D8362EE}" type="slidenum">
              <a:rPr lang="en-US" smtClean="0"/>
              <a:t>34</a:t>
            </a:fld>
            <a:endParaRPr lang="en-US"/>
          </a:p>
        </p:txBody>
      </p:sp>
    </p:spTree>
    <p:extLst>
      <p:ext uri="{BB962C8B-B14F-4D97-AF65-F5344CB8AC3E}">
        <p14:creationId xmlns:p14="http://schemas.microsoft.com/office/powerpoint/2010/main" val="81284309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smtClean="0"/>
          </a:p>
        </p:txBody>
      </p:sp>
      <p:sp>
        <p:nvSpPr>
          <p:cNvPr id="4" name="Slide Number Placeholder 3"/>
          <p:cNvSpPr>
            <a:spLocks noGrp="1"/>
          </p:cNvSpPr>
          <p:nvPr>
            <p:ph type="sldNum" sz="quarter" idx="10"/>
          </p:nvPr>
        </p:nvSpPr>
        <p:spPr/>
        <p:txBody>
          <a:bodyPr/>
          <a:lstStyle/>
          <a:p>
            <a:fld id="{7A60F03A-8D08-47FF-BD61-2DB64D8362EE}" type="slidenum">
              <a:rPr lang="en-US" smtClean="0"/>
              <a:t>35</a:t>
            </a:fld>
            <a:endParaRPr lang="en-US"/>
          </a:p>
        </p:txBody>
      </p:sp>
    </p:spTree>
    <p:extLst>
      <p:ext uri="{BB962C8B-B14F-4D97-AF65-F5344CB8AC3E}">
        <p14:creationId xmlns:p14="http://schemas.microsoft.com/office/powerpoint/2010/main" val="42746469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smtClean="0"/>
          </a:p>
        </p:txBody>
      </p:sp>
      <p:sp>
        <p:nvSpPr>
          <p:cNvPr id="4" name="Slide Number Placeholder 3"/>
          <p:cNvSpPr>
            <a:spLocks noGrp="1"/>
          </p:cNvSpPr>
          <p:nvPr>
            <p:ph type="sldNum" sz="quarter" idx="10"/>
          </p:nvPr>
        </p:nvSpPr>
        <p:spPr/>
        <p:txBody>
          <a:bodyPr/>
          <a:lstStyle/>
          <a:p>
            <a:fld id="{7A60F03A-8D08-47FF-BD61-2DB64D8362EE}" type="slidenum">
              <a:rPr lang="en-US" smtClean="0"/>
              <a:t>36</a:t>
            </a:fld>
            <a:endParaRPr lang="en-US"/>
          </a:p>
        </p:txBody>
      </p:sp>
    </p:spTree>
    <p:extLst>
      <p:ext uri="{BB962C8B-B14F-4D97-AF65-F5344CB8AC3E}">
        <p14:creationId xmlns:p14="http://schemas.microsoft.com/office/powerpoint/2010/main" val="278472658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smtClean="0"/>
          </a:p>
        </p:txBody>
      </p:sp>
      <p:sp>
        <p:nvSpPr>
          <p:cNvPr id="4" name="Slide Number Placeholder 3"/>
          <p:cNvSpPr>
            <a:spLocks noGrp="1"/>
          </p:cNvSpPr>
          <p:nvPr>
            <p:ph type="sldNum" sz="quarter" idx="10"/>
          </p:nvPr>
        </p:nvSpPr>
        <p:spPr/>
        <p:txBody>
          <a:bodyPr/>
          <a:lstStyle/>
          <a:p>
            <a:fld id="{7A60F03A-8D08-47FF-BD61-2DB64D8362EE}" type="slidenum">
              <a:rPr lang="en-US" smtClean="0"/>
              <a:t>37</a:t>
            </a:fld>
            <a:endParaRPr lang="en-US"/>
          </a:p>
        </p:txBody>
      </p:sp>
    </p:spTree>
    <p:extLst>
      <p:ext uri="{BB962C8B-B14F-4D97-AF65-F5344CB8AC3E}">
        <p14:creationId xmlns:p14="http://schemas.microsoft.com/office/powerpoint/2010/main" val="28688160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6878CBB9-6FF2-4408-8A02-FA250E6DADFF}" type="datetime1">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59130C-D5A7-43F1-8BDF-D4DD1699FE09}" type="slidenum">
              <a:rPr lang="en-US" smtClean="0"/>
              <a:t>‹#›</a:t>
            </a:fld>
            <a:endParaRPr lang="en-US"/>
          </a:p>
        </p:txBody>
      </p:sp>
    </p:spTree>
    <p:extLst>
      <p:ext uri="{BB962C8B-B14F-4D97-AF65-F5344CB8AC3E}">
        <p14:creationId xmlns:p14="http://schemas.microsoft.com/office/powerpoint/2010/main" val="11460820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34F8EC64-8665-4E0B-982B-ED46F077C4AB}" type="datetime1">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59130C-D5A7-43F1-8BDF-D4DD1699FE09}" type="slidenum">
              <a:rPr lang="en-US" smtClean="0"/>
              <a:t>‹#›</a:t>
            </a:fld>
            <a:endParaRPr lang="en-US"/>
          </a:p>
        </p:txBody>
      </p:sp>
    </p:spTree>
    <p:extLst>
      <p:ext uri="{BB962C8B-B14F-4D97-AF65-F5344CB8AC3E}">
        <p14:creationId xmlns:p14="http://schemas.microsoft.com/office/powerpoint/2010/main" val="3818432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72590F1-3ADF-4A76-9FE6-A348BFF9DB9E}" type="datetime1">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59130C-D5A7-43F1-8BDF-D4DD1699FE09}" type="slidenum">
              <a:rPr lang="en-US" smtClean="0"/>
              <a:t>‹#›</a:t>
            </a:fld>
            <a:endParaRPr lang="en-US"/>
          </a:p>
        </p:txBody>
      </p:sp>
    </p:spTree>
    <p:extLst>
      <p:ext uri="{BB962C8B-B14F-4D97-AF65-F5344CB8AC3E}">
        <p14:creationId xmlns:p14="http://schemas.microsoft.com/office/powerpoint/2010/main" val="13313997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7896F7E-2851-4004-9460-41E65427C53D}" type="datetime1">
              <a:rPr lang="en-US" smtClean="0"/>
              <a:t>8/5/2026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59130C-D5A7-43F1-8BDF-D4DD1699FE09}" type="slidenum">
              <a:rPr lang="en-US" smtClean="0"/>
              <a:t>‹#›</a:t>
            </a:fld>
            <a:endParaRPr lang="en-US"/>
          </a:p>
        </p:txBody>
      </p:sp>
    </p:spTree>
    <p:extLst>
      <p:ext uri="{BB962C8B-B14F-4D97-AF65-F5344CB8AC3E}">
        <p14:creationId xmlns:p14="http://schemas.microsoft.com/office/powerpoint/2010/main" val="42791666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F7998FB4-5829-42E0-A9D5-99D0FBB0B6A3}" type="datetime1">
              <a:rPr lang="en-US" smtClean="0"/>
              <a:t>8/5/2026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059130C-D5A7-43F1-8BDF-D4DD1699FE09}" type="slidenum">
              <a:rPr lang="en-US" smtClean="0"/>
              <a:t>‹#›</a:t>
            </a:fld>
            <a:endParaRPr lang="en-US"/>
          </a:p>
        </p:txBody>
      </p:sp>
    </p:spTree>
    <p:extLst>
      <p:ext uri="{BB962C8B-B14F-4D97-AF65-F5344CB8AC3E}">
        <p14:creationId xmlns:p14="http://schemas.microsoft.com/office/powerpoint/2010/main" val="21514491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55D052A-9B3D-435C-B749-96EA1DA0429C}" type="datetime1">
              <a:rPr lang="en-US" smtClean="0"/>
              <a:t>8/5/2026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059130C-D5A7-43F1-8BDF-D4DD1699FE09}" type="slidenum">
              <a:rPr lang="en-US" smtClean="0"/>
              <a:t>‹#›</a:t>
            </a:fld>
            <a:endParaRPr lang="en-US"/>
          </a:p>
        </p:txBody>
      </p:sp>
    </p:spTree>
    <p:extLst>
      <p:ext uri="{BB962C8B-B14F-4D97-AF65-F5344CB8AC3E}">
        <p14:creationId xmlns:p14="http://schemas.microsoft.com/office/powerpoint/2010/main" val="9212890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A722ADC-E74C-4D4C-831A-215E2830B826}" type="datetime1">
              <a:rPr lang="en-US" smtClean="0"/>
              <a:t>8/5/2026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059130C-D5A7-43F1-8BDF-D4DD1699FE09}" type="slidenum">
              <a:rPr lang="en-US" smtClean="0"/>
              <a:t>‹#›</a:t>
            </a:fld>
            <a:endParaRPr lang="en-US"/>
          </a:p>
        </p:txBody>
      </p:sp>
    </p:spTree>
    <p:extLst>
      <p:ext uri="{BB962C8B-B14F-4D97-AF65-F5344CB8AC3E}">
        <p14:creationId xmlns:p14="http://schemas.microsoft.com/office/powerpoint/2010/main" val="22449942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9FC1BB0E-03E3-4611-A204-B76C0E88FDC2}" type="datetime1">
              <a:rPr lang="en-US" smtClean="0"/>
              <a:t>8/5/2026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59130C-D5A7-43F1-8BDF-D4DD1699FE09}" type="slidenum">
              <a:rPr lang="en-US" smtClean="0"/>
              <a:t>‹#›</a:t>
            </a:fld>
            <a:endParaRPr lang="en-US"/>
          </a:p>
        </p:txBody>
      </p:sp>
    </p:spTree>
    <p:extLst>
      <p:ext uri="{BB962C8B-B14F-4D97-AF65-F5344CB8AC3E}">
        <p14:creationId xmlns:p14="http://schemas.microsoft.com/office/powerpoint/2010/main" val="1071824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3959ADC-53DD-4875-BF19-29B108C18F70}" type="datetime1">
              <a:rPr lang="en-US" smtClean="0"/>
              <a:t>8/5/2026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59130C-D5A7-43F1-8BDF-D4DD1699FE09}" type="slidenum">
              <a:rPr lang="en-US" smtClean="0"/>
              <a:t>‹#›</a:t>
            </a:fld>
            <a:endParaRPr lang="en-US"/>
          </a:p>
        </p:txBody>
      </p:sp>
    </p:spTree>
    <p:extLst>
      <p:ext uri="{BB962C8B-B14F-4D97-AF65-F5344CB8AC3E}">
        <p14:creationId xmlns:p14="http://schemas.microsoft.com/office/powerpoint/2010/main" val="16605372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2FBDAE4B-4D99-4659-89DA-3B79C7A8C296}" type="datetime1">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59130C-D5A7-43F1-8BDF-D4DD1699FE09}" type="slidenum">
              <a:rPr lang="en-US" smtClean="0"/>
              <a:t>‹#›</a:t>
            </a:fld>
            <a:endParaRPr lang="en-US"/>
          </a:p>
        </p:txBody>
      </p:sp>
    </p:spTree>
    <p:extLst>
      <p:ext uri="{BB962C8B-B14F-4D97-AF65-F5344CB8AC3E}">
        <p14:creationId xmlns:p14="http://schemas.microsoft.com/office/powerpoint/2010/main" val="3627886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816CE2A-C56E-4CCE-8E86-C37DB779CDCF}" type="datetime1">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59130C-D5A7-43F1-8BDF-D4DD1699FE09}" type="slidenum">
              <a:rPr lang="en-US" smtClean="0"/>
              <a:t>‹#›</a:t>
            </a:fld>
            <a:endParaRPr lang="en-US"/>
          </a:p>
        </p:txBody>
      </p:sp>
    </p:spTree>
    <p:extLst>
      <p:ext uri="{BB962C8B-B14F-4D97-AF65-F5344CB8AC3E}">
        <p14:creationId xmlns:p14="http://schemas.microsoft.com/office/powerpoint/2010/main" val="41737456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4F5DB7C-A5ED-406B-BE59-F684C3C031D1}" type="datetime1">
              <a:rPr lang="en-US" smtClean="0"/>
              <a:t>8/5/2026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059130C-D5A7-43F1-8BDF-D4DD1699FE09}" type="slidenum">
              <a:rPr lang="en-US" smtClean="0"/>
              <a:t>‹#›</a:t>
            </a:fld>
            <a:endParaRPr lang="en-US"/>
          </a:p>
        </p:txBody>
      </p:sp>
    </p:spTree>
    <p:extLst>
      <p:ext uri="{BB962C8B-B14F-4D97-AF65-F5344CB8AC3E}">
        <p14:creationId xmlns:p14="http://schemas.microsoft.com/office/powerpoint/2010/main" val="234348080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3.png"/><Relationship Id="rId7"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4.png"/><Relationship Id="rId9" Type="http://schemas.openxmlformats.org/officeDocument/2006/relationships/image" Target="../media/image23.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34.png"/><Relationship Id="rId4" Type="http://schemas.openxmlformats.org/officeDocument/2006/relationships/image" Target="../media/image33.png"/></Relationships>
</file>

<file path=ppt/slides/_rels/slide3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751840" y="1806027"/>
            <a:ext cx="10830560" cy="1620837"/>
          </a:xfrm>
        </p:spPr>
        <p:txBody>
          <a:bodyPr>
            <a:noAutofit/>
          </a:bodyPr>
          <a:lstStyle/>
          <a:p>
            <a:r>
              <a:rPr lang="en-US" sz="4400" b="1" dirty="0">
                <a:latin typeface="+mn-lt"/>
                <a:cs typeface="Times New Roman" panose="02020603050405020304" pitchFamily="18" charset="0"/>
              </a:rPr>
              <a:t>Design of Secure Remote </a:t>
            </a:r>
            <a:r>
              <a:rPr lang="en-US" sz="4400" b="1" dirty="0" err="1">
                <a:latin typeface="+mn-lt"/>
                <a:cs typeface="Times New Roman" panose="02020603050405020304" pitchFamily="18" charset="0"/>
              </a:rPr>
              <a:t>Diag</a:t>
            </a:r>
            <a:r>
              <a:rPr lang="en-US" sz="4400" b="1" dirty="0">
                <a:latin typeface="+mn-lt"/>
                <a:cs typeface="Times New Roman" panose="02020603050405020304" pitchFamily="18" charset="0"/>
              </a:rPr>
              <a:t> on Container Separation Architecture</a:t>
            </a:r>
          </a:p>
        </p:txBody>
      </p:sp>
      <p:sp>
        <p:nvSpPr>
          <p:cNvPr id="3" name="직사각형 2"/>
          <p:cNvSpPr>
            <a:spLocks noChangeArrowheads="1"/>
          </p:cNvSpPr>
          <p:nvPr/>
        </p:nvSpPr>
        <p:spPr bwMode="auto">
          <a:xfrm>
            <a:off x="3762314" y="3830677"/>
            <a:ext cx="4385881" cy="24929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lnSpc>
                <a:spcPct val="130000"/>
              </a:lnSpc>
              <a:spcBef>
                <a:spcPct val="70000"/>
              </a:spcBef>
              <a:buClr>
                <a:schemeClr val="tx1"/>
              </a:buClr>
              <a:buFont typeface="Wingdings" pitchFamily="2" charset="2"/>
              <a:buChar char="q"/>
              <a:defRPr kumimoji="1" sz="1400" b="1">
                <a:solidFill>
                  <a:schemeClr val="tx1"/>
                </a:solidFill>
                <a:latin typeface="Arial" charset="0"/>
                <a:ea typeface="맑은 고딕" pitchFamily="50" charset="-127"/>
              </a:defRPr>
            </a:lvl1pPr>
            <a:lvl2pPr marL="742950" indent="-285750" eaLnBrk="0" hangingPunct="0">
              <a:lnSpc>
                <a:spcPct val="130000"/>
              </a:lnSpc>
              <a:spcBef>
                <a:spcPct val="50000"/>
              </a:spcBef>
              <a:buFont typeface="Wingdings" pitchFamily="2" charset="2"/>
              <a:buChar char="l"/>
              <a:defRPr kumimoji="1" sz="1200" b="1">
                <a:solidFill>
                  <a:schemeClr val="tx1"/>
                </a:solidFill>
                <a:latin typeface="Arial" charset="0"/>
                <a:ea typeface="맑은 고딕" pitchFamily="50" charset="-127"/>
              </a:defRPr>
            </a:lvl2pPr>
            <a:lvl3pPr marL="1143000" indent="-228600" eaLnBrk="0" hangingPunct="0">
              <a:lnSpc>
                <a:spcPct val="110000"/>
              </a:lnSpc>
              <a:spcBef>
                <a:spcPct val="20000"/>
              </a:spcBef>
              <a:buFont typeface="Trebuchet MS" pitchFamily="34" charset="0"/>
              <a:buChar char="−"/>
              <a:defRPr kumimoji="1" sz="1200">
                <a:solidFill>
                  <a:schemeClr val="tx1"/>
                </a:solidFill>
                <a:latin typeface="Arial" charset="0"/>
                <a:ea typeface="맑은 고딕" pitchFamily="50" charset="-127"/>
              </a:defRPr>
            </a:lvl3pPr>
            <a:lvl4pPr marL="1600200" indent="-228600" eaLnBrk="0" hangingPunct="0">
              <a:lnSpc>
                <a:spcPct val="120000"/>
              </a:lnSpc>
              <a:buFont typeface="Trebuchet MS" pitchFamily="34" charset="0"/>
              <a:buChar char="―"/>
              <a:defRPr kumimoji="1" sz="1200">
                <a:solidFill>
                  <a:schemeClr val="tx1"/>
                </a:solidFill>
                <a:latin typeface="Arial" charset="0"/>
                <a:ea typeface="맑은 고딕" pitchFamily="50" charset="-127"/>
              </a:defRPr>
            </a:lvl4pPr>
            <a:lvl5pPr marL="2057400" indent="-228600" eaLnBrk="0" hangingPunct="0">
              <a:lnSpc>
                <a:spcPct val="120000"/>
              </a:lnSpc>
              <a:buFont typeface="Trebuchet MS" pitchFamily="34" charset="0"/>
              <a:buChar char="―"/>
              <a:defRPr kumimoji="1" sz="1200">
                <a:solidFill>
                  <a:schemeClr val="tx1"/>
                </a:solidFill>
                <a:latin typeface="Arial" charset="0"/>
                <a:ea typeface="맑은 고딕" pitchFamily="50" charset="-127"/>
              </a:defRPr>
            </a:lvl5pPr>
            <a:lvl6pPr marL="2514600" indent="-228600" eaLnBrk="0" fontAlgn="base" hangingPunct="0">
              <a:lnSpc>
                <a:spcPct val="120000"/>
              </a:lnSpc>
              <a:spcBef>
                <a:spcPct val="0"/>
              </a:spcBef>
              <a:spcAft>
                <a:spcPct val="0"/>
              </a:spcAft>
              <a:buFont typeface="Trebuchet MS" pitchFamily="34" charset="0"/>
              <a:buChar char="―"/>
              <a:defRPr kumimoji="1" sz="1200">
                <a:solidFill>
                  <a:schemeClr val="tx1"/>
                </a:solidFill>
                <a:latin typeface="Arial" charset="0"/>
                <a:ea typeface="맑은 고딕" pitchFamily="50" charset="-127"/>
              </a:defRPr>
            </a:lvl6pPr>
            <a:lvl7pPr marL="2971800" indent="-228600" eaLnBrk="0" fontAlgn="base" hangingPunct="0">
              <a:lnSpc>
                <a:spcPct val="120000"/>
              </a:lnSpc>
              <a:spcBef>
                <a:spcPct val="0"/>
              </a:spcBef>
              <a:spcAft>
                <a:spcPct val="0"/>
              </a:spcAft>
              <a:buFont typeface="Trebuchet MS" pitchFamily="34" charset="0"/>
              <a:buChar char="―"/>
              <a:defRPr kumimoji="1" sz="1200">
                <a:solidFill>
                  <a:schemeClr val="tx1"/>
                </a:solidFill>
                <a:latin typeface="Arial" charset="0"/>
                <a:ea typeface="맑은 고딕" pitchFamily="50" charset="-127"/>
              </a:defRPr>
            </a:lvl7pPr>
            <a:lvl8pPr marL="3429000" indent="-228600" eaLnBrk="0" fontAlgn="base" hangingPunct="0">
              <a:lnSpc>
                <a:spcPct val="120000"/>
              </a:lnSpc>
              <a:spcBef>
                <a:spcPct val="0"/>
              </a:spcBef>
              <a:spcAft>
                <a:spcPct val="0"/>
              </a:spcAft>
              <a:buFont typeface="Trebuchet MS" pitchFamily="34" charset="0"/>
              <a:buChar char="―"/>
              <a:defRPr kumimoji="1" sz="1200">
                <a:solidFill>
                  <a:schemeClr val="tx1"/>
                </a:solidFill>
                <a:latin typeface="Arial" charset="0"/>
                <a:ea typeface="맑은 고딕" pitchFamily="50" charset="-127"/>
              </a:defRPr>
            </a:lvl8pPr>
            <a:lvl9pPr marL="3886200" indent="-228600" eaLnBrk="0" fontAlgn="base" hangingPunct="0">
              <a:lnSpc>
                <a:spcPct val="120000"/>
              </a:lnSpc>
              <a:spcBef>
                <a:spcPct val="0"/>
              </a:spcBef>
              <a:spcAft>
                <a:spcPct val="0"/>
              </a:spcAft>
              <a:buFont typeface="Trebuchet MS" pitchFamily="34" charset="0"/>
              <a:buChar char="―"/>
              <a:defRPr kumimoji="1" sz="1200">
                <a:solidFill>
                  <a:schemeClr val="tx1"/>
                </a:solidFill>
                <a:latin typeface="Arial" charset="0"/>
                <a:ea typeface="맑은 고딕" pitchFamily="50" charset="-127"/>
              </a:defRPr>
            </a:lvl9pPr>
          </a:lstStyle>
          <a:p>
            <a:pPr algn="ctr" eaLnBrk="1" hangingPunct="1">
              <a:lnSpc>
                <a:spcPct val="150000"/>
              </a:lnSpc>
              <a:spcBef>
                <a:spcPct val="0"/>
              </a:spcBef>
              <a:buClrTx/>
              <a:buFontTx/>
              <a:buNone/>
            </a:pPr>
            <a:r>
              <a:rPr lang="en-US" altLang="ko-KR" sz="2400" dirty="0" smtClean="0">
                <a:latin typeface="+mn-lt"/>
                <a:ea typeface="LG스마트체 Regular" panose="020B0600000101010101" pitchFamily="50" charset="-127"/>
                <a:cs typeface="Times New Roman" panose="02020603050405020304" pitchFamily="18" charset="0"/>
              </a:rPr>
              <a:t>Candidate: Vu Hoang Phi (phi.vu)</a:t>
            </a:r>
            <a:endParaRPr lang="en-US" altLang="ko-KR" sz="2400" dirty="0">
              <a:latin typeface="+mn-lt"/>
              <a:cs typeface="Times New Roman" panose="02020603050405020304" pitchFamily="18" charset="0"/>
            </a:endParaRPr>
          </a:p>
          <a:p>
            <a:pPr algn="ctr" eaLnBrk="1" hangingPunct="1">
              <a:lnSpc>
                <a:spcPct val="150000"/>
              </a:lnSpc>
              <a:spcBef>
                <a:spcPct val="0"/>
              </a:spcBef>
              <a:buClrTx/>
              <a:buFontTx/>
              <a:buNone/>
            </a:pPr>
            <a:r>
              <a:rPr lang="en-US" altLang="ko-KR" sz="2400" dirty="0" smtClean="0">
                <a:latin typeface="+mn-lt"/>
                <a:ea typeface="LG스마트체 Regular" panose="020B0600000101010101" pitchFamily="50" charset="-127"/>
                <a:cs typeface="Times New Roman" panose="02020603050405020304" pitchFamily="18" charset="0"/>
              </a:rPr>
              <a:t>Supervisor: </a:t>
            </a:r>
            <a:r>
              <a:rPr lang="en-US" altLang="ko-KR" sz="2400" dirty="0">
                <a:latin typeface="+mn-lt"/>
                <a:cs typeface="Times New Roman" panose="02020603050405020304" pitchFamily="18" charset="0"/>
              </a:rPr>
              <a:t>Mr. </a:t>
            </a:r>
            <a:r>
              <a:rPr lang="en-US" sz="2400" dirty="0">
                <a:latin typeface="+mn-lt"/>
                <a:cs typeface="Times New Roman" panose="02020603050405020304" pitchFamily="18" charset="0"/>
              </a:rPr>
              <a:t>Byung Yong Kim</a:t>
            </a:r>
            <a:endParaRPr lang="en-US" altLang="ko-KR" sz="2400" dirty="0" smtClean="0">
              <a:latin typeface="+mn-lt"/>
              <a:ea typeface="LG스마트체 Regular" panose="020B0600000101010101" pitchFamily="50" charset="-127"/>
              <a:cs typeface="Times New Roman" panose="02020603050405020304" pitchFamily="18" charset="0"/>
            </a:endParaRPr>
          </a:p>
          <a:p>
            <a:pPr algn="ctr" eaLnBrk="1" hangingPunct="1">
              <a:lnSpc>
                <a:spcPct val="150000"/>
              </a:lnSpc>
              <a:spcBef>
                <a:spcPct val="0"/>
              </a:spcBef>
              <a:buClrTx/>
              <a:buFontTx/>
              <a:buNone/>
            </a:pPr>
            <a:r>
              <a:rPr lang="en-US" sz="2400" dirty="0" smtClean="0">
                <a:latin typeface="+mn-lt"/>
                <a:cs typeface="Times New Roman" panose="02020603050405020304" pitchFamily="18" charset="0"/>
              </a:rPr>
              <a:t>LGEDV – August 2026</a:t>
            </a:r>
          </a:p>
          <a:p>
            <a:pPr algn="ctr" eaLnBrk="1" hangingPunct="1">
              <a:lnSpc>
                <a:spcPct val="100000"/>
              </a:lnSpc>
              <a:spcBef>
                <a:spcPct val="0"/>
              </a:spcBef>
              <a:buClrTx/>
              <a:buNone/>
            </a:pPr>
            <a:endParaRPr lang="ko-KR" altLang="en-US" sz="2400" dirty="0">
              <a:latin typeface="+mj-lt"/>
              <a:ea typeface="LG스마트체 Regular" panose="020B0600000101010101" pitchFamily="50" charset="-127"/>
            </a:endParaRPr>
          </a:p>
          <a:p>
            <a:pPr algn="ctr" eaLnBrk="1" hangingPunct="1">
              <a:lnSpc>
                <a:spcPct val="100000"/>
              </a:lnSpc>
              <a:spcBef>
                <a:spcPct val="0"/>
              </a:spcBef>
              <a:buClrTx/>
              <a:buFontTx/>
              <a:buNone/>
            </a:pPr>
            <a:endParaRPr lang="ko-KR" altLang="en-US" sz="2400" dirty="0">
              <a:latin typeface="+mj-lt"/>
              <a:ea typeface="LG스마트체 Regular" panose="020B0600000101010101" pitchFamily="50" charset="-127"/>
            </a:endParaRPr>
          </a:p>
        </p:txBody>
      </p:sp>
      <p:sp>
        <p:nvSpPr>
          <p:cNvPr id="4" name="Slide Number Placeholder 3"/>
          <p:cNvSpPr>
            <a:spLocks noGrp="1"/>
          </p:cNvSpPr>
          <p:nvPr>
            <p:ph type="sldNum" sz="quarter" idx="12"/>
          </p:nvPr>
        </p:nvSpPr>
        <p:spPr/>
        <p:txBody>
          <a:bodyPr/>
          <a:lstStyle/>
          <a:p>
            <a:fld id="{0059130C-D5A7-43F1-8BDF-D4DD1699FE09}" type="slidenum">
              <a:rPr lang="en-US" smtClean="0"/>
              <a:t>1</a:t>
            </a:fld>
            <a:endParaRPr lang="en-US" dirty="0"/>
          </a:p>
        </p:txBody>
      </p:sp>
    </p:spTree>
    <p:extLst>
      <p:ext uri="{BB962C8B-B14F-4D97-AF65-F5344CB8AC3E}">
        <p14:creationId xmlns:p14="http://schemas.microsoft.com/office/powerpoint/2010/main" val="241741742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2618"/>
            <a:ext cx="10515600" cy="1325563"/>
          </a:xfrm>
        </p:spPr>
        <p:txBody>
          <a:bodyPr/>
          <a:lstStyle/>
          <a:p>
            <a:pPr algn="ctr"/>
            <a:r>
              <a:rPr lang="en-US" dirty="0" smtClean="0">
                <a:latin typeface="+mn-lt"/>
                <a:cs typeface="Times New Roman" panose="02020603050405020304" pitchFamily="18" charset="0"/>
              </a:rPr>
              <a:t>Table of contents</a:t>
            </a:r>
            <a:endParaRPr lang="en-US" dirty="0">
              <a:latin typeface="+mn-lt"/>
              <a:cs typeface="Times New Roman" panose="02020603050405020304" pitchFamily="18" charset="0"/>
            </a:endParaRPr>
          </a:p>
        </p:txBody>
      </p:sp>
      <p:grpSp>
        <p:nvGrpSpPr>
          <p:cNvPr id="5" name="Group 3"/>
          <p:cNvGrpSpPr>
            <a:grpSpLocks/>
          </p:cNvGrpSpPr>
          <p:nvPr/>
        </p:nvGrpSpPr>
        <p:grpSpPr bwMode="auto">
          <a:xfrm>
            <a:off x="2431279" y="1160030"/>
            <a:ext cx="762000" cy="665163"/>
            <a:chOff x="1110" y="2656"/>
            <a:chExt cx="1549" cy="1351"/>
          </a:xfrm>
          <a:solidFill>
            <a:schemeClr val="tx1">
              <a:lumMod val="85000"/>
              <a:lumOff val="15000"/>
            </a:schemeClr>
          </a:solidFill>
        </p:grpSpPr>
        <p:sp>
          <p:nvSpPr>
            <p:cNvPr id="6" name="AutoShape 4"/>
            <p:cNvSpPr>
              <a:spLocks noChangeArrowheads="1"/>
            </p:cNvSpPr>
            <p:nvPr/>
          </p:nvSpPr>
          <p:spPr bwMode="gray">
            <a:xfrm>
              <a:off x="1123" y="2679"/>
              <a:ext cx="1536" cy="1328"/>
            </a:xfrm>
            <a:prstGeom prst="hexagon">
              <a:avLst>
                <a:gd name="adj" fmla="val 28916"/>
                <a:gd name="vf" fmla="val 115470"/>
              </a:avLst>
            </a:prstGeom>
            <a:grpFill/>
            <a:ln>
              <a:noFill/>
            </a:ln>
            <a:effectLst/>
            <a:extLst>
              <a:ext uri="{91240B29-F687-4F45-9708-019B960494DF}">
                <a14:hiddenLine xmlns:a14="http://schemas.microsoft.com/office/drawing/2010/main" w="9525">
                  <a:solidFill>
                    <a:srgbClr val="C0C0C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Font typeface="Wingdings" panose="05000000000000000000" pitchFamily="2" charset="2"/>
                <a:buChar char="§"/>
                <a:defRPr sz="3200">
                  <a:solidFill>
                    <a:schemeClr val="tx1"/>
                  </a:solidFill>
                  <a:latin typeface="Arial" panose="020B0604020202020204" pitchFamily="34" charset="0"/>
                </a:defRPr>
              </a:lvl1pPr>
              <a:lvl2pPr marL="742950" indent="-285750">
                <a:spcBef>
                  <a:spcPct val="20000"/>
                </a:spcBef>
                <a:buClr>
                  <a:schemeClr val="accent1"/>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tx1"/>
                </a:buClr>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ClrTx/>
                <a:buFontTx/>
                <a:buNone/>
              </a:pPr>
              <a:endParaRPr lang="en-US" sz="2500">
                <a:cs typeface="Arial" panose="020B0604020202020204" pitchFamily="34" charset="0"/>
              </a:endParaRPr>
            </a:p>
          </p:txBody>
        </p:sp>
        <p:sp>
          <p:nvSpPr>
            <p:cNvPr id="7" name="AutoShape 5"/>
            <p:cNvSpPr>
              <a:spLocks noChangeArrowheads="1"/>
            </p:cNvSpPr>
            <p:nvPr/>
          </p:nvSpPr>
          <p:spPr bwMode="gray">
            <a:xfrm>
              <a:off x="1110" y="2656"/>
              <a:ext cx="1536" cy="1328"/>
            </a:xfrm>
            <a:prstGeom prst="hexagon">
              <a:avLst>
                <a:gd name="adj" fmla="val 28916"/>
                <a:gd name="vf" fmla="val 115470"/>
              </a:avLst>
            </a:prstGeom>
            <a:grpFill/>
            <a:ln w="9525">
              <a:solidFill>
                <a:srgbClr val="C0C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Font typeface="Wingdings" panose="05000000000000000000" pitchFamily="2" charset="2"/>
                <a:buChar char="§"/>
                <a:defRPr sz="3200">
                  <a:solidFill>
                    <a:schemeClr val="tx1"/>
                  </a:solidFill>
                  <a:latin typeface="Arial" panose="020B0604020202020204" pitchFamily="34" charset="0"/>
                </a:defRPr>
              </a:lvl1pPr>
              <a:lvl2pPr marL="742950" indent="-285750">
                <a:spcBef>
                  <a:spcPct val="20000"/>
                </a:spcBef>
                <a:buClr>
                  <a:schemeClr val="accent1"/>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tx1"/>
                </a:buClr>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ClrTx/>
                <a:buFontTx/>
                <a:buNone/>
              </a:pPr>
              <a:endParaRPr lang="en-US" sz="2500">
                <a:cs typeface="Arial" panose="020B0604020202020204" pitchFamily="34" charset="0"/>
              </a:endParaRPr>
            </a:p>
          </p:txBody>
        </p:sp>
        <p:sp>
          <p:nvSpPr>
            <p:cNvPr id="8" name="AutoShape 6"/>
            <p:cNvSpPr>
              <a:spLocks noChangeArrowheads="1"/>
            </p:cNvSpPr>
            <p:nvPr/>
          </p:nvSpPr>
          <p:spPr bwMode="gray">
            <a:xfrm>
              <a:off x="1200" y="2737"/>
              <a:ext cx="1349" cy="1167"/>
            </a:xfrm>
            <a:prstGeom prst="hexagon">
              <a:avLst>
                <a:gd name="adj" fmla="val 28896"/>
                <a:gd name="vf" fmla="val 115470"/>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sz="2500">
                <a:cs typeface="Arial" panose="020B0604020202020204" pitchFamily="34" charset="0"/>
              </a:endParaRPr>
            </a:p>
          </p:txBody>
        </p:sp>
      </p:grpSp>
      <p:grpSp>
        <p:nvGrpSpPr>
          <p:cNvPr id="9" name="Group 7"/>
          <p:cNvGrpSpPr>
            <a:grpSpLocks/>
          </p:cNvGrpSpPr>
          <p:nvPr/>
        </p:nvGrpSpPr>
        <p:grpSpPr bwMode="auto">
          <a:xfrm>
            <a:off x="2463253" y="2717757"/>
            <a:ext cx="762000" cy="665163"/>
            <a:chOff x="3174" y="2656"/>
            <a:chExt cx="1549" cy="1351"/>
          </a:xfrm>
          <a:solidFill>
            <a:schemeClr val="tx1">
              <a:lumMod val="85000"/>
              <a:lumOff val="15000"/>
            </a:schemeClr>
          </a:solidFill>
        </p:grpSpPr>
        <p:sp>
          <p:nvSpPr>
            <p:cNvPr id="10" name="AutoShape 8"/>
            <p:cNvSpPr>
              <a:spLocks noChangeArrowheads="1"/>
            </p:cNvSpPr>
            <p:nvPr/>
          </p:nvSpPr>
          <p:spPr bwMode="gray">
            <a:xfrm>
              <a:off x="3187" y="2679"/>
              <a:ext cx="1536" cy="1328"/>
            </a:xfrm>
            <a:prstGeom prst="hexagon">
              <a:avLst>
                <a:gd name="adj" fmla="val 28916"/>
                <a:gd name="vf" fmla="val 115470"/>
              </a:avLst>
            </a:prstGeom>
            <a:grpFill/>
            <a:ln>
              <a:noFill/>
            </a:ln>
            <a:effectLst/>
            <a:extLst>
              <a:ext uri="{91240B29-F687-4F45-9708-019B960494DF}">
                <a14:hiddenLine xmlns:a14="http://schemas.microsoft.com/office/drawing/2010/main" w="9525">
                  <a:solidFill>
                    <a:srgbClr val="C0C0C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Font typeface="Wingdings" panose="05000000000000000000" pitchFamily="2" charset="2"/>
                <a:buChar char="§"/>
                <a:defRPr sz="3200">
                  <a:solidFill>
                    <a:schemeClr val="tx1"/>
                  </a:solidFill>
                  <a:latin typeface="Arial" panose="020B0604020202020204" pitchFamily="34" charset="0"/>
                </a:defRPr>
              </a:lvl1pPr>
              <a:lvl2pPr marL="742950" indent="-285750">
                <a:spcBef>
                  <a:spcPct val="20000"/>
                </a:spcBef>
                <a:buClr>
                  <a:schemeClr val="accent1"/>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tx1"/>
                </a:buClr>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ClrTx/>
                <a:buFontTx/>
                <a:buNone/>
              </a:pPr>
              <a:endParaRPr lang="en-US" sz="2500">
                <a:cs typeface="Arial" panose="020B0604020202020204" pitchFamily="34" charset="0"/>
              </a:endParaRPr>
            </a:p>
          </p:txBody>
        </p:sp>
        <p:sp>
          <p:nvSpPr>
            <p:cNvPr id="11" name="AutoShape 9"/>
            <p:cNvSpPr>
              <a:spLocks noChangeArrowheads="1"/>
            </p:cNvSpPr>
            <p:nvPr/>
          </p:nvSpPr>
          <p:spPr bwMode="gray">
            <a:xfrm>
              <a:off x="3174" y="2656"/>
              <a:ext cx="1536" cy="1328"/>
            </a:xfrm>
            <a:prstGeom prst="hexagon">
              <a:avLst>
                <a:gd name="adj" fmla="val 28916"/>
                <a:gd name="vf" fmla="val 115470"/>
              </a:avLst>
            </a:prstGeom>
            <a:grpFill/>
            <a:ln w="9525">
              <a:solidFill>
                <a:srgbClr val="C0C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Font typeface="Wingdings" panose="05000000000000000000" pitchFamily="2" charset="2"/>
                <a:buChar char="§"/>
                <a:defRPr sz="3200">
                  <a:solidFill>
                    <a:schemeClr val="tx1"/>
                  </a:solidFill>
                  <a:latin typeface="Arial" panose="020B0604020202020204" pitchFamily="34" charset="0"/>
                </a:defRPr>
              </a:lvl1pPr>
              <a:lvl2pPr marL="742950" indent="-285750">
                <a:spcBef>
                  <a:spcPct val="20000"/>
                </a:spcBef>
                <a:buClr>
                  <a:schemeClr val="accent1"/>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tx1"/>
                </a:buClr>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ClrTx/>
                <a:buFontTx/>
                <a:buNone/>
              </a:pPr>
              <a:endParaRPr lang="en-US" sz="2500">
                <a:cs typeface="Arial" panose="020B0604020202020204" pitchFamily="34" charset="0"/>
              </a:endParaRPr>
            </a:p>
          </p:txBody>
        </p:sp>
        <p:sp>
          <p:nvSpPr>
            <p:cNvPr id="12" name="AutoShape 10"/>
            <p:cNvSpPr>
              <a:spLocks noChangeArrowheads="1"/>
            </p:cNvSpPr>
            <p:nvPr/>
          </p:nvSpPr>
          <p:spPr bwMode="gray">
            <a:xfrm>
              <a:off x="3264" y="2737"/>
              <a:ext cx="1349" cy="1167"/>
            </a:xfrm>
            <a:prstGeom prst="hexagon">
              <a:avLst>
                <a:gd name="adj" fmla="val 28896"/>
                <a:gd name="vf" fmla="val 115470"/>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sz="2500">
                <a:cs typeface="Arial" panose="020B0604020202020204" pitchFamily="34" charset="0"/>
              </a:endParaRPr>
            </a:p>
          </p:txBody>
        </p:sp>
      </p:grpSp>
      <p:sp>
        <p:nvSpPr>
          <p:cNvPr id="13" name="Line 11"/>
          <p:cNvSpPr>
            <a:spLocks noChangeShapeType="1"/>
          </p:cNvSpPr>
          <p:nvPr/>
        </p:nvSpPr>
        <p:spPr bwMode="auto">
          <a:xfrm flipV="1">
            <a:off x="3231648" y="1763204"/>
            <a:ext cx="6539130" cy="5723"/>
          </a:xfrm>
          <a:prstGeom prst="line">
            <a:avLst/>
          </a:prstGeom>
          <a:noFill/>
          <a:ln w="25400">
            <a:solidFill>
              <a:srgbClr val="C0C0C0"/>
            </a:solidFill>
            <a:prstDash val="sysDot"/>
            <a:round/>
            <a:headEnd/>
            <a:tailEnd type="oval"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2500">
              <a:latin typeface="Arial" panose="020B0604020202020204" pitchFamily="34" charset="0"/>
              <a:cs typeface="Arial" panose="020B0604020202020204" pitchFamily="34" charset="0"/>
            </a:endParaRPr>
          </a:p>
        </p:txBody>
      </p:sp>
      <p:sp>
        <p:nvSpPr>
          <p:cNvPr id="14" name="Text Box 13"/>
          <p:cNvSpPr txBox="1">
            <a:spLocks noChangeArrowheads="1"/>
          </p:cNvSpPr>
          <p:nvPr/>
        </p:nvSpPr>
        <p:spPr bwMode="gray">
          <a:xfrm>
            <a:off x="2614206" y="1238084"/>
            <a:ext cx="362600"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Font typeface="Wingdings" panose="05000000000000000000" pitchFamily="2" charset="2"/>
              <a:buChar char="§"/>
              <a:defRPr sz="3200">
                <a:solidFill>
                  <a:schemeClr val="tx1"/>
                </a:solidFill>
                <a:latin typeface="Arial" panose="020B0604020202020204" pitchFamily="34" charset="0"/>
              </a:defRPr>
            </a:lvl1pPr>
            <a:lvl2pPr marL="742950" indent="-285750">
              <a:spcBef>
                <a:spcPct val="20000"/>
              </a:spcBef>
              <a:buClr>
                <a:schemeClr val="accent1"/>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tx1"/>
              </a:buClr>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a:spcBef>
                <a:spcPct val="0"/>
              </a:spcBef>
              <a:buClrTx/>
              <a:buFontTx/>
              <a:buNone/>
            </a:pPr>
            <a:r>
              <a:rPr lang="en-US" sz="2500" b="1" dirty="0">
                <a:solidFill>
                  <a:schemeClr val="bg1"/>
                </a:solidFill>
                <a:cs typeface="Arial" panose="020B0604020202020204" pitchFamily="34" charset="0"/>
              </a:rPr>
              <a:t>1</a:t>
            </a:r>
          </a:p>
        </p:txBody>
      </p:sp>
      <p:sp>
        <p:nvSpPr>
          <p:cNvPr id="15" name="Line 14"/>
          <p:cNvSpPr>
            <a:spLocks noChangeShapeType="1"/>
          </p:cNvSpPr>
          <p:nvPr/>
        </p:nvSpPr>
        <p:spPr bwMode="auto">
          <a:xfrm>
            <a:off x="3331495" y="3318210"/>
            <a:ext cx="6439283" cy="8926"/>
          </a:xfrm>
          <a:prstGeom prst="line">
            <a:avLst/>
          </a:prstGeom>
          <a:noFill/>
          <a:ln w="25400">
            <a:solidFill>
              <a:srgbClr val="C0C0C0"/>
            </a:solidFill>
            <a:prstDash val="sysDot"/>
            <a:round/>
            <a:headEnd/>
            <a:tailEnd type="oval"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2500">
              <a:latin typeface="Arial" panose="020B0604020202020204" pitchFamily="34" charset="0"/>
              <a:cs typeface="Arial" panose="020B0604020202020204" pitchFamily="34" charset="0"/>
            </a:endParaRPr>
          </a:p>
        </p:txBody>
      </p:sp>
      <p:sp>
        <p:nvSpPr>
          <p:cNvPr id="17" name="Text Box 16"/>
          <p:cNvSpPr txBox="1">
            <a:spLocks noChangeArrowheads="1"/>
          </p:cNvSpPr>
          <p:nvPr/>
        </p:nvSpPr>
        <p:spPr bwMode="gray">
          <a:xfrm>
            <a:off x="2655811" y="2816181"/>
            <a:ext cx="362600"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Font typeface="Wingdings" panose="05000000000000000000" pitchFamily="2" charset="2"/>
              <a:buChar char="§"/>
              <a:defRPr sz="3200">
                <a:solidFill>
                  <a:schemeClr val="tx1"/>
                </a:solidFill>
                <a:latin typeface="Arial" panose="020B0604020202020204" pitchFamily="34" charset="0"/>
              </a:defRPr>
            </a:lvl1pPr>
            <a:lvl2pPr marL="742950" indent="-285750">
              <a:spcBef>
                <a:spcPct val="20000"/>
              </a:spcBef>
              <a:buClr>
                <a:schemeClr val="accent1"/>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tx1"/>
              </a:buClr>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a:spcBef>
                <a:spcPct val="0"/>
              </a:spcBef>
              <a:buClrTx/>
              <a:buFontTx/>
              <a:buNone/>
            </a:pPr>
            <a:r>
              <a:rPr lang="en-US" sz="2500" b="1" dirty="0">
                <a:solidFill>
                  <a:schemeClr val="bg1"/>
                </a:solidFill>
                <a:cs typeface="Arial" panose="020B0604020202020204" pitchFamily="34" charset="0"/>
              </a:rPr>
              <a:t>3</a:t>
            </a:r>
          </a:p>
        </p:txBody>
      </p:sp>
      <p:grpSp>
        <p:nvGrpSpPr>
          <p:cNvPr id="18" name="Group 17"/>
          <p:cNvGrpSpPr>
            <a:grpSpLocks/>
          </p:cNvGrpSpPr>
          <p:nvPr/>
        </p:nvGrpSpPr>
        <p:grpSpPr bwMode="auto">
          <a:xfrm>
            <a:off x="2456858" y="3501165"/>
            <a:ext cx="762000" cy="665163"/>
            <a:chOff x="1110" y="2656"/>
            <a:chExt cx="1549" cy="1351"/>
          </a:xfrm>
          <a:solidFill>
            <a:schemeClr val="tx1">
              <a:lumMod val="85000"/>
              <a:lumOff val="15000"/>
            </a:schemeClr>
          </a:solidFill>
        </p:grpSpPr>
        <p:sp>
          <p:nvSpPr>
            <p:cNvPr id="19" name="AutoShape 18"/>
            <p:cNvSpPr>
              <a:spLocks noChangeArrowheads="1"/>
            </p:cNvSpPr>
            <p:nvPr/>
          </p:nvSpPr>
          <p:spPr bwMode="gray">
            <a:xfrm>
              <a:off x="1123" y="2679"/>
              <a:ext cx="1536" cy="1328"/>
            </a:xfrm>
            <a:prstGeom prst="hexagon">
              <a:avLst>
                <a:gd name="adj" fmla="val 28916"/>
                <a:gd name="vf" fmla="val 115470"/>
              </a:avLst>
            </a:prstGeom>
            <a:grpFill/>
            <a:ln>
              <a:noFill/>
            </a:ln>
            <a:effectLst/>
            <a:extLst>
              <a:ext uri="{91240B29-F687-4F45-9708-019B960494DF}">
                <a14:hiddenLine xmlns:a14="http://schemas.microsoft.com/office/drawing/2010/main" w="9525">
                  <a:solidFill>
                    <a:srgbClr val="C0C0C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Font typeface="Wingdings" panose="05000000000000000000" pitchFamily="2" charset="2"/>
                <a:buChar char="§"/>
                <a:defRPr sz="3200">
                  <a:solidFill>
                    <a:schemeClr val="tx1"/>
                  </a:solidFill>
                  <a:latin typeface="Arial" panose="020B0604020202020204" pitchFamily="34" charset="0"/>
                </a:defRPr>
              </a:lvl1pPr>
              <a:lvl2pPr marL="742950" indent="-285750">
                <a:spcBef>
                  <a:spcPct val="20000"/>
                </a:spcBef>
                <a:buClr>
                  <a:schemeClr val="accent1"/>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tx1"/>
                </a:buClr>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ClrTx/>
                <a:buFontTx/>
                <a:buNone/>
              </a:pPr>
              <a:endParaRPr lang="en-US" sz="2500">
                <a:cs typeface="Arial" panose="020B0604020202020204" pitchFamily="34" charset="0"/>
              </a:endParaRPr>
            </a:p>
          </p:txBody>
        </p:sp>
        <p:sp>
          <p:nvSpPr>
            <p:cNvPr id="20" name="AutoShape 19"/>
            <p:cNvSpPr>
              <a:spLocks noChangeArrowheads="1"/>
            </p:cNvSpPr>
            <p:nvPr/>
          </p:nvSpPr>
          <p:spPr bwMode="gray">
            <a:xfrm>
              <a:off x="1110" y="2656"/>
              <a:ext cx="1536" cy="1328"/>
            </a:xfrm>
            <a:prstGeom prst="hexagon">
              <a:avLst>
                <a:gd name="adj" fmla="val 28916"/>
                <a:gd name="vf" fmla="val 115470"/>
              </a:avLst>
            </a:prstGeom>
            <a:grpFill/>
            <a:ln w="9525">
              <a:solidFill>
                <a:srgbClr val="C0C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Font typeface="Wingdings" panose="05000000000000000000" pitchFamily="2" charset="2"/>
                <a:buChar char="§"/>
                <a:defRPr sz="3200">
                  <a:solidFill>
                    <a:schemeClr val="tx1"/>
                  </a:solidFill>
                  <a:latin typeface="Arial" panose="020B0604020202020204" pitchFamily="34" charset="0"/>
                </a:defRPr>
              </a:lvl1pPr>
              <a:lvl2pPr marL="742950" indent="-285750">
                <a:spcBef>
                  <a:spcPct val="20000"/>
                </a:spcBef>
                <a:buClr>
                  <a:schemeClr val="accent1"/>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tx1"/>
                </a:buClr>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ClrTx/>
                <a:buFontTx/>
                <a:buNone/>
              </a:pPr>
              <a:endParaRPr lang="en-US" sz="2500">
                <a:cs typeface="Arial" panose="020B0604020202020204" pitchFamily="34" charset="0"/>
              </a:endParaRPr>
            </a:p>
          </p:txBody>
        </p:sp>
        <p:sp>
          <p:nvSpPr>
            <p:cNvPr id="21" name="AutoShape 20"/>
            <p:cNvSpPr>
              <a:spLocks noChangeArrowheads="1"/>
            </p:cNvSpPr>
            <p:nvPr/>
          </p:nvSpPr>
          <p:spPr bwMode="gray">
            <a:xfrm>
              <a:off x="1200" y="2737"/>
              <a:ext cx="1349" cy="1167"/>
            </a:xfrm>
            <a:prstGeom prst="hexagon">
              <a:avLst>
                <a:gd name="adj" fmla="val 28896"/>
                <a:gd name="vf" fmla="val 115470"/>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sz="2500">
                <a:cs typeface="Arial" panose="020B0604020202020204" pitchFamily="34" charset="0"/>
              </a:endParaRPr>
            </a:p>
          </p:txBody>
        </p:sp>
      </p:grpSp>
      <p:sp>
        <p:nvSpPr>
          <p:cNvPr id="22" name="Line 25"/>
          <p:cNvSpPr>
            <a:spLocks noChangeShapeType="1"/>
          </p:cNvSpPr>
          <p:nvPr/>
        </p:nvSpPr>
        <p:spPr bwMode="auto">
          <a:xfrm>
            <a:off x="3291865" y="4076643"/>
            <a:ext cx="6478913" cy="50090"/>
          </a:xfrm>
          <a:prstGeom prst="line">
            <a:avLst/>
          </a:prstGeom>
          <a:noFill/>
          <a:ln w="25400">
            <a:solidFill>
              <a:srgbClr val="C0C0C0"/>
            </a:solidFill>
            <a:prstDash val="sysDot"/>
            <a:round/>
            <a:headEnd/>
            <a:tailEnd type="oval"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2500">
              <a:latin typeface="Arial" panose="020B0604020202020204" pitchFamily="34" charset="0"/>
              <a:cs typeface="Arial" panose="020B0604020202020204" pitchFamily="34" charset="0"/>
            </a:endParaRPr>
          </a:p>
        </p:txBody>
      </p:sp>
      <p:sp>
        <p:nvSpPr>
          <p:cNvPr id="23" name="Text Box 26"/>
          <p:cNvSpPr txBox="1">
            <a:spLocks noChangeArrowheads="1"/>
          </p:cNvSpPr>
          <p:nvPr/>
        </p:nvSpPr>
        <p:spPr bwMode="auto">
          <a:xfrm>
            <a:off x="3357073" y="3613221"/>
            <a:ext cx="602187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20000"/>
              </a:spcBef>
              <a:buClr>
                <a:schemeClr val="tx2"/>
              </a:buClr>
              <a:buFont typeface="Wingdings" panose="05000000000000000000" pitchFamily="2" charset="2"/>
              <a:buChar char="§"/>
              <a:defRPr sz="3200">
                <a:solidFill>
                  <a:schemeClr val="tx1"/>
                </a:solidFill>
                <a:latin typeface="Arial" panose="020B0604020202020204" pitchFamily="34" charset="0"/>
              </a:defRPr>
            </a:lvl1pPr>
            <a:lvl2pPr marL="742950" indent="-285750">
              <a:spcBef>
                <a:spcPct val="20000"/>
              </a:spcBef>
              <a:buClr>
                <a:schemeClr val="accent1"/>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tx1"/>
              </a:buClr>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marL="0" lvl="1" indent="0">
              <a:buClr>
                <a:schemeClr val="tx2"/>
              </a:buClr>
              <a:buNone/>
            </a:pPr>
            <a:r>
              <a:rPr lang="en-US" sz="2400" b="1" dirty="0">
                <a:latin typeface="+mn-lt"/>
                <a:cs typeface="Times New Roman" panose="02020603050405020304" pitchFamily="18" charset="0"/>
              </a:rPr>
              <a:t>Design </a:t>
            </a:r>
            <a:r>
              <a:rPr lang="en-US" sz="2400" b="1" dirty="0" smtClean="0">
                <a:latin typeface="+mn-lt"/>
                <a:cs typeface="Times New Roman" panose="02020603050405020304" pitchFamily="18" charset="0"/>
              </a:rPr>
              <a:t>Proposals for Selected Solution</a:t>
            </a:r>
            <a:endParaRPr lang="en-US" sz="2400" b="1" dirty="0">
              <a:latin typeface="+mn-lt"/>
              <a:cs typeface="Times New Roman" panose="02020603050405020304" pitchFamily="18" charset="0"/>
            </a:endParaRPr>
          </a:p>
        </p:txBody>
      </p:sp>
      <p:sp>
        <p:nvSpPr>
          <p:cNvPr id="24" name="Text Box 27"/>
          <p:cNvSpPr txBox="1">
            <a:spLocks noChangeArrowheads="1"/>
          </p:cNvSpPr>
          <p:nvPr/>
        </p:nvSpPr>
        <p:spPr bwMode="gray">
          <a:xfrm>
            <a:off x="2649416" y="3599589"/>
            <a:ext cx="362600" cy="477054"/>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Font typeface="Wingdings" panose="05000000000000000000" pitchFamily="2" charset="2"/>
              <a:buChar char="§"/>
              <a:defRPr sz="3200">
                <a:solidFill>
                  <a:schemeClr val="tx1"/>
                </a:solidFill>
                <a:latin typeface="Arial" panose="020B0604020202020204" pitchFamily="34" charset="0"/>
              </a:defRPr>
            </a:lvl1pPr>
            <a:lvl2pPr marL="742950" indent="-285750">
              <a:spcBef>
                <a:spcPct val="20000"/>
              </a:spcBef>
              <a:buClr>
                <a:schemeClr val="accent1"/>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tx1"/>
              </a:buClr>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a:spcBef>
                <a:spcPct val="0"/>
              </a:spcBef>
              <a:buClrTx/>
              <a:buFontTx/>
              <a:buNone/>
            </a:pPr>
            <a:r>
              <a:rPr lang="en-US" sz="2500" b="1" dirty="0" smtClean="0">
                <a:solidFill>
                  <a:schemeClr val="bg1"/>
                </a:solidFill>
                <a:cs typeface="Arial" panose="020B0604020202020204" pitchFamily="34" charset="0"/>
              </a:rPr>
              <a:t>4</a:t>
            </a:r>
            <a:endParaRPr lang="en-US" sz="2500" b="1" dirty="0">
              <a:solidFill>
                <a:schemeClr val="bg1"/>
              </a:solidFill>
              <a:cs typeface="Arial" panose="020B0604020202020204" pitchFamily="34" charset="0"/>
            </a:endParaRPr>
          </a:p>
        </p:txBody>
      </p:sp>
      <p:sp>
        <p:nvSpPr>
          <p:cNvPr id="25" name="Rectangle 24"/>
          <p:cNvSpPr/>
          <p:nvPr/>
        </p:nvSpPr>
        <p:spPr>
          <a:xfrm>
            <a:off x="3360271" y="1219118"/>
            <a:ext cx="6410508" cy="461665"/>
          </a:xfrm>
          <a:prstGeom prst="rect">
            <a:avLst/>
          </a:prstGeom>
        </p:spPr>
        <p:txBody>
          <a:bodyPr wrap="square">
            <a:spAutoFit/>
          </a:bodyPr>
          <a:lstStyle/>
          <a:p>
            <a:r>
              <a:rPr lang="en-US" sz="2400" b="1" dirty="0" smtClean="0">
                <a:cs typeface="Times New Roman" panose="02020603050405020304" pitchFamily="18" charset="0"/>
              </a:rPr>
              <a:t>Overview</a:t>
            </a:r>
            <a:endParaRPr lang="en-US" sz="2400" b="1" dirty="0">
              <a:cs typeface="Times New Roman" panose="02020603050405020304" pitchFamily="18" charset="0"/>
            </a:endParaRPr>
          </a:p>
        </p:txBody>
      </p:sp>
      <p:grpSp>
        <p:nvGrpSpPr>
          <p:cNvPr id="26" name="Group 17"/>
          <p:cNvGrpSpPr>
            <a:grpSpLocks/>
          </p:cNvGrpSpPr>
          <p:nvPr/>
        </p:nvGrpSpPr>
        <p:grpSpPr bwMode="auto">
          <a:xfrm>
            <a:off x="2456858" y="4276383"/>
            <a:ext cx="762000" cy="665163"/>
            <a:chOff x="1110" y="2656"/>
            <a:chExt cx="1549" cy="1351"/>
          </a:xfrm>
          <a:solidFill>
            <a:schemeClr val="tx1">
              <a:lumMod val="85000"/>
              <a:lumOff val="15000"/>
            </a:schemeClr>
          </a:solidFill>
        </p:grpSpPr>
        <p:sp>
          <p:nvSpPr>
            <p:cNvPr id="27" name="AutoShape 18"/>
            <p:cNvSpPr>
              <a:spLocks noChangeArrowheads="1"/>
            </p:cNvSpPr>
            <p:nvPr/>
          </p:nvSpPr>
          <p:spPr bwMode="gray">
            <a:xfrm>
              <a:off x="1123" y="2679"/>
              <a:ext cx="1536" cy="1328"/>
            </a:xfrm>
            <a:prstGeom prst="hexagon">
              <a:avLst>
                <a:gd name="adj" fmla="val 28916"/>
                <a:gd name="vf" fmla="val 115470"/>
              </a:avLst>
            </a:prstGeom>
            <a:grpFill/>
            <a:ln>
              <a:noFill/>
            </a:ln>
            <a:effectLst/>
            <a:extLst>
              <a:ext uri="{91240B29-F687-4F45-9708-019B960494DF}">
                <a14:hiddenLine xmlns:a14="http://schemas.microsoft.com/office/drawing/2010/main" w="9525">
                  <a:solidFill>
                    <a:srgbClr val="C0C0C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Font typeface="Wingdings" panose="05000000000000000000" pitchFamily="2" charset="2"/>
                <a:buChar char="§"/>
                <a:defRPr sz="3200">
                  <a:solidFill>
                    <a:schemeClr val="tx1"/>
                  </a:solidFill>
                  <a:latin typeface="Arial" panose="020B0604020202020204" pitchFamily="34" charset="0"/>
                </a:defRPr>
              </a:lvl1pPr>
              <a:lvl2pPr marL="742950" indent="-285750">
                <a:spcBef>
                  <a:spcPct val="20000"/>
                </a:spcBef>
                <a:buClr>
                  <a:schemeClr val="accent1"/>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tx1"/>
                </a:buClr>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ClrTx/>
                <a:buFontTx/>
                <a:buNone/>
              </a:pPr>
              <a:endParaRPr lang="en-US" sz="2500">
                <a:cs typeface="Arial" panose="020B0604020202020204" pitchFamily="34" charset="0"/>
              </a:endParaRPr>
            </a:p>
          </p:txBody>
        </p:sp>
        <p:sp>
          <p:nvSpPr>
            <p:cNvPr id="28" name="AutoShape 19"/>
            <p:cNvSpPr>
              <a:spLocks noChangeArrowheads="1"/>
            </p:cNvSpPr>
            <p:nvPr/>
          </p:nvSpPr>
          <p:spPr bwMode="gray">
            <a:xfrm>
              <a:off x="1110" y="2656"/>
              <a:ext cx="1536" cy="1328"/>
            </a:xfrm>
            <a:prstGeom prst="hexagon">
              <a:avLst>
                <a:gd name="adj" fmla="val 28916"/>
                <a:gd name="vf" fmla="val 115470"/>
              </a:avLst>
            </a:prstGeom>
            <a:grpFill/>
            <a:ln w="9525">
              <a:solidFill>
                <a:srgbClr val="C0C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Font typeface="Wingdings" panose="05000000000000000000" pitchFamily="2" charset="2"/>
                <a:buChar char="§"/>
                <a:defRPr sz="3200">
                  <a:solidFill>
                    <a:schemeClr val="tx1"/>
                  </a:solidFill>
                  <a:latin typeface="Arial" panose="020B0604020202020204" pitchFamily="34" charset="0"/>
                </a:defRPr>
              </a:lvl1pPr>
              <a:lvl2pPr marL="742950" indent="-285750">
                <a:spcBef>
                  <a:spcPct val="20000"/>
                </a:spcBef>
                <a:buClr>
                  <a:schemeClr val="accent1"/>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tx1"/>
                </a:buClr>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ClrTx/>
                <a:buFontTx/>
                <a:buNone/>
              </a:pPr>
              <a:endParaRPr lang="en-US" sz="2500">
                <a:cs typeface="Arial" panose="020B0604020202020204" pitchFamily="34" charset="0"/>
              </a:endParaRPr>
            </a:p>
          </p:txBody>
        </p:sp>
        <p:sp>
          <p:nvSpPr>
            <p:cNvPr id="29" name="AutoShape 20"/>
            <p:cNvSpPr>
              <a:spLocks noChangeArrowheads="1"/>
            </p:cNvSpPr>
            <p:nvPr/>
          </p:nvSpPr>
          <p:spPr bwMode="gray">
            <a:xfrm>
              <a:off x="1200" y="2737"/>
              <a:ext cx="1349" cy="1167"/>
            </a:xfrm>
            <a:prstGeom prst="hexagon">
              <a:avLst>
                <a:gd name="adj" fmla="val 28896"/>
                <a:gd name="vf" fmla="val 115470"/>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sz="2500">
                <a:cs typeface="Arial" panose="020B0604020202020204" pitchFamily="34" charset="0"/>
              </a:endParaRPr>
            </a:p>
          </p:txBody>
        </p:sp>
      </p:grpSp>
      <p:sp>
        <p:nvSpPr>
          <p:cNvPr id="30" name="Line 25"/>
          <p:cNvSpPr>
            <a:spLocks noChangeShapeType="1"/>
          </p:cNvSpPr>
          <p:nvPr/>
        </p:nvSpPr>
        <p:spPr bwMode="auto">
          <a:xfrm>
            <a:off x="3291865" y="4851861"/>
            <a:ext cx="6478913" cy="0"/>
          </a:xfrm>
          <a:prstGeom prst="line">
            <a:avLst/>
          </a:prstGeom>
          <a:noFill/>
          <a:ln w="25400">
            <a:solidFill>
              <a:srgbClr val="C0C0C0"/>
            </a:solidFill>
            <a:prstDash val="sysDot"/>
            <a:round/>
            <a:headEnd/>
            <a:tailEnd type="oval"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2500">
              <a:latin typeface="Arial" panose="020B0604020202020204" pitchFamily="34" charset="0"/>
              <a:cs typeface="Arial" panose="020B0604020202020204" pitchFamily="34" charset="0"/>
            </a:endParaRPr>
          </a:p>
        </p:txBody>
      </p:sp>
      <p:sp>
        <p:nvSpPr>
          <p:cNvPr id="31" name="Text Box 26"/>
          <p:cNvSpPr txBox="1">
            <a:spLocks noChangeArrowheads="1"/>
          </p:cNvSpPr>
          <p:nvPr/>
        </p:nvSpPr>
        <p:spPr bwMode="auto">
          <a:xfrm>
            <a:off x="3339726" y="4353709"/>
            <a:ext cx="653913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20000"/>
              </a:spcBef>
              <a:buClr>
                <a:schemeClr val="tx2"/>
              </a:buClr>
              <a:buFont typeface="Wingdings" panose="05000000000000000000" pitchFamily="2" charset="2"/>
              <a:buChar char="§"/>
              <a:defRPr sz="3200">
                <a:solidFill>
                  <a:schemeClr val="tx1"/>
                </a:solidFill>
                <a:latin typeface="Arial" panose="020B0604020202020204" pitchFamily="34" charset="0"/>
              </a:defRPr>
            </a:lvl1pPr>
            <a:lvl2pPr marL="742950" indent="-285750">
              <a:spcBef>
                <a:spcPct val="20000"/>
              </a:spcBef>
              <a:buClr>
                <a:schemeClr val="accent1"/>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tx1"/>
              </a:buClr>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buNone/>
            </a:pPr>
            <a:r>
              <a:rPr lang="en-US" sz="2400" b="1" dirty="0" smtClean="0">
                <a:latin typeface="+mn-lt"/>
                <a:cs typeface="Times New Roman" panose="02020603050405020304" pitchFamily="18" charset="0"/>
              </a:rPr>
              <a:t>Implementation and Verification</a:t>
            </a:r>
            <a:endParaRPr lang="en-US" sz="2400" b="1" dirty="0">
              <a:latin typeface="+mn-lt"/>
              <a:cs typeface="Times New Roman" panose="02020603050405020304" pitchFamily="18" charset="0"/>
            </a:endParaRPr>
          </a:p>
        </p:txBody>
      </p:sp>
      <p:sp>
        <p:nvSpPr>
          <p:cNvPr id="32" name="Text Box 27"/>
          <p:cNvSpPr txBox="1">
            <a:spLocks noChangeArrowheads="1"/>
          </p:cNvSpPr>
          <p:nvPr/>
        </p:nvSpPr>
        <p:spPr bwMode="gray">
          <a:xfrm>
            <a:off x="2649416" y="4374807"/>
            <a:ext cx="362600" cy="477054"/>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Font typeface="Wingdings" panose="05000000000000000000" pitchFamily="2" charset="2"/>
              <a:buChar char="§"/>
              <a:defRPr sz="3200">
                <a:solidFill>
                  <a:schemeClr val="tx1"/>
                </a:solidFill>
                <a:latin typeface="Arial" panose="020B0604020202020204" pitchFamily="34" charset="0"/>
              </a:defRPr>
            </a:lvl1pPr>
            <a:lvl2pPr marL="742950" indent="-285750">
              <a:spcBef>
                <a:spcPct val="20000"/>
              </a:spcBef>
              <a:buClr>
                <a:schemeClr val="accent1"/>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tx1"/>
              </a:buClr>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a:spcBef>
                <a:spcPct val="0"/>
              </a:spcBef>
              <a:buClrTx/>
              <a:buFontTx/>
              <a:buNone/>
            </a:pPr>
            <a:r>
              <a:rPr lang="en-US" sz="2500" b="1" dirty="0" smtClean="0">
                <a:solidFill>
                  <a:schemeClr val="bg1"/>
                </a:solidFill>
                <a:cs typeface="Arial" panose="020B0604020202020204" pitchFamily="34" charset="0"/>
              </a:rPr>
              <a:t>5</a:t>
            </a:r>
            <a:endParaRPr lang="en-US" sz="2500" b="1" dirty="0">
              <a:solidFill>
                <a:schemeClr val="bg1"/>
              </a:solidFill>
              <a:cs typeface="Arial" panose="020B0604020202020204" pitchFamily="34" charset="0"/>
            </a:endParaRPr>
          </a:p>
        </p:txBody>
      </p:sp>
      <p:sp>
        <p:nvSpPr>
          <p:cNvPr id="33" name="Text Box 27"/>
          <p:cNvSpPr txBox="1">
            <a:spLocks noChangeArrowheads="1"/>
          </p:cNvSpPr>
          <p:nvPr/>
        </p:nvSpPr>
        <p:spPr bwMode="gray">
          <a:xfrm>
            <a:off x="2643021" y="5241235"/>
            <a:ext cx="362600" cy="477054"/>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Font typeface="Wingdings" panose="05000000000000000000" pitchFamily="2" charset="2"/>
              <a:buChar char="§"/>
              <a:defRPr sz="3200">
                <a:solidFill>
                  <a:schemeClr val="tx1"/>
                </a:solidFill>
                <a:latin typeface="Arial" panose="020B0604020202020204" pitchFamily="34" charset="0"/>
              </a:defRPr>
            </a:lvl1pPr>
            <a:lvl2pPr marL="742950" indent="-285750">
              <a:spcBef>
                <a:spcPct val="20000"/>
              </a:spcBef>
              <a:buClr>
                <a:schemeClr val="accent1"/>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tx1"/>
              </a:buClr>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a:spcBef>
                <a:spcPct val="0"/>
              </a:spcBef>
              <a:buClrTx/>
              <a:buFontTx/>
              <a:buNone/>
            </a:pPr>
            <a:r>
              <a:rPr lang="en-US" sz="2500" b="1" dirty="0" smtClean="0">
                <a:solidFill>
                  <a:schemeClr val="bg1"/>
                </a:solidFill>
                <a:cs typeface="Arial" panose="020B0604020202020204" pitchFamily="34" charset="0"/>
              </a:rPr>
              <a:t>6</a:t>
            </a:r>
            <a:endParaRPr lang="en-US" sz="2500" b="1" dirty="0">
              <a:solidFill>
                <a:schemeClr val="bg1"/>
              </a:solidFill>
              <a:cs typeface="Arial" panose="020B0604020202020204" pitchFamily="34" charset="0"/>
            </a:endParaRPr>
          </a:p>
        </p:txBody>
      </p:sp>
      <p:grpSp>
        <p:nvGrpSpPr>
          <p:cNvPr id="34" name="Group 7"/>
          <p:cNvGrpSpPr>
            <a:grpSpLocks/>
          </p:cNvGrpSpPr>
          <p:nvPr/>
        </p:nvGrpSpPr>
        <p:grpSpPr bwMode="auto">
          <a:xfrm>
            <a:off x="2450463" y="1958524"/>
            <a:ext cx="762000" cy="665163"/>
            <a:chOff x="3174" y="2656"/>
            <a:chExt cx="1549" cy="1351"/>
          </a:xfrm>
          <a:solidFill>
            <a:schemeClr val="tx1">
              <a:lumMod val="85000"/>
              <a:lumOff val="15000"/>
            </a:schemeClr>
          </a:solidFill>
        </p:grpSpPr>
        <p:sp>
          <p:nvSpPr>
            <p:cNvPr id="35" name="AutoShape 8"/>
            <p:cNvSpPr>
              <a:spLocks noChangeArrowheads="1"/>
            </p:cNvSpPr>
            <p:nvPr/>
          </p:nvSpPr>
          <p:spPr bwMode="gray">
            <a:xfrm>
              <a:off x="3187" y="2679"/>
              <a:ext cx="1536" cy="1328"/>
            </a:xfrm>
            <a:prstGeom prst="hexagon">
              <a:avLst>
                <a:gd name="adj" fmla="val 28916"/>
                <a:gd name="vf" fmla="val 115470"/>
              </a:avLst>
            </a:prstGeom>
            <a:grpFill/>
            <a:ln>
              <a:noFill/>
            </a:ln>
            <a:effectLst/>
            <a:extLst>
              <a:ext uri="{91240B29-F687-4F45-9708-019B960494DF}">
                <a14:hiddenLine xmlns:a14="http://schemas.microsoft.com/office/drawing/2010/main" w="9525">
                  <a:solidFill>
                    <a:srgbClr val="C0C0C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Font typeface="Wingdings" panose="05000000000000000000" pitchFamily="2" charset="2"/>
                <a:buChar char="§"/>
                <a:defRPr sz="3200">
                  <a:solidFill>
                    <a:schemeClr val="tx1"/>
                  </a:solidFill>
                  <a:latin typeface="Arial" panose="020B0604020202020204" pitchFamily="34" charset="0"/>
                </a:defRPr>
              </a:lvl1pPr>
              <a:lvl2pPr marL="742950" indent="-285750">
                <a:spcBef>
                  <a:spcPct val="20000"/>
                </a:spcBef>
                <a:buClr>
                  <a:schemeClr val="accent1"/>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tx1"/>
                </a:buClr>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ClrTx/>
                <a:buFontTx/>
                <a:buNone/>
              </a:pPr>
              <a:endParaRPr lang="en-US" sz="2500">
                <a:cs typeface="Arial" panose="020B0604020202020204" pitchFamily="34" charset="0"/>
              </a:endParaRPr>
            </a:p>
          </p:txBody>
        </p:sp>
        <p:sp>
          <p:nvSpPr>
            <p:cNvPr id="36" name="AutoShape 9"/>
            <p:cNvSpPr>
              <a:spLocks noChangeArrowheads="1"/>
            </p:cNvSpPr>
            <p:nvPr/>
          </p:nvSpPr>
          <p:spPr bwMode="gray">
            <a:xfrm>
              <a:off x="3174" y="2656"/>
              <a:ext cx="1536" cy="1328"/>
            </a:xfrm>
            <a:prstGeom prst="hexagon">
              <a:avLst>
                <a:gd name="adj" fmla="val 28916"/>
                <a:gd name="vf" fmla="val 115470"/>
              </a:avLst>
            </a:prstGeom>
            <a:grpFill/>
            <a:ln w="9525">
              <a:solidFill>
                <a:srgbClr val="C0C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Font typeface="Wingdings" panose="05000000000000000000" pitchFamily="2" charset="2"/>
                <a:buChar char="§"/>
                <a:defRPr sz="3200">
                  <a:solidFill>
                    <a:schemeClr val="tx1"/>
                  </a:solidFill>
                  <a:latin typeface="Arial" panose="020B0604020202020204" pitchFamily="34" charset="0"/>
                </a:defRPr>
              </a:lvl1pPr>
              <a:lvl2pPr marL="742950" indent="-285750">
                <a:spcBef>
                  <a:spcPct val="20000"/>
                </a:spcBef>
                <a:buClr>
                  <a:schemeClr val="accent1"/>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tx1"/>
                </a:buClr>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ClrTx/>
                <a:buFontTx/>
                <a:buNone/>
              </a:pPr>
              <a:endParaRPr lang="en-US" sz="2500">
                <a:cs typeface="Arial" panose="020B0604020202020204" pitchFamily="34" charset="0"/>
              </a:endParaRPr>
            </a:p>
          </p:txBody>
        </p:sp>
        <p:sp>
          <p:nvSpPr>
            <p:cNvPr id="37" name="AutoShape 10"/>
            <p:cNvSpPr>
              <a:spLocks noChangeArrowheads="1"/>
            </p:cNvSpPr>
            <p:nvPr/>
          </p:nvSpPr>
          <p:spPr bwMode="gray">
            <a:xfrm>
              <a:off x="3264" y="2737"/>
              <a:ext cx="1349" cy="1167"/>
            </a:xfrm>
            <a:prstGeom prst="hexagon">
              <a:avLst>
                <a:gd name="adj" fmla="val 28896"/>
                <a:gd name="vf" fmla="val 115470"/>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sz="2500">
                <a:cs typeface="Arial" panose="020B0604020202020204" pitchFamily="34" charset="0"/>
              </a:endParaRPr>
            </a:p>
          </p:txBody>
        </p:sp>
      </p:grpSp>
      <p:sp>
        <p:nvSpPr>
          <p:cNvPr id="38" name="Line 14"/>
          <p:cNvSpPr>
            <a:spLocks noChangeShapeType="1"/>
          </p:cNvSpPr>
          <p:nvPr/>
        </p:nvSpPr>
        <p:spPr bwMode="auto">
          <a:xfrm flipV="1">
            <a:off x="3234342" y="2506044"/>
            <a:ext cx="6536436" cy="4690"/>
          </a:xfrm>
          <a:prstGeom prst="line">
            <a:avLst/>
          </a:prstGeom>
          <a:noFill/>
          <a:ln w="25400">
            <a:solidFill>
              <a:srgbClr val="C0C0C0"/>
            </a:solidFill>
            <a:prstDash val="sysDot"/>
            <a:round/>
            <a:headEnd/>
            <a:tailEnd type="oval"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2500">
              <a:latin typeface="Arial" panose="020B0604020202020204" pitchFamily="34" charset="0"/>
              <a:cs typeface="Arial" panose="020B0604020202020204" pitchFamily="34" charset="0"/>
            </a:endParaRPr>
          </a:p>
        </p:txBody>
      </p:sp>
      <p:sp>
        <p:nvSpPr>
          <p:cNvPr id="39" name="Text Box 15"/>
          <p:cNvSpPr txBox="1">
            <a:spLocks noChangeArrowheads="1"/>
          </p:cNvSpPr>
          <p:nvPr/>
        </p:nvSpPr>
        <p:spPr bwMode="auto">
          <a:xfrm>
            <a:off x="3360748" y="2062610"/>
            <a:ext cx="6410030" cy="4713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20000"/>
              </a:spcBef>
              <a:buClr>
                <a:schemeClr val="tx2"/>
              </a:buClr>
              <a:buFont typeface="Wingdings" panose="05000000000000000000" pitchFamily="2" charset="2"/>
              <a:buChar char="§"/>
              <a:defRPr sz="3200">
                <a:solidFill>
                  <a:schemeClr val="tx1"/>
                </a:solidFill>
                <a:latin typeface="Arial" panose="020B0604020202020204" pitchFamily="34" charset="0"/>
              </a:defRPr>
            </a:lvl1pPr>
            <a:lvl2pPr marL="742950" indent="-285750">
              <a:spcBef>
                <a:spcPct val="20000"/>
              </a:spcBef>
              <a:buClr>
                <a:schemeClr val="accent1"/>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tx1"/>
              </a:buClr>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marL="0" lvl="1" indent="0">
              <a:spcBef>
                <a:spcPts val="0"/>
              </a:spcBef>
              <a:buNone/>
            </a:pPr>
            <a:r>
              <a:rPr lang="en-US" sz="2400" b="1" dirty="0">
                <a:latin typeface="+mn-lt"/>
                <a:cs typeface="Times New Roman" panose="02020603050405020304" pitchFamily="18" charset="0"/>
              </a:rPr>
              <a:t>Problem Identification </a:t>
            </a:r>
          </a:p>
        </p:txBody>
      </p:sp>
      <p:sp>
        <p:nvSpPr>
          <p:cNvPr id="40" name="Text Box 16"/>
          <p:cNvSpPr txBox="1">
            <a:spLocks noChangeArrowheads="1"/>
          </p:cNvSpPr>
          <p:nvPr/>
        </p:nvSpPr>
        <p:spPr bwMode="gray">
          <a:xfrm>
            <a:off x="2643021" y="2056948"/>
            <a:ext cx="362600"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Font typeface="Wingdings" panose="05000000000000000000" pitchFamily="2" charset="2"/>
              <a:buChar char="§"/>
              <a:defRPr sz="3200">
                <a:solidFill>
                  <a:schemeClr val="tx1"/>
                </a:solidFill>
                <a:latin typeface="Arial" panose="020B0604020202020204" pitchFamily="34" charset="0"/>
              </a:defRPr>
            </a:lvl1pPr>
            <a:lvl2pPr marL="742950" indent="-285750">
              <a:spcBef>
                <a:spcPct val="20000"/>
              </a:spcBef>
              <a:buClr>
                <a:schemeClr val="accent1"/>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tx1"/>
              </a:buClr>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a:spcBef>
                <a:spcPct val="0"/>
              </a:spcBef>
              <a:buClrTx/>
              <a:buFontTx/>
              <a:buNone/>
            </a:pPr>
            <a:r>
              <a:rPr lang="en-US" sz="2500" b="1" dirty="0">
                <a:solidFill>
                  <a:schemeClr val="bg1"/>
                </a:solidFill>
                <a:cs typeface="Arial" panose="020B0604020202020204" pitchFamily="34" charset="0"/>
              </a:rPr>
              <a:t>2</a:t>
            </a:r>
          </a:p>
        </p:txBody>
      </p:sp>
      <p:grpSp>
        <p:nvGrpSpPr>
          <p:cNvPr id="41" name="Group 17"/>
          <p:cNvGrpSpPr>
            <a:grpSpLocks/>
          </p:cNvGrpSpPr>
          <p:nvPr/>
        </p:nvGrpSpPr>
        <p:grpSpPr bwMode="auto">
          <a:xfrm>
            <a:off x="2469648" y="5108855"/>
            <a:ext cx="762000" cy="665163"/>
            <a:chOff x="1110" y="2656"/>
            <a:chExt cx="1549" cy="1351"/>
          </a:xfrm>
          <a:solidFill>
            <a:schemeClr val="tx1">
              <a:lumMod val="85000"/>
              <a:lumOff val="15000"/>
            </a:schemeClr>
          </a:solidFill>
        </p:grpSpPr>
        <p:sp>
          <p:nvSpPr>
            <p:cNvPr id="42" name="AutoShape 18"/>
            <p:cNvSpPr>
              <a:spLocks noChangeArrowheads="1"/>
            </p:cNvSpPr>
            <p:nvPr/>
          </p:nvSpPr>
          <p:spPr bwMode="gray">
            <a:xfrm>
              <a:off x="1123" y="2679"/>
              <a:ext cx="1536" cy="1328"/>
            </a:xfrm>
            <a:prstGeom prst="hexagon">
              <a:avLst>
                <a:gd name="adj" fmla="val 28916"/>
                <a:gd name="vf" fmla="val 115470"/>
              </a:avLst>
            </a:prstGeom>
            <a:grpFill/>
            <a:ln>
              <a:noFill/>
            </a:ln>
            <a:effectLst/>
            <a:extLst>
              <a:ext uri="{91240B29-F687-4F45-9708-019B960494DF}">
                <a14:hiddenLine xmlns:a14="http://schemas.microsoft.com/office/drawing/2010/main" w="9525">
                  <a:solidFill>
                    <a:srgbClr val="C0C0C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Font typeface="Wingdings" panose="05000000000000000000" pitchFamily="2" charset="2"/>
                <a:buChar char="§"/>
                <a:defRPr sz="3200">
                  <a:solidFill>
                    <a:schemeClr val="tx1"/>
                  </a:solidFill>
                  <a:latin typeface="Arial" panose="020B0604020202020204" pitchFamily="34" charset="0"/>
                </a:defRPr>
              </a:lvl1pPr>
              <a:lvl2pPr marL="742950" indent="-285750">
                <a:spcBef>
                  <a:spcPct val="20000"/>
                </a:spcBef>
                <a:buClr>
                  <a:schemeClr val="accent1"/>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tx1"/>
                </a:buClr>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ClrTx/>
                <a:buFontTx/>
                <a:buNone/>
              </a:pPr>
              <a:endParaRPr lang="en-US" sz="2500">
                <a:cs typeface="Arial" panose="020B0604020202020204" pitchFamily="34" charset="0"/>
              </a:endParaRPr>
            </a:p>
          </p:txBody>
        </p:sp>
        <p:sp>
          <p:nvSpPr>
            <p:cNvPr id="43" name="AutoShape 19"/>
            <p:cNvSpPr>
              <a:spLocks noChangeArrowheads="1"/>
            </p:cNvSpPr>
            <p:nvPr/>
          </p:nvSpPr>
          <p:spPr bwMode="gray">
            <a:xfrm>
              <a:off x="1110" y="2656"/>
              <a:ext cx="1536" cy="1328"/>
            </a:xfrm>
            <a:prstGeom prst="hexagon">
              <a:avLst>
                <a:gd name="adj" fmla="val 28916"/>
                <a:gd name="vf" fmla="val 115470"/>
              </a:avLst>
            </a:prstGeom>
            <a:grpFill/>
            <a:ln w="9525">
              <a:solidFill>
                <a:srgbClr val="C0C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Font typeface="Wingdings" panose="05000000000000000000" pitchFamily="2" charset="2"/>
                <a:buChar char="§"/>
                <a:defRPr sz="3200">
                  <a:solidFill>
                    <a:schemeClr val="tx1"/>
                  </a:solidFill>
                  <a:latin typeface="Arial" panose="020B0604020202020204" pitchFamily="34" charset="0"/>
                </a:defRPr>
              </a:lvl1pPr>
              <a:lvl2pPr marL="742950" indent="-285750">
                <a:spcBef>
                  <a:spcPct val="20000"/>
                </a:spcBef>
                <a:buClr>
                  <a:schemeClr val="accent1"/>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tx1"/>
                </a:buClr>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ClrTx/>
                <a:buFontTx/>
                <a:buNone/>
              </a:pPr>
              <a:endParaRPr lang="en-US" sz="2500">
                <a:cs typeface="Arial" panose="020B0604020202020204" pitchFamily="34" charset="0"/>
              </a:endParaRPr>
            </a:p>
          </p:txBody>
        </p:sp>
        <p:sp>
          <p:nvSpPr>
            <p:cNvPr id="44" name="AutoShape 20"/>
            <p:cNvSpPr>
              <a:spLocks noChangeArrowheads="1"/>
            </p:cNvSpPr>
            <p:nvPr/>
          </p:nvSpPr>
          <p:spPr bwMode="gray">
            <a:xfrm>
              <a:off x="1200" y="2737"/>
              <a:ext cx="1349" cy="1167"/>
            </a:xfrm>
            <a:prstGeom prst="hexagon">
              <a:avLst>
                <a:gd name="adj" fmla="val 28896"/>
                <a:gd name="vf" fmla="val 115470"/>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sz="2500">
                <a:cs typeface="Arial" panose="020B0604020202020204" pitchFamily="34" charset="0"/>
              </a:endParaRPr>
            </a:p>
          </p:txBody>
        </p:sp>
      </p:grpSp>
      <p:sp>
        <p:nvSpPr>
          <p:cNvPr id="45" name="Line 25"/>
          <p:cNvSpPr>
            <a:spLocks noChangeShapeType="1"/>
          </p:cNvSpPr>
          <p:nvPr/>
        </p:nvSpPr>
        <p:spPr bwMode="auto">
          <a:xfrm flipV="1">
            <a:off x="3304656" y="5654256"/>
            <a:ext cx="6466122" cy="1501"/>
          </a:xfrm>
          <a:prstGeom prst="line">
            <a:avLst/>
          </a:prstGeom>
          <a:noFill/>
          <a:ln w="25400">
            <a:solidFill>
              <a:srgbClr val="C0C0C0"/>
            </a:solidFill>
            <a:prstDash val="sysDot"/>
            <a:round/>
            <a:headEnd/>
            <a:tailEnd type="oval"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2500">
              <a:latin typeface="Arial" panose="020B0604020202020204" pitchFamily="34" charset="0"/>
              <a:cs typeface="Arial" panose="020B0604020202020204" pitchFamily="34" charset="0"/>
            </a:endParaRPr>
          </a:p>
        </p:txBody>
      </p:sp>
      <p:sp>
        <p:nvSpPr>
          <p:cNvPr id="46" name="Text Box 26"/>
          <p:cNvSpPr txBox="1">
            <a:spLocks noChangeArrowheads="1"/>
          </p:cNvSpPr>
          <p:nvPr/>
        </p:nvSpPr>
        <p:spPr bwMode="auto">
          <a:xfrm>
            <a:off x="3363440" y="5169320"/>
            <a:ext cx="649170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20000"/>
              </a:spcBef>
              <a:buClr>
                <a:schemeClr val="tx2"/>
              </a:buClr>
              <a:buFont typeface="Wingdings" panose="05000000000000000000" pitchFamily="2" charset="2"/>
              <a:buChar char="§"/>
              <a:defRPr sz="3200">
                <a:solidFill>
                  <a:schemeClr val="tx1"/>
                </a:solidFill>
                <a:latin typeface="Arial" panose="020B0604020202020204" pitchFamily="34" charset="0"/>
              </a:defRPr>
            </a:lvl1pPr>
            <a:lvl2pPr marL="742950" indent="-285750">
              <a:spcBef>
                <a:spcPct val="20000"/>
              </a:spcBef>
              <a:buClr>
                <a:schemeClr val="accent1"/>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tx1"/>
              </a:buClr>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buNone/>
            </a:pPr>
            <a:r>
              <a:rPr lang="en-US" sz="2400" b="1" dirty="0">
                <a:latin typeface="+mn-lt"/>
                <a:cs typeface="Times New Roman" panose="02020603050405020304" pitchFamily="18" charset="0"/>
              </a:rPr>
              <a:t>Conclusion</a:t>
            </a:r>
          </a:p>
        </p:txBody>
      </p:sp>
      <p:sp>
        <p:nvSpPr>
          <p:cNvPr id="47" name="Text Box 27"/>
          <p:cNvSpPr txBox="1">
            <a:spLocks noChangeArrowheads="1"/>
          </p:cNvSpPr>
          <p:nvPr/>
        </p:nvSpPr>
        <p:spPr bwMode="gray">
          <a:xfrm>
            <a:off x="2667183" y="5205778"/>
            <a:ext cx="362600" cy="477054"/>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Font typeface="Wingdings" panose="05000000000000000000" pitchFamily="2" charset="2"/>
              <a:buChar char="§"/>
              <a:defRPr sz="3200">
                <a:solidFill>
                  <a:schemeClr val="tx1"/>
                </a:solidFill>
                <a:latin typeface="Arial" panose="020B0604020202020204" pitchFamily="34" charset="0"/>
              </a:defRPr>
            </a:lvl1pPr>
            <a:lvl2pPr marL="742950" indent="-285750">
              <a:spcBef>
                <a:spcPct val="20000"/>
              </a:spcBef>
              <a:buClr>
                <a:schemeClr val="accent1"/>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tx1"/>
              </a:buClr>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a:spcBef>
                <a:spcPct val="0"/>
              </a:spcBef>
              <a:buClrTx/>
              <a:buFontTx/>
              <a:buNone/>
            </a:pPr>
            <a:r>
              <a:rPr lang="en-US" sz="2500" b="1" dirty="0" smtClean="0">
                <a:solidFill>
                  <a:schemeClr val="bg1"/>
                </a:solidFill>
                <a:cs typeface="Arial" panose="020B0604020202020204" pitchFamily="34" charset="0"/>
              </a:rPr>
              <a:t>6</a:t>
            </a:r>
            <a:endParaRPr lang="en-US" sz="2500" b="1" dirty="0">
              <a:solidFill>
                <a:schemeClr val="bg1"/>
              </a:solidFill>
              <a:cs typeface="Arial" panose="020B0604020202020204" pitchFamily="34" charset="0"/>
            </a:endParaRPr>
          </a:p>
        </p:txBody>
      </p:sp>
      <p:sp>
        <p:nvSpPr>
          <p:cNvPr id="3" name="Slide Number Placeholder 2"/>
          <p:cNvSpPr>
            <a:spLocks noGrp="1"/>
          </p:cNvSpPr>
          <p:nvPr>
            <p:ph type="sldNum" sz="quarter" idx="12"/>
          </p:nvPr>
        </p:nvSpPr>
        <p:spPr/>
        <p:txBody>
          <a:bodyPr/>
          <a:lstStyle/>
          <a:p>
            <a:fld id="{0059130C-D5A7-43F1-8BDF-D4DD1699FE09}" type="slidenum">
              <a:rPr lang="en-US" smtClean="0"/>
              <a:t>2</a:t>
            </a:fld>
            <a:endParaRPr lang="en-US"/>
          </a:p>
        </p:txBody>
      </p:sp>
      <p:grpSp>
        <p:nvGrpSpPr>
          <p:cNvPr id="51" name="Group 17"/>
          <p:cNvGrpSpPr>
            <a:grpSpLocks/>
          </p:cNvGrpSpPr>
          <p:nvPr/>
        </p:nvGrpSpPr>
        <p:grpSpPr bwMode="auto">
          <a:xfrm>
            <a:off x="2476043" y="5901990"/>
            <a:ext cx="762000" cy="665163"/>
            <a:chOff x="1110" y="2656"/>
            <a:chExt cx="1549" cy="1351"/>
          </a:xfrm>
          <a:solidFill>
            <a:schemeClr val="tx1">
              <a:lumMod val="85000"/>
              <a:lumOff val="15000"/>
            </a:schemeClr>
          </a:solidFill>
        </p:grpSpPr>
        <p:sp>
          <p:nvSpPr>
            <p:cNvPr id="52" name="AutoShape 18"/>
            <p:cNvSpPr>
              <a:spLocks noChangeArrowheads="1"/>
            </p:cNvSpPr>
            <p:nvPr/>
          </p:nvSpPr>
          <p:spPr bwMode="gray">
            <a:xfrm>
              <a:off x="1123" y="2679"/>
              <a:ext cx="1536" cy="1328"/>
            </a:xfrm>
            <a:prstGeom prst="hexagon">
              <a:avLst>
                <a:gd name="adj" fmla="val 28916"/>
                <a:gd name="vf" fmla="val 115470"/>
              </a:avLst>
            </a:prstGeom>
            <a:grpFill/>
            <a:ln>
              <a:noFill/>
            </a:ln>
            <a:effectLst/>
            <a:extLst>
              <a:ext uri="{91240B29-F687-4F45-9708-019B960494DF}">
                <a14:hiddenLine xmlns:a14="http://schemas.microsoft.com/office/drawing/2010/main" w="9525">
                  <a:solidFill>
                    <a:srgbClr val="C0C0C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Font typeface="Wingdings" panose="05000000000000000000" pitchFamily="2" charset="2"/>
                <a:buChar char="§"/>
                <a:defRPr sz="3200">
                  <a:solidFill>
                    <a:schemeClr val="tx1"/>
                  </a:solidFill>
                  <a:latin typeface="Arial" panose="020B0604020202020204" pitchFamily="34" charset="0"/>
                </a:defRPr>
              </a:lvl1pPr>
              <a:lvl2pPr marL="742950" indent="-285750">
                <a:spcBef>
                  <a:spcPct val="20000"/>
                </a:spcBef>
                <a:buClr>
                  <a:schemeClr val="accent1"/>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tx1"/>
                </a:buClr>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ClrTx/>
                <a:buFontTx/>
                <a:buNone/>
              </a:pPr>
              <a:endParaRPr lang="en-US" sz="2500">
                <a:cs typeface="Arial" panose="020B0604020202020204" pitchFamily="34" charset="0"/>
              </a:endParaRPr>
            </a:p>
          </p:txBody>
        </p:sp>
        <p:sp>
          <p:nvSpPr>
            <p:cNvPr id="53" name="AutoShape 19"/>
            <p:cNvSpPr>
              <a:spLocks noChangeArrowheads="1"/>
            </p:cNvSpPr>
            <p:nvPr/>
          </p:nvSpPr>
          <p:spPr bwMode="gray">
            <a:xfrm>
              <a:off x="1110" y="2656"/>
              <a:ext cx="1536" cy="1328"/>
            </a:xfrm>
            <a:prstGeom prst="hexagon">
              <a:avLst>
                <a:gd name="adj" fmla="val 28916"/>
                <a:gd name="vf" fmla="val 115470"/>
              </a:avLst>
            </a:prstGeom>
            <a:grpFill/>
            <a:ln w="9525">
              <a:solidFill>
                <a:srgbClr val="C0C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Font typeface="Wingdings" panose="05000000000000000000" pitchFamily="2" charset="2"/>
                <a:buChar char="§"/>
                <a:defRPr sz="3200">
                  <a:solidFill>
                    <a:schemeClr val="tx1"/>
                  </a:solidFill>
                  <a:latin typeface="Arial" panose="020B0604020202020204" pitchFamily="34" charset="0"/>
                </a:defRPr>
              </a:lvl1pPr>
              <a:lvl2pPr marL="742950" indent="-285750">
                <a:spcBef>
                  <a:spcPct val="20000"/>
                </a:spcBef>
                <a:buClr>
                  <a:schemeClr val="accent1"/>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tx1"/>
                </a:buClr>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ClrTx/>
                <a:buFontTx/>
                <a:buNone/>
              </a:pPr>
              <a:endParaRPr lang="en-US" sz="2500">
                <a:cs typeface="Arial" panose="020B0604020202020204" pitchFamily="34" charset="0"/>
              </a:endParaRPr>
            </a:p>
          </p:txBody>
        </p:sp>
        <p:sp>
          <p:nvSpPr>
            <p:cNvPr id="54" name="AutoShape 20"/>
            <p:cNvSpPr>
              <a:spLocks noChangeArrowheads="1"/>
            </p:cNvSpPr>
            <p:nvPr/>
          </p:nvSpPr>
          <p:spPr bwMode="gray">
            <a:xfrm>
              <a:off x="1200" y="2737"/>
              <a:ext cx="1349" cy="1167"/>
            </a:xfrm>
            <a:prstGeom prst="hexagon">
              <a:avLst>
                <a:gd name="adj" fmla="val 28896"/>
                <a:gd name="vf" fmla="val 115470"/>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sz="2500">
                <a:cs typeface="Arial" panose="020B0604020202020204" pitchFamily="34" charset="0"/>
              </a:endParaRPr>
            </a:p>
          </p:txBody>
        </p:sp>
      </p:grpSp>
      <p:sp>
        <p:nvSpPr>
          <p:cNvPr id="55" name="Line 25"/>
          <p:cNvSpPr>
            <a:spLocks noChangeShapeType="1"/>
          </p:cNvSpPr>
          <p:nvPr/>
        </p:nvSpPr>
        <p:spPr bwMode="auto">
          <a:xfrm>
            <a:off x="3311051" y="6448892"/>
            <a:ext cx="6459727" cy="37834"/>
          </a:xfrm>
          <a:prstGeom prst="line">
            <a:avLst/>
          </a:prstGeom>
          <a:noFill/>
          <a:ln w="25400">
            <a:solidFill>
              <a:srgbClr val="C0C0C0"/>
            </a:solidFill>
            <a:prstDash val="sysDot"/>
            <a:round/>
            <a:headEnd/>
            <a:tailEnd type="oval"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2500">
              <a:latin typeface="Arial" panose="020B0604020202020204" pitchFamily="34" charset="0"/>
              <a:cs typeface="Arial" panose="020B0604020202020204" pitchFamily="34" charset="0"/>
            </a:endParaRPr>
          </a:p>
        </p:txBody>
      </p:sp>
      <p:sp>
        <p:nvSpPr>
          <p:cNvPr id="56" name="Text Box 26"/>
          <p:cNvSpPr txBox="1">
            <a:spLocks noChangeArrowheads="1"/>
          </p:cNvSpPr>
          <p:nvPr/>
        </p:nvSpPr>
        <p:spPr bwMode="auto">
          <a:xfrm>
            <a:off x="3331495" y="5976835"/>
            <a:ext cx="653913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20000"/>
              </a:spcBef>
              <a:buClr>
                <a:schemeClr val="tx2"/>
              </a:buClr>
              <a:buFont typeface="Wingdings" panose="05000000000000000000" pitchFamily="2" charset="2"/>
              <a:buChar char="§"/>
              <a:defRPr sz="3200">
                <a:solidFill>
                  <a:schemeClr val="tx1"/>
                </a:solidFill>
                <a:latin typeface="Arial" panose="020B0604020202020204" pitchFamily="34" charset="0"/>
              </a:defRPr>
            </a:lvl1pPr>
            <a:lvl2pPr marL="742950" indent="-285750">
              <a:spcBef>
                <a:spcPct val="20000"/>
              </a:spcBef>
              <a:buClr>
                <a:schemeClr val="accent1"/>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tx1"/>
              </a:buClr>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buNone/>
            </a:pPr>
            <a:r>
              <a:rPr lang="en-US" sz="2400" b="1" dirty="0" smtClean="0">
                <a:latin typeface="+mn-lt"/>
                <a:cs typeface="Times New Roman" panose="02020603050405020304" pitchFamily="18" charset="0"/>
              </a:rPr>
              <a:t>Q&amp;A</a:t>
            </a:r>
            <a:endParaRPr lang="en-US" sz="2400" b="1" dirty="0">
              <a:latin typeface="+mn-lt"/>
              <a:cs typeface="Times New Roman" panose="02020603050405020304" pitchFamily="18" charset="0"/>
            </a:endParaRPr>
          </a:p>
        </p:txBody>
      </p:sp>
      <p:sp>
        <p:nvSpPr>
          <p:cNvPr id="57" name="Text Box 27"/>
          <p:cNvSpPr txBox="1">
            <a:spLocks noChangeArrowheads="1"/>
          </p:cNvSpPr>
          <p:nvPr/>
        </p:nvSpPr>
        <p:spPr bwMode="gray">
          <a:xfrm>
            <a:off x="2673578" y="5998913"/>
            <a:ext cx="362600" cy="477054"/>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Font typeface="Wingdings" panose="05000000000000000000" pitchFamily="2" charset="2"/>
              <a:buChar char="§"/>
              <a:defRPr sz="3200">
                <a:solidFill>
                  <a:schemeClr val="tx1"/>
                </a:solidFill>
                <a:latin typeface="Arial" panose="020B0604020202020204" pitchFamily="34" charset="0"/>
              </a:defRPr>
            </a:lvl1pPr>
            <a:lvl2pPr marL="742950" indent="-285750">
              <a:spcBef>
                <a:spcPct val="20000"/>
              </a:spcBef>
              <a:buClr>
                <a:schemeClr val="accent1"/>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tx1"/>
              </a:buClr>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a:spcBef>
                <a:spcPct val="0"/>
              </a:spcBef>
              <a:buClrTx/>
              <a:buFontTx/>
              <a:buNone/>
            </a:pPr>
            <a:r>
              <a:rPr lang="en-US" sz="2500" b="1" dirty="0" smtClean="0">
                <a:solidFill>
                  <a:schemeClr val="bg1"/>
                </a:solidFill>
                <a:cs typeface="Arial" panose="020B0604020202020204" pitchFamily="34" charset="0"/>
              </a:rPr>
              <a:t>7</a:t>
            </a:r>
            <a:endParaRPr lang="en-US" sz="2500" b="1" dirty="0">
              <a:solidFill>
                <a:schemeClr val="bg1"/>
              </a:solidFill>
              <a:cs typeface="Arial" panose="020B0604020202020204" pitchFamily="34" charset="0"/>
            </a:endParaRPr>
          </a:p>
        </p:txBody>
      </p:sp>
      <p:sp>
        <p:nvSpPr>
          <p:cNvPr id="58" name="Text Box 15"/>
          <p:cNvSpPr txBox="1">
            <a:spLocks noChangeArrowheads="1"/>
          </p:cNvSpPr>
          <p:nvPr/>
        </p:nvSpPr>
        <p:spPr bwMode="auto">
          <a:xfrm>
            <a:off x="3339726" y="2839285"/>
            <a:ext cx="6248774" cy="4713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20000"/>
              </a:spcBef>
              <a:buClr>
                <a:schemeClr val="tx2"/>
              </a:buClr>
              <a:buFont typeface="Wingdings" panose="05000000000000000000" pitchFamily="2" charset="2"/>
              <a:buChar char="§"/>
              <a:defRPr sz="3200">
                <a:solidFill>
                  <a:schemeClr val="tx1"/>
                </a:solidFill>
                <a:latin typeface="Arial" panose="020B0604020202020204" pitchFamily="34" charset="0"/>
              </a:defRPr>
            </a:lvl1pPr>
            <a:lvl2pPr marL="742950" indent="-285750">
              <a:spcBef>
                <a:spcPct val="20000"/>
              </a:spcBef>
              <a:buClr>
                <a:schemeClr val="accent1"/>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tx1"/>
              </a:buClr>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marL="0" lvl="1" indent="0">
              <a:spcBef>
                <a:spcPts val="0"/>
              </a:spcBef>
              <a:buNone/>
            </a:pPr>
            <a:r>
              <a:rPr lang="en-US" sz="2400" b="1" dirty="0" smtClean="0">
                <a:latin typeface="+mn-lt"/>
                <a:cs typeface="Times New Roman" panose="02020603050405020304" pitchFamily="18" charset="0"/>
              </a:rPr>
              <a:t>Solution Proposals</a:t>
            </a:r>
            <a:endParaRPr lang="en-US" sz="2400" b="1" dirty="0">
              <a:latin typeface="+mn-lt"/>
              <a:cs typeface="Times New Roman" panose="02020603050405020304" pitchFamily="18" charset="0"/>
            </a:endParaRPr>
          </a:p>
        </p:txBody>
      </p:sp>
    </p:spTree>
    <p:extLst>
      <p:ext uri="{BB962C8B-B14F-4D97-AF65-F5344CB8AC3E}">
        <p14:creationId xmlns:p14="http://schemas.microsoft.com/office/powerpoint/2010/main" val="4150609747"/>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300" dirty="0">
                <a:cs typeface="Times New Roman" panose="02020603050405020304" pitchFamily="18" charset="0"/>
              </a:rPr>
              <a:t>1. Overview - DCM and the RDG Module in Toyota </a:t>
            </a:r>
            <a:r>
              <a:rPr lang="en-US" sz="3300" dirty="0" smtClean="0">
                <a:cs typeface="Times New Roman" panose="02020603050405020304" pitchFamily="18" charset="0"/>
              </a:rPr>
              <a:t>24LM</a:t>
            </a:r>
            <a:endParaRPr lang="en-US" dirty="0"/>
          </a:p>
        </p:txBody>
      </p:sp>
      <p:sp>
        <p:nvSpPr>
          <p:cNvPr id="3" name="Content Placeholder 2"/>
          <p:cNvSpPr>
            <a:spLocks noGrp="1"/>
          </p:cNvSpPr>
          <p:nvPr>
            <p:ph idx="1"/>
          </p:nvPr>
        </p:nvSpPr>
        <p:spPr/>
        <p:txBody>
          <a:bodyPr>
            <a:normAutofit/>
          </a:bodyPr>
          <a:lstStyle/>
          <a:p>
            <a:r>
              <a:rPr lang="en-US" dirty="0" smtClean="0"/>
              <a:t>DCM </a:t>
            </a:r>
            <a:r>
              <a:rPr lang="en-US" dirty="0" smtClean="0"/>
              <a:t>simultaneously holding 2 conflicting security roles:</a:t>
            </a:r>
          </a:p>
          <a:p>
            <a:pPr lvl="1"/>
            <a:r>
              <a:rPr lang="en-US" dirty="0" smtClean="0"/>
              <a:t>Entry Point (EP): </a:t>
            </a:r>
            <a:r>
              <a:rPr lang="en-US" dirty="0"/>
              <a:t>wirelessly communicates with TMC Center (HTTP/MQTT), SOME/IP, OTA </a:t>
            </a:r>
            <a:r>
              <a:rPr lang="en-US" dirty="0" smtClean="0"/>
              <a:t>- </a:t>
            </a:r>
            <a:r>
              <a:rPr lang="en-US" dirty="0"/>
              <a:t>the largest attack surface on the vehicle</a:t>
            </a:r>
            <a:r>
              <a:rPr lang="en-US" dirty="0" smtClean="0"/>
              <a:t>.</a:t>
            </a:r>
          </a:p>
          <a:p>
            <a:pPr lvl="1"/>
            <a:r>
              <a:rPr lang="en-US" dirty="0" smtClean="0"/>
              <a:t>Internal diagnostic client: sends UDS requests to MCU and in-vehicle CAN bus.</a:t>
            </a:r>
          </a:p>
          <a:p>
            <a:r>
              <a:rPr lang="en-US" dirty="0" smtClean="0"/>
              <a:t>Confirmed system-level solution: split DCM software </a:t>
            </a:r>
            <a:r>
              <a:rPr lang="en-US" dirty="0" smtClean="0"/>
              <a:t>into 2 partitions running Linux Containers (</a:t>
            </a:r>
            <a:r>
              <a:rPr lang="en-US" dirty="0" smtClean="0"/>
              <a:t>LXC</a:t>
            </a:r>
            <a:r>
              <a:rPr lang="en-US" dirty="0" smtClean="0"/>
              <a:t>): </a:t>
            </a:r>
            <a:r>
              <a:rPr lang="en-US" b="1" dirty="0" smtClean="0"/>
              <a:t>EP container</a:t>
            </a:r>
            <a:r>
              <a:rPr lang="en-US" dirty="0" smtClean="0"/>
              <a:t> and </a:t>
            </a:r>
            <a:r>
              <a:rPr lang="en-US" b="1" dirty="0" smtClean="0"/>
              <a:t>Internal </a:t>
            </a:r>
            <a:r>
              <a:rPr lang="en-US" b="1" dirty="0" smtClean="0"/>
              <a:t>Container</a:t>
            </a:r>
          </a:p>
          <a:p>
            <a:r>
              <a:rPr lang="en-US" b="1" dirty="0" smtClean="0"/>
              <a:t>Remote </a:t>
            </a:r>
            <a:r>
              <a:rPr lang="en-US" b="1" dirty="0" err="1" smtClean="0"/>
              <a:t>Diag</a:t>
            </a:r>
            <a:r>
              <a:rPr lang="en-US" b="1" dirty="0" smtClean="0"/>
              <a:t> (RDG)</a:t>
            </a:r>
            <a:r>
              <a:rPr lang="en-US" dirty="0" smtClean="0"/>
              <a:t>:</a:t>
            </a:r>
          </a:p>
          <a:p>
            <a:pPr lvl="1"/>
            <a:r>
              <a:rPr lang="en-US" dirty="0" smtClean="0"/>
              <a:t>Sends </a:t>
            </a:r>
            <a:r>
              <a:rPr lang="en-US" dirty="0" err="1" smtClean="0"/>
              <a:t>diag</a:t>
            </a:r>
            <a:r>
              <a:rPr lang="en-US" dirty="0" smtClean="0"/>
              <a:t> commands to CAN</a:t>
            </a:r>
          </a:p>
          <a:p>
            <a:pPr lvl="1"/>
            <a:r>
              <a:rPr lang="en-US" dirty="0" smtClean="0"/>
              <a:t>High Fan-out: depends on ~12 services in EP (</a:t>
            </a:r>
            <a:r>
              <a:rPr lang="en-US" dirty="0" err="1" smtClean="0"/>
              <a:t>CommMgr</a:t>
            </a:r>
            <a:r>
              <a:rPr lang="en-US" dirty="0"/>
              <a:t>, OBC</a:t>
            </a:r>
            <a:r>
              <a:rPr lang="en-US" dirty="0" smtClean="0"/>
              <a:t>, </a:t>
            </a:r>
            <a:r>
              <a:rPr lang="en-US" dirty="0" err="1" smtClean="0"/>
              <a:t>DiagMgr</a:t>
            </a:r>
            <a:r>
              <a:rPr lang="en-US" dirty="0" smtClean="0"/>
              <a:t>, </a:t>
            </a:r>
            <a:r>
              <a:rPr lang="en-US" dirty="0" err="1" smtClean="0"/>
              <a:t>PowerMgr</a:t>
            </a:r>
            <a:r>
              <a:rPr lang="en-US" dirty="0" smtClean="0"/>
              <a:t>, </a:t>
            </a:r>
            <a:r>
              <a:rPr lang="en-US" dirty="0" err="1" smtClean="0"/>
              <a:t>MQTTMgr</a:t>
            </a:r>
            <a:r>
              <a:rPr lang="en-US" dirty="0" smtClean="0"/>
              <a:t>, etc.)</a:t>
            </a:r>
            <a:endParaRPr lang="en-US" dirty="0"/>
          </a:p>
        </p:txBody>
      </p:sp>
      <p:sp>
        <p:nvSpPr>
          <p:cNvPr id="4" name="Slide Number Placeholder 3"/>
          <p:cNvSpPr>
            <a:spLocks noGrp="1"/>
          </p:cNvSpPr>
          <p:nvPr>
            <p:ph type="sldNum" sz="quarter" idx="12"/>
          </p:nvPr>
        </p:nvSpPr>
        <p:spPr/>
        <p:txBody>
          <a:bodyPr/>
          <a:lstStyle/>
          <a:p>
            <a:fld id="{0059130C-D5A7-43F1-8BDF-D4DD1699FE09}" type="slidenum">
              <a:rPr lang="en-US" smtClean="0"/>
              <a:t>3</a:t>
            </a:fld>
            <a:endParaRPr lang="en-US"/>
          </a:p>
        </p:txBody>
      </p:sp>
    </p:spTree>
    <p:extLst>
      <p:ext uri="{BB962C8B-B14F-4D97-AF65-F5344CB8AC3E}">
        <p14:creationId xmlns:p14="http://schemas.microsoft.com/office/powerpoint/2010/main" val="1916289846"/>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300" dirty="0">
                <a:cs typeface="Times New Roman" panose="02020603050405020304" pitchFamily="18" charset="0"/>
              </a:rPr>
              <a:t>1. Overview - DCM and the RDG Module in Toyota </a:t>
            </a:r>
            <a:r>
              <a:rPr lang="en-US" sz="3300" dirty="0" smtClean="0">
                <a:cs typeface="Times New Roman" panose="02020603050405020304" pitchFamily="18" charset="0"/>
              </a:rPr>
              <a:t>24LM</a:t>
            </a:r>
            <a:endParaRPr lang="en-US" dirty="0"/>
          </a:p>
        </p:txBody>
      </p:sp>
      <p:sp>
        <p:nvSpPr>
          <p:cNvPr id="4" name="Slide Number Placeholder 3"/>
          <p:cNvSpPr>
            <a:spLocks noGrp="1"/>
          </p:cNvSpPr>
          <p:nvPr>
            <p:ph type="sldNum" sz="quarter" idx="12"/>
          </p:nvPr>
        </p:nvSpPr>
        <p:spPr>
          <a:xfrm>
            <a:off x="9189811" y="6356350"/>
            <a:ext cx="2163989" cy="365125"/>
          </a:xfrm>
        </p:spPr>
        <p:txBody>
          <a:bodyPr/>
          <a:lstStyle/>
          <a:p>
            <a:fld id="{0059130C-D5A7-43F1-8BDF-D4DD1699FE09}" type="slidenum">
              <a:rPr lang="en-US" smtClean="0"/>
              <a:t>4</a:t>
            </a:fld>
            <a:endParaRPr lang="en-US" dirty="0"/>
          </a:p>
        </p:txBody>
      </p:sp>
      <p:sp>
        <p:nvSpPr>
          <p:cNvPr id="5" name="AutoShape 2" descr="http://collab.lge.com/main/download/attachments/3435532529/image-2026-2-23_15-43-36.png?version=1&amp;modificationDate=1771829016000&amp;api=v2"/>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6" name="Rectangle 25"/>
          <p:cNvSpPr/>
          <p:nvPr/>
        </p:nvSpPr>
        <p:spPr>
          <a:xfrm>
            <a:off x="2676524" y="1627188"/>
            <a:ext cx="6010275" cy="4948237"/>
          </a:xfrm>
          <a:prstGeom prst="rect">
            <a:avLst/>
          </a:prstGeom>
          <a:solidFill>
            <a:srgbClr val="FFFFE0"/>
          </a:solidFill>
          <a:ln w="19050">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r>
              <a:rPr lang="en-US" dirty="0" smtClean="0">
                <a:solidFill>
                  <a:schemeClr val="tx1">
                    <a:lumMod val="95000"/>
                    <a:lumOff val="5000"/>
                  </a:schemeClr>
                </a:solidFill>
              </a:rPr>
              <a:t>DCM</a:t>
            </a:r>
            <a:endParaRPr lang="en-US" dirty="0">
              <a:solidFill>
                <a:schemeClr val="tx1">
                  <a:lumMod val="95000"/>
                  <a:lumOff val="5000"/>
                </a:schemeClr>
              </a:solidFill>
            </a:endParaRPr>
          </a:p>
        </p:txBody>
      </p:sp>
      <p:sp>
        <p:nvSpPr>
          <p:cNvPr id="27" name="Rectangle 26"/>
          <p:cNvSpPr/>
          <p:nvPr/>
        </p:nvSpPr>
        <p:spPr>
          <a:xfrm>
            <a:off x="2948031" y="1995489"/>
            <a:ext cx="2811221" cy="3805826"/>
          </a:xfrm>
          <a:prstGeom prst="rect">
            <a:avLst/>
          </a:prstGeom>
          <a:solidFill>
            <a:srgbClr val="FFFFE0"/>
          </a:solidFill>
          <a:ln w="19050">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r>
              <a:rPr lang="en-US" dirty="0" smtClean="0">
                <a:solidFill>
                  <a:schemeClr val="tx1">
                    <a:lumMod val="95000"/>
                    <a:lumOff val="5000"/>
                  </a:schemeClr>
                </a:solidFill>
              </a:rPr>
              <a:t>EP Container</a:t>
            </a:r>
            <a:endParaRPr lang="en-US" dirty="0">
              <a:solidFill>
                <a:schemeClr val="tx1">
                  <a:lumMod val="95000"/>
                  <a:lumOff val="5000"/>
                </a:schemeClr>
              </a:solidFill>
            </a:endParaRPr>
          </a:p>
        </p:txBody>
      </p:sp>
      <p:sp>
        <p:nvSpPr>
          <p:cNvPr id="28" name="Rectangle 27"/>
          <p:cNvSpPr/>
          <p:nvPr/>
        </p:nvSpPr>
        <p:spPr>
          <a:xfrm>
            <a:off x="5883079" y="1995489"/>
            <a:ext cx="2638426" cy="2672318"/>
          </a:xfrm>
          <a:prstGeom prst="rect">
            <a:avLst/>
          </a:prstGeom>
          <a:solidFill>
            <a:srgbClr val="FFFFE0"/>
          </a:solidFill>
          <a:ln w="19050">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r>
              <a:rPr lang="en-US" dirty="0" smtClean="0">
                <a:solidFill>
                  <a:schemeClr val="tx1">
                    <a:lumMod val="95000"/>
                    <a:lumOff val="5000"/>
                  </a:schemeClr>
                </a:solidFill>
              </a:rPr>
              <a:t>Internal Container</a:t>
            </a:r>
            <a:endParaRPr lang="en-US" dirty="0">
              <a:solidFill>
                <a:schemeClr val="tx1">
                  <a:lumMod val="95000"/>
                  <a:lumOff val="5000"/>
                </a:schemeClr>
              </a:solidFill>
            </a:endParaRPr>
          </a:p>
        </p:txBody>
      </p:sp>
      <p:sp>
        <p:nvSpPr>
          <p:cNvPr id="29" name="Rectangle 28"/>
          <p:cNvSpPr/>
          <p:nvPr/>
        </p:nvSpPr>
        <p:spPr>
          <a:xfrm>
            <a:off x="3237723" y="3941121"/>
            <a:ext cx="2266949" cy="373326"/>
          </a:xfrm>
          <a:prstGeom prst="rect">
            <a:avLst/>
          </a:prstGeom>
          <a:solidFill>
            <a:srgbClr val="C2F0FF"/>
          </a:solidFill>
          <a:ln w="12700">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r>
              <a:rPr lang="en-US" dirty="0" smtClean="0">
                <a:solidFill>
                  <a:schemeClr val="tx1">
                    <a:lumMod val="95000"/>
                    <a:lumOff val="5000"/>
                  </a:schemeClr>
                </a:solidFill>
              </a:rPr>
              <a:t>Remote </a:t>
            </a:r>
            <a:r>
              <a:rPr lang="en-US" dirty="0" err="1" smtClean="0">
                <a:solidFill>
                  <a:schemeClr val="tx1">
                    <a:lumMod val="95000"/>
                    <a:lumOff val="5000"/>
                  </a:schemeClr>
                </a:solidFill>
              </a:rPr>
              <a:t>Diag</a:t>
            </a:r>
            <a:endParaRPr lang="en-US" dirty="0">
              <a:solidFill>
                <a:schemeClr val="tx1">
                  <a:lumMod val="95000"/>
                  <a:lumOff val="5000"/>
                </a:schemeClr>
              </a:solidFill>
            </a:endParaRPr>
          </a:p>
        </p:txBody>
      </p:sp>
      <p:sp>
        <p:nvSpPr>
          <p:cNvPr id="30" name="Rectangle 29"/>
          <p:cNvSpPr/>
          <p:nvPr/>
        </p:nvSpPr>
        <p:spPr>
          <a:xfrm>
            <a:off x="3237721" y="2528888"/>
            <a:ext cx="2266949" cy="319085"/>
          </a:xfrm>
          <a:prstGeom prst="rect">
            <a:avLst/>
          </a:prstGeom>
          <a:solidFill>
            <a:schemeClr val="accent6">
              <a:lumMod val="75000"/>
            </a:schemeClr>
          </a:solidFill>
          <a:ln w="12700">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r>
              <a:rPr lang="en-US" b="1" dirty="0" smtClean="0">
                <a:solidFill>
                  <a:schemeClr val="bg1"/>
                </a:solidFill>
              </a:rPr>
              <a:t>TMC Apps</a:t>
            </a:r>
            <a:endParaRPr lang="en-US" b="1" dirty="0">
              <a:solidFill>
                <a:schemeClr val="bg1"/>
              </a:solidFill>
            </a:endParaRPr>
          </a:p>
        </p:txBody>
      </p:sp>
      <p:grpSp>
        <p:nvGrpSpPr>
          <p:cNvPr id="49" name="Group 48"/>
          <p:cNvGrpSpPr/>
          <p:nvPr/>
        </p:nvGrpSpPr>
        <p:grpSpPr>
          <a:xfrm>
            <a:off x="3240087" y="3041332"/>
            <a:ext cx="2273299" cy="420366"/>
            <a:chOff x="2198687" y="3087052"/>
            <a:chExt cx="2273299" cy="420366"/>
          </a:xfrm>
        </p:grpSpPr>
        <p:sp>
          <p:nvSpPr>
            <p:cNvPr id="31" name="Rectangle 30"/>
            <p:cNvSpPr/>
            <p:nvPr/>
          </p:nvSpPr>
          <p:spPr>
            <a:xfrm>
              <a:off x="2239816" y="3134677"/>
              <a:ext cx="2232170" cy="372741"/>
            </a:xfrm>
            <a:prstGeom prst="rect">
              <a:avLst/>
            </a:prstGeom>
            <a:solidFill>
              <a:srgbClr val="C2F0FF"/>
            </a:solidFill>
            <a:ln w="12700">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en-US" dirty="0">
                <a:solidFill>
                  <a:schemeClr val="tx1">
                    <a:lumMod val="95000"/>
                    <a:lumOff val="5000"/>
                  </a:schemeClr>
                </a:solidFill>
              </a:endParaRPr>
            </a:p>
          </p:txBody>
        </p:sp>
        <p:sp>
          <p:nvSpPr>
            <p:cNvPr id="32" name="Rectangle 31"/>
            <p:cNvSpPr/>
            <p:nvPr/>
          </p:nvSpPr>
          <p:spPr>
            <a:xfrm>
              <a:off x="2198687" y="3087052"/>
              <a:ext cx="2232170" cy="354643"/>
            </a:xfrm>
            <a:prstGeom prst="rect">
              <a:avLst/>
            </a:prstGeom>
            <a:solidFill>
              <a:srgbClr val="C2F0FF"/>
            </a:solidFill>
            <a:ln w="12700">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r>
                <a:rPr lang="en-US" dirty="0" smtClean="0">
                  <a:solidFill>
                    <a:schemeClr val="tx1">
                      <a:lumMod val="95000"/>
                      <a:lumOff val="5000"/>
                    </a:schemeClr>
                  </a:solidFill>
                </a:rPr>
                <a:t>LGE Apps/Services</a:t>
              </a:r>
              <a:endParaRPr lang="en-US" dirty="0">
                <a:solidFill>
                  <a:schemeClr val="tx1">
                    <a:lumMod val="95000"/>
                    <a:lumOff val="5000"/>
                  </a:schemeClr>
                </a:solidFill>
              </a:endParaRPr>
            </a:p>
          </p:txBody>
        </p:sp>
      </p:grpSp>
      <p:grpSp>
        <p:nvGrpSpPr>
          <p:cNvPr id="48" name="Group 47"/>
          <p:cNvGrpSpPr/>
          <p:nvPr/>
        </p:nvGrpSpPr>
        <p:grpSpPr>
          <a:xfrm>
            <a:off x="2771774" y="5950540"/>
            <a:ext cx="5819775" cy="498162"/>
            <a:chOff x="2024063" y="5348285"/>
            <a:chExt cx="5448299" cy="498162"/>
          </a:xfrm>
        </p:grpSpPr>
        <p:sp>
          <p:nvSpPr>
            <p:cNvPr id="34" name="Rectangle 33"/>
            <p:cNvSpPr/>
            <p:nvPr/>
          </p:nvSpPr>
          <p:spPr>
            <a:xfrm>
              <a:off x="2024063" y="5348285"/>
              <a:ext cx="5448299" cy="498162"/>
            </a:xfrm>
            <a:prstGeom prst="rect">
              <a:avLst/>
            </a:prstGeom>
            <a:solidFill>
              <a:schemeClr val="bg2">
                <a:lumMod val="75000"/>
              </a:schemeClr>
            </a:solidFill>
            <a:ln w="12700">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r>
                <a:rPr lang="en-US" sz="1400" dirty="0" smtClean="0">
                  <a:solidFill>
                    <a:schemeClr val="tx1">
                      <a:lumMod val="95000"/>
                      <a:lumOff val="5000"/>
                    </a:schemeClr>
                  </a:solidFill>
                </a:rPr>
                <a:t>Linux Kernel/Driver</a:t>
              </a:r>
              <a:endParaRPr lang="en-US" sz="1400" dirty="0">
                <a:solidFill>
                  <a:schemeClr val="tx1">
                    <a:lumMod val="95000"/>
                    <a:lumOff val="5000"/>
                  </a:schemeClr>
                </a:solidFill>
              </a:endParaRPr>
            </a:p>
          </p:txBody>
        </p:sp>
        <p:grpSp>
          <p:nvGrpSpPr>
            <p:cNvPr id="35" name="Group 34"/>
            <p:cNvGrpSpPr/>
            <p:nvPr/>
          </p:nvGrpSpPr>
          <p:grpSpPr>
            <a:xfrm>
              <a:off x="3570786" y="5459252"/>
              <a:ext cx="3577924" cy="276228"/>
              <a:chOff x="3099299" y="4330539"/>
              <a:chExt cx="3577924" cy="276228"/>
            </a:xfrm>
          </p:grpSpPr>
          <p:sp>
            <p:nvSpPr>
              <p:cNvPr id="36" name="Rectangle 35"/>
              <p:cNvSpPr/>
              <p:nvPr/>
            </p:nvSpPr>
            <p:spPr>
              <a:xfrm>
                <a:off x="3099299" y="4330540"/>
                <a:ext cx="820340" cy="276227"/>
              </a:xfrm>
              <a:prstGeom prst="rect">
                <a:avLst/>
              </a:prstGeom>
              <a:solidFill>
                <a:schemeClr val="bg2">
                  <a:lumMod val="90000"/>
                </a:schemeClr>
              </a:solidFill>
              <a:ln w="12700">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r>
                  <a:rPr lang="en-US" dirty="0" smtClean="0">
                    <a:solidFill>
                      <a:schemeClr val="tx1">
                        <a:lumMod val="95000"/>
                        <a:lumOff val="5000"/>
                      </a:schemeClr>
                    </a:solidFill>
                  </a:rPr>
                  <a:t>SPI Rx</a:t>
                </a:r>
                <a:endParaRPr lang="en-US" dirty="0">
                  <a:solidFill>
                    <a:schemeClr val="tx1">
                      <a:lumMod val="95000"/>
                      <a:lumOff val="5000"/>
                    </a:schemeClr>
                  </a:solidFill>
                </a:endParaRPr>
              </a:p>
            </p:txBody>
          </p:sp>
          <p:sp>
            <p:nvSpPr>
              <p:cNvPr id="37" name="Rectangle 36"/>
              <p:cNvSpPr/>
              <p:nvPr/>
            </p:nvSpPr>
            <p:spPr>
              <a:xfrm>
                <a:off x="5856883" y="4330539"/>
                <a:ext cx="820340" cy="276227"/>
              </a:xfrm>
              <a:prstGeom prst="rect">
                <a:avLst/>
              </a:prstGeom>
              <a:solidFill>
                <a:schemeClr val="bg2">
                  <a:lumMod val="90000"/>
                </a:schemeClr>
              </a:solidFill>
              <a:ln w="12700">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r>
                  <a:rPr lang="en-US" dirty="0" smtClean="0">
                    <a:solidFill>
                      <a:schemeClr val="tx1">
                        <a:lumMod val="95000"/>
                        <a:lumOff val="5000"/>
                      </a:schemeClr>
                    </a:solidFill>
                  </a:rPr>
                  <a:t>SPI </a:t>
                </a:r>
                <a:r>
                  <a:rPr lang="en-US" dirty="0" err="1" smtClean="0">
                    <a:solidFill>
                      <a:schemeClr val="tx1">
                        <a:lumMod val="95000"/>
                        <a:lumOff val="5000"/>
                      </a:schemeClr>
                    </a:solidFill>
                  </a:rPr>
                  <a:t>Tx</a:t>
                </a:r>
                <a:endParaRPr lang="en-US" dirty="0">
                  <a:solidFill>
                    <a:schemeClr val="tx1">
                      <a:lumMod val="95000"/>
                      <a:lumOff val="5000"/>
                    </a:schemeClr>
                  </a:solidFill>
                </a:endParaRPr>
              </a:p>
            </p:txBody>
          </p:sp>
        </p:grpSp>
      </p:grpSp>
      <p:grpSp>
        <p:nvGrpSpPr>
          <p:cNvPr id="51" name="Group 50"/>
          <p:cNvGrpSpPr/>
          <p:nvPr/>
        </p:nvGrpSpPr>
        <p:grpSpPr>
          <a:xfrm>
            <a:off x="9210783" y="1598098"/>
            <a:ext cx="2572040" cy="3467099"/>
            <a:chOff x="7681621" y="1624012"/>
            <a:chExt cx="2572040" cy="3467099"/>
          </a:xfrm>
        </p:grpSpPr>
        <p:sp>
          <p:nvSpPr>
            <p:cNvPr id="38" name="Rectangle 37"/>
            <p:cNvSpPr/>
            <p:nvPr/>
          </p:nvSpPr>
          <p:spPr>
            <a:xfrm>
              <a:off x="7681621" y="1624012"/>
              <a:ext cx="1810042" cy="2476499"/>
            </a:xfrm>
            <a:prstGeom prst="rect">
              <a:avLst/>
            </a:prstGeom>
            <a:solidFill>
              <a:schemeClr val="bg2">
                <a:lumMod val="75000"/>
              </a:schemeClr>
            </a:solidFill>
            <a:ln w="12700">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r>
                <a:rPr lang="en-US" dirty="0" smtClean="0">
                  <a:solidFill>
                    <a:schemeClr val="tx1">
                      <a:lumMod val="95000"/>
                      <a:lumOff val="5000"/>
                    </a:schemeClr>
                  </a:solidFill>
                </a:rPr>
                <a:t>MCU</a:t>
              </a:r>
              <a:endParaRPr lang="en-US" dirty="0">
                <a:solidFill>
                  <a:schemeClr val="tx1">
                    <a:lumMod val="95000"/>
                    <a:lumOff val="5000"/>
                  </a:schemeClr>
                </a:solidFill>
              </a:endParaRPr>
            </a:p>
          </p:txBody>
        </p:sp>
        <p:sp>
          <p:nvSpPr>
            <p:cNvPr id="39" name="Rectangle 38"/>
            <p:cNvSpPr/>
            <p:nvPr/>
          </p:nvSpPr>
          <p:spPr>
            <a:xfrm>
              <a:off x="7824786" y="1995488"/>
              <a:ext cx="1543050" cy="647700"/>
            </a:xfrm>
            <a:prstGeom prst="rect">
              <a:avLst/>
            </a:prstGeom>
            <a:solidFill>
              <a:schemeClr val="bg2">
                <a:lumMod val="90000"/>
              </a:schemeClr>
            </a:solidFill>
            <a:ln w="12700">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r>
                <a:rPr lang="en-US" dirty="0" smtClean="0">
                  <a:solidFill>
                    <a:schemeClr val="tx1">
                      <a:lumMod val="95000"/>
                      <a:lumOff val="5000"/>
                    </a:schemeClr>
                  </a:solidFill>
                </a:rPr>
                <a:t>MCU Apps</a:t>
              </a:r>
              <a:endParaRPr lang="en-US" dirty="0">
                <a:solidFill>
                  <a:schemeClr val="tx1">
                    <a:lumMod val="95000"/>
                    <a:lumOff val="5000"/>
                  </a:schemeClr>
                </a:solidFill>
              </a:endParaRPr>
            </a:p>
          </p:txBody>
        </p:sp>
        <p:sp>
          <p:nvSpPr>
            <p:cNvPr id="40" name="Rectangle 39"/>
            <p:cNvSpPr/>
            <p:nvPr/>
          </p:nvSpPr>
          <p:spPr>
            <a:xfrm>
              <a:off x="7834309" y="2763836"/>
              <a:ext cx="1533527" cy="1231902"/>
            </a:xfrm>
            <a:prstGeom prst="rect">
              <a:avLst/>
            </a:prstGeom>
            <a:solidFill>
              <a:schemeClr val="bg2">
                <a:lumMod val="90000"/>
              </a:schemeClr>
            </a:solidFill>
            <a:ln w="12700">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r>
                <a:rPr lang="en-US" dirty="0" smtClean="0">
                  <a:solidFill>
                    <a:schemeClr val="tx1">
                      <a:lumMod val="95000"/>
                      <a:lumOff val="5000"/>
                    </a:schemeClr>
                  </a:solidFill>
                </a:rPr>
                <a:t>AUTOSAR</a:t>
              </a:r>
              <a:endParaRPr lang="en-US" dirty="0">
                <a:solidFill>
                  <a:schemeClr val="tx1">
                    <a:lumMod val="95000"/>
                    <a:lumOff val="5000"/>
                  </a:schemeClr>
                </a:solidFill>
              </a:endParaRPr>
            </a:p>
          </p:txBody>
        </p:sp>
        <p:cxnSp>
          <p:nvCxnSpPr>
            <p:cNvPr id="41" name="Straight Arrow Connector 40"/>
            <p:cNvCxnSpPr>
              <a:stCxn id="38" idx="2"/>
            </p:cNvCxnSpPr>
            <p:nvPr/>
          </p:nvCxnSpPr>
          <p:spPr>
            <a:xfrm flipH="1">
              <a:off x="8582022" y="4100511"/>
              <a:ext cx="4620" cy="914400"/>
            </a:xfrm>
            <a:prstGeom prst="straightConnector1">
              <a:avLst/>
            </a:prstGeom>
            <a:ln w="38100">
              <a:solidFill>
                <a:schemeClr val="bg2">
                  <a:lumMod val="5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2" name="TextBox 41"/>
            <p:cNvSpPr txBox="1"/>
            <p:nvPr/>
          </p:nvSpPr>
          <p:spPr>
            <a:xfrm>
              <a:off x="8648698" y="4667807"/>
              <a:ext cx="1495425" cy="369332"/>
            </a:xfrm>
            <a:prstGeom prst="rect">
              <a:avLst/>
            </a:prstGeom>
            <a:noFill/>
          </p:spPr>
          <p:txBody>
            <a:bodyPr wrap="square" rtlCol="0">
              <a:spAutoFit/>
            </a:bodyPr>
            <a:lstStyle/>
            <a:p>
              <a:r>
                <a:rPr lang="en-US" dirty="0" smtClean="0"/>
                <a:t>Internal CAN</a:t>
              </a:r>
              <a:endParaRPr lang="en-US" dirty="0"/>
            </a:p>
          </p:txBody>
        </p:sp>
        <p:cxnSp>
          <p:nvCxnSpPr>
            <p:cNvPr id="43" name="Straight Connector 42"/>
            <p:cNvCxnSpPr/>
            <p:nvPr/>
          </p:nvCxnSpPr>
          <p:spPr>
            <a:xfrm>
              <a:off x="8101012" y="5024436"/>
              <a:ext cx="2000250" cy="0"/>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44" name="Straight Connector 43"/>
            <p:cNvCxnSpPr/>
            <p:nvPr/>
          </p:nvCxnSpPr>
          <p:spPr>
            <a:xfrm>
              <a:off x="8253411" y="5091111"/>
              <a:ext cx="2000250" cy="0"/>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grpSp>
      <p:sp>
        <p:nvSpPr>
          <p:cNvPr id="47" name="Rectangle 46"/>
          <p:cNvSpPr/>
          <p:nvPr/>
        </p:nvSpPr>
        <p:spPr>
          <a:xfrm>
            <a:off x="3237722" y="5105888"/>
            <a:ext cx="2266949" cy="347341"/>
          </a:xfrm>
          <a:prstGeom prst="rect">
            <a:avLst/>
          </a:prstGeom>
          <a:solidFill>
            <a:srgbClr val="C2F0FF"/>
          </a:solidFill>
          <a:ln w="12700">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r>
              <a:rPr lang="en-US" dirty="0" err="1" smtClean="0">
                <a:solidFill>
                  <a:schemeClr val="tx1">
                    <a:lumMod val="95000"/>
                    <a:lumOff val="5000"/>
                  </a:schemeClr>
                </a:solidFill>
              </a:rPr>
              <a:t>OnBoardClient</a:t>
            </a:r>
            <a:endParaRPr lang="en-US" dirty="0">
              <a:solidFill>
                <a:schemeClr val="tx1">
                  <a:lumMod val="95000"/>
                  <a:lumOff val="5000"/>
                </a:schemeClr>
              </a:solidFill>
            </a:endParaRPr>
          </a:p>
        </p:txBody>
      </p:sp>
      <p:grpSp>
        <p:nvGrpSpPr>
          <p:cNvPr id="52" name="Group 51"/>
          <p:cNvGrpSpPr/>
          <p:nvPr/>
        </p:nvGrpSpPr>
        <p:grpSpPr>
          <a:xfrm>
            <a:off x="6041633" y="3945272"/>
            <a:ext cx="2321318" cy="617203"/>
            <a:chOff x="5027220" y="3862389"/>
            <a:chExt cx="2321318" cy="617203"/>
          </a:xfrm>
        </p:grpSpPr>
        <p:sp>
          <p:nvSpPr>
            <p:cNvPr id="33" name="Rectangle 32"/>
            <p:cNvSpPr/>
            <p:nvPr/>
          </p:nvSpPr>
          <p:spPr>
            <a:xfrm>
              <a:off x="5027220" y="4231564"/>
              <a:ext cx="2321318" cy="248028"/>
            </a:xfrm>
            <a:prstGeom prst="rect">
              <a:avLst/>
            </a:prstGeom>
            <a:solidFill>
              <a:srgbClr val="C2F0FF"/>
            </a:solidFill>
            <a:ln w="12700">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r>
                <a:rPr lang="en-US" sz="1500" dirty="0" smtClean="0">
                  <a:solidFill>
                    <a:schemeClr val="tx1">
                      <a:lumMod val="95000"/>
                      <a:lumOff val="5000"/>
                    </a:schemeClr>
                  </a:solidFill>
                </a:rPr>
                <a:t>Filter</a:t>
              </a:r>
              <a:endParaRPr lang="en-US" sz="1500" dirty="0">
                <a:solidFill>
                  <a:schemeClr val="tx1">
                    <a:lumMod val="95000"/>
                    <a:lumOff val="5000"/>
                  </a:schemeClr>
                </a:solidFill>
              </a:endParaRPr>
            </a:p>
          </p:txBody>
        </p:sp>
        <p:sp>
          <p:nvSpPr>
            <p:cNvPr id="50" name="Rectangle 49"/>
            <p:cNvSpPr/>
            <p:nvPr/>
          </p:nvSpPr>
          <p:spPr>
            <a:xfrm>
              <a:off x="5027220" y="3862389"/>
              <a:ext cx="2321318" cy="373619"/>
            </a:xfrm>
            <a:prstGeom prst="rect">
              <a:avLst/>
            </a:prstGeom>
            <a:solidFill>
              <a:srgbClr val="C2F0FF"/>
            </a:solidFill>
            <a:ln w="12700">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r>
                <a:rPr lang="en-US" dirty="0" err="1" smtClean="0">
                  <a:solidFill>
                    <a:schemeClr val="tx1">
                      <a:lumMod val="95000"/>
                      <a:lumOff val="5000"/>
                    </a:schemeClr>
                  </a:solidFill>
                </a:rPr>
                <a:t>InternalOnBoardClient</a:t>
              </a:r>
              <a:endParaRPr lang="en-US" dirty="0">
                <a:solidFill>
                  <a:schemeClr val="tx1">
                    <a:lumMod val="95000"/>
                    <a:lumOff val="5000"/>
                  </a:schemeClr>
                </a:solidFill>
              </a:endParaRPr>
            </a:p>
          </p:txBody>
        </p:sp>
      </p:grpSp>
      <p:cxnSp>
        <p:nvCxnSpPr>
          <p:cNvPr id="55" name="Straight Arrow Connector 54"/>
          <p:cNvCxnSpPr/>
          <p:nvPr/>
        </p:nvCxnSpPr>
        <p:spPr>
          <a:xfrm>
            <a:off x="4442579" y="4314447"/>
            <a:ext cx="0" cy="789235"/>
          </a:xfrm>
          <a:prstGeom prst="straightConnector1">
            <a:avLst/>
          </a:prstGeom>
          <a:ln w="38100">
            <a:solidFill>
              <a:schemeClr val="bg2">
                <a:lumMod val="5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p:cNvCxnSpPr/>
          <p:nvPr/>
        </p:nvCxnSpPr>
        <p:spPr>
          <a:xfrm>
            <a:off x="7613650" y="4562475"/>
            <a:ext cx="0" cy="149903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p:cNvCxnSpPr>
            <a:stCxn id="29" idx="3"/>
          </p:cNvCxnSpPr>
          <p:nvPr/>
        </p:nvCxnSpPr>
        <p:spPr>
          <a:xfrm>
            <a:off x="5504672" y="4127784"/>
            <a:ext cx="536961" cy="5362"/>
          </a:xfrm>
          <a:prstGeom prst="straightConnector1">
            <a:avLst/>
          </a:prstGeom>
          <a:ln w="28575">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73" name="Elbow Connector 72"/>
          <p:cNvCxnSpPr>
            <a:stCxn id="37" idx="3"/>
            <a:endCxn id="38" idx="1"/>
          </p:cNvCxnSpPr>
          <p:nvPr/>
        </p:nvCxnSpPr>
        <p:spPr>
          <a:xfrm flipV="1">
            <a:off x="8245830" y="2836348"/>
            <a:ext cx="964953" cy="3363273"/>
          </a:xfrm>
          <a:prstGeom prst="bentConnector3">
            <a:avLst>
              <a:gd name="adj1" fmla="val 55923"/>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7" name="Elbow Connector 76"/>
          <p:cNvCxnSpPr>
            <a:endCxn id="36" idx="2"/>
          </p:cNvCxnSpPr>
          <p:nvPr/>
        </p:nvCxnSpPr>
        <p:spPr>
          <a:xfrm rot="10800000" flipV="1">
            <a:off x="4862092" y="3395975"/>
            <a:ext cx="4320516" cy="2941760"/>
          </a:xfrm>
          <a:prstGeom prst="bentConnector4">
            <a:avLst>
              <a:gd name="adj1" fmla="val 6350"/>
              <a:gd name="adj2" fmla="val 111656"/>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88" name="Straight Arrow Connector 87"/>
          <p:cNvCxnSpPr/>
          <p:nvPr/>
        </p:nvCxnSpPr>
        <p:spPr>
          <a:xfrm flipV="1">
            <a:off x="4862092" y="5453229"/>
            <a:ext cx="0" cy="608278"/>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Straight Arrow Connector 104"/>
          <p:cNvCxnSpPr/>
          <p:nvPr/>
        </p:nvCxnSpPr>
        <p:spPr>
          <a:xfrm flipH="1">
            <a:off x="123507" y="2327519"/>
            <a:ext cx="464741" cy="0"/>
          </a:xfrm>
          <a:prstGeom prst="straightConnector1">
            <a:avLst/>
          </a:prstGeom>
          <a:ln w="12700">
            <a:solidFill>
              <a:schemeClr val="bg2">
                <a:lumMod val="5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grpSp>
        <p:nvGrpSpPr>
          <p:cNvPr id="110" name="Group 109"/>
          <p:cNvGrpSpPr/>
          <p:nvPr/>
        </p:nvGrpSpPr>
        <p:grpSpPr>
          <a:xfrm>
            <a:off x="155575" y="1872378"/>
            <a:ext cx="2044929" cy="246221"/>
            <a:chOff x="155575" y="1872378"/>
            <a:chExt cx="2044929" cy="246221"/>
          </a:xfrm>
        </p:grpSpPr>
        <p:cxnSp>
          <p:nvCxnSpPr>
            <p:cNvPr id="103" name="Straight Arrow Connector 102"/>
            <p:cNvCxnSpPr/>
            <p:nvPr/>
          </p:nvCxnSpPr>
          <p:spPr>
            <a:xfrm>
              <a:off x="155575" y="1995489"/>
              <a:ext cx="400606" cy="0"/>
            </a:xfrm>
            <a:prstGeom prst="straightConnector1">
              <a:avLst/>
            </a:prstGeom>
            <a:ln w="12700">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09" name="TextBox 108"/>
            <p:cNvSpPr txBox="1"/>
            <p:nvPr/>
          </p:nvSpPr>
          <p:spPr>
            <a:xfrm>
              <a:off x="584356" y="1872378"/>
              <a:ext cx="1616148" cy="246221"/>
            </a:xfrm>
            <a:prstGeom prst="rect">
              <a:avLst/>
            </a:prstGeom>
            <a:noFill/>
          </p:spPr>
          <p:txBody>
            <a:bodyPr wrap="none" rtlCol="0">
              <a:spAutoFit/>
            </a:bodyPr>
            <a:lstStyle/>
            <a:p>
              <a:r>
                <a:rPr lang="en-US" sz="1000" dirty="0" smtClean="0"/>
                <a:t>Authorized Communication</a:t>
              </a:r>
              <a:endParaRPr lang="en-US" sz="1000" dirty="0"/>
            </a:p>
          </p:txBody>
        </p:sp>
      </p:grpSp>
      <p:sp>
        <p:nvSpPr>
          <p:cNvPr id="111" name="TextBox 110"/>
          <p:cNvSpPr txBox="1"/>
          <p:nvPr/>
        </p:nvSpPr>
        <p:spPr>
          <a:xfrm>
            <a:off x="581153" y="2204408"/>
            <a:ext cx="1135247" cy="246221"/>
          </a:xfrm>
          <a:prstGeom prst="rect">
            <a:avLst/>
          </a:prstGeom>
          <a:noFill/>
        </p:spPr>
        <p:txBody>
          <a:bodyPr wrap="none" rtlCol="0">
            <a:spAutoFit/>
          </a:bodyPr>
          <a:lstStyle/>
          <a:p>
            <a:r>
              <a:rPr lang="en-US" sz="1000" dirty="0" smtClean="0"/>
              <a:t>Messages transfer</a:t>
            </a:r>
            <a:endParaRPr lang="en-US" sz="1000" dirty="0"/>
          </a:p>
        </p:txBody>
      </p:sp>
      <p:cxnSp>
        <p:nvCxnSpPr>
          <p:cNvPr id="112" name="Straight Arrow Connector 111"/>
          <p:cNvCxnSpPr/>
          <p:nvPr/>
        </p:nvCxnSpPr>
        <p:spPr>
          <a:xfrm>
            <a:off x="123507" y="2648446"/>
            <a:ext cx="432674" cy="0"/>
          </a:xfrm>
          <a:prstGeom prst="straightConnector1">
            <a:avLst/>
          </a:prstGeom>
          <a:ln w="12700">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114" name="TextBox 113"/>
          <p:cNvSpPr txBox="1"/>
          <p:nvPr/>
        </p:nvSpPr>
        <p:spPr>
          <a:xfrm>
            <a:off x="588248" y="2525335"/>
            <a:ext cx="1135247" cy="246221"/>
          </a:xfrm>
          <a:prstGeom prst="rect">
            <a:avLst/>
          </a:prstGeom>
          <a:noFill/>
        </p:spPr>
        <p:txBody>
          <a:bodyPr wrap="none" rtlCol="0">
            <a:spAutoFit/>
          </a:bodyPr>
          <a:lstStyle/>
          <a:p>
            <a:r>
              <a:rPr lang="en-US" sz="1000" dirty="0" smtClean="0"/>
              <a:t>Received message</a:t>
            </a:r>
            <a:endParaRPr lang="en-US" sz="1000" dirty="0"/>
          </a:p>
        </p:txBody>
      </p:sp>
      <p:cxnSp>
        <p:nvCxnSpPr>
          <p:cNvPr id="115" name="Straight Arrow Connector 114"/>
          <p:cNvCxnSpPr/>
          <p:nvPr/>
        </p:nvCxnSpPr>
        <p:spPr>
          <a:xfrm>
            <a:off x="123507" y="2938006"/>
            <a:ext cx="432674"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6" name="TextBox 115"/>
          <p:cNvSpPr txBox="1"/>
          <p:nvPr/>
        </p:nvSpPr>
        <p:spPr>
          <a:xfrm>
            <a:off x="574200" y="2824182"/>
            <a:ext cx="899605" cy="246221"/>
          </a:xfrm>
          <a:prstGeom prst="rect">
            <a:avLst/>
          </a:prstGeom>
          <a:noFill/>
        </p:spPr>
        <p:txBody>
          <a:bodyPr wrap="none" rtlCol="0">
            <a:spAutoFit/>
          </a:bodyPr>
          <a:lstStyle/>
          <a:p>
            <a:r>
              <a:rPr lang="en-US" sz="1000" dirty="0" smtClean="0"/>
              <a:t>Sent message</a:t>
            </a:r>
            <a:endParaRPr lang="en-US" sz="1000" dirty="0"/>
          </a:p>
        </p:txBody>
      </p:sp>
    </p:spTree>
    <p:extLst>
      <p:ext uri="{BB962C8B-B14F-4D97-AF65-F5344CB8AC3E}">
        <p14:creationId xmlns:p14="http://schemas.microsoft.com/office/powerpoint/2010/main" val="1731685287"/>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300" dirty="0" smtClean="0">
                <a:cs typeface="Times New Roman" panose="02020603050405020304" pitchFamily="18" charset="0"/>
              </a:rPr>
              <a:t>2. Problem identification</a:t>
            </a:r>
            <a:endParaRPr lang="en-US" dirty="0"/>
          </a:p>
        </p:txBody>
      </p:sp>
      <p:sp>
        <p:nvSpPr>
          <p:cNvPr id="3" name="Content Placeholder 2"/>
          <p:cNvSpPr>
            <a:spLocks noGrp="1"/>
          </p:cNvSpPr>
          <p:nvPr>
            <p:ph idx="1"/>
          </p:nvPr>
        </p:nvSpPr>
        <p:spPr>
          <a:xfrm>
            <a:off x="838201" y="1825624"/>
            <a:ext cx="6572250" cy="4803775"/>
          </a:xfrm>
        </p:spPr>
        <p:txBody>
          <a:bodyPr>
            <a:normAutofit/>
          </a:bodyPr>
          <a:lstStyle/>
          <a:p>
            <a:r>
              <a:rPr lang="en-US" sz="2200" dirty="0" smtClean="0"/>
              <a:t>Context</a:t>
            </a:r>
          </a:p>
          <a:p>
            <a:pPr lvl="1"/>
            <a:r>
              <a:rPr lang="en-US" sz="1900" dirty="0" smtClean="0"/>
              <a:t>TMC’s </a:t>
            </a:r>
            <a:r>
              <a:rPr lang="en-US" sz="1900" dirty="0" err="1" smtClean="0"/>
              <a:t>Cybersecurity</a:t>
            </a:r>
            <a:r>
              <a:rPr lang="en-US" sz="1900" dirty="0" smtClean="0"/>
              <a:t> requirements </a:t>
            </a:r>
          </a:p>
          <a:p>
            <a:pPr lvl="2"/>
            <a:r>
              <a:rPr lang="en-US" sz="1700" dirty="0"/>
              <a:t>When EP Partition is compromised, the damage must not propagate to Internal Partition and in-vehicle CAN bus.</a:t>
            </a:r>
          </a:p>
          <a:p>
            <a:pPr lvl="2"/>
            <a:r>
              <a:rPr lang="en-US" sz="1700" dirty="0"/>
              <a:t>Unauthorized diagnostic commands related to reprogramming must be </a:t>
            </a:r>
            <a:r>
              <a:rPr lang="en-US" sz="1700" dirty="0" smtClean="0"/>
              <a:t>filtered.</a:t>
            </a:r>
          </a:p>
          <a:p>
            <a:r>
              <a:rPr lang="en-US" sz="2200" dirty="0" smtClean="0"/>
              <a:t>Issues arising with RDG when separating partitions:</a:t>
            </a:r>
          </a:p>
          <a:p>
            <a:pPr lvl="1"/>
            <a:r>
              <a:rPr lang="en-US" sz="1900" dirty="0" smtClean="0"/>
              <a:t>Trust </a:t>
            </a:r>
            <a:r>
              <a:rPr lang="en-US" sz="1900" dirty="0"/>
              <a:t>boundary </a:t>
            </a:r>
            <a:r>
              <a:rPr lang="en-US" sz="1900" dirty="0" err="1"/>
              <a:t>vs</a:t>
            </a:r>
            <a:r>
              <a:rPr lang="en-US" sz="1900" dirty="0"/>
              <a:t> functional dependency conflict: RDG belongs to the trusted zone but depends on </a:t>
            </a:r>
            <a:r>
              <a:rPr lang="en-US" sz="1900" dirty="0" smtClean="0"/>
              <a:t>~12 </a:t>
            </a:r>
            <a:r>
              <a:rPr lang="en-US" sz="1900" dirty="0"/>
              <a:t>modules in the EP — requires cross-trust-boundary communication without breaking isolation or causing IPC cost explosion.</a:t>
            </a:r>
          </a:p>
          <a:p>
            <a:pPr lvl="1"/>
            <a:r>
              <a:rPr lang="en-US" sz="1900" dirty="0" smtClean="0"/>
              <a:t>SID Filter placement: an attacker who compromises EP must not be able to disable the filter</a:t>
            </a:r>
            <a:r>
              <a:rPr lang="en-US" sz="1900" dirty="0" smtClean="0"/>
              <a:t>.</a:t>
            </a:r>
            <a:endParaRPr lang="en-US" sz="1900" dirty="0" smtClean="0"/>
          </a:p>
        </p:txBody>
      </p:sp>
      <p:sp>
        <p:nvSpPr>
          <p:cNvPr id="4" name="Slide Number Placeholder 3"/>
          <p:cNvSpPr>
            <a:spLocks noGrp="1"/>
          </p:cNvSpPr>
          <p:nvPr>
            <p:ph type="sldNum" sz="quarter" idx="12"/>
          </p:nvPr>
        </p:nvSpPr>
        <p:spPr/>
        <p:txBody>
          <a:bodyPr/>
          <a:lstStyle/>
          <a:p>
            <a:fld id="{0059130C-D5A7-43F1-8BDF-D4DD1699FE09}" type="slidenum">
              <a:rPr lang="en-US" smtClean="0"/>
              <a:t>5</a:t>
            </a:fld>
            <a:endParaRPr lang="en-US"/>
          </a:p>
        </p:txBody>
      </p:sp>
      <p:pic>
        <p:nvPicPr>
          <p:cNvPr id="6" name="Picture 5"/>
          <p:cNvPicPr>
            <a:picLocks noChangeAspect="1"/>
          </p:cNvPicPr>
          <p:nvPr/>
        </p:nvPicPr>
        <p:blipFill>
          <a:blip r:embed="rId2"/>
          <a:stretch>
            <a:fillRect/>
          </a:stretch>
        </p:blipFill>
        <p:spPr>
          <a:xfrm>
            <a:off x="7800975" y="1099526"/>
            <a:ext cx="3482339" cy="2860493"/>
          </a:xfrm>
          <a:prstGeom prst="rect">
            <a:avLst/>
          </a:prstGeom>
        </p:spPr>
      </p:pic>
      <p:pic>
        <p:nvPicPr>
          <p:cNvPr id="7" name="Picture 6"/>
          <p:cNvPicPr>
            <a:picLocks noChangeAspect="1"/>
          </p:cNvPicPr>
          <p:nvPr/>
        </p:nvPicPr>
        <p:blipFill>
          <a:blip r:embed="rId3"/>
          <a:stretch>
            <a:fillRect/>
          </a:stretch>
        </p:blipFill>
        <p:spPr>
          <a:xfrm>
            <a:off x="8551243" y="3960019"/>
            <a:ext cx="2570146" cy="1812131"/>
          </a:xfrm>
          <a:prstGeom prst="rect">
            <a:avLst/>
          </a:prstGeom>
        </p:spPr>
      </p:pic>
    </p:spTree>
    <p:extLst>
      <p:ext uri="{BB962C8B-B14F-4D97-AF65-F5344CB8AC3E}">
        <p14:creationId xmlns:p14="http://schemas.microsoft.com/office/powerpoint/2010/main" val="2562490226"/>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300" dirty="0" smtClean="0">
                <a:cs typeface="Times New Roman" panose="02020603050405020304" pitchFamily="18" charset="0"/>
              </a:rPr>
              <a:t>2. Problem identification – Key Quality Attributes</a:t>
            </a:r>
            <a:endParaRPr lang="en-US" dirty="0"/>
          </a:p>
        </p:txBody>
      </p:sp>
      <p:sp>
        <p:nvSpPr>
          <p:cNvPr id="4" name="Slide Number Placeholder 3"/>
          <p:cNvSpPr>
            <a:spLocks noGrp="1"/>
          </p:cNvSpPr>
          <p:nvPr>
            <p:ph type="sldNum" sz="quarter" idx="12"/>
          </p:nvPr>
        </p:nvSpPr>
        <p:spPr/>
        <p:txBody>
          <a:bodyPr/>
          <a:lstStyle/>
          <a:p>
            <a:fld id="{0059130C-D5A7-43F1-8BDF-D4DD1699FE09}" type="slidenum">
              <a:rPr lang="en-US" smtClean="0"/>
              <a:t>6</a:t>
            </a:fld>
            <a:endParaRPr lang="en-US"/>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1632713185"/>
              </p:ext>
            </p:extLst>
          </p:nvPr>
        </p:nvGraphicFramePr>
        <p:xfrm>
          <a:off x="838200" y="1825625"/>
          <a:ext cx="10725150" cy="2291080"/>
        </p:xfrm>
        <a:graphic>
          <a:graphicData uri="http://schemas.openxmlformats.org/drawingml/2006/table">
            <a:tbl>
              <a:tblPr firstRow="1" bandRow="1">
                <a:tableStyleId>{5C22544A-7EE6-4342-B048-85BDC9FD1C3A}</a:tableStyleId>
              </a:tblPr>
              <a:tblGrid>
                <a:gridCol w="1787525"/>
                <a:gridCol w="1167363"/>
                <a:gridCol w="7770262"/>
              </a:tblGrid>
              <a:tr h="370840">
                <a:tc>
                  <a:txBody>
                    <a:bodyPr/>
                    <a:lstStyle/>
                    <a:p>
                      <a:pPr algn="ctr"/>
                      <a:r>
                        <a:rPr lang="en-US" dirty="0" smtClean="0"/>
                        <a:t>Quality</a:t>
                      </a:r>
                      <a:r>
                        <a:rPr lang="en-US" baseline="0" dirty="0" smtClean="0"/>
                        <a:t> Attribute</a:t>
                      </a:r>
                      <a:endParaRPr lang="en-US" dirty="0"/>
                    </a:p>
                  </a:txBody>
                  <a:tcPr/>
                </a:tc>
                <a:tc>
                  <a:txBody>
                    <a:bodyPr/>
                    <a:lstStyle/>
                    <a:p>
                      <a:pPr algn="ctr"/>
                      <a:r>
                        <a:rPr lang="en-US" dirty="0" smtClean="0"/>
                        <a:t>Priority</a:t>
                      </a:r>
                      <a:endParaRPr lang="en-US" dirty="0"/>
                    </a:p>
                  </a:txBody>
                  <a:tcPr/>
                </a:tc>
                <a:tc>
                  <a:txBody>
                    <a:bodyPr/>
                    <a:lstStyle/>
                    <a:p>
                      <a:pPr algn="ctr"/>
                      <a:r>
                        <a:rPr lang="en-US" dirty="0" smtClean="0"/>
                        <a:t>Description</a:t>
                      </a:r>
                      <a:endParaRPr lang="en-US" dirty="0"/>
                    </a:p>
                  </a:txBody>
                  <a:tcPr/>
                </a:tc>
              </a:tr>
              <a:tr h="370840">
                <a:tc>
                  <a:txBody>
                    <a:bodyPr/>
                    <a:lstStyle/>
                    <a:p>
                      <a:pPr algn="l"/>
                      <a:r>
                        <a:rPr lang="en-US" dirty="0" smtClean="0"/>
                        <a:t>Security</a:t>
                      </a:r>
                      <a:endParaRPr lang="en-US" dirty="0"/>
                    </a:p>
                  </a:txBody>
                  <a:tcPr/>
                </a:tc>
                <a:tc>
                  <a:txBody>
                    <a:bodyPr/>
                    <a:lstStyle/>
                    <a:p>
                      <a:pPr algn="ctr"/>
                      <a:r>
                        <a:rPr lang="en-US" dirty="0" smtClean="0"/>
                        <a:t>HIGH</a:t>
                      </a:r>
                      <a:endParaRPr lang="en-US" dirty="0"/>
                    </a:p>
                  </a:txBody>
                  <a:tcPr/>
                </a:tc>
                <a:tc>
                  <a:txBody>
                    <a:bodyPr/>
                    <a:lstStyle/>
                    <a:p>
                      <a:pPr algn="l"/>
                      <a:r>
                        <a:rPr lang="en-US" sz="1800" b="0" i="0" kern="1200" dirty="0" smtClean="0">
                          <a:solidFill>
                            <a:schemeClr val="dk1"/>
                          </a:solidFill>
                          <a:effectLst/>
                          <a:latin typeface="+mn-lt"/>
                          <a:ea typeface="+mn-ea"/>
                          <a:cs typeface="+mn-cs"/>
                        </a:rPr>
                        <a:t>Compromise contained within EP; EP impersonating DIAG client → discard; filter SID reprogramming (NFR-01/02/03)</a:t>
                      </a:r>
                      <a:endParaRPr lang="en-US" dirty="0"/>
                    </a:p>
                  </a:txBody>
                  <a:tcPr/>
                </a:tc>
              </a:tr>
              <a:tr h="370840">
                <a:tc>
                  <a:txBody>
                    <a:bodyPr/>
                    <a:lstStyle/>
                    <a:p>
                      <a:pPr algn="l"/>
                      <a:r>
                        <a:rPr lang="en-US" sz="1800" b="0" i="0" kern="1200" dirty="0" smtClean="0">
                          <a:solidFill>
                            <a:schemeClr val="dk1"/>
                          </a:solidFill>
                          <a:effectLst/>
                          <a:latin typeface="+mn-lt"/>
                          <a:ea typeface="+mn-ea"/>
                          <a:cs typeface="+mn-cs"/>
                        </a:rPr>
                        <a:t>Maintainability</a:t>
                      </a:r>
                      <a:endParaRPr lang="en-US" dirty="0"/>
                    </a:p>
                  </a:txBody>
                  <a:tcPr/>
                </a:tc>
                <a:tc>
                  <a:txBody>
                    <a:bodyPr/>
                    <a:lstStyle/>
                    <a:p>
                      <a:pPr algn="ctr"/>
                      <a:r>
                        <a:rPr lang="en-US" dirty="0" smtClean="0"/>
                        <a:t>MEDIUM</a:t>
                      </a:r>
                      <a:endParaRPr lang="en-US" dirty="0"/>
                    </a:p>
                  </a:txBody>
                  <a:tcPr/>
                </a:tc>
                <a:tc>
                  <a:txBody>
                    <a:bodyPr/>
                    <a:lstStyle/>
                    <a:p>
                      <a:pPr algn="l"/>
                      <a:r>
                        <a:rPr lang="en-US" dirty="0" smtClean="0"/>
                        <a:t>The new design should ensure that the system is able to support the changes in the future.</a:t>
                      </a:r>
                      <a:endParaRPr lang="en-US" dirty="0"/>
                    </a:p>
                  </a:txBody>
                  <a:tcPr/>
                </a:tc>
              </a:tr>
              <a:tr h="370840">
                <a:tc>
                  <a:txBody>
                    <a:bodyPr/>
                    <a:lstStyle/>
                    <a:p>
                      <a:pPr algn="l"/>
                      <a:r>
                        <a:rPr lang="en-US" dirty="0" smtClean="0"/>
                        <a:t>Simplicity</a:t>
                      </a:r>
                    </a:p>
                  </a:txBody>
                  <a:tcPr/>
                </a:tc>
                <a:tc>
                  <a:txBody>
                    <a:bodyPr/>
                    <a:lstStyle/>
                    <a:p>
                      <a:pPr algn="ctr"/>
                      <a:r>
                        <a:rPr lang="en-US" dirty="0" smtClean="0"/>
                        <a:t>LOW</a:t>
                      </a:r>
                      <a:endParaRPr lang="en-US" dirty="0"/>
                    </a:p>
                  </a:txBody>
                  <a:tcPr/>
                </a:tc>
                <a:tc>
                  <a:txBody>
                    <a:bodyPr/>
                    <a:lstStyle/>
                    <a:p>
                      <a:pPr algn="l"/>
                      <a:r>
                        <a:rPr lang="en-US" dirty="0" smtClean="0"/>
                        <a:t>Balance implementation complexity with operational reliability for mission-critical systems.</a:t>
                      </a:r>
                    </a:p>
                  </a:txBody>
                  <a:tcPr/>
                </a:tc>
              </a:tr>
            </a:tbl>
          </a:graphicData>
        </a:graphic>
      </p:graphicFrame>
    </p:spTree>
    <p:extLst>
      <p:ext uri="{BB962C8B-B14F-4D97-AF65-F5344CB8AC3E}">
        <p14:creationId xmlns:p14="http://schemas.microsoft.com/office/powerpoint/2010/main" val="3318683617"/>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300" dirty="0">
                <a:cs typeface="Times New Roman" panose="02020603050405020304" pitchFamily="18" charset="0"/>
              </a:rPr>
              <a:t>3</a:t>
            </a:r>
            <a:r>
              <a:rPr lang="en-US" sz="3300" dirty="0" smtClean="0">
                <a:cs typeface="Times New Roman" panose="02020603050405020304" pitchFamily="18" charset="0"/>
              </a:rPr>
              <a:t>. Solution </a:t>
            </a:r>
            <a:r>
              <a:rPr lang="en-US" sz="3300" dirty="0" smtClean="0">
                <a:cs typeface="Times New Roman" panose="02020603050405020304" pitchFamily="18" charset="0"/>
              </a:rPr>
              <a:t>proposals – Proposal 1</a:t>
            </a:r>
            <a:endParaRPr lang="en-US" dirty="0"/>
          </a:p>
        </p:txBody>
      </p:sp>
      <p:sp>
        <p:nvSpPr>
          <p:cNvPr id="3" name="Content Placeholder 2"/>
          <p:cNvSpPr>
            <a:spLocks noGrp="1"/>
          </p:cNvSpPr>
          <p:nvPr>
            <p:ph idx="1"/>
          </p:nvPr>
        </p:nvSpPr>
        <p:spPr/>
        <p:txBody>
          <a:bodyPr/>
          <a:lstStyle/>
          <a:p>
            <a:endParaRPr lang="en-US" dirty="0"/>
          </a:p>
        </p:txBody>
      </p:sp>
      <p:sp>
        <p:nvSpPr>
          <p:cNvPr id="4" name="Slide Number Placeholder 3"/>
          <p:cNvSpPr>
            <a:spLocks noGrp="1"/>
          </p:cNvSpPr>
          <p:nvPr>
            <p:ph type="sldNum" sz="quarter" idx="12"/>
          </p:nvPr>
        </p:nvSpPr>
        <p:spPr/>
        <p:txBody>
          <a:bodyPr/>
          <a:lstStyle/>
          <a:p>
            <a:fld id="{0059130C-D5A7-43F1-8BDF-D4DD1699FE09}" type="slidenum">
              <a:rPr lang="en-US" smtClean="0"/>
              <a:t>7</a:t>
            </a:fld>
            <a:endParaRPr lang="en-US"/>
          </a:p>
        </p:txBody>
      </p:sp>
    </p:spTree>
    <p:extLst>
      <p:ext uri="{BB962C8B-B14F-4D97-AF65-F5344CB8AC3E}">
        <p14:creationId xmlns:p14="http://schemas.microsoft.com/office/powerpoint/2010/main" val="3474543354"/>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300" dirty="0">
                <a:cs typeface="Times New Roman" panose="02020603050405020304" pitchFamily="18" charset="0"/>
              </a:rPr>
              <a:t>3</a:t>
            </a:r>
            <a:r>
              <a:rPr lang="en-US" sz="3300" dirty="0" smtClean="0">
                <a:cs typeface="Times New Roman" panose="02020603050405020304" pitchFamily="18" charset="0"/>
              </a:rPr>
              <a:t>. Solution </a:t>
            </a:r>
            <a:r>
              <a:rPr lang="en-US" sz="3300" dirty="0" smtClean="0">
                <a:cs typeface="Times New Roman" panose="02020603050405020304" pitchFamily="18" charset="0"/>
              </a:rPr>
              <a:t>proposals – Proposal 2</a:t>
            </a:r>
            <a:endParaRPr lang="en-US" dirty="0"/>
          </a:p>
        </p:txBody>
      </p:sp>
      <p:sp>
        <p:nvSpPr>
          <p:cNvPr id="3" name="Content Placeholder 2"/>
          <p:cNvSpPr>
            <a:spLocks noGrp="1"/>
          </p:cNvSpPr>
          <p:nvPr>
            <p:ph idx="1"/>
          </p:nvPr>
        </p:nvSpPr>
        <p:spPr/>
        <p:txBody>
          <a:bodyPr/>
          <a:lstStyle/>
          <a:p>
            <a:endParaRPr lang="en-US" dirty="0"/>
          </a:p>
        </p:txBody>
      </p:sp>
      <p:sp>
        <p:nvSpPr>
          <p:cNvPr id="4" name="Slide Number Placeholder 3"/>
          <p:cNvSpPr>
            <a:spLocks noGrp="1"/>
          </p:cNvSpPr>
          <p:nvPr>
            <p:ph type="sldNum" sz="quarter" idx="12"/>
          </p:nvPr>
        </p:nvSpPr>
        <p:spPr/>
        <p:txBody>
          <a:bodyPr/>
          <a:lstStyle/>
          <a:p>
            <a:fld id="{0059130C-D5A7-43F1-8BDF-D4DD1699FE09}" type="slidenum">
              <a:rPr lang="en-US" smtClean="0"/>
              <a:t>8</a:t>
            </a:fld>
            <a:endParaRPr lang="en-US"/>
          </a:p>
        </p:txBody>
      </p:sp>
    </p:spTree>
    <p:extLst>
      <p:ext uri="{BB962C8B-B14F-4D97-AF65-F5344CB8AC3E}">
        <p14:creationId xmlns:p14="http://schemas.microsoft.com/office/powerpoint/2010/main" val="2399889012"/>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300" dirty="0" smtClean="0">
                <a:cs typeface="Times New Roman" panose="02020603050405020304" pitchFamily="18" charset="0"/>
              </a:rPr>
              <a:t>4. Design proposal for selected solution</a:t>
            </a:r>
            <a:endParaRPr lang="en-US" dirty="0"/>
          </a:p>
        </p:txBody>
      </p:sp>
      <p:sp>
        <p:nvSpPr>
          <p:cNvPr id="3" name="Content Placeholder 2"/>
          <p:cNvSpPr>
            <a:spLocks noGrp="1"/>
          </p:cNvSpPr>
          <p:nvPr>
            <p:ph idx="1"/>
          </p:nvPr>
        </p:nvSpPr>
        <p:spPr/>
        <p:txBody>
          <a:bodyPr/>
          <a:lstStyle/>
          <a:p>
            <a:endParaRPr lang="en-US" b="1" dirty="0"/>
          </a:p>
        </p:txBody>
      </p:sp>
      <p:sp>
        <p:nvSpPr>
          <p:cNvPr id="4" name="Slide Number Placeholder 3"/>
          <p:cNvSpPr>
            <a:spLocks noGrp="1"/>
          </p:cNvSpPr>
          <p:nvPr>
            <p:ph type="sldNum" sz="quarter" idx="12"/>
          </p:nvPr>
        </p:nvSpPr>
        <p:spPr/>
        <p:txBody>
          <a:bodyPr/>
          <a:lstStyle/>
          <a:p>
            <a:fld id="{0059130C-D5A7-43F1-8BDF-D4DD1699FE09}" type="slidenum">
              <a:rPr lang="en-US" smtClean="0"/>
              <a:t>9</a:t>
            </a:fld>
            <a:endParaRPr lang="en-US"/>
          </a:p>
        </p:txBody>
      </p:sp>
    </p:spTree>
    <p:extLst>
      <p:ext uri="{BB962C8B-B14F-4D97-AF65-F5344CB8AC3E}">
        <p14:creationId xmlns:p14="http://schemas.microsoft.com/office/powerpoint/2010/main" val="320640097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326038" y="3957077"/>
            <a:ext cx="5998561" cy="1892826"/>
          </a:xfrm>
          <a:prstGeom prst="rect">
            <a:avLst/>
          </a:prstGeom>
          <a:noFill/>
        </p:spPr>
        <p:txBody>
          <a:bodyPr wrap="square" rtlCol="0">
            <a:spAutoFit/>
          </a:bodyPr>
          <a:lstStyle/>
          <a:p>
            <a:pPr algn="just">
              <a:lnSpc>
                <a:spcPct val="250000"/>
              </a:lnSpc>
            </a:pPr>
            <a:r>
              <a:rPr lang="en-US" b="1" dirty="0" smtClean="0">
                <a:latin typeface="Times New Roman" panose="02020603050405020304" pitchFamily="18" charset="0"/>
                <a:cs typeface="Times New Roman" panose="02020603050405020304" pitchFamily="18" charset="0"/>
              </a:rPr>
              <a:t>Power Manager service’s </a:t>
            </a:r>
            <a:r>
              <a:rPr lang="en-US" b="1" dirty="0">
                <a:latin typeface="Times New Roman" panose="02020603050405020304" pitchFamily="18" charset="0"/>
                <a:cs typeface="Times New Roman" panose="02020603050405020304" pitchFamily="18" charset="0"/>
              </a:rPr>
              <a:t>c</a:t>
            </a:r>
            <a:r>
              <a:rPr lang="en-US" b="1" dirty="0" smtClean="0">
                <a:latin typeface="Times New Roman" panose="02020603050405020304" pitchFamily="18" charset="0"/>
                <a:cs typeface="Times New Roman" panose="02020603050405020304" pitchFamily="18" charset="0"/>
              </a:rPr>
              <a:t>haracteristics </a:t>
            </a:r>
            <a:r>
              <a:rPr lang="en-US" b="1" dirty="0">
                <a:latin typeface="Times New Roman" panose="02020603050405020304" pitchFamily="18" charset="0"/>
                <a:cs typeface="Times New Roman" panose="02020603050405020304" pitchFamily="18" charset="0"/>
              </a:rPr>
              <a:t>:</a:t>
            </a:r>
          </a:p>
          <a:p>
            <a:pPr marL="285750" indent="-285750" algn="just">
              <a:buFont typeface="Wingdings" panose="05000000000000000000" pitchFamily="2" charset="2"/>
              <a:buChar char="§"/>
            </a:pPr>
            <a:r>
              <a:rPr lang="en-US" b="1" dirty="0" smtClean="0">
                <a:latin typeface="Times New Roman" panose="02020603050405020304" pitchFamily="18" charset="0"/>
                <a:cs typeface="Times New Roman" panose="02020603050405020304" pitchFamily="18" charset="0"/>
              </a:rPr>
              <a:t>High </a:t>
            </a:r>
            <a:r>
              <a:rPr lang="en-US" b="1" dirty="0">
                <a:latin typeface="Times New Roman" panose="02020603050405020304" pitchFamily="18" charset="0"/>
                <a:cs typeface="Times New Roman" panose="02020603050405020304" pitchFamily="18" charset="0"/>
              </a:rPr>
              <a:t>Fan-out</a:t>
            </a:r>
            <a:r>
              <a:rPr lang="en-US" dirty="0">
                <a:latin typeface="Times New Roman" panose="02020603050405020304" pitchFamily="18" charset="0"/>
                <a:cs typeface="Times New Roman" panose="02020603050405020304" pitchFamily="18" charset="0"/>
              </a:rPr>
              <a:t>: </a:t>
            </a:r>
            <a:r>
              <a:rPr lang="en-US" dirty="0" smtClean="0">
                <a:latin typeface="Times New Roman" panose="02020603050405020304" pitchFamily="18" charset="0"/>
                <a:cs typeface="Times New Roman" panose="02020603050405020304" pitchFamily="18" charset="0"/>
              </a:rPr>
              <a:t>~38 </a:t>
            </a:r>
            <a:r>
              <a:rPr lang="en-US" dirty="0">
                <a:latin typeface="Times New Roman" panose="02020603050405020304" pitchFamily="18" charset="0"/>
                <a:cs typeface="Times New Roman" panose="02020603050405020304" pitchFamily="18" charset="0"/>
              </a:rPr>
              <a:t>service receivers in </a:t>
            </a:r>
            <a:r>
              <a:rPr lang="en-US" dirty="0" smtClean="0">
                <a:latin typeface="Times New Roman" panose="02020603050405020304" pitchFamily="18" charset="0"/>
                <a:cs typeface="Times New Roman" panose="02020603050405020304" pitchFamily="18" charset="0"/>
              </a:rPr>
              <a:t>24DCM project</a:t>
            </a:r>
            <a:r>
              <a:rPr lang="en-US" dirty="0">
                <a:latin typeface="Times New Roman" panose="02020603050405020304" pitchFamily="18" charset="0"/>
                <a:cs typeface="Times New Roman" panose="02020603050405020304" pitchFamily="18" charset="0"/>
              </a:rPr>
              <a:t>.</a:t>
            </a:r>
          </a:p>
          <a:p>
            <a:pPr marL="285750" indent="-285750" algn="just">
              <a:buFont typeface="Wingdings" panose="05000000000000000000" pitchFamily="2" charset="2"/>
              <a:buChar char="§"/>
            </a:pPr>
            <a:r>
              <a:rPr lang="en-US" b="1" dirty="0" smtClean="0">
                <a:latin typeface="Times New Roman" panose="02020603050405020304" pitchFamily="18" charset="0"/>
                <a:cs typeface="Times New Roman" panose="02020603050405020304" pitchFamily="18" charset="0"/>
              </a:rPr>
              <a:t>Sequential </a:t>
            </a:r>
            <a:r>
              <a:rPr lang="en-US" b="1" dirty="0">
                <a:latin typeface="Times New Roman" panose="02020603050405020304" pitchFamily="18" charset="0"/>
                <a:cs typeface="Times New Roman" panose="02020603050405020304" pitchFamily="18" charset="0"/>
              </a:rPr>
              <a:t>Processing</a:t>
            </a:r>
            <a:r>
              <a:rPr lang="en-US" dirty="0">
                <a:latin typeface="Times New Roman" panose="02020603050405020304" pitchFamily="18" charset="0"/>
                <a:cs typeface="Times New Roman" panose="02020603050405020304" pitchFamily="18" charset="0"/>
              </a:rPr>
              <a:t>: Events must be processed in </a:t>
            </a:r>
            <a:r>
              <a:rPr lang="en-US" dirty="0" smtClean="0">
                <a:latin typeface="Times New Roman" panose="02020603050405020304" pitchFamily="18" charset="0"/>
                <a:cs typeface="Times New Roman" panose="02020603050405020304" pitchFamily="18" charset="0"/>
              </a:rPr>
              <a:t>order.</a:t>
            </a:r>
          </a:p>
          <a:p>
            <a:pPr marL="285750" indent="-285750" algn="just">
              <a:buFont typeface="Wingdings" panose="05000000000000000000" pitchFamily="2" charset="2"/>
              <a:buChar char="§"/>
            </a:pPr>
            <a:r>
              <a:rPr lang="en-US" b="1" dirty="0" smtClean="0">
                <a:latin typeface="Times New Roman" panose="02020603050405020304" pitchFamily="18" charset="0"/>
                <a:cs typeface="Times New Roman" panose="02020603050405020304" pitchFamily="18" charset="0"/>
              </a:rPr>
              <a:t>High Reliability Required</a:t>
            </a:r>
            <a:r>
              <a:rPr lang="en-US" dirty="0" smtClean="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Failures or delays in event notification can cause battery drain and system-wide issues.</a:t>
            </a:r>
          </a:p>
        </p:txBody>
      </p:sp>
      <p:sp>
        <p:nvSpPr>
          <p:cNvPr id="8" name="Rectangle 7"/>
          <p:cNvSpPr/>
          <p:nvPr/>
        </p:nvSpPr>
        <p:spPr>
          <a:xfrm>
            <a:off x="459789" y="146304"/>
            <a:ext cx="7635616" cy="461665"/>
          </a:xfrm>
          <a:prstGeom prst="rect">
            <a:avLst/>
          </a:prstGeom>
          <a:solidFill>
            <a:schemeClr val="bg1"/>
          </a:solidFill>
        </p:spPr>
        <p:txBody>
          <a:bodyPr wrap="none">
            <a:spAutoFit/>
          </a:bodyPr>
          <a:lstStyle/>
          <a:p>
            <a:r>
              <a:rPr lang="en-US" sz="2400" u="sng" dirty="0" smtClean="0">
                <a:latin typeface="Times New Roman" panose="02020603050405020304" pitchFamily="18" charset="0"/>
                <a:cs typeface="Times New Roman" panose="02020603050405020304" pitchFamily="18" charset="0"/>
              </a:rPr>
              <a:t>1. Overview </a:t>
            </a:r>
            <a:r>
              <a:rPr lang="en-US" sz="2400" u="sng" dirty="0">
                <a:latin typeface="Times New Roman" panose="02020603050405020304" pitchFamily="18" charset="0"/>
                <a:cs typeface="Times New Roman" panose="02020603050405020304" pitchFamily="18" charset="0"/>
              </a:rPr>
              <a:t>-</a:t>
            </a:r>
            <a:r>
              <a:rPr lang="en-US" sz="2400" u="sng" dirty="0" smtClean="0">
                <a:latin typeface="Times New Roman" panose="02020603050405020304" pitchFamily="18" charset="0"/>
                <a:cs typeface="Times New Roman" panose="02020603050405020304" pitchFamily="18" charset="0"/>
              </a:rPr>
              <a:t> </a:t>
            </a:r>
            <a:r>
              <a:rPr lang="en-US" sz="2400" u="sng" dirty="0">
                <a:latin typeface="Times New Roman" panose="02020603050405020304" pitchFamily="18" charset="0"/>
                <a:cs typeface="Times New Roman" panose="02020603050405020304" pitchFamily="18" charset="0"/>
              </a:rPr>
              <a:t>DCM and the RDG Module in Toyota 24LM</a:t>
            </a:r>
          </a:p>
        </p:txBody>
      </p:sp>
      <p:sp>
        <p:nvSpPr>
          <p:cNvPr id="7" name="TextBox 6"/>
          <p:cNvSpPr txBox="1"/>
          <p:nvPr/>
        </p:nvSpPr>
        <p:spPr>
          <a:xfrm>
            <a:off x="326038" y="1278837"/>
            <a:ext cx="5846161" cy="1477328"/>
          </a:xfrm>
          <a:prstGeom prst="rect">
            <a:avLst/>
          </a:prstGeom>
          <a:noFill/>
        </p:spPr>
        <p:txBody>
          <a:bodyPr wrap="square" rtlCol="0">
            <a:spAutoFit/>
          </a:bodyPr>
          <a:lstStyle/>
          <a:p>
            <a:pPr algn="just"/>
            <a:r>
              <a:rPr lang="en-US" b="1" dirty="0" smtClean="0">
                <a:latin typeface="Times New Roman" panose="02020603050405020304" pitchFamily="18" charset="0"/>
                <a:cs typeface="Times New Roman" panose="02020603050405020304" pitchFamily="18" charset="0"/>
              </a:rPr>
              <a:t>Power Manager </a:t>
            </a:r>
            <a:r>
              <a:rPr lang="en-US" dirty="0">
                <a:latin typeface="Times New Roman" panose="02020603050405020304" pitchFamily="18" charset="0"/>
                <a:cs typeface="Times New Roman" panose="02020603050405020304" pitchFamily="18" charset="0"/>
              </a:rPr>
              <a:t>s</a:t>
            </a:r>
            <a:r>
              <a:rPr lang="en-US" dirty="0" smtClean="0">
                <a:latin typeface="Times New Roman" panose="02020603050405020304" pitchFamily="18" charset="0"/>
                <a:cs typeface="Times New Roman" panose="02020603050405020304" pitchFamily="18" charset="0"/>
              </a:rPr>
              <a:t>ervice</a:t>
            </a:r>
            <a:r>
              <a:rPr lang="en-US" b="1" dirty="0" smtClean="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is one of the </a:t>
            </a:r>
            <a:r>
              <a:rPr lang="en-US" dirty="0" smtClean="0">
                <a:latin typeface="Times New Roman" panose="02020603050405020304" pitchFamily="18" charset="0"/>
                <a:cs typeface="Times New Roman" panose="02020603050405020304" pitchFamily="18" charset="0"/>
              </a:rPr>
              <a:t>services </a:t>
            </a:r>
            <a:r>
              <a:rPr lang="en-US" dirty="0">
                <a:latin typeface="Times New Roman" panose="02020603050405020304" pitchFamily="18" charset="0"/>
                <a:cs typeface="Times New Roman" panose="02020603050405020304" pitchFamily="18" charset="0"/>
              </a:rPr>
              <a:t>in the </a:t>
            </a:r>
            <a:r>
              <a:rPr lang="en-US" dirty="0" smtClean="0">
                <a:latin typeface="Times New Roman" panose="02020603050405020304" pitchFamily="18" charset="0"/>
                <a:cs typeface="Times New Roman" panose="02020603050405020304" pitchFamily="18" charset="0"/>
              </a:rPr>
              <a:t>telematics </a:t>
            </a:r>
            <a:r>
              <a:rPr lang="en-US" dirty="0">
                <a:latin typeface="Times New Roman" panose="02020603050405020304" pitchFamily="18" charset="0"/>
                <a:cs typeface="Times New Roman" panose="02020603050405020304" pitchFamily="18" charset="0"/>
              </a:rPr>
              <a:t>system</a:t>
            </a:r>
            <a:r>
              <a:rPr lang="en-US" dirty="0" smtClean="0">
                <a:latin typeface="Times New Roman" panose="02020603050405020304" pitchFamily="18" charset="0"/>
                <a:cs typeface="Times New Roman" panose="02020603050405020304" pitchFamily="18" charset="0"/>
              </a:rPr>
              <a:t>.</a:t>
            </a:r>
            <a:r>
              <a:rPr lang="en-US" b="1" dirty="0" smtClean="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It is responsible for collecting and </a:t>
            </a:r>
            <a:r>
              <a:rPr lang="en-US" dirty="0" smtClean="0">
                <a:latin typeface="Times New Roman" panose="02020603050405020304" pitchFamily="18" charset="0"/>
                <a:cs typeface="Times New Roman" panose="02020603050405020304" pitchFamily="18" charset="0"/>
              </a:rPr>
              <a:t>managing power-related </a:t>
            </a:r>
            <a:r>
              <a:rPr lang="en-US" dirty="0">
                <a:latin typeface="Times New Roman" panose="02020603050405020304" pitchFamily="18" charset="0"/>
                <a:cs typeface="Times New Roman" panose="02020603050405020304" pitchFamily="18" charset="0"/>
              </a:rPr>
              <a:t>information from various modules, and actively notifies other applications and services about changes in power state, </a:t>
            </a:r>
            <a:r>
              <a:rPr lang="en-US" dirty="0" smtClean="0">
                <a:latin typeface="Times New Roman" panose="02020603050405020304" pitchFamily="18" charset="0"/>
                <a:cs typeface="Times New Roman" panose="02020603050405020304" pitchFamily="18" charset="0"/>
              </a:rPr>
              <a:t>power source, </a:t>
            </a:r>
            <a:r>
              <a:rPr lang="en-US" dirty="0">
                <a:latin typeface="Times New Roman" panose="02020603050405020304" pitchFamily="18" charset="0"/>
                <a:cs typeface="Times New Roman" panose="02020603050405020304" pitchFamily="18" charset="0"/>
              </a:rPr>
              <a:t>and battery </a:t>
            </a:r>
            <a:r>
              <a:rPr lang="en-US" dirty="0" smtClean="0">
                <a:latin typeface="Times New Roman" panose="02020603050405020304" pitchFamily="18" charset="0"/>
                <a:cs typeface="Times New Roman" panose="02020603050405020304" pitchFamily="18" charset="0"/>
              </a:rPr>
              <a:t>status…</a:t>
            </a:r>
            <a:endParaRPr lang="en-US" dirty="0">
              <a:latin typeface="Times New Roman" panose="02020603050405020304" pitchFamily="18" charset="0"/>
              <a:cs typeface="Times New Roman" panose="02020603050405020304" pitchFamily="18" charset="0"/>
            </a:endParaRPr>
          </a:p>
        </p:txBody>
      </p:sp>
      <p:sp>
        <p:nvSpPr>
          <p:cNvPr id="2" name="Slide Number Placeholder 1"/>
          <p:cNvSpPr>
            <a:spLocks noGrp="1"/>
          </p:cNvSpPr>
          <p:nvPr>
            <p:ph type="sldNum" sz="quarter" idx="12"/>
          </p:nvPr>
        </p:nvSpPr>
        <p:spPr/>
        <p:txBody>
          <a:bodyPr/>
          <a:lstStyle/>
          <a:p>
            <a:fld id="{0059130C-D5A7-43F1-8BDF-D4DD1699FE09}" type="slidenum">
              <a:rPr lang="en-US" smtClean="0"/>
              <a:t>10</a:t>
            </a:fld>
            <a:endParaRPr lang="en-US"/>
          </a:p>
        </p:txBody>
      </p:sp>
      <p:sp>
        <p:nvSpPr>
          <p:cNvPr id="4" name="Rectangle 3"/>
          <p:cNvSpPr/>
          <p:nvPr/>
        </p:nvSpPr>
        <p:spPr>
          <a:xfrm>
            <a:off x="9598448" y="4868443"/>
            <a:ext cx="1698781" cy="934034"/>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p:cNvGrpSpPr/>
          <p:nvPr/>
        </p:nvGrpSpPr>
        <p:grpSpPr>
          <a:xfrm>
            <a:off x="6449300" y="1064306"/>
            <a:ext cx="5401331" cy="4792806"/>
            <a:chOff x="6449300" y="1064306"/>
            <a:chExt cx="5401331" cy="4792806"/>
          </a:xfrm>
        </p:grpSpPr>
        <p:pic>
          <p:nvPicPr>
            <p:cNvPr id="3" name="Picture 2"/>
            <p:cNvPicPr>
              <a:picLocks noChangeAspect="1"/>
            </p:cNvPicPr>
            <p:nvPr/>
          </p:nvPicPr>
          <p:blipFill>
            <a:blip r:embed="rId3"/>
            <a:stretch>
              <a:fillRect/>
            </a:stretch>
          </p:blipFill>
          <p:spPr>
            <a:xfrm>
              <a:off x="6449300" y="1064306"/>
              <a:ext cx="5401331" cy="4792806"/>
            </a:xfrm>
            <a:prstGeom prst="rect">
              <a:avLst/>
            </a:prstGeom>
            <a:ln>
              <a:solidFill>
                <a:schemeClr val="tx1"/>
              </a:solidFill>
            </a:ln>
          </p:spPr>
        </p:pic>
        <p:sp>
          <p:nvSpPr>
            <p:cNvPr id="5" name="Rectangle 4"/>
            <p:cNvSpPr/>
            <p:nvPr/>
          </p:nvSpPr>
          <p:spPr>
            <a:xfrm>
              <a:off x="9686544" y="4825692"/>
              <a:ext cx="1755648" cy="9289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p:cNvSpPr/>
          <p:nvPr/>
        </p:nvSpPr>
        <p:spPr>
          <a:xfrm>
            <a:off x="9943070" y="6112651"/>
            <a:ext cx="2248930" cy="401595"/>
          </a:xfrm>
          <a:prstGeom prst="rect">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i="1" dirty="0" smtClean="0">
                <a:solidFill>
                  <a:schemeClr val="tx1"/>
                </a:solidFill>
                <a:latin typeface="Times New Roman" panose="02020603050405020304" pitchFamily="18" charset="0"/>
                <a:cs typeface="Times New Roman" panose="02020603050405020304" pitchFamily="18" charset="0"/>
              </a:rPr>
              <a:t>More details at </a:t>
            </a:r>
            <a:r>
              <a:rPr lang="en-US" sz="1100" i="1" dirty="0">
                <a:solidFill>
                  <a:schemeClr val="tx1"/>
                </a:solidFill>
                <a:latin typeface="Times New Roman" panose="02020603050405020304" pitchFamily="18" charset="0"/>
                <a:cs typeface="Times New Roman" panose="02020603050405020304" pitchFamily="18" charset="0"/>
              </a:rPr>
              <a:t>Appendix </a:t>
            </a:r>
            <a:r>
              <a:rPr lang="en-US" sz="1100" i="1" dirty="0" smtClean="0">
                <a:solidFill>
                  <a:schemeClr val="tx1"/>
                </a:solidFill>
                <a:latin typeface="Times New Roman" panose="02020603050405020304" pitchFamily="18" charset="0"/>
                <a:cs typeface="Times New Roman" panose="02020603050405020304" pitchFamily="18" charset="0"/>
              </a:rPr>
              <a:t>1</a:t>
            </a:r>
            <a:endParaRPr lang="en-US" sz="1100" i="1" dirty="0">
              <a:solidFill>
                <a:schemeClr val="tx1"/>
              </a:solidFill>
              <a:latin typeface="Times New Roman" panose="02020603050405020304" pitchFamily="18" charset="0"/>
              <a:cs typeface="Times New Roman" panose="02020603050405020304" pitchFamily="18" charset="0"/>
            </a:endParaRPr>
          </a:p>
          <a:p>
            <a:pPr algn="ctr"/>
            <a:endParaRPr lang="en-US" sz="1200" i="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43072185"/>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Picture 20"/>
          <p:cNvPicPr>
            <a:picLocks noChangeAspect="1"/>
          </p:cNvPicPr>
          <p:nvPr/>
        </p:nvPicPr>
        <p:blipFill>
          <a:blip r:embed="rId3"/>
          <a:stretch>
            <a:fillRect/>
          </a:stretch>
        </p:blipFill>
        <p:spPr>
          <a:xfrm>
            <a:off x="6426730" y="168064"/>
            <a:ext cx="4963646" cy="6449895"/>
          </a:xfrm>
          <a:prstGeom prst="rect">
            <a:avLst/>
          </a:prstGeom>
        </p:spPr>
      </p:pic>
      <p:sp>
        <p:nvSpPr>
          <p:cNvPr id="5" name="Rectangle 4"/>
          <p:cNvSpPr/>
          <p:nvPr/>
        </p:nvSpPr>
        <p:spPr>
          <a:xfrm>
            <a:off x="459789" y="146304"/>
            <a:ext cx="5449521" cy="461665"/>
          </a:xfrm>
          <a:prstGeom prst="rect">
            <a:avLst/>
          </a:prstGeom>
          <a:solidFill>
            <a:schemeClr val="bg1"/>
          </a:solidFill>
        </p:spPr>
        <p:txBody>
          <a:bodyPr wrap="square">
            <a:spAutoFit/>
          </a:bodyPr>
          <a:lstStyle/>
          <a:p>
            <a:r>
              <a:rPr lang="en-US" sz="2400" u="sng" dirty="0" smtClean="0">
                <a:latin typeface="Times New Roman" panose="02020603050405020304" pitchFamily="18" charset="0"/>
                <a:cs typeface="Times New Roman" panose="02020603050405020304" pitchFamily="18" charset="0"/>
              </a:rPr>
              <a:t>2. </a:t>
            </a:r>
            <a:r>
              <a:rPr lang="en-US" sz="2400" u="sng" dirty="0">
                <a:latin typeface="Times New Roman" panose="02020603050405020304" pitchFamily="18" charset="0"/>
                <a:cs typeface="Times New Roman" panose="02020603050405020304" pitchFamily="18" charset="0"/>
              </a:rPr>
              <a:t>Problem Identification </a:t>
            </a:r>
          </a:p>
        </p:txBody>
      </p:sp>
      <p:sp>
        <p:nvSpPr>
          <p:cNvPr id="7" name="Rectangle 6"/>
          <p:cNvSpPr/>
          <p:nvPr/>
        </p:nvSpPr>
        <p:spPr>
          <a:xfrm>
            <a:off x="525588" y="887274"/>
            <a:ext cx="4128053" cy="369332"/>
          </a:xfrm>
          <a:prstGeom prst="rect">
            <a:avLst/>
          </a:prstGeom>
        </p:spPr>
        <p:txBody>
          <a:bodyPr wrap="none">
            <a:spAutoFit/>
          </a:bodyPr>
          <a:lstStyle/>
          <a:p>
            <a:r>
              <a:rPr lang="en-US" b="1" dirty="0">
                <a:latin typeface="Times New Roman" panose="02020603050405020304" pitchFamily="18" charset="0"/>
                <a:cs typeface="Times New Roman" panose="02020603050405020304" pitchFamily="18" charset="0"/>
              </a:rPr>
              <a:t>Starting </a:t>
            </a:r>
            <a:r>
              <a:rPr lang="en-US" b="1" dirty="0" smtClean="0">
                <a:latin typeface="Times New Roman" panose="02020603050405020304" pitchFamily="18" charset="0"/>
                <a:cs typeface="Times New Roman" panose="02020603050405020304" pitchFamily="18" charset="0"/>
              </a:rPr>
              <a:t>point</a:t>
            </a:r>
            <a:r>
              <a:rPr lang="en-US" b="1" dirty="0">
                <a:latin typeface="Times New Roman" panose="02020603050405020304" pitchFamily="18" charset="0"/>
                <a:cs typeface="Times New Roman" panose="02020603050405020304" pitchFamily="18" charset="0"/>
              </a:rPr>
              <a:t>: issue </a:t>
            </a:r>
            <a:r>
              <a:rPr lang="en-US" b="1" dirty="0" smtClean="0">
                <a:latin typeface="Times New Roman" panose="02020603050405020304" pitchFamily="18" charset="0"/>
                <a:cs typeface="Times New Roman" panose="02020603050405020304" pitchFamily="18" charset="0"/>
              </a:rPr>
              <a:t>DCM24MON-4575</a:t>
            </a:r>
            <a:endParaRPr lang="en-US" b="1" dirty="0">
              <a:latin typeface="Times New Roman" panose="02020603050405020304" pitchFamily="18" charset="0"/>
              <a:cs typeface="Times New Roman" panose="02020603050405020304" pitchFamily="18" charset="0"/>
            </a:endParaRPr>
          </a:p>
        </p:txBody>
      </p:sp>
      <p:sp>
        <p:nvSpPr>
          <p:cNvPr id="16" name="Rectangle 15"/>
          <p:cNvSpPr/>
          <p:nvPr/>
        </p:nvSpPr>
        <p:spPr>
          <a:xfrm>
            <a:off x="525588" y="1418688"/>
            <a:ext cx="6096000" cy="1754326"/>
          </a:xfrm>
          <a:prstGeom prst="rect">
            <a:avLst/>
          </a:prstGeom>
        </p:spPr>
        <p:txBody>
          <a:bodyPr>
            <a:spAutoFit/>
          </a:bodyPr>
          <a:lstStyle/>
          <a:p>
            <a:r>
              <a:rPr lang="en-US" u="sng" dirty="0" smtClean="0">
                <a:latin typeface="Times New Roman" panose="02020603050405020304" pitchFamily="18" charset="0"/>
                <a:cs typeface="Times New Roman" panose="02020603050405020304" pitchFamily="18" charset="0"/>
              </a:rPr>
              <a:t>Scenario</a:t>
            </a:r>
            <a:r>
              <a:rPr lang="en-US" dirty="0" smtClean="0">
                <a:latin typeface="Times New Roman" panose="02020603050405020304" pitchFamily="18" charset="0"/>
                <a:cs typeface="Times New Roman" panose="02020603050405020304" pitchFamily="18" charset="0"/>
              </a:rPr>
              <a:t>:  User turns off Ignition (IG)</a:t>
            </a:r>
            <a:endParaRPr lang="en-US" dirty="0">
              <a:latin typeface="Times New Roman" panose="02020603050405020304" pitchFamily="18" charset="0"/>
              <a:cs typeface="Times New Roman" panose="02020603050405020304" pitchFamily="18" charset="0"/>
            </a:endParaRPr>
          </a:p>
          <a:p>
            <a:r>
              <a:rPr lang="en-US" u="sng" dirty="0" smtClean="0">
                <a:latin typeface="Times New Roman" panose="02020603050405020304" pitchFamily="18" charset="0"/>
                <a:cs typeface="Times New Roman" panose="02020603050405020304" pitchFamily="18" charset="0"/>
              </a:rPr>
              <a:t>Expected</a:t>
            </a:r>
            <a:r>
              <a:rPr lang="en-US" dirty="0">
                <a:latin typeface="Times New Roman" panose="02020603050405020304" pitchFamily="18" charset="0"/>
                <a:cs typeface="Times New Roman" panose="02020603050405020304" pitchFamily="18" charset="0"/>
              </a:rPr>
              <a:t>: Remote Air Conditioner stops after </a:t>
            </a:r>
            <a:r>
              <a:rPr lang="en-US" dirty="0" smtClean="0">
                <a:latin typeface="Times New Roman" panose="02020603050405020304" pitchFamily="18" charset="0"/>
                <a:cs typeface="Times New Roman" panose="02020603050405020304" pitchFamily="18" charset="0"/>
              </a:rPr>
              <a:t>1.5s</a:t>
            </a:r>
          </a:p>
          <a:p>
            <a:r>
              <a:rPr lang="en-US" u="sng" dirty="0" smtClean="0">
                <a:latin typeface="Times New Roman" panose="02020603050405020304" pitchFamily="18" charset="0"/>
                <a:cs typeface="Times New Roman" panose="02020603050405020304" pitchFamily="18" charset="0"/>
              </a:rPr>
              <a:t>Actual</a:t>
            </a:r>
            <a:r>
              <a:rPr lang="en-US" dirty="0">
                <a:latin typeface="Times New Roman" panose="02020603050405020304" pitchFamily="18" charset="0"/>
                <a:cs typeface="Times New Roman" panose="02020603050405020304" pitchFamily="18" charset="0"/>
              </a:rPr>
              <a:t>: </a:t>
            </a:r>
            <a:r>
              <a:rPr lang="en-US" dirty="0" smtClean="0">
                <a:latin typeface="Times New Roman" panose="02020603050405020304" pitchFamily="18" charset="0"/>
                <a:cs typeface="Times New Roman" panose="02020603050405020304" pitchFamily="18" charset="0"/>
              </a:rPr>
              <a:t>    Remote Air </a:t>
            </a:r>
            <a:r>
              <a:rPr lang="en-US" dirty="0">
                <a:latin typeface="Times New Roman" panose="02020603050405020304" pitchFamily="18" charset="0"/>
                <a:cs typeface="Times New Roman" panose="02020603050405020304" pitchFamily="18" charset="0"/>
              </a:rPr>
              <a:t>Conditioner </a:t>
            </a:r>
            <a:r>
              <a:rPr lang="en-US" dirty="0" smtClean="0">
                <a:latin typeface="Times New Roman" panose="02020603050405020304" pitchFamily="18" charset="0"/>
                <a:cs typeface="Times New Roman" panose="02020603050405020304" pitchFamily="18" charset="0"/>
              </a:rPr>
              <a:t>takes </a:t>
            </a:r>
            <a:r>
              <a:rPr lang="en-US" dirty="0">
                <a:latin typeface="Times New Roman" panose="02020603050405020304" pitchFamily="18" charset="0"/>
                <a:cs typeface="Times New Roman" panose="02020603050405020304" pitchFamily="18" charset="0"/>
              </a:rPr>
              <a:t>4s to </a:t>
            </a:r>
            <a:r>
              <a:rPr lang="en-US" dirty="0" smtClean="0">
                <a:latin typeface="Times New Roman" panose="02020603050405020304" pitchFamily="18" charset="0"/>
                <a:cs typeface="Times New Roman" panose="02020603050405020304" pitchFamily="18" charset="0"/>
              </a:rPr>
              <a:t>respond</a:t>
            </a:r>
          </a:p>
          <a:p>
            <a:endParaRPr lang="en-US" dirty="0" smtClean="0">
              <a:latin typeface="Times New Roman" panose="02020603050405020304" pitchFamily="18" charset="0"/>
              <a:cs typeface="Times New Roman" panose="02020603050405020304" pitchFamily="18" charset="0"/>
            </a:endParaRPr>
          </a:p>
          <a:p>
            <a:r>
              <a:rPr lang="en-US" u="sng" dirty="0" smtClean="0">
                <a:latin typeface="Times New Roman" panose="02020603050405020304" pitchFamily="18" charset="0"/>
                <a:cs typeface="Times New Roman" panose="02020603050405020304" pitchFamily="18" charset="0"/>
              </a:rPr>
              <a:t>Cause</a:t>
            </a:r>
            <a:r>
              <a:rPr lang="en-US" dirty="0" smtClean="0">
                <a:latin typeface="Times New Roman" panose="02020603050405020304" pitchFamily="18" charset="0"/>
                <a:cs typeface="Times New Roman" panose="02020603050405020304" pitchFamily="18" charset="0"/>
              </a:rPr>
              <a:t>: The IG off status is delayed </a:t>
            </a:r>
            <a:r>
              <a:rPr lang="en-US" b="1" dirty="0" smtClean="0">
                <a:latin typeface="Times New Roman" panose="02020603050405020304" pitchFamily="18" charset="0"/>
                <a:cs typeface="Times New Roman" panose="02020603050405020304" pitchFamily="18" charset="0"/>
              </a:rPr>
              <a:t>4 seconds </a:t>
            </a:r>
            <a:r>
              <a:rPr lang="en-US" dirty="0" smtClean="0">
                <a:latin typeface="Times New Roman" panose="02020603050405020304" pitchFamily="18" charset="0"/>
                <a:cs typeface="Times New Roman" panose="02020603050405020304" pitchFamily="18" charset="0"/>
              </a:rPr>
              <a:t>in Power Manager before notified to Remote Service.</a:t>
            </a:r>
            <a:endParaRPr lang="en-US" dirty="0">
              <a:latin typeface="Times New Roman" panose="02020603050405020304" pitchFamily="18" charset="0"/>
              <a:cs typeface="Times New Roman" panose="02020603050405020304" pitchFamily="18" charset="0"/>
            </a:endParaRPr>
          </a:p>
        </p:txBody>
      </p:sp>
      <p:sp>
        <p:nvSpPr>
          <p:cNvPr id="9" name="Rectangle 8"/>
          <p:cNvSpPr/>
          <p:nvPr/>
        </p:nvSpPr>
        <p:spPr>
          <a:xfrm>
            <a:off x="459789" y="3706697"/>
            <a:ext cx="5542703" cy="1200329"/>
          </a:xfrm>
          <a:prstGeom prst="rect">
            <a:avLst/>
          </a:prstGeom>
          <a:solidFill>
            <a:srgbClr val="DA9B8C"/>
          </a:solidFill>
        </p:spPr>
        <p:txBody>
          <a:bodyPr wrap="square">
            <a:spAutoFit/>
          </a:bodyPr>
          <a:lstStyle/>
          <a:p>
            <a:pPr algn="just"/>
            <a:r>
              <a:rPr lang="en-US" dirty="0">
                <a:latin typeface="Times New Roman" panose="02020603050405020304" pitchFamily="18" charset="0"/>
                <a:cs typeface="Times New Roman" panose="02020603050405020304" pitchFamily="18" charset="0"/>
              </a:rPr>
              <a:t>Delayed notifications are primarily a </a:t>
            </a:r>
            <a:r>
              <a:rPr lang="en-US" b="1" dirty="0">
                <a:latin typeface="Times New Roman" panose="02020603050405020304" pitchFamily="18" charset="0"/>
                <a:cs typeface="Times New Roman" panose="02020603050405020304" pitchFamily="18" charset="0"/>
              </a:rPr>
              <a:t>performance</a:t>
            </a:r>
            <a:r>
              <a:rPr lang="en-US" dirty="0">
                <a:latin typeface="Times New Roman" panose="02020603050405020304" pitchFamily="18" charset="0"/>
                <a:cs typeface="Times New Roman" panose="02020603050405020304" pitchFamily="18" charset="0"/>
              </a:rPr>
              <a:t> issue, but when they lead to functional errors, they also compromise system </a:t>
            </a:r>
            <a:r>
              <a:rPr lang="en-US" b="1" dirty="0">
                <a:latin typeface="Times New Roman" panose="02020603050405020304" pitchFamily="18" charset="0"/>
                <a:cs typeface="Times New Roman" panose="02020603050405020304" pitchFamily="18" charset="0"/>
              </a:rPr>
              <a:t>reliability</a:t>
            </a:r>
            <a:r>
              <a:rPr lang="en-US" dirty="0">
                <a:latin typeface="Times New Roman" panose="02020603050405020304" pitchFamily="18" charset="0"/>
                <a:cs typeface="Times New Roman" panose="02020603050405020304" pitchFamily="18" charset="0"/>
              </a:rPr>
              <a:t>, especially during critical power transitions.</a:t>
            </a:r>
          </a:p>
        </p:txBody>
      </p:sp>
      <p:grpSp>
        <p:nvGrpSpPr>
          <p:cNvPr id="17" name="Group 16"/>
          <p:cNvGrpSpPr/>
          <p:nvPr/>
        </p:nvGrpSpPr>
        <p:grpSpPr>
          <a:xfrm>
            <a:off x="9529479" y="3027228"/>
            <a:ext cx="2122675" cy="523220"/>
            <a:chOff x="5308119" y="2974955"/>
            <a:chExt cx="2122675" cy="523220"/>
          </a:xfrm>
        </p:grpSpPr>
        <p:sp>
          <p:nvSpPr>
            <p:cNvPr id="2" name="Line Callout 1 1"/>
            <p:cNvSpPr/>
            <p:nvPr/>
          </p:nvSpPr>
          <p:spPr>
            <a:xfrm>
              <a:off x="5915319" y="2974955"/>
              <a:ext cx="1515475" cy="523220"/>
            </a:xfrm>
            <a:prstGeom prst="borderCallout1">
              <a:avLst>
                <a:gd name="adj1" fmla="val 18750"/>
                <a:gd name="adj2" fmla="val -8333"/>
                <a:gd name="adj3" fmla="val -43882"/>
                <a:gd name="adj4" fmla="val -167837"/>
              </a:avLst>
            </a:prstGeom>
            <a:solidFill>
              <a:srgbClr val="92D050"/>
            </a:solidFill>
          </p:spPr>
          <p:txBody>
            <a:bodyPr wrap="square">
              <a:spAutoFit/>
            </a:bodyPr>
            <a:lstStyle/>
            <a:p>
              <a:pPr algn="ctr"/>
              <a:r>
                <a:rPr lang="en-US" sz="1400" b="1" dirty="0">
                  <a:solidFill>
                    <a:schemeClr val="tx1"/>
                  </a:solidFill>
                  <a:latin typeface="Times New Roman" panose="02020603050405020304" pitchFamily="18" charset="0"/>
                  <a:cs typeface="Times New Roman" panose="02020603050405020304" pitchFamily="18" charset="0"/>
                </a:rPr>
                <a:t>Target for improvement</a:t>
              </a:r>
            </a:p>
          </p:txBody>
        </p:sp>
        <p:cxnSp>
          <p:nvCxnSpPr>
            <p:cNvPr id="4" name="Straight Arrow Connector 3"/>
            <p:cNvCxnSpPr>
              <a:stCxn id="2" idx="2"/>
            </p:cNvCxnSpPr>
            <p:nvPr/>
          </p:nvCxnSpPr>
          <p:spPr>
            <a:xfrm flipH="1">
              <a:off x="5308119" y="3236565"/>
              <a:ext cx="60720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8" name="Rectangle 17"/>
          <p:cNvSpPr/>
          <p:nvPr/>
        </p:nvSpPr>
        <p:spPr>
          <a:xfrm>
            <a:off x="459789" y="5242389"/>
            <a:ext cx="5768362" cy="646331"/>
          </a:xfrm>
          <a:prstGeom prst="rect">
            <a:avLst/>
          </a:prstGeom>
        </p:spPr>
        <p:txBody>
          <a:bodyPr wrap="square">
            <a:spAutoFit/>
          </a:bodyPr>
          <a:lstStyle/>
          <a:p>
            <a:r>
              <a:rPr lang="en-US" b="1" dirty="0">
                <a:latin typeface="Times New Roman" panose="02020603050405020304" pitchFamily="18" charset="0"/>
                <a:cs typeface="Times New Roman" panose="02020603050405020304" pitchFamily="18" charset="0"/>
              </a:rPr>
              <a:t>→ Improving the power notification mechanism is essential for both performance and system reliability</a:t>
            </a:r>
            <a:r>
              <a:rPr lang="en-US" dirty="0" smtClean="0">
                <a:latin typeface="Times New Roman" panose="02020603050405020304" pitchFamily="18" charset="0"/>
                <a:cs typeface="Times New Roman" panose="02020603050405020304" pitchFamily="18" charset="0"/>
              </a:rPr>
              <a:t>.</a:t>
            </a:r>
            <a:endParaRPr lang="en-US" b="1" dirty="0">
              <a:latin typeface="Times New Roman" panose="02020603050405020304" pitchFamily="18" charset="0"/>
              <a:cs typeface="Times New Roman" panose="02020603050405020304" pitchFamily="18" charset="0"/>
            </a:endParaRPr>
          </a:p>
        </p:txBody>
      </p:sp>
      <p:sp>
        <p:nvSpPr>
          <p:cNvPr id="3" name="Slide Number Placeholder 2"/>
          <p:cNvSpPr>
            <a:spLocks noGrp="1"/>
          </p:cNvSpPr>
          <p:nvPr>
            <p:ph type="sldNum" sz="quarter" idx="12"/>
          </p:nvPr>
        </p:nvSpPr>
        <p:spPr/>
        <p:txBody>
          <a:bodyPr/>
          <a:lstStyle/>
          <a:p>
            <a:fld id="{0059130C-D5A7-43F1-8BDF-D4DD1699FE09}" type="slidenum">
              <a:rPr lang="en-US" smtClean="0"/>
              <a:t>11</a:t>
            </a:fld>
            <a:endParaRPr lang="en-US"/>
          </a:p>
        </p:txBody>
      </p:sp>
      <p:sp>
        <p:nvSpPr>
          <p:cNvPr id="6" name="Rectangle 5"/>
          <p:cNvSpPr/>
          <p:nvPr/>
        </p:nvSpPr>
        <p:spPr>
          <a:xfrm>
            <a:off x="9009951" y="6216364"/>
            <a:ext cx="2248930" cy="401595"/>
          </a:xfrm>
          <a:prstGeom prst="rect">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i="1" dirty="0" smtClean="0">
                <a:solidFill>
                  <a:schemeClr val="tx1"/>
                </a:solidFill>
                <a:latin typeface="Times New Roman" panose="02020603050405020304" pitchFamily="18" charset="0"/>
                <a:cs typeface="Times New Roman" panose="02020603050405020304" pitchFamily="18" charset="0"/>
              </a:rPr>
              <a:t>More details at </a:t>
            </a:r>
            <a:r>
              <a:rPr lang="en-US" sz="1100" i="1" dirty="0">
                <a:solidFill>
                  <a:schemeClr val="tx1"/>
                </a:solidFill>
                <a:latin typeface="Times New Roman" panose="02020603050405020304" pitchFamily="18" charset="0"/>
                <a:cs typeface="Times New Roman" panose="02020603050405020304" pitchFamily="18" charset="0"/>
              </a:rPr>
              <a:t>Appendix </a:t>
            </a:r>
            <a:r>
              <a:rPr lang="en-US" sz="1100" i="1" dirty="0" smtClean="0">
                <a:solidFill>
                  <a:schemeClr val="tx1"/>
                </a:solidFill>
                <a:latin typeface="Times New Roman" panose="02020603050405020304" pitchFamily="18" charset="0"/>
                <a:cs typeface="Times New Roman" panose="02020603050405020304" pitchFamily="18" charset="0"/>
              </a:rPr>
              <a:t>5, 6, 7</a:t>
            </a:r>
            <a:endParaRPr lang="en-US" sz="1100" i="1" dirty="0">
              <a:solidFill>
                <a:schemeClr val="tx1"/>
              </a:solidFill>
              <a:latin typeface="Times New Roman" panose="02020603050405020304" pitchFamily="18" charset="0"/>
              <a:cs typeface="Times New Roman" panose="02020603050405020304" pitchFamily="18" charset="0"/>
            </a:endParaRPr>
          </a:p>
          <a:p>
            <a:pPr algn="ctr"/>
            <a:endParaRPr lang="en-US" sz="1200" i="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2073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Rectangle 10"/>
          <p:cNvSpPr/>
          <p:nvPr/>
        </p:nvSpPr>
        <p:spPr>
          <a:xfrm>
            <a:off x="466183" y="146304"/>
            <a:ext cx="5449521" cy="461665"/>
          </a:xfrm>
          <a:prstGeom prst="rect">
            <a:avLst/>
          </a:prstGeom>
          <a:solidFill>
            <a:schemeClr val="bg1"/>
          </a:solidFill>
        </p:spPr>
        <p:txBody>
          <a:bodyPr wrap="square">
            <a:spAutoFit/>
          </a:bodyPr>
          <a:lstStyle/>
          <a:p>
            <a:r>
              <a:rPr lang="en-US" sz="2400" u="sng" dirty="0" smtClean="0">
                <a:latin typeface="Times New Roman" panose="02020603050405020304" pitchFamily="18" charset="0"/>
                <a:cs typeface="Times New Roman" panose="02020603050405020304" pitchFamily="18" charset="0"/>
              </a:rPr>
              <a:t>2. </a:t>
            </a:r>
            <a:r>
              <a:rPr lang="en-US" sz="2400" u="sng" dirty="0">
                <a:latin typeface="Times New Roman" panose="02020603050405020304" pitchFamily="18" charset="0"/>
                <a:cs typeface="Times New Roman" panose="02020603050405020304" pitchFamily="18" charset="0"/>
              </a:rPr>
              <a:t>Problem Identification </a:t>
            </a:r>
          </a:p>
        </p:txBody>
      </p:sp>
      <p:graphicFrame>
        <p:nvGraphicFramePr>
          <p:cNvPr id="4" name="Table 3">
            <a:extLst>
              <a:ext uri="{FF2B5EF4-FFF2-40B4-BE49-F238E27FC236}">
                <a16:creationId xmlns:a16="http://schemas.microsoft.com/office/drawing/2014/main" xmlns="" id="{56D77E60-BE34-C8BB-2710-0C915E9E0C34}"/>
              </a:ext>
            </a:extLst>
          </p:cNvPr>
          <p:cNvGraphicFramePr>
            <a:graphicFrameLocks noGrp="1"/>
          </p:cNvGraphicFramePr>
          <p:nvPr>
            <p:extLst>
              <p:ext uri="{D42A27DB-BD31-4B8C-83A1-F6EECF244321}">
                <p14:modId xmlns:p14="http://schemas.microsoft.com/office/powerpoint/2010/main" val="2231955159"/>
              </p:ext>
            </p:extLst>
          </p:nvPr>
        </p:nvGraphicFramePr>
        <p:xfrm>
          <a:off x="466182" y="1491281"/>
          <a:ext cx="11197213" cy="4573812"/>
        </p:xfrm>
        <a:graphic>
          <a:graphicData uri="http://schemas.openxmlformats.org/drawingml/2006/table">
            <a:tbl>
              <a:tblPr firstRow="1" firstCol="1" bandRow="1">
                <a:tableStyleId>{0505E3EF-67EA-436B-97B2-0124C06EBD24}</a:tableStyleId>
              </a:tblPr>
              <a:tblGrid>
                <a:gridCol w="2118268">
                  <a:extLst>
                    <a:ext uri="{9D8B030D-6E8A-4147-A177-3AD203B41FA5}">
                      <a16:colId xmlns:a16="http://schemas.microsoft.com/office/drawing/2014/main" xmlns="" val="1582101385"/>
                    </a:ext>
                  </a:extLst>
                </a:gridCol>
                <a:gridCol w="1104900">
                  <a:extLst>
                    <a:ext uri="{9D8B030D-6E8A-4147-A177-3AD203B41FA5}">
                      <a16:colId xmlns:a16="http://schemas.microsoft.com/office/drawing/2014/main" xmlns="" val="3606558556"/>
                    </a:ext>
                  </a:extLst>
                </a:gridCol>
                <a:gridCol w="7974045">
                  <a:extLst>
                    <a:ext uri="{9D8B030D-6E8A-4147-A177-3AD203B41FA5}">
                      <a16:colId xmlns:a16="http://schemas.microsoft.com/office/drawing/2014/main" xmlns="" val="3174540060"/>
                    </a:ext>
                  </a:extLst>
                </a:gridCol>
              </a:tblGrid>
              <a:tr h="415168">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a:solidFill>
                            <a:schemeClr val="tx1"/>
                          </a:solidFill>
                          <a:latin typeface="Times New Roman" panose="02020603050405020304" pitchFamily="18" charset="0"/>
                          <a:ea typeface="+mn-ea"/>
                          <a:cs typeface="Times New Roman" panose="02020603050405020304" pitchFamily="18" charset="0"/>
                        </a:rPr>
                        <a:t>Quality Attribute</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a:solidFill>
                            <a:schemeClr val="tx1"/>
                          </a:solidFill>
                          <a:latin typeface="Times New Roman" panose="02020603050405020304" pitchFamily="18" charset="0"/>
                          <a:ea typeface="+mn-ea"/>
                          <a:cs typeface="Times New Roman" panose="02020603050405020304" pitchFamily="18" charset="0"/>
                        </a:rPr>
                        <a:t>Priority</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a:solidFill>
                            <a:schemeClr val="tx1"/>
                          </a:solidFill>
                          <a:latin typeface="Times New Roman" panose="02020603050405020304" pitchFamily="18" charset="0"/>
                          <a:ea typeface="+mn-ea"/>
                          <a:cs typeface="Times New Roman" panose="02020603050405020304" pitchFamily="18" charset="0"/>
                        </a:rPr>
                        <a:t>Description</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99882093"/>
                  </a:ext>
                </a:extLst>
              </a:tr>
              <a:tr h="887906">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a:solidFill>
                            <a:schemeClr val="tx1"/>
                          </a:solidFill>
                          <a:latin typeface="Times New Roman" panose="02020603050405020304" pitchFamily="18" charset="0"/>
                          <a:ea typeface="+mn-ea"/>
                          <a:cs typeface="Times New Roman" panose="02020603050405020304" pitchFamily="18" charset="0"/>
                        </a:rPr>
                        <a:t>Performance</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a:solidFill>
                            <a:schemeClr val="tx1"/>
                          </a:solidFill>
                          <a:latin typeface="Times New Roman" panose="02020603050405020304" pitchFamily="18" charset="0"/>
                          <a:ea typeface="+mn-ea"/>
                          <a:cs typeface="Times New Roman" panose="02020603050405020304" pitchFamily="18" charset="0"/>
                        </a:rPr>
                        <a:t>High</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0" marR="0" lvl="0" indent="0" algn="l" defTabSz="914400" rtl="0" eaLnBrk="1" fontAlgn="auto" latinLnBrk="0" hangingPunct="1">
                        <a:lnSpc>
                          <a:spcPct val="100000"/>
                        </a:lnSpc>
                        <a:spcBef>
                          <a:spcPts val="600"/>
                        </a:spcBef>
                        <a:spcAft>
                          <a:spcPts val="600"/>
                        </a:spcAft>
                        <a:buClrTx/>
                        <a:buSzTx/>
                        <a:buFontTx/>
                        <a:buNone/>
                        <a:tabLst/>
                        <a:defRPr/>
                      </a:pPr>
                      <a:r>
                        <a:rPr lang="en-US" sz="1800" kern="1200" dirty="0" smtClean="0">
                          <a:solidFill>
                            <a:schemeClr val="tx1"/>
                          </a:solidFill>
                          <a:latin typeface="Times New Roman" panose="02020603050405020304" pitchFamily="18" charset="0"/>
                          <a:ea typeface="+mn-ea"/>
                          <a:cs typeface="Times New Roman" panose="02020603050405020304" pitchFamily="18" charset="0"/>
                        </a:rPr>
                        <a:t>System must meet timing requirements for critical operations with consistent response times.</a:t>
                      </a:r>
                      <a:br>
                        <a:rPr lang="en-US" sz="1800" kern="1200" dirty="0" smtClean="0">
                          <a:solidFill>
                            <a:schemeClr val="tx1"/>
                          </a:solidFill>
                          <a:latin typeface="Times New Roman" panose="02020603050405020304" pitchFamily="18" charset="0"/>
                          <a:ea typeface="+mn-ea"/>
                          <a:cs typeface="Times New Roman" panose="02020603050405020304" pitchFamily="18" charset="0"/>
                        </a:rPr>
                      </a:br>
                      <a:r>
                        <a:rPr lang="en-US" sz="1800" i="1" kern="1200" dirty="0" smtClean="0">
                          <a:solidFill>
                            <a:schemeClr val="tx1"/>
                          </a:solidFill>
                          <a:latin typeface="Times New Roman" panose="02020603050405020304" pitchFamily="18" charset="0"/>
                          <a:ea typeface="+mn-ea"/>
                          <a:cs typeface="Times New Roman" panose="02020603050405020304" pitchFamily="18" charset="0"/>
                        </a:rPr>
                        <a:t>(From 760ms to under 250ms for 1 event </a:t>
                      </a:r>
                      <a:r>
                        <a:rPr lang="en-US" sz="1800" b="1" i="1" dirty="0" smtClean="0">
                          <a:latin typeface="Times New Roman" panose="02020603050405020304" pitchFamily="18" charset="0"/>
                          <a:cs typeface="Times New Roman" panose="02020603050405020304" pitchFamily="18" charset="0"/>
                        </a:rPr>
                        <a:t>→</a:t>
                      </a:r>
                      <a:r>
                        <a:rPr lang="en-US" sz="1800" i="1" kern="1200" dirty="0" smtClean="0">
                          <a:solidFill>
                            <a:schemeClr val="tx1"/>
                          </a:solidFill>
                          <a:latin typeface="Times New Roman" panose="02020603050405020304" pitchFamily="18" charset="0"/>
                          <a:ea typeface="+mn-ea"/>
                          <a:cs typeface="Times New Roman" panose="02020603050405020304" pitchFamily="18" charset="0"/>
                        </a:rPr>
                        <a:t> total time for 6 notifies &lt; 1.5 seconds)</a:t>
                      </a:r>
                      <a:endParaRPr lang="en-US" sz="2000" i="1" kern="1200" dirty="0" smtClean="0">
                        <a:solidFill>
                          <a:schemeClr val="tx1"/>
                        </a:solidFill>
                        <a:latin typeface="Times New Roman" panose="02020603050405020304" pitchFamily="18" charset="0"/>
                        <a:ea typeface="+mn-ea"/>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xmlns="" val="1824361779"/>
                  </a:ext>
                </a:extLst>
              </a:tr>
              <a:tr h="652230">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a:solidFill>
                            <a:schemeClr val="tx1"/>
                          </a:solidFill>
                          <a:latin typeface="Times New Roman" panose="02020603050405020304" pitchFamily="18" charset="0"/>
                          <a:ea typeface="+mn-ea"/>
                          <a:cs typeface="Times New Roman" panose="02020603050405020304" pitchFamily="18" charset="0"/>
                        </a:rPr>
                        <a:t>Reliability</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a:solidFill>
                            <a:schemeClr val="tx1"/>
                          </a:solidFill>
                          <a:latin typeface="Times New Roman" panose="02020603050405020304" pitchFamily="18" charset="0"/>
                          <a:ea typeface="+mn-ea"/>
                          <a:cs typeface="Times New Roman" panose="02020603050405020304" pitchFamily="18" charset="0"/>
                        </a:rPr>
                        <a:t>High</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smtClean="0">
                          <a:solidFill>
                            <a:schemeClr val="tx1"/>
                          </a:solidFill>
                          <a:latin typeface="Times New Roman" panose="02020603050405020304" pitchFamily="18" charset="0"/>
                          <a:ea typeface="+mn-ea"/>
                          <a:cs typeface="Times New Roman" panose="02020603050405020304" pitchFamily="18" charset="0"/>
                        </a:rPr>
                        <a:t>Ensure all services/apps receive notifications even when other services/apps fail.</a:t>
                      </a:r>
                      <a:endParaRPr lang="en-US" sz="1800" kern="1200" dirty="0">
                        <a:solidFill>
                          <a:schemeClr val="tx1"/>
                        </a:solidFill>
                        <a:latin typeface="Times New Roman" panose="02020603050405020304" pitchFamily="18" charset="0"/>
                        <a:ea typeface="+mn-ea"/>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xmlns="" val="1853277442"/>
                  </a:ext>
                </a:extLst>
              </a:tr>
              <a:tr h="668215">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smtClean="0">
                          <a:solidFill>
                            <a:schemeClr val="tx1"/>
                          </a:solidFill>
                          <a:latin typeface="Times New Roman" panose="02020603050405020304" pitchFamily="18" charset="0"/>
                          <a:ea typeface="+mn-ea"/>
                          <a:cs typeface="Times New Roman" panose="02020603050405020304" pitchFamily="18" charset="0"/>
                        </a:rPr>
                        <a:t>Resource Efficiency </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smtClean="0">
                          <a:solidFill>
                            <a:schemeClr val="tx1"/>
                          </a:solidFill>
                          <a:latin typeface="Times New Roman" panose="02020603050405020304" pitchFamily="18" charset="0"/>
                          <a:ea typeface="+mn-ea"/>
                          <a:cs typeface="Times New Roman" panose="02020603050405020304" pitchFamily="18" charset="0"/>
                        </a:rPr>
                        <a:t>Medium</a:t>
                      </a:r>
                      <a:endParaRPr lang="en-US" sz="1800" kern="1200" dirty="0">
                        <a:solidFill>
                          <a:schemeClr val="tx1"/>
                        </a:solidFill>
                        <a:latin typeface="Times New Roman" panose="02020603050405020304" pitchFamily="18" charset="0"/>
                        <a:ea typeface="+mn-ea"/>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smtClean="0">
                          <a:solidFill>
                            <a:schemeClr val="tx1"/>
                          </a:solidFill>
                          <a:latin typeface="Times New Roman" panose="02020603050405020304" pitchFamily="18" charset="0"/>
                          <a:ea typeface="+mn-ea"/>
                          <a:cs typeface="Times New Roman" panose="02020603050405020304" pitchFamily="18" charset="0"/>
                        </a:rPr>
                        <a:t>Efficiently manage resources since power notifications occur infrequently, avoiding waste while ensuring rapid response when needed.</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r>
              <a:tr h="645835">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a:solidFill>
                            <a:schemeClr val="tx1"/>
                          </a:solidFill>
                          <a:latin typeface="Times New Roman" panose="02020603050405020304" pitchFamily="18" charset="0"/>
                          <a:ea typeface="+mn-ea"/>
                          <a:cs typeface="Times New Roman" panose="02020603050405020304" pitchFamily="18" charset="0"/>
                        </a:rPr>
                        <a:t>Maintainability</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a:solidFill>
                            <a:schemeClr val="tx1"/>
                          </a:solidFill>
                          <a:latin typeface="Times New Roman" panose="02020603050405020304" pitchFamily="18" charset="0"/>
                          <a:ea typeface="+mn-ea"/>
                          <a:cs typeface="Times New Roman" panose="02020603050405020304" pitchFamily="18" charset="0"/>
                        </a:rPr>
                        <a:t>Medium</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smtClean="0">
                          <a:solidFill>
                            <a:schemeClr val="tx1"/>
                          </a:solidFill>
                          <a:latin typeface="Times New Roman" panose="02020603050405020304" pitchFamily="18" charset="0"/>
                          <a:ea typeface="+mn-ea"/>
                          <a:cs typeface="Times New Roman" panose="02020603050405020304" pitchFamily="18" charset="0"/>
                        </a:rPr>
                        <a:t>The new design must ensure that the system is able to support the changes in the future.</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r>
              <a:tr h="645835">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smtClean="0">
                          <a:solidFill>
                            <a:schemeClr val="tx1"/>
                          </a:solidFill>
                          <a:latin typeface="Times New Roman" panose="02020603050405020304" pitchFamily="18" charset="0"/>
                          <a:ea typeface="+mn-ea"/>
                          <a:cs typeface="Times New Roman" panose="02020603050405020304" pitchFamily="18" charset="0"/>
                        </a:rPr>
                        <a:t>Reusability</a:t>
                      </a:r>
                      <a:endParaRPr lang="en-US" sz="1800" kern="1200" dirty="0">
                        <a:solidFill>
                          <a:schemeClr val="tx1"/>
                        </a:solidFill>
                        <a:latin typeface="Times New Roman" panose="02020603050405020304" pitchFamily="18" charset="0"/>
                        <a:ea typeface="+mn-ea"/>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smtClean="0">
                          <a:solidFill>
                            <a:schemeClr val="tx1"/>
                          </a:solidFill>
                          <a:latin typeface="Times New Roman" panose="02020603050405020304" pitchFamily="18" charset="0"/>
                          <a:ea typeface="+mn-ea"/>
                          <a:cs typeface="Times New Roman" panose="02020603050405020304" pitchFamily="18" charset="0"/>
                        </a:rPr>
                        <a:t>Medium</a:t>
                      </a:r>
                      <a:endParaRPr lang="en-US" sz="1800" kern="1200" dirty="0">
                        <a:solidFill>
                          <a:schemeClr val="tx1"/>
                        </a:solidFill>
                        <a:latin typeface="Times New Roman" panose="02020603050405020304" pitchFamily="18" charset="0"/>
                        <a:ea typeface="+mn-ea"/>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smtClean="0">
                          <a:solidFill>
                            <a:schemeClr val="tx1"/>
                          </a:solidFill>
                          <a:latin typeface="Times New Roman" panose="02020603050405020304" pitchFamily="18" charset="0"/>
                          <a:ea typeface="+mn-ea"/>
                          <a:cs typeface="Times New Roman" panose="02020603050405020304" pitchFamily="18" charset="0"/>
                        </a:rPr>
                        <a:t>New design would be beneficial if it can be reused for other services since all services utilize this notification mechanism</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r>
              <a:tr h="658623">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a:solidFill>
                            <a:schemeClr val="tx1"/>
                          </a:solidFill>
                          <a:latin typeface="Times New Roman" panose="02020603050405020304" pitchFamily="18" charset="0"/>
                          <a:ea typeface="+mn-ea"/>
                          <a:cs typeface="Times New Roman" panose="02020603050405020304" pitchFamily="18" charset="0"/>
                        </a:rPr>
                        <a:t>Simplicity</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EF4E8"/>
                    </a:solidFill>
                  </a:tcPr>
                </a:tc>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a:solidFill>
                            <a:schemeClr val="tx1"/>
                          </a:solidFill>
                          <a:latin typeface="Times New Roman" panose="02020603050405020304" pitchFamily="18" charset="0"/>
                          <a:ea typeface="+mn-ea"/>
                          <a:cs typeface="Times New Roman" panose="02020603050405020304" pitchFamily="18" charset="0"/>
                        </a:rPr>
                        <a:t>Low</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EF4E8"/>
                    </a:solidFill>
                  </a:tcPr>
                </a:tc>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a:solidFill>
                            <a:schemeClr val="tx1"/>
                          </a:solidFill>
                          <a:latin typeface="Times New Roman" panose="02020603050405020304" pitchFamily="18" charset="0"/>
                          <a:ea typeface="+mn-ea"/>
                          <a:cs typeface="Times New Roman" panose="02020603050405020304" pitchFamily="18" charset="0"/>
                        </a:rPr>
                        <a:t>Balance implementation complexity with operational reliability for mission-critical </a:t>
                      </a:r>
                      <a:r>
                        <a:rPr lang="en-US" sz="1800" kern="1200" dirty="0" smtClean="0">
                          <a:solidFill>
                            <a:schemeClr val="tx1"/>
                          </a:solidFill>
                          <a:latin typeface="Times New Roman" panose="02020603050405020304" pitchFamily="18" charset="0"/>
                          <a:ea typeface="+mn-ea"/>
                          <a:cs typeface="Times New Roman" panose="02020603050405020304" pitchFamily="18" charset="0"/>
                        </a:rPr>
                        <a:t>systems.</a:t>
                      </a:r>
                      <a:endParaRPr lang="en-US" sz="1800" kern="1200" dirty="0">
                        <a:solidFill>
                          <a:schemeClr val="tx1"/>
                        </a:solidFill>
                        <a:latin typeface="Times New Roman" panose="02020603050405020304" pitchFamily="18" charset="0"/>
                        <a:ea typeface="+mn-ea"/>
                        <a:cs typeface="Times New Roman" panose="02020603050405020304" pitchFamily="18" charset="0"/>
                      </a:endParaRPr>
                    </a:p>
                  </a:txBody>
                  <a:tcPr marL="38100" marR="38100" marT="25400" marB="254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EF4E8"/>
                    </a:solidFill>
                  </a:tcPr>
                </a:tc>
                <a:extLst>
                  <a:ext uri="{0D108BD9-81ED-4DB2-BD59-A6C34878D82A}">
                    <a16:rowId xmlns:a16="http://schemas.microsoft.com/office/drawing/2014/main" xmlns="" val="2918095390"/>
                  </a:ext>
                </a:extLst>
              </a:tr>
            </a:tbl>
          </a:graphicData>
        </a:graphic>
      </p:graphicFrame>
      <p:sp>
        <p:nvSpPr>
          <p:cNvPr id="2" name="Rectangle 1"/>
          <p:cNvSpPr/>
          <p:nvPr/>
        </p:nvSpPr>
        <p:spPr>
          <a:xfrm>
            <a:off x="402238" y="923165"/>
            <a:ext cx="3839513" cy="369332"/>
          </a:xfrm>
          <a:prstGeom prst="rect">
            <a:avLst/>
          </a:prstGeom>
        </p:spPr>
        <p:txBody>
          <a:bodyPr wrap="none">
            <a:spAutoFit/>
          </a:bodyPr>
          <a:lstStyle/>
          <a:p>
            <a:r>
              <a:rPr lang="en-US" dirty="0">
                <a:latin typeface="Times New Roman" panose="02020603050405020304" pitchFamily="18" charset="0"/>
                <a:cs typeface="Times New Roman" panose="02020603050405020304" pitchFamily="18" charset="0"/>
              </a:rPr>
              <a:t>Key quality attributes while improving:</a:t>
            </a:r>
          </a:p>
        </p:txBody>
      </p:sp>
      <p:sp>
        <p:nvSpPr>
          <p:cNvPr id="3" name="Slide Number Placeholder 2"/>
          <p:cNvSpPr>
            <a:spLocks noGrp="1"/>
          </p:cNvSpPr>
          <p:nvPr>
            <p:ph type="sldNum" sz="quarter" idx="12"/>
          </p:nvPr>
        </p:nvSpPr>
        <p:spPr/>
        <p:txBody>
          <a:bodyPr/>
          <a:lstStyle/>
          <a:p>
            <a:fld id="{0059130C-D5A7-43F1-8BDF-D4DD1699FE09}" type="slidenum">
              <a:rPr lang="en-US" smtClean="0"/>
              <a:t>12</a:t>
            </a:fld>
            <a:endParaRPr lang="en-US"/>
          </a:p>
        </p:txBody>
      </p:sp>
    </p:spTree>
    <p:extLst>
      <p:ext uri="{BB962C8B-B14F-4D97-AF65-F5344CB8AC3E}">
        <p14:creationId xmlns:p14="http://schemas.microsoft.com/office/powerpoint/2010/main" val="2026555256"/>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a:blip r:embed="rId3"/>
          <a:stretch>
            <a:fillRect/>
          </a:stretch>
        </p:blipFill>
        <p:spPr>
          <a:xfrm>
            <a:off x="6415970" y="396240"/>
            <a:ext cx="5536079" cy="6148768"/>
          </a:xfrm>
          <a:prstGeom prst="rect">
            <a:avLst/>
          </a:prstGeom>
        </p:spPr>
      </p:pic>
      <p:sp>
        <p:nvSpPr>
          <p:cNvPr id="9" name="Rectangle 8"/>
          <p:cNvSpPr/>
          <p:nvPr/>
        </p:nvSpPr>
        <p:spPr>
          <a:xfrm>
            <a:off x="466183" y="146304"/>
            <a:ext cx="5449521" cy="461665"/>
          </a:xfrm>
          <a:prstGeom prst="rect">
            <a:avLst/>
          </a:prstGeom>
          <a:solidFill>
            <a:schemeClr val="bg1"/>
          </a:solidFill>
        </p:spPr>
        <p:txBody>
          <a:bodyPr wrap="square">
            <a:spAutoFit/>
          </a:bodyPr>
          <a:lstStyle/>
          <a:p>
            <a:r>
              <a:rPr lang="en-US" sz="2400" u="sng" dirty="0" smtClean="0">
                <a:latin typeface="Times New Roman" panose="02020603050405020304" pitchFamily="18" charset="0"/>
                <a:cs typeface="Times New Roman" panose="02020603050405020304" pitchFamily="18" charset="0"/>
              </a:rPr>
              <a:t>2. </a:t>
            </a:r>
            <a:r>
              <a:rPr lang="en-US" sz="2400" u="sng" dirty="0">
                <a:latin typeface="Times New Roman" panose="02020603050405020304" pitchFamily="18" charset="0"/>
                <a:cs typeface="Times New Roman" panose="02020603050405020304" pitchFamily="18" charset="0"/>
              </a:rPr>
              <a:t>Problem Identification </a:t>
            </a:r>
          </a:p>
        </p:txBody>
      </p:sp>
      <p:sp>
        <p:nvSpPr>
          <p:cNvPr id="5" name="Rectangle 4"/>
          <p:cNvSpPr/>
          <p:nvPr/>
        </p:nvSpPr>
        <p:spPr>
          <a:xfrm>
            <a:off x="274352" y="2280011"/>
            <a:ext cx="6509655" cy="2862322"/>
          </a:xfrm>
          <a:prstGeom prst="rect">
            <a:avLst/>
          </a:prstGeom>
        </p:spPr>
        <p:txBody>
          <a:bodyPr wrap="square">
            <a:spAutoFit/>
          </a:bodyPr>
          <a:lstStyle/>
          <a:p>
            <a:r>
              <a:rPr lang="en-US" dirty="0">
                <a:solidFill>
                  <a:schemeClr val="accent6"/>
                </a:solidFill>
                <a:latin typeface="Times New Roman" panose="02020603050405020304" pitchFamily="18" charset="0"/>
                <a:cs typeface="Times New Roman" panose="02020603050405020304" pitchFamily="18" charset="0"/>
              </a:rPr>
              <a:t>✅</a:t>
            </a: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Advantages</a:t>
            </a:r>
            <a:r>
              <a:rPr lang="en-US" dirty="0">
                <a:latin typeface="Times New Roman" panose="02020603050405020304" pitchFamily="18" charset="0"/>
                <a:cs typeface="Times New Roman" panose="02020603050405020304" pitchFamily="18" charset="0"/>
              </a:rPr>
              <a:t>:</a:t>
            </a:r>
          </a:p>
          <a:p>
            <a:pPr marL="742950" lvl="1" indent="-285750">
              <a:buFont typeface="Arial" panose="020B0604020202020204" pitchFamily="34" charset="0"/>
              <a:buChar char="•"/>
            </a:pPr>
            <a:r>
              <a:rPr lang="en-US" b="1" dirty="0" smtClean="0">
                <a:latin typeface="Times New Roman" panose="02020603050405020304" pitchFamily="18" charset="0"/>
                <a:cs typeface="Times New Roman" panose="02020603050405020304" pitchFamily="18" charset="0"/>
              </a:rPr>
              <a:t>Reliability</a:t>
            </a:r>
            <a:r>
              <a:rPr lang="en-US" dirty="0">
                <a:latin typeface="Times New Roman" panose="02020603050405020304" pitchFamily="18" charset="0"/>
                <a:cs typeface="Times New Roman" panose="02020603050405020304" pitchFamily="18" charset="0"/>
              </a:rPr>
              <a:t>: High reliability - each receiver has dedicated thread, guarantees all receivers get </a:t>
            </a:r>
            <a:r>
              <a:rPr lang="en-US" dirty="0" smtClean="0">
                <a:latin typeface="Times New Roman" panose="02020603050405020304" pitchFamily="18" charset="0"/>
                <a:cs typeface="Times New Roman" panose="02020603050405020304" pitchFamily="18" charset="0"/>
              </a:rPr>
              <a:t>notifications.</a:t>
            </a:r>
          </a:p>
          <a:p>
            <a:pPr marL="742950" lvl="1" indent="-285750">
              <a:buFont typeface="Arial" panose="020B0604020202020204" pitchFamily="34" charset="0"/>
              <a:buChar char="•"/>
            </a:pPr>
            <a:r>
              <a:rPr lang="en-US" b="1" dirty="0" smtClean="0">
                <a:latin typeface="Times New Roman" panose="02020603050405020304" pitchFamily="18" charset="0"/>
                <a:cs typeface="Times New Roman" panose="02020603050405020304" pitchFamily="18" charset="0"/>
              </a:rPr>
              <a:t>Simplicity</a:t>
            </a:r>
            <a:r>
              <a:rPr lang="en-US" dirty="0">
                <a:latin typeface="Times New Roman" panose="02020603050405020304" pitchFamily="18" charset="0"/>
                <a:cs typeface="Times New Roman" panose="02020603050405020304" pitchFamily="18" charset="0"/>
              </a:rPr>
              <a:t>: Straightforward </a:t>
            </a:r>
            <a:r>
              <a:rPr lang="en-US" dirty="0" smtClean="0">
                <a:latin typeface="Times New Roman" panose="02020603050405020304" pitchFamily="18" charset="0"/>
                <a:cs typeface="Times New Roman" panose="02020603050405020304" pitchFamily="18" charset="0"/>
              </a:rPr>
              <a:t>implementation.</a:t>
            </a:r>
            <a:endParaRPr lang="en-US" dirty="0">
              <a:latin typeface="Times New Roman" panose="02020603050405020304" pitchFamily="18" charset="0"/>
              <a:cs typeface="Times New Roman" panose="02020603050405020304" pitchFamily="18" charset="0"/>
            </a:endParaRPr>
          </a:p>
          <a:p>
            <a:pPr marL="742950" lvl="1" indent="-285750">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Resource Efficiency</a:t>
            </a:r>
            <a:r>
              <a:rPr lang="en-US" dirty="0">
                <a:latin typeface="Times New Roman" panose="02020603050405020304" pitchFamily="18" charset="0"/>
                <a:cs typeface="Times New Roman" panose="02020603050405020304" pitchFamily="18" charset="0"/>
              </a:rPr>
              <a:t>: No permanent threads when </a:t>
            </a:r>
            <a:r>
              <a:rPr lang="en-US" dirty="0" smtClean="0">
                <a:latin typeface="Times New Roman" panose="02020603050405020304" pitchFamily="18" charset="0"/>
                <a:cs typeface="Times New Roman" panose="02020603050405020304" pitchFamily="18" charset="0"/>
              </a:rPr>
              <a:t>idle.</a:t>
            </a:r>
          </a:p>
          <a:p>
            <a:pPr lvl="1"/>
            <a:endParaRPr lang="en-US" dirty="0">
              <a:latin typeface="Times New Roman" panose="02020603050405020304" pitchFamily="18" charset="0"/>
              <a:cs typeface="Times New Roman" panose="02020603050405020304" pitchFamily="18" charset="0"/>
            </a:endParaRPr>
          </a:p>
          <a:p>
            <a:r>
              <a:rPr lang="en-US" dirty="0">
                <a:solidFill>
                  <a:srgbClr val="C00000"/>
                </a:solidFill>
                <a:latin typeface="Times New Roman" panose="02020603050405020304" pitchFamily="18" charset="0"/>
                <a:cs typeface="Times New Roman" panose="02020603050405020304" pitchFamily="18" charset="0"/>
              </a:rPr>
              <a:t>❌</a:t>
            </a:r>
            <a:r>
              <a:rPr lang="en-US" dirty="0">
                <a:latin typeface="Times New Roman" panose="02020603050405020304" pitchFamily="18" charset="0"/>
                <a:cs typeface="Times New Roman" panose="02020603050405020304" pitchFamily="18" charset="0"/>
              </a:rPr>
              <a:t> </a:t>
            </a:r>
            <a:r>
              <a:rPr lang="en-US" b="1" dirty="0" smtClean="0">
                <a:latin typeface="Times New Roman" panose="02020603050405020304" pitchFamily="18" charset="0"/>
                <a:cs typeface="Times New Roman" panose="02020603050405020304" pitchFamily="18" charset="0"/>
              </a:rPr>
              <a:t>Disadvantage</a:t>
            </a:r>
            <a:r>
              <a:rPr lang="en-US" dirty="0" smtClean="0">
                <a:latin typeface="Times New Roman" panose="02020603050405020304" pitchFamily="18" charset="0"/>
                <a:cs typeface="Times New Roman" panose="02020603050405020304" pitchFamily="18" charset="0"/>
              </a:rPr>
              <a:t>:</a:t>
            </a:r>
          </a:p>
          <a:p>
            <a:pPr marL="742950" lvl="2" indent="-285750">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Performance</a:t>
            </a:r>
            <a:r>
              <a:rPr lang="en-US" dirty="0">
                <a:latin typeface="Times New Roman" panose="02020603050405020304" pitchFamily="18" charset="0"/>
                <a:cs typeface="Times New Roman" panose="02020603050405020304" pitchFamily="18" charset="0"/>
              </a:rPr>
              <a:t>: Extremely poor due to OS scheduling </a:t>
            </a:r>
            <a:r>
              <a:rPr lang="en-US" dirty="0" smtClean="0">
                <a:latin typeface="Times New Roman" panose="02020603050405020304" pitchFamily="18" charset="0"/>
                <a:cs typeface="Times New Roman" panose="02020603050405020304" pitchFamily="18" charset="0"/>
              </a:rPr>
              <a:t>overhead. </a:t>
            </a:r>
          </a:p>
          <a:p>
            <a:pPr marL="457200" lvl="2"/>
            <a:endParaRPr lang="en-US" dirty="0">
              <a:latin typeface="Times New Roman" panose="02020603050405020304" pitchFamily="18" charset="0"/>
              <a:cs typeface="Times New Roman" panose="02020603050405020304" pitchFamily="18" charset="0"/>
            </a:endParaRPr>
          </a:p>
        </p:txBody>
      </p:sp>
      <p:sp>
        <p:nvSpPr>
          <p:cNvPr id="6" name="Rectangle 5"/>
          <p:cNvSpPr/>
          <p:nvPr/>
        </p:nvSpPr>
        <p:spPr>
          <a:xfrm>
            <a:off x="459789" y="910194"/>
            <a:ext cx="4788811" cy="369332"/>
          </a:xfrm>
          <a:prstGeom prst="rect">
            <a:avLst/>
          </a:prstGeom>
        </p:spPr>
        <p:txBody>
          <a:bodyPr wrap="none">
            <a:spAutoFit/>
          </a:bodyPr>
          <a:lstStyle/>
          <a:p>
            <a:r>
              <a:rPr lang="en-US" b="1" dirty="0" smtClean="0">
                <a:latin typeface="Times New Roman" panose="02020603050405020304" pitchFamily="18" charset="0"/>
                <a:cs typeface="Times New Roman" panose="02020603050405020304" pitchFamily="18" charset="0"/>
              </a:rPr>
              <a:t>Current implementation (On-Demand Thread)</a:t>
            </a:r>
            <a:endParaRPr lang="en-US" b="1" dirty="0">
              <a:latin typeface="Times New Roman" panose="02020603050405020304" pitchFamily="18" charset="0"/>
              <a:cs typeface="Times New Roman" panose="02020603050405020304" pitchFamily="18" charset="0"/>
            </a:endParaRPr>
          </a:p>
        </p:txBody>
      </p:sp>
      <p:sp>
        <p:nvSpPr>
          <p:cNvPr id="3" name="Slide Number Placeholder 2"/>
          <p:cNvSpPr>
            <a:spLocks noGrp="1"/>
          </p:cNvSpPr>
          <p:nvPr>
            <p:ph type="sldNum" sz="quarter" idx="12"/>
          </p:nvPr>
        </p:nvSpPr>
        <p:spPr/>
        <p:txBody>
          <a:bodyPr/>
          <a:lstStyle/>
          <a:p>
            <a:fld id="{0059130C-D5A7-43F1-8BDF-D4DD1699FE09}" type="slidenum">
              <a:rPr lang="en-US" smtClean="0"/>
              <a:t>13</a:t>
            </a:fld>
            <a:endParaRPr lang="en-US" dirty="0"/>
          </a:p>
        </p:txBody>
      </p:sp>
      <p:sp>
        <p:nvSpPr>
          <p:cNvPr id="12" name="Rectangle 11"/>
          <p:cNvSpPr/>
          <p:nvPr/>
        </p:nvSpPr>
        <p:spPr>
          <a:xfrm>
            <a:off x="459789" y="1511586"/>
            <a:ext cx="6096000" cy="923330"/>
          </a:xfrm>
          <a:prstGeom prst="rect">
            <a:avLst/>
          </a:prstGeom>
        </p:spPr>
        <p:txBody>
          <a:bodyPr>
            <a:spAutoFit/>
          </a:bodyPr>
          <a:lstStyle/>
          <a:p>
            <a:r>
              <a:rPr lang="en-US" dirty="0">
                <a:latin typeface="Times New Roman" panose="02020603050405020304" pitchFamily="18" charset="0"/>
                <a:cs typeface="Times New Roman" panose="02020603050405020304" pitchFamily="18" charset="0"/>
              </a:rPr>
              <a:t>Create a new thread for each notification task, then destroy it immediately after completion.</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13545668"/>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274353" y="2280011"/>
            <a:ext cx="6875748" cy="3693319"/>
          </a:xfrm>
          <a:prstGeom prst="rect">
            <a:avLst/>
          </a:prstGeom>
        </p:spPr>
        <p:txBody>
          <a:bodyPr wrap="square">
            <a:spAutoFit/>
          </a:bodyPr>
          <a:lstStyle/>
          <a:p>
            <a:r>
              <a:rPr lang="en-US" dirty="0">
                <a:solidFill>
                  <a:srgbClr val="339933"/>
                </a:solidFill>
                <a:latin typeface="Times New Roman" panose="02020603050405020304" pitchFamily="18" charset="0"/>
                <a:cs typeface="Times New Roman" panose="02020603050405020304" pitchFamily="18" charset="0"/>
              </a:rPr>
              <a:t>✅</a:t>
            </a: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Advantages</a:t>
            </a:r>
            <a:r>
              <a:rPr lang="en-US" dirty="0">
                <a:latin typeface="Times New Roman" panose="02020603050405020304" pitchFamily="18" charset="0"/>
                <a:cs typeface="Times New Roman" panose="02020603050405020304" pitchFamily="18" charset="0"/>
              </a:rPr>
              <a:t>:</a:t>
            </a:r>
          </a:p>
          <a:p>
            <a:pPr marL="742950" lvl="1" indent="-285750">
              <a:buFont typeface="Arial" panose="020B0604020202020204" pitchFamily="34" charset="0"/>
              <a:buChar char="•"/>
            </a:pPr>
            <a:r>
              <a:rPr lang="en-US" b="1" dirty="0" smtClean="0">
                <a:latin typeface="Times New Roman" panose="02020603050405020304" pitchFamily="18" charset="0"/>
                <a:cs typeface="Times New Roman" panose="02020603050405020304" pitchFamily="18" charset="0"/>
              </a:rPr>
              <a:t>Performance</a:t>
            </a:r>
            <a:r>
              <a:rPr lang="en-US" dirty="0">
                <a:latin typeface="Times New Roman" panose="02020603050405020304" pitchFamily="18" charset="0"/>
                <a:cs typeface="Times New Roman" panose="02020603050405020304" pitchFamily="18" charset="0"/>
              </a:rPr>
              <a:t>: Zero thread creation delay, instant response </a:t>
            </a:r>
            <a:r>
              <a:rPr lang="en-US" dirty="0" smtClean="0">
                <a:latin typeface="Times New Roman" panose="02020603050405020304" pitchFamily="18" charset="0"/>
                <a:cs typeface="Times New Roman" panose="02020603050405020304" pitchFamily="18" charset="0"/>
              </a:rPr>
              <a:t>(estimated &lt;10ms)</a:t>
            </a:r>
          </a:p>
          <a:p>
            <a:pPr marL="742950" lvl="1" indent="-285750">
              <a:buFont typeface="Arial" panose="020B0604020202020204" pitchFamily="34" charset="0"/>
              <a:buChar char="•"/>
            </a:pPr>
            <a:r>
              <a:rPr lang="en-US" b="1" dirty="0" smtClean="0">
                <a:latin typeface="Times New Roman" panose="02020603050405020304" pitchFamily="18" charset="0"/>
                <a:cs typeface="Times New Roman" panose="02020603050405020304" pitchFamily="18" charset="0"/>
              </a:rPr>
              <a:t>Reliability</a:t>
            </a:r>
            <a:r>
              <a:rPr lang="en-US" dirty="0" smtClean="0">
                <a:latin typeface="Times New Roman" panose="02020603050405020304" pitchFamily="18" charset="0"/>
                <a:cs typeface="Times New Roman" panose="02020603050405020304" pitchFamily="18" charset="0"/>
              </a:rPr>
              <a:t>: Threads always available</a:t>
            </a:r>
            <a:r>
              <a:rPr lang="en-US" dirty="0">
                <a:latin typeface="Times New Roman" panose="02020603050405020304" pitchFamily="18" charset="0"/>
                <a:cs typeface="Times New Roman" panose="02020603050405020304" pitchFamily="18" charset="0"/>
              </a:rPr>
              <a:t>, </a:t>
            </a:r>
            <a:r>
              <a:rPr lang="en-US" dirty="0" smtClean="0">
                <a:latin typeface="Times New Roman" panose="02020603050405020304" pitchFamily="18" charset="0"/>
                <a:cs typeface="Times New Roman" panose="02020603050405020304" pitchFamily="18" charset="0"/>
              </a:rPr>
              <a:t>ensures </a:t>
            </a:r>
            <a:r>
              <a:rPr lang="en-US" dirty="0">
                <a:latin typeface="Times New Roman" panose="02020603050405020304" pitchFamily="18" charset="0"/>
                <a:cs typeface="Times New Roman" panose="02020603050405020304" pitchFamily="18" charset="0"/>
              </a:rPr>
              <a:t>all receivers always receive notifications </a:t>
            </a:r>
            <a:r>
              <a:rPr lang="en-US" dirty="0" smtClean="0">
                <a:latin typeface="Times New Roman" panose="02020603050405020304" pitchFamily="18" charset="0"/>
                <a:cs typeface="Times New Roman" panose="02020603050405020304" pitchFamily="18" charset="0"/>
              </a:rPr>
              <a:t>immediately.</a:t>
            </a:r>
          </a:p>
          <a:p>
            <a:pPr marL="742950" lvl="1" indent="-285750">
              <a:buFont typeface="Arial" panose="020B0604020202020204" pitchFamily="34" charset="0"/>
              <a:buChar char="•"/>
            </a:pPr>
            <a:r>
              <a:rPr lang="en-US" b="1" dirty="0" smtClean="0">
                <a:latin typeface="Times New Roman" panose="02020603050405020304" pitchFamily="18" charset="0"/>
                <a:cs typeface="Times New Roman" panose="02020603050405020304" pitchFamily="18" charset="0"/>
              </a:rPr>
              <a:t>Simplicity</a:t>
            </a:r>
            <a:r>
              <a:rPr lang="en-US" dirty="0">
                <a:latin typeface="Times New Roman" panose="02020603050405020304" pitchFamily="18" charset="0"/>
                <a:cs typeface="Times New Roman" panose="02020603050405020304" pitchFamily="18" charset="0"/>
              </a:rPr>
              <a:t>: Straightforward implementation, minimal code changes </a:t>
            </a:r>
            <a:r>
              <a:rPr lang="en-US" dirty="0" smtClean="0">
                <a:latin typeface="Times New Roman" panose="02020603050405020304" pitchFamily="18" charset="0"/>
                <a:cs typeface="Times New Roman" panose="02020603050405020304" pitchFamily="18" charset="0"/>
              </a:rPr>
              <a:t>required.</a:t>
            </a:r>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r>
              <a:rPr lang="en-US" dirty="0">
                <a:solidFill>
                  <a:srgbClr val="C00000"/>
                </a:solidFill>
                <a:latin typeface="Times New Roman" panose="02020603050405020304" pitchFamily="18" charset="0"/>
                <a:cs typeface="Times New Roman" panose="02020603050405020304" pitchFamily="18" charset="0"/>
              </a:rPr>
              <a:t>❌ </a:t>
            </a:r>
            <a:r>
              <a:rPr lang="en-US" b="1" dirty="0" smtClean="0">
                <a:latin typeface="Times New Roman" panose="02020603050405020304" pitchFamily="18" charset="0"/>
                <a:cs typeface="Times New Roman" panose="02020603050405020304" pitchFamily="18" charset="0"/>
              </a:rPr>
              <a:t>Disadvantage</a:t>
            </a:r>
            <a:r>
              <a:rPr lang="en-US" dirty="0" smtClean="0">
                <a:latin typeface="Times New Roman" panose="02020603050405020304" pitchFamily="18" charset="0"/>
                <a:cs typeface="Times New Roman" panose="02020603050405020304" pitchFamily="18" charset="0"/>
              </a:rPr>
              <a:t>:</a:t>
            </a:r>
            <a:endParaRPr lang="en-US" dirty="0">
              <a:latin typeface="Times New Roman" panose="02020603050405020304" pitchFamily="18" charset="0"/>
              <a:cs typeface="Times New Roman" panose="02020603050405020304" pitchFamily="18" charset="0"/>
            </a:endParaRPr>
          </a:p>
          <a:p>
            <a:pPr marL="742950" lvl="1" indent="-285750">
              <a:buFont typeface="Arial" panose="020B0604020202020204" pitchFamily="34" charset="0"/>
              <a:buChar char="•"/>
            </a:pPr>
            <a:r>
              <a:rPr lang="en-US" b="1" dirty="0" smtClean="0">
                <a:latin typeface="Times New Roman" panose="02020603050405020304" pitchFamily="18" charset="0"/>
                <a:cs typeface="Times New Roman" panose="02020603050405020304" pitchFamily="18" charset="0"/>
              </a:rPr>
              <a:t>Resource Efficiency</a:t>
            </a:r>
            <a:r>
              <a:rPr lang="en-US" dirty="0" smtClean="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
            </a:r>
            <a:br>
              <a:rPr lang="en-US" dirty="0">
                <a:latin typeface="Times New Roman" panose="02020603050405020304" pitchFamily="18" charset="0"/>
                <a:cs typeface="Times New Roman" panose="02020603050405020304" pitchFamily="18" charset="0"/>
              </a:rPr>
            </a:br>
            <a:r>
              <a:rPr lang="en-US" dirty="0" smtClean="0">
                <a:latin typeface="Times New Roman" panose="02020603050405020304" pitchFamily="18" charset="0"/>
                <a:cs typeface="Times New Roman" panose="02020603050405020304" pitchFamily="18" charset="0"/>
              </a:rPr>
              <a:t>- Significant memory waste, threads remain idle most of the time.</a:t>
            </a:r>
            <a:r>
              <a:rPr lang="en-US" dirty="0">
                <a:latin typeface="Times New Roman" panose="02020603050405020304" pitchFamily="18" charset="0"/>
                <a:cs typeface="Times New Roman" panose="02020603050405020304" pitchFamily="18" charset="0"/>
              </a:rPr>
              <a:t/>
            </a:r>
            <a:br>
              <a:rPr lang="en-US" dirty="0">
                <a:latin typeface="Times New Roman" panose="02020603050405020304" pitchFamily="18" charset="0"/>
                <a:cs typeface="Times New Roman" panose="02020603050405020304" pitchFamily="18" charset="0"/>
              </a:rPr>
            </a:br>
            <a:r>
              <a:rPr lang="en-US" dirty="0" smtClean="0">
                <a:latin typeface="Times New Roman" panose="02020603050405020304" pitchFamily="18" charset="0"/>
                <a:cs typeface="Times New Roman" panose="02020603050405020304" pitchFamily="18" charset="0"/>
              </a:rPr>
              <a:t>- CPU </a:t>
            </a:r>
            <a:r>
              <a:rPr lang="en-US" dirty="0">
                <a:latin typeface="Times New Roman" panose="02020603050405020304" pitchFamily="18" charset="0"/>
                <a:cs typeface="Times New Roman" panose="02020603050405020304" pitchFamily="18" charset="0"/>
              </a:rPr>
              <a:t>usage spikes during </a:t>
            </a:r>
            <a:r>
              <a:rPr lang="en-US" dirty="0" smtClean="0">
                <a:latin typeface="Times New Roman" panose="02020603050405020304" pitchFamily="18" charset="0"/>
                <a:cs typeface="Times New Roman" panose="02020603050405020304" pitchFamily="18" charset="0"/>
              </a:rPr>
              <a:t>notification.</a:t>
            </a:r>
          </a:p>
        </p:txBody>
      </p:sp>
      <p:sp>
        <p:nvSpPr>
          <p:cNvPr id="6" name="Rectangle 5"/>
          <p:cNvSpPr/>
          <p:nvPr/>
        </p:nvSpPr>
        <p:spPr>
          <a:xfrm>
            <a:off x="459789" y="910194"/>
            <a:ext cx="3307637" cy="369332"/>
          </a:xfrm>
          <a:prstGeom prst="rect">
            <a:avLst/>
          </a:prstGeom>
        </p:spPr>
        <p:txBody>
          <a:bodyPr wrap="none">
            <a:spAutoFit/>
          </a:bodyPr>
          <a:lstStyle/>
          <a:p>
            <a:r>
              <a:rPr lang="en-US" b="1" dirty="0">
                <a:latin typeface="Times New Roman" panose="02020603050405020304" pitchFamily="18" charset="0"/>
                <a:cs typeface="Times New Roman" panose="02020603050405020304" pitchFamily="18" charset="0"/>
              </a:rPr>
              <a:t>Proposal 1 - Thread Cache Pool</a:t>
            </a:r>
          </a:p>
        </p:txBody>
      </p:sp>
      <p:sp>
        <p:nvSpPr>
          <p:cNvPr id="7" name="Rectangle 6"/>
          <p:cNvSpPr/>
          <p:nvPr/>
        </p:nvSpPr>
        <p:spPr>
          <a:xfrm>
            <a:off x="459788" y="1511586"/>
            <a:ext cx="6328361" cy="923330"/>
          </a:xfrm>
          <a:prstGeom prst="rect">
            <a:avLst/>
          </a:prstGeom>
        </p:spPr>
        <p:txBody>
          <a:bodyPr wrap="square">
            <a:spAutoFit/>
          </a:bodyPr>
          <a:lstStyle/>
          <a:p>
            <a:r>
              <a:rPr lang="en-US" dirty="0">
                <a:latin typeface="Times New Roman" panose="02020603050405020304" pitchFamily="18" charset="0"/>
                <a:cs typeface="Times New Roman" panose="02020603050405020304" pitchFamily="18" charset="0"/>
              </a:rPr>
              <a:t>Pre-create threads matching receiver count (~38), keep them alive permanently for instant </a:t>
            </a:r>
            <a:r>
              <a:rPr lang="en-US" dirty="0" smtClean="0">
                <a:latin typeface="Times New Roman" panose="02020603050405020304" pitchFamily="18" charset="0"/>
                <a:cs typeface="Times New Roman" panose="02020603050405020304" pitchFamily="18" charset="0"/>
              </a:rPr>
              <a:t>response.</a:t>
            </a:r>
            <a:r>
              <a:rPr lang="en-US" dirty="0"/>
              <a:t/>
            </a:r>
            <a:br>
              <a:rPr lang="en-US" dirty="0"/>
            </a:br>
            <a:endParaRPr lang="en-US" dirty="0"/>
          </a:p>
        </p:txBody>
      </p:sp>
      <p:sp>
        <p:nvSpPr>
          <p:cNvPr id="10" name="Rectangle 9"/>
          <p:cNvSpPr/>
          <p:nvPr/>
        </p:nvSpPr>
        <p:spPr>
          <a:xfrm>
            <a:off x="459789" y="146304"/>
            <a:ext cx="5449521" cy="461665"/>
          </a:xfrm>
          <a:prstGeom prst="rect">
            <a:avLst/>
          </a:prstGeom>
          <a:solidFill>
            <a:schemeClr val="bg1"/>
          </a:solidFill>
        </p:spPr>
        <p:txBody>
          <a:bodyPr wrap="square">
            <a:spAutoFit/>
          </a:bodyPr>
          <a:lstStyle/>
          <a:p>
            <a:r>
              <a:rPr lang="en-US" sz="2400" u="sng" dirty="0">
                <a:latin typeface="Times New Roman" panose="02020603050405020304" pitchFamily="18" charset="0"/>
                <a:cs typeface="Times New Roman" panose="02020603050405020304" pitchFamily="18" charset="0"/>
              </a:rPr>
              <a:t>3. Solution Proposals</a:t>
            </a:r>
          </a:p>
        </p:txBody>
      </p:sp>
      <p:sp>
        <p:nvSpPr>
          <p:cNvPr id="3" name="Slide Number Placeholder 2"/>
          <p:cNvSpPr>
            <a:spLocks noGrp="1"/>
          </p:cNvSpPr>
          <p:nvPr>
            <p:ph type="sldNum" sz="quarter" idx="12"/>
          </p:nvPr>
        </p:nvSpPr>
        <p:spPr/>
        <p:txBody>
          <a:bodyPr/>
          <a:lstStyle/>
          <a:p>
            <a:fld id="{0059130C-D5A7-43F1-8BDF-D4DD1699FE09}" type="slidenum">
              <a:rPr lang="en-US" smtClean="0"/>
              <a:t>14</a:t>
            </a:fld>
            <a:endParaRPr lang="en-US" dirty="0"/>
          </a:p>
        </p:txBody>
      </p:sp>
      <p:pic>
        <p:nvPicPr>
          <p:cNvPr id="8" name="Picture 7"/>
          <p:cNvPicPr>
            <a:picLocks noChangeAspect="1"/>
          </p:cNvPicPr>
          <p:nvPr/>
        </p:nvPicPr>
        <p:blipFill>
          <a:blip r:embed="rId3"/>
          <a:stretch>
            <a:fillRect/>
          </a:stretch>
        </p:blipFill>
        <p:spPr>
          <a:xfrm>
            <a:off x="6727189" y="556788"/>
            <a:ext cx="5324965" cy="5551404"/>
          </a:xfrm>
          <a:prstGeom prst="rect">
            <a:avLst/>
          </a:prstGeom>
        </p:spPr>
      </p:pic>
    </p:spTree>
    <p:extLst>
      <p:ext uri="{BB962C8B-B14F-4D97-AF65-F5344CB8AC3E}">
        <p14:creationId xmlns:p14="http://schemas.microsoft.com/office/powerpoint/2010/main" val="3471272435"/>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p:cNvPicPr>
            <a:picLocks noChangeAspect="1"/>
          </p:cNvPicPr>
          <p:nvPr/>
        </p:nvPicPr>
        <p:blipFill>
          <a:blip r:embed="rId3"/>
          <a:stretch>
            <a:fillRect/>
          </a:stretch>
        </p:blipFill>
        <p:spPr>
          <a:xfrm>
            <a:off x="6504633" y="215114"/>
            <a:ext cx="5362643" cy="6419418"/>
          </a:xfrm>
          <a:prstGeom prst="rect">
            <a:avLst/>
          </a:prstGeom>
        </p:spPr>
      </p:pic>
      <p:sp>
        <p:nvSpPr>
          <p:cNvPr id="5" name="Rectangle 4"/>
          <p:cNvSpPr/>
          <p:nvPr/>
        </p:nvSpPr>
        <p:spPr>
          <a:xfrm>
            <a:off x="313002" y="2336570"/>
            <a:ext cx="6282531" cy="3416320"/>
          </a:xfrm>
          <a:prstGeom prst="rect">
            <a:avLst/>
          </a:prstGeom>
        </p:spPr>
        <p:txBody>
          <a:bodyPr wrap="square">
            <a:spAutoFit/>
          </a:bodyPr>
          <a:lstStyle/>
          <a:p>
            <a:r>
              <a:rPr lang="en-US" dirty="0">
                <a:solidFill>
                  <a:srgbClr val="339933"/>
                </a:solidFill>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Advantages</a:t>
            </a:r>
            <a:r>
              <a:rPr lang="en-US" dirty="0">
                <a:latin typeface="Times New Roman" panose="02020603050405020304" pitchFamily="18" charset="0"/>
                <a:cs typeface="Times New Roman" panose="02020603050405020304" pitchFamily="18" charset="0"/>
              </a:rPr>
              <a:t>:</a:t>
            </a:r>
          </a:p>
          <a:p>
            <a:pPr marL="742950" lvl="1" indent="-285750">
              <a:buFont typeface="Arial" panose="020B0604020202020204" pitchFamily="34" charset="0"/>
              <a:buChar char="•"/>
            </a:pPr>
            <a:r>
              <a:rPr lang="en-US" b="1" dirty="0" smtClean="0">
                <a:latin typeface="Times New Roman" panose="02020603050405020304" pitchFamily="18" charset="0"/>
                <a:cs typeface="Times New Roman" panose="02020603050405020304" pitchFamily="18" charset="0"/>
              </a:rPr>
              <a:t>Performance</a:t>
            </a:r>
            <a:r>
              <a:rPr lang="en-US" dirty="0">
                <a:latin typeface="Times New Roman" panose="02020603050405020304" pitchFamily="18" charset="0"/>
                <a:cs typeface="Times New Roman" panose="02020603050405020304" pitchFamily="18" charset="0"/>
              </a:rPr>
              <a:t>: High (estimated </a:t>
            </a:r>
            <a:r>
              <a:rPr lang="en-US" dirty="0" smtClean="0">
                <a:latin typeface="Times New Roman" panose="02020603050405020304" pitchFamily="18" charset="0"/>
                <a:cs typeface="Times New Roman" panose="02020603050405020304" pitchFamily="18" charset="0"/>
              </a:rPr>
              <a:t>~20ms </a:t>
            </a:r>
            <a:r>
              <a:rPr lang="en-US" dirty="0">
                <a:latin typeface="Times New Roman" panose="02020603050405020304" pitchFamily="18" charset="0"/>
                <a:cs typeface="Times New Roman" panose="02020603050405020304" pitchFamily="18" charset="0"/>
              </a:rPr>
              <a:t>for 40 </a:t>
            </a:r>
            <a:r>
              <a:rPr lang="en-US" dirty="0" smtClean="0">
                <a:latin typeface="Times New Roman" panose="02020603050405020304" pitchFamily="18" charset="0"/>
                <a:cs typeface="Times New Roman" panose="02020603050405020304" pitchFamily="18" charset="0"/>
              </a:rPr>
              <a:t>receives with 2 threads) </a:t>
            </a:r>
          </a:p>
          <a:p>
            <a:pPr marL="742950" lvl="1" indent="-285750">
              <a:buFont typeface="Arial" panose="020B0604020202020204" pitchFamily="34" charset="0"/>
              <a:buChar char="•"/>
            </a:pPr>
            <a:r>
              <a:rPr lang="en-US" b="1" dirty="0" smtClean="0">
                <a:latin typeface="Times New Roman" panose="02020603050405020304" pitchFamily="18" charset="0"/>
                <a:cs typeface="Times New Roman" panose="02020603050405020304" pitchFamily="18" charset="0"/>
              </a:rPr>
              <a:t>Resource Efficiency</a:t>
            </a:r>
            <a:r>
              <a:rPr lang="en-US" dirty="0" smtClean="0">
                <a:latin typeface="Times New Roman" panose="02020603050405020304" pitchFamily="18" charset="0"/>
                <a:cs typeface="Times New Roman" panose="02020603050405020304" pitchFamily="18" charset="0"/>
              </a:rPr>
              <a:t>: Maintain only a fixed number of permanent threads.</a:t>
            </a:r>
          </a:p>
          <a:p>
            <a:pPr lvl="1"/>
            <a:endParaRPr lang="en-US" dirty="0">
              <a:latin typeface="Times New Roman" panose="02020603050405020304" pitchFamily="18" charset="0"/>
              <a:cs typeface="Times New Roman" panose="02020603050405020304" pitchFamily="18" charset="0"/>
            </a:endParaRPr>
          </a:p>
          <a:p>
            <a:r>
              <a:rPr lang="en-US" dirty="0">
                <a:solidFill>
                  <a:srgbClr val="C00000"/>
                </a:solidFill>
                <a:latin typeface="Times New Roman" panose="02020603050405020304" pitchFamily="18" charset="0"/>
                <a:cs typeface="Times New Roman" panose="02020603050405020304" pitchFamily="18" charset="0"/>
              </a:rPr>
              <a:t>❌</a:t>
            </a:r>
            <a:r>
              <a:rPr lang="en-US" dirty="0">
                <a:latin typeface="Times New Roman" panose="02020603050405020304" pitchFamily="18" charset="0"/>
                <a:cs typeface="Times New Roman" panose="02020603050405020304" pitchFamily="18" charset="0"/>
              </a:rPr>
              <a:t> </a:t>
            </a:r>
            <a:r>
              <a:rPr lang="en-US" b="1" dirty="0" smtClean="0">
                <a:latin typeface="Times New Roman" panose="02020603050405020304" pitchFamily="18" charset="0"/>
                <a:cs typeface="Times New Roman" panose="02020603050405020304" pitchFamily="18" charset="0"/>
              </a:rPr>
              <a:t>Disadvantages</a:t>
            </a:r>
            <a:r>
              <a:rPr lang="en-US" dirty="0">
                <a:latin typeface="Times New Roman" panose="02020603050405020304" pitchFamily="18" charset="0"/>
                <a:cs typeface="Times New Roman" panose="02020603050405020304" pitchFamily="18" charset="0"/>
              </a:rPr>
              <a:t>:</a:t>
            </a:r>
          </a:p>
          <a:p>
            <a:pPr marL="742950" lvl="1" indent="-285750">
              <a:buFont typeface="Arial" panose="020B0604020202020204" pitchFamily="34" charset="0"/>
              <a:buChar char="•"/>
            </a:pPr>
            <a:r>
              <a:rPr lang="en-US" b="1" dirty="0" smtClean="0">
                <a:latin typeface="Times New Roman" panose="02020603050405020304" pitchFamily="18" charset="0"/>
                <a:cs typeface="Times New Roman" panose="02020603050405020304" pitchFamily="18" charset="0"/>
              </a:rPr>
              <a:t>Reliability</a:t>
            </a:r>
            <a:r>
              <a:rPr lang="en-US" dirty="0">
                <a:latin typeface="Times New Roman" panose="02020603050405020304" pitchFamily="18" charset="0"/>
                <a:cs typeface="Times New Roman" panose="02020603050405020304" pitchFamily="18" charset="0"/>
              </a:rPr>
              <a:t>: When all threads </a:t>
            </a:r>
            <a:r>
              <a:rPr lang="en-US" dirty="0" smtClean="0">
                <a:latin typeface="Times New Roman" panose="02020603050405020304" pitchFamily="18" charset="0"/>
                <a:cs typeface="Times New Roman" panose="02020603050405020304" pitchFamily="18" charset="0"/>
              </a:rPr>
              <a:t>delay, </a:t>
            </a:r>
            <a:r>
              <a:rPr lang="en-US" dirty="0">
                <a:latin typeface="Times New Roman" panose="02020603050405020304" pitchFamily="18" charset="0"/>
                <a:cs typeface="Times New Roman" panose="02020603050405020304" pitchFamily="18" charset="0"/>
              </a:rPr>
              <a:t>other receivers are delayed due to thread delays. </a:t>
            </a:r>
            <a:endParaRPr lang="en-US" dirty="0" smtClean="0">
              <a:latin typeface="Times New Roman" panose="02020603050405020304" pitchFamily="18" charset="0"/>
              <a:cs typeface="Times New Roman" panose="02020603050405020304" pitchFamily="18" charset="0"/>
            </a:endParaRPr>
          </a:p>
          <a:p>
            <a:pPr marL="742950" lvl="1" indent="-285750">
              <a:buFont typeface="Arial" panose="020B0604020202020204" pitchFamily="34" charset="0"/>
              <a:buChar char="•"/>
            </a:pPr>
            <a:r>
              <a:rPr lang="en-US" b="1" dirty="0" smtClean="0">
                <a:latin typeface="Times New Roman" panose="02020603050405020304" pitchFamily="18" charset="0"/>
                <a:cs typeface="Times New Roman" panose="02020603050405020304" pitchFamily="18" charset="0"/>
              </a:rPr>
              <a:t>Simplicity</a:t>
            </a:r>
            <a:r>
              <a:rPr lang="en-US" dirty="0">
                <a:latin typeface="Times New Roman" panose="02020603050405020304" pitchFamily="18" charset="0"/>
                <a:cs typeface="Times New Roman" panose="02020603050405020304" pitchFamily="18" charset="0"/>
              </a:rPr>
              <a:t>: Moderate implementation </a:t>
            </a:r>
            <a:r>
              <a:rPr lang="en-US" dirty="0" smtClean="0">
                <a:latin typeface="Times New Roman" panose="02020603050405020304" pitchFamily="18" charset="0"/>
                <a:cs typeface="Times New Roman" panose="02020603050405020304" pitchFamily="18" charset="0"/>
              </a:rPr>
              <a:t>complexity.</a:t>
            </a:r>
            <a:endParaRPr lang="en-US" dirty="0">
              <a:latin typeface="Times New Roman" panose="02020603050405020304" pitchFamily="18" charset="0"/>
              <a:cs typeface="Times New Roman" panose="02020603050405020304" pitchFamily="18" charset="0"/>
            </a:endParaRPr>
          </a:p>
          <a:p>
            <a:pPr lvl="1"/>
            <a:endParaRPr lang="en-US" dirty="0" smtClean="0">
              <a:latin typeface="Times New Roman" panose="02020603050405020304" pitchFamily="18" charset="0"/>
              <a:cs typeface="Times New Roman" panose="02020603050405020304" pitchFamily="18" charset="0"/>
            </a:endParaRPr>
          </a:p>
          <a:p>
            <a:pPr marL="742950" lvl="1" indent="-285750">
              <a:buFont typeface="Arial" panose="020B0604020202020204" pitchFamily="34" charset="0"/>
              <a:buChar char="•"/>
            </a:pPr>
            <a:endParaRPr lang="en-US" dirty="0">
              <a:latin typeface="Times New Roman" panose="02020603050405020304" pitchFamily="18" charset="0"/>
              <a:cs typeface="Times New Roman" panose="02020603050405020304" pitchFamily="18" charset="0"/>
            </a:endParaRPr>
          </a:p>
        </p:txBody>
      </p:sp>
      <p:sp>
        <p:nvSpPr>
          <p:cNvPr id="6" name="Rectangle 5"/>
          <p:cNvSpPr/>
          <p:nvPr/>
        </p:nvSpPr>
        <p:spPr>
          <a:xfrm>
            <a:off x="408633" y="865441"/>
            <a:ext cx="3307637" cy="369332"/>
          </a:xfrm>
          <a:prstGeom prst="rect">
            <a:avLst/>
          </a:prstGeom>
        </p:spPr>
        <p:txBody>
          <a:bodyPr wrap="none">
            <a:spAutoFit/>
          </a:bodyPr>
          <a:lstStyle/>
          <a:p>
            <a:r>
              <a:rPr lang="en-US" b="1" dirty="0">
                <a:latin typeface="Times New Roman" panose="02020603050405020304" pitchFamily="18" charset="0"/>
                <a:cs typeface="Times New Roman" panose="02020603050405020304" pitchFamily="18" charset="0"/>
              </a:rPr>
              <a:t>Proposal 2 - Fixed Thread Pool</a:t>
            </a:r>
          </a:p>
        </p:txBody>
      </p:sp>
      <p:sp>
        <p:nvSpPr>
          <p:cNvPr id="7" name="Rectangle 6"/>
          <p:cNvSpPr/>
          <p:nvPr/>
        </p:nvSpPr>
        <p:spPr>
          <a:xfrm>
            <a:off x="408633" y="1466833"/>
            <a:ext cx="6096000" cy="923330"/>
          </a:xfrm>
          <a:prstGeom prst="rect">
            <a:avLst/>
          </a:prstGeom>
        </p:spPr>
        <p:txBody>
          <a:bodyPr>
            <a:spAutoFit/>
          </a:bodyPr>
          <a:lstStyle/>
          <a:p>
            <a:r>
              <a:rPr lang="en-US" dirty="0">
                <a:latin typeface="Times New Roman" panose="02020603050405020304" pitchFamily="18" charset="0"/>
                <a:cs typeface="Times New Roman" panose="02020603050405020304" pitchFamily="18" charset="0"/>
              </a:rPr>
              <a:t>Use a fixed thread pool (e.g., 2 permanent threads) to handle all </a:t>
            </a:r>
            <a:r>
              <a:rPr lang="en-US" dirty="0" smtClean="0">
                <a:latin typeface="Times New Roman" panose="02020603050405020304" pitchFamily="18" charset="0"/>
                <a:cs typeface="Times New Roman" panose="02020603050405020304" pitchFamily="18" charset="0"/>
              </a:rPr>
              <a:t>notifications</a:t>
            </a:r>
            <a:r>
              <a:rPr lang="en-US" dirty="0"/>
              <a:t/>
            </a:r>
            <a:br>
              <a:rPr lang="en-US" dirty="0"/>
            </a:br>
            <a:endParaRPr lang="en-US" dirty="0"/>
          </a:p>
        </p:txBody>
      </p:sp>
      <p:sp>
        <p:nvSpPr>
          <p:cNvPr id="10" name="Rectangle 9"/>
          <p:cNvSpPr/>
          <p:nvPr/>
        </p:nvSpPr>
        <p:spPr>
          <a:xfrm>
            <a:off x="459789" y="146304"/>
            <a:ext cx="5449521" cy="461665"/>
          </a:xfrm>
          <a:prstGeom prst="rect">
            <a:avLst/>
          </a:prstGeom>
          <a:solidFill>
            <a:schemeClr val="bg1"/>
          </a:solidFill>
        </p:spPr>
        <p:txBody>
          <a:bodyPr wrap="square">
            <a:spAutoFit/>
          </a:bodyPr>
          <a:lstStyle/>
          <a:p>
            <a:r>
              <a:rPr lang="en-US" sz="2400" u="sng" dirty="0">
                <a:latin typeface="Times New Roman" panose="02020603050405020304" pitchFamily="18" charset="0"/>
                <a:cs typeface="Times New Roman" panose="02020603050405020304" pitchFamily="18" charset="0"/>
              </a:rPr>
              <a:t>3. Solution Proposals</a:t>
            </a:r>
          </a:p>
        </p:txBody>
      </p:sp>
      <p:sp>
        <p:nvSpPr>
          <p:cNvPr id="2" name="Slide Number Placeholder 1"/>
          <p:cNvSpPr>
            <a:spLocks noGrp="1"/>
          </p:cNvSpPr>
          <p:nvPr>
            <p:ph type="sldNum" sz="quarter" idx="12"/>
          </p:nvPr>
        </p:nvSpPr>
        <p:spPr/>
        <p:txBody>
          <a:bodyPr/>
          <a:lstStyle/>
          <a:p>
            <a:fld id="{0059130C-D5A7-43F1-8BDF-D4DD1699FE09}" type="slidenum">
              <a:rPr lang="en-US" smtClean="0"/>
              <a:t>15</a:t>
            </a:fld>
            <a:endParaRPr lang="en-US"/>
          </a:p>
        </p:txBody>
      </p:sp>
    </p:spTree>
    <p:extLst>
      <p:ext uri="{BB962C8B-B14F-4D97-AF65-F5344CB8AC3E}">
        <p14:creationId xmlns:p14="http://schemas.microsoft.com/office/powerpoint/2010/main" val="2996178721"/>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stretch>
            <a:fillRect/>
          </a:stretch>
        </p:blipFill>
        <p:spPr>
          <a:xfrm>
            <a:off x="6751936" y="138835"/>
            <a:ext cx="4966607" cy="6582640"/>
          </a:xfrm>
          <a:prstGeom prst="rect">
            <a:avLst/>
          </a:prstGeom>
        </p:spPr>
      </p:pic>
      <p:sp>
        <p:nvSpPr>
          <p:cNvPr id="5" name="Rectangle 4"/>
          <p:cNvSpPr/>
          <p:nvPr/>
        </p:nvSpPr>
        <p:spPr>
          <a:xfrm>
            <a:off x="239477" y="3194416"/>
            <a:ext cx="6364523" cy="3139321"/>
          </a:xfrm>
          <a:prstGeom prst="rect">
            <a:avLst/>
          </a:prstGeom>
        </p:spPr>
        <p:txBody>
          <a:bodyPr wrap="square">
            <a:spAutoFit/>
          </a:bodyPr>
          <a:lstStyle/>
          <a:p>
            <a:r>
              <a:rPr lang="en-US" dirty="0">
                <a:solidFill>
                  <a:srgbClr val="339933"/>
                </a:solidFill>
                <a:latin typeface="Times New Roman" panose="02020603050405020304" pitchFamily="18" charset="0"/>
                <a:cs typeface="Times New Roman" panose="02020603050405020304" pitchFamily="18" charset="0"/>
              </a:rPr>
              <a:t>✅</a:t>
            </a: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Advantages</a:t>
            </a:r>
            <a:r>
              <a:rPr lang="en-US" dirty="0">
                <a:latin typeface="Times New Roman" panose="02020603050405020304" pitchFamily="18" charset="0"/>
                <a:cs typeface="Times New Roman" panose="02020603050405020304" pitchFamily="18" charset="0"/>
              </a:rPr>
              <a:t>:</a:t>
            </a:r>
          </a:p>
          <a:p>
            <a:pPr marL="742950" lvl="1" indent="-285750">
              <a:buFont typeface="Arial" panose="020B0604020202020204" pitchFamily="34" charset="0"/>
              <a:buChar char="•"/>
            </a:pPr>
            <a:r>
              <a:rPr lang="en-US" b="1" dirty="0" smtClean="0">
                <a:latin typeface="Times New Roman" panose="02020603050405020304" pitchFamily="18" charset="0"/>
                <a:cs typeface="Times New Roman" panose="02020603050405020304" pitchFamily="18" charset="0"/>
              </a:rPr>
              <a:t>Performance</a:t>
            </a:r>
            <a:r>
              <a:rPr lang="en-US" dirty="0" smtClean="0">
                <a:latin typeface="Times New Roman" panose="02020603050405020304" pitchFamily="18" charset="0"/>
                <a:cs typeface="Times New Roman" panose="02020603050405020304" pitchFamily="18" charset="0"/>
              </a:rPr>
              <a:t>: High (estimated ~20ms </a:t>
            </a:r>
            <a:r>
              <a:rPr lang="en-US" dirty="0">
                <a:latin typeface="Times New Roman" panose="02020603050405020304" pitchFamily="18" charset="0"/>
                <a:cs typeface="Times New Roman" panose="02020603050405020304" pitchFamily="18" charset="0"/>
              </a:rPr>
              <a:t>for </a:t>
            </a:r>
            <a:r>
              <a:rPr lang="en-US" dirty="0" smtClean="0">
                <a:latin typeface="Times New Roman" panose="02020603050405020304" pitchFamily="18" charset="0"/>
                <a:cs typeface="Times New Roman" panose="02020603050405020304" pitchFamily="18" charset="0"/>
              </a:rPr>
              <a:t>40 receives with 2 threads)</a:t>
            </a:r>
          </a:p>
          <a:p>
            <a:pPr marL="742950" lvl="1" indent="-285750">
              <a:buFont typeface="Arial" panose="020B0604020202020204" pitchFamily="34" charset="0"/>
              <a:buChar char="•"/>
            </a:pPr>
            <a:r>
              <a:rPr lang="en-US" b="1" dirty="0" smtClean="0">
                <a:latin typeface="Times New Roman" panose="02020603050405020304" pitchFamily="18" charset="0"/>
                <a:cs typeface="Times New Roman" panose="02020603050405020304" pitchFamily="18" charset="0"/>
              </a:rPr>
              <a:t>Reliability</a:t>
            </a:r>
            <a:r>
              <a:rPr lang="en-US" dirty="0">
                <a:latin typeface="Times New Roman" panose="02020603050405020304" pitchFamily="18" charset="0"/>
                <a:cs typeface="Times New Roman" panose="02020603050405020304" pitchFamily="18" charset="0"/>
              </a:rPr>
              <a:t>: </a:t>
            </a:r>
            <a:r>
              <a:rPr lang="en-US" dirty="0" smtClean="0">
                <a:latin typeface="Times New Roman" panose="02020603050405020304" pitchFamily="18" charset="0"/>
                <a:cs typeface="Times New Roman" panose="02020603050405020304" pitchFamily="18" charset="0"/>
              </a:rPr>
              <a:t>Self-healing </a:t>
            </a:r>
            <a:r>
              <a:rPr lang="en-US" dirty="0">
                <a:latin typeface="Times New Roman" panose="02020603050405020304" pitchFamily="18" charset="0"/>
                <a:cs typeface="Times New Roman" panose="02020603050405020304" pitchFamily="18" charset="0"/>
              </a:rPr>
              <a:t>with automatic </a:t>
            </a:r>
            <a:r>
              <a:rPr lang="en-US" dirty="0" smtClean="0">
                <a:latin typeface="Times New Roman" panose="02020603050405020304" pitchFamily="18" charset="0"/>
                <a:cs typeface="Times New Roman" panose="02020603050405020304" pitchFamily="18" charset="0"/>
              </a:rPr>
              <a:t>delay </a:t>
            </a:r>
            <a:r>
              <a:rPr lang="en-US" dirty="0">
                <a:latin typeface="Times New Roman" panose="02020603050405020304" pitchFamily="18" charset="0"/>
                <a:cs typeface="Times New Roman" panose="02020603050405020304" pitchFamily="18" charset="0"/>
              </a:rPr>
              <a:t>thread replacement</a:t>
            </a:r>
            <a:endParaRPr lang="en-US" dirty="0" smtClean="0">
              <a:latin typeface="Times New Roman" panose="02020603050405020304" pitchFamily="18" charset="0"/>
              <a:cs typeface="Times New Roman" panose="02020603050405020304" pitchFamily="18" charset="0"/>
            </a:endParaRPr>
          </a:p>
          <a:p>
            <a:pPr marL="742950" lvl="1" indent="-285750">
              <a:buFont typeface="Arial" panose="020B0604020202020204" pitchFamily="34" charset="0"/>
              <a:buChar char="•"/>
            </a:pPr>
            <a:r>
              <a:rPr lang="en-US" b="1" dirty="0" smtClean="0">
                <a:latin typeface="Times New Roman" panose="02020603050405020304" pitchFamily="18" charset="0"/>
                <a:cs typeface="Times New Roman" panose="02020603050405020304" pitchFamily="18" charset="0"/>
              </a:rPr>
              <a:t>Resource Efficiency</a:t>
            </a:r>
            <a:r>
              <a:rPr lang="en-US" dirty="0" smtClean="0">
                <a:latin typeface="Times New Roman" panose="02020603050405020304" pitchFamily="18" charset="0"/>
                <a:cs typeface="Times New Roman" panose="02020603050405020304" pitchFamily="18" charset="0"/>
              </a:rPr>
              <a:t>: Adaptive memory usage based on actual demand</a:t>
            </a:r>
          </a:p>
          <a:p>
            <a:pPr lvl="1"/>
            <a:endParaRPr lang="en-US" dirty="0" smtClean="0">
              <a:latin typeface="Times New Roman" panose="02020603050405020304" pitchFamily="18" charset="0"/>
              <a:cs typeface="Times New Roman" panose="02020603050405020304" pitchFamily="18" charset="0"/>
            </a:endParaRPr>
          </a:p>
          <a:p>
            <a:r>
              <a:rPr lang="en-US" dirty="0" smtClean="0">
                <a:solidFill>
                  <a:srgbClr val="C00000"/>
                </a:solidFill>
                <a:latin typeface="Times New Roman" panose="02020603050405020304" pitchFamily="18" charset="0"/>
                <a:cs typeface="Times New Roman" panose="02020603050405020304" pitchFamily="18" charset="0"/>
              </a:rPr>
              <a:t>❌</a:t>
            </a:r>
            <a:r>
              <a:rPr lang="en-US" dirty="0" smtClean="0">
                <a:latin typeface="Times New Roman" panose="02020603050405020304" pitchFamily="18" charset="0"/>
                <a:cs typeface="Times New Roman" panose="02020603050405020304" pitchFamily="18" charset="0"/>
              </a:rPr>
              <a:t> </a:t>
            </a:r>
            <a:r>
              <a:rPr lang="en-US" b="1" dirty="0" smtClean="0">
                <a:latin typeface="Times New Roman" panose="02020603050405020304" pitchFamily="18" charset="0"/>
                <a:cs typeface="Times New Roman" panose="02020603050405020304" pitchFamily="18" charset="0"/>
              </a:rPr>
              <a:t>Disadvantage</a:t>
            </a:r>
            <a:r>
              <a:rPr lang="en-US" dirty="0" smtClean="0">
                <a:latin typeface="Times New Roman" panose="02020603050405020304" pitchFamily="18" charset="0"/>
                <a:cs typeface="Times New Roman" panose="02020603050405020304" pitchFamily="18" charset="0"/>
              </a:rPr>
              <a:t>:</a:t>
            </a:r>
            <a:endParaRPr lang="en-US" dirty="0">
              <a:latin typeface="Times New Roman" panose="02020603050405020304" pitchFamily="18" charset="0"/>
              <a:cs typeface="Times New Roman" panose="02020603050405020304" pitchFamily="18" charset="0"/>
            </a:endParaRPr>
          </a:p>
          <a:p>
            <a:pPr marL="742950" lvl="1" indent="-285750">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Simplicity</a:t>
            </a:r>
            <a:r>
              <a:rPr lang="en-US" dirty="0">
                <a:latin typeface="Times New Roman" panose="02020603050405020304" pitchFamily="18" charset="0"/>
                <a:cs typeface="Times New Roman" panose="02020603050405020304" pitchFamily="18" charset="0"/>
              </a:rPr>
              <a:t>: Higher implementation complexity with scale algorithm.</a:t>
            </a:r>
          </a:p>
        </p:txBody>
      </p:sp>
      <p:sp>
        <p:nvSpPr>
          <p:cNvPr id="6" name="Rectangle 5"/>
          <p:cNvSpPr/>
          <p:nvPr/>
        </p:nvSpPr>
        <p:spPr>
          <a:xfrm>
            <a:off x="447001" y="807888"/>
            <a:ext cx="3576941" cy="369332"/>
          </a:xfrm>
          <a:prstGeom prst="rect">
            <a:avLst/>
          </a:prstGeom>
        </p:spPr>
        <p:txBody>
          <a:bodyPr wrap="none">
            <a:spAutoFit/>
          </a:bodyPr>
          <a:lstStyle/>
          <a:p>
            <a:r>
              <a:rPr lang="en-US" b="1" dirty="0">
                <a:latin typeface="Times New Roman" panose="02020603050405020304" pitchFamily="18" charset="0"/>
                <a:cs typeface="Times New Roman" panose="02020603050405020304" pitchFamily="18" charset="0"/>
              </a:rPr>
              <a:t>Proposal 3 - Dynamic Thread Pool</a:t>
            </a:r>
          </a:p>
        </p:txBody>
      </p:sp>
      <p:sp>
        <p:nvSpPr>
          <p:cNvPr id="7" name="Rectangle 6"/>
          <p:cNvSpPr/>
          <p:nvPr/>
        </p:nvSpPr>
        <p:spPr>
          <a:xfrm>
            <a:off x="440607" y="1254375"/>
            <a:ext cx="6106243" cy="1754326"/>
          </a:xfrm>
          <a:prstGeom prst="rect">
            <a:avLst/>
          </a:prstGeom>
        </p:spPr>
        <p:txBody>
          <a:bodyPr wrap="square">
            <a:spAutoFit/>
          </a:bodyPr>
          <a:lstStyle/>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Start with a fixed number of threads (e.g., 2 threads) as baseline thread </a:t>
            </a:r>
            <a:r>
              <a:rPr lang="en-US" dirty="0" smtClean="0">
                <a:latin typeface="Times New Roman" panose="02020603050405020304" pitchFamily="18" charset="0"/>
                <a:cs typeface="Times New Roman" panose="02020603050405020304" pitchFamily="18" charset="0"/>
              </a:rPr>
              <a:t>pool.</a:t>
            </a:r>
          </a:p>
          <a:p>
            <a:pPr marL="285750" indent="-285750">
              <a:buFont typeface="Arial" panose="020B0604020202020204" pitchFamily="34" charset="0"/>
              <a:buChar char="•"/>
            </a:pPr>
            <a:r>
              <a:rPr lang="en-US" b="1" dirty="0" smtClean="0">
                <a:latin typeface="Times New Roman" panose="02020603050405020304" pitchFamily="18" charset="0"/>
                <a:cs typeface="Times New Roman" panose="02020603050405020304" pitchFamily="18" charset="0"/>
              </a:rPr>
              <a:t>Scale </a:t>
            </a:r>
            <a:r>
              <a:rPr lang="en-US" b="1" dirty="0">
                <a:latin typeface="Times New Roman" panose="02020603050405020304" pitchFamily="18" charset="0"/>
                <a:cs typeface="Times New Roman" panose="02020603050405020304" pitchFamily="18" charset="0"/>
              </a:rPr>
              <a:t>up</a:t>
            </a:r>
            <a:r>
              <a:rPr lang="en-US" dirty="0">
                <a:latin typeface="Times New Roman" panose="02020603050405020304" pitchFamily="18" charset="0"/>
                <a:cs typeface="Times New Roman" panose="02020603050405020304" pitchFamily="18" charset="0"/>
              </a:rPr>
              <a:t>: Auto-create additional threads when individual thread processing time exceeds threshold.</a:t>
            </a:r>
          </a:p>
          <a:p>
            <a:pPr marL="285750" indent="-285750">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Scale down</a:t>
            </a:r>
            <a:r>
              <a:rPr lang="en-US" dirty="0">
                <a:latin typeface="Times New Roman" panose="02020603050405020304" pitchFamily="18" charset="0"/>
                <a:cs typeface="Times New Roman" panose="02020603050405020304" pitchFamily="18" charset="0"/>
              </a:rPr>
              <a:t>: Automatically reduce thread count to baseline after a certain period of inactivity to optimize resource usage.</a:t>
            </a:r>
          </a:p>
        </p:txBody>
      </p:sp>
      <p:sp>
        <p:nvSpPr>
          <p:cNvPr id="9" name="Rectangle 8"/>
          <p:cNvSpPr/>
          <p:nvPr/>
        </p:nvSpPr>
        <p:spPr>
          <a:xfrm>
            <a:off x="459789" y="146304"/>
            <a:ext cx="5449521" cy="461665"/>
          </a:xfrm>
          <a:prstGeom prst="rect">
            <a:avLst/>
          </a:prstGeom>
          <a:solidFill>
            <a:schemeClr val="bg1"/>
          </a:solidFill>
        </p:spPr>
        <p:txBody>
          <a:bodyPr wrap="square">
            <a:spAutoFit/>
          </a:bodyPr>
          <a:lstStyle/>
          <a:p>
            <a:r>
              <a:rPr lang="en-US" sz="2400" u="sng" dirty="0">
                <a:latin typeface="Times New Roman" panose="02020603050405020304" pitchFamily="18" charset="0"/>
                <a:cs typeface="Times New Roman" panose="02020603050405020304" pitchFamily="18" charset="0"/>
              </a:rPr>
              <a:t>3. Solution Proposals</a:t>
            </a:r>
          </a:p>
        </p:txBody>
      </p:sp>
      <p:sp>
        <p:nvSpPr>
          <p:cNvPr id="2" name="Slide Number Placeholder 1"/>
          <p:cNvSpPr>
            <a:spLocks noGrp="1"/>
          </p:cNvSpPr>
          <p:nvPr>
            <p:ph type="sldNum" sz="quarter" idx="12"/>
          </p:nvPr>
        </p:nvSpPr>
        <p:spPr/>
        <p:txBody>
          <a:bodyPr/>
          <a:lstStyle/>
          <a:p>
            <a:fld id="{0059130C-D5A7-43F1-8BDF-D4DD1699FE09}" type="slidenum">
              <a:rPr lang="en-US" smtClean="0"/>
              <a:t>16</a:t>
            </a:fld>
            <a:endParaRPr lang="en-US"/>
          </a:p>
        </p:txBody>
      </p:sp>
    </p:spTree>
    <p:extLst>
      <p:ext uri="{BB962C8B-B14F-4D97-AF65-F5344CB8AC3E}">
        <p14:creationId xmlns:p14="http://schemas.microsoft.com/office/powerpoint/2010/main" val="2919025562"/>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Table 10"/>
          <p:cNvGraphicFramePr>
            <a:graphicFrameLocks noGrp="1"/>
          </p:cNvGraphicFramePr>
          <p:nvPr>
            <p:extLst>
              <p:ext uri="{D42A27DB-BD31-4B8C-83A1-F6EECF244321}">
                <p14:modId xmlns:p14="http://schemas.microsoft.com/office/powerpoint/2010/main" val="176889200"/>
              </p:ext>
            </p:extLst>
          </p:nvPr>
        </p:nvGraphicFramePr>
        <p:xfrm>
          <a:off x="629365" y="864993"/>
          <a:ext cx="10847069" cy="2753881"/>
        </p:xfrm>
        <a:graphic>
          <a:graphicData uri="http://schemas.openxmlformats.org/drawingml/2006/table">
            <a:tbl>
              <a:tblPr>
                <a:tableStyleId>{0505E3EF-67EA-436B-97B2-0124C06EBD24}</a:tableStyleId>
              </a:tblPr>
              <a:tblGrid>
                <a:gridCol w="1617971"/>
                <a:gridCol w="888823"/>
                <a:gridCol w="2441211"/>
                <a:gridCol w="2127115"/>
                <a:gridCol w="1749346"/>
                <a:gridCol w="2022603"/>
              </a:tblGrid>
              <a:tr h="607409">
                <a:tc>
                  <a:txBody>
                    <a:bodyPr/>
                    <a:lstStyle/>
                    <a:p>
                      <a:pPr algn="ctr"/>
                      <a:r>
                        <a:rPr lang="en-US" sz="1400" b="1" dirty="0">
                          <a:effectLst/>
                          <a:latin typeface="Times New Roman" panose="02020603050405020304" pitchFamily="18" charset="0"/>
                          <a:cs typeface="Times New Roman" panose="02020603050405020304" pitchFamily="18" charset="0"/>
                        </a:rPr>
                        <a:t>Criteria</a:t>
                      </a:r>
                      <a:endParaRPr lang="en-US" sz="1400" b="1" dirty="0">
                        <a:solidFill>
                          <a:srgbClr val="030303"/>
                        </a:solidFill>
                        <a:effectLst/>
                        <a:latin typeface="Times New Roman" panose="02020603050405020304" pitchFamily="18" charset="0"/>
                        <a:cs typeface="Times New Roman" panose="02020603050405020304" pitchFamily="18" charset="0"/>
                      </a:endParaRP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b="1" dirty="0" smtClean="0">
                          <a:solidFill>
                            <a:srgbClr val="030303"/>
                          </a:solidFill>
                          <a:effectLst/>
                          <a:latin typeface="Times New Roman" panose="02020603050405020304" pitchFamily="18" charset="0"/>
                          <a:cs typeface="Times New Roman" panose="02020603050405020304" pitchFamily="18" charset="0"/>
                        </a:rPr>
                        <a:t>Priority </a:t>
                      </a:r>
                      <a:endParaRPr lang="en-US" sz="1200" b="1" dirty="0" smtClean="0">
                        <a:solidFill>
                          <a:srgbClr val="030303"/>
                        </a:solidFill>
                        <a:effectLst/>
                        <a:latin typeface="Times New Roman" panose="02020603050405020304" pitchFamily="18" charset="0"/>
                        <a:cs typeface="Times New Roman" panose="02020603050405020304" pitchFamily="18" charset="0"/>
                      </a:endParaRP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b="1" dirty="0" smtClean="0">
                          <a:effectLst/>
                          <a:latin typeface="Times New Roman" panose="02020603050405020304" pitchFamily="18" charset="0"/>
                          <a:cs typeface="Times New Roman" panose="02020603050405020304" pitchFamily="18" charset="0"/>
                        </a:rPr>
                        <a:t>On-Demand</a:t>
                      </a:r>
                      <a:r>
                        <a:rPr lang="en-US" sz="1400" b="1" baseline="0" dirty="0" smtClean="0">
                          <a:effectLst/>
                          <a:latin typeface="Times New Roman" panose="02020603050405020304" pitchFamily="18" charset="0"/>
                          <a:cs typeface="Times New Roman" panose="02020603050405020304" pitchFamily="18" charset="0"/>
                        </a:rPr>
                        <a:t> Thread</a:t>
                      </a:r>
                    </a:p>
                    <a:p>
                      <a:pPr marL="0" marR="0" indent="0" algn="ctr" defTabSz="914400" rtl="0" eaLnBrk="1" fontAlgn="auto" latinLnBrk="0" hangingPunct="1">
                        <a:lnSpc>
                          <a:spcPct val="100000"/>
                        </a:lnSpc>
                        <a:spcBef>
                          <a:spcPts val="0"/>
                        </a:spcBef>
                        <a:spcAft>
                          <a:spcPts val="0"/>
                        </a:spcAft>
                        <a:buClrTx/>
                        <a:buSzTx/>
                        <a:buFontTx/>
                        <a:buNone/>
                        <a:tabLst/>
                        <a:defRPr/>
                      </a:pPr>
                      <a:r>
                        <a:rPr lang="en-US" sz="1100" b="1" baseline="0" dirty="0" smtClean="0">
                          <a:solidFill>
                            <a:srgbClr val="030303"/>
                          </a:solidFill>
                          <a:effectLst/>
                          <a:latin typeface="Times New Roman" panose="02020603050405020304" pitchFamily="18" charset="0"/>
                          <a:cs typeface="Times New Roman" panose="02020603050405020304" pitchFamily="18" charset="0"/>
                        </a:rPr>
                        <a:t>(Current implementation)</a:t>
                      </a:r>
                      <a:endParaRPr lang="en-US" sz="1100" b="1" dirty="0" smtClean="0">
                        <a:solidFill>
                          <a:srgbClr val="030303"/>
                        </a:solidFill>
                        <a:effectLst/>
                        <a:latin typeface="Times New Roman" panose="02020603050405020304" pitchFamily="18" charset="0"/>
                        <a:cs typeface="Times New Roman" panose="02020603050405020304" pitchFamily="18" charset="0"/>
                      </a:endParaRP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r>
                        <a:rPr lang="en-US" sz="1400" b="1" dirty="0">
                          <a:effectLst/>
                          <a:latin typeface="Times New Roman" panose="02020603050405020304" pitchFamily="18" charset="0"/>
                          <a:cs typeface="Times New Roman" panose="02020603050405020304" pitchFamily="18" charset="0"/>
                        </a:rPr>
                        <a:t>Thread </a:t>
                      </a:r>
                      <a:r>
                        <a:rPr lang="en-US" sz="1400" b="1" dirty="0" smtClean="0">
                          <a:effectLst/>
                          <a:latin typeface="Times New Roman" panose="02020603050405020304" pitchFamily="18" charset="0"/>
                          <a:cs typeface="Times New Roman" panose="02020603050405020304" pitchFamily="18" charset="0"/>
                        </a:rPr>
                        <a:t>Cache</a:t>
                      </a:r>
                    </a:p>
                    <a:p>
                      <a:pPr algn="ctr"/>
                      <a:r>
                        <a:rPr lang="en-US" sz="1100" b="1" dirty="0" smtClean="0">
                          <a:latin typeface="Times New Roman" panose="02020603050405020304" pitchFamily="18" charset="0"/>
                          <a:cs typeface="Times New Roman" panose="02020603050405020304" pitchFamily="18" charset="0"/>
                        </a:rPr>
                        <a:t>(Proposal 1)</a:t>
                      </a:r>
                      <a:endParaRPr lang="en-US" sz="1100" b="1" dirty="0">
                        <a:solidFill>
                          <a:srgbClr val="030303"/>
                        </a:solidFill>
                        <a:effectLst/>
                        <a:latin typeface="Times New Roman" panose="02020603050405020304" pitchFamily="18" charset="0"/>
                        <a:cs typeface="Times New Roman" panose="02020603050405020304" pitchFamily="18" charset="0"/>
                      </a:endParaRP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b="1" dirty="0">
                          <a:effectLst/>
                          <a:latin typeface="Times New Roman" panose="02020603050405020304" pitchFamily="18" charset="0"/>
                          <a:cs typeface="Times New Roman" panose="02020603050405020304" pitchFamily="18" charset="0"/>
                        </a:rPr>
                        <a:t>Fixed </a:t>
                      </a:r>
                      <a:r>
                        <a:rPr lang="en-US" sz="1400" b="1" dirty="0" smtClean="0">
                          <a:effectLst/>
                          <a:latin typeface="Times New Roman" panose="02020603050405020304" pitchFamily="18" charset="0"/>
                          <a:cs typeface="Times New Roman" panose="02020603050405020304" pitchFamily="18" charset="0"/>
                        </a:rPr>
                        <a:t>Pool</a:t>
                      </a:r>
                      <a:br>
                        <a:rPr lang="en-US" sz="1400" b="1" dirty="0" smtClean="0">
                          <a:effectLst/>
                          <a:latin typeface="Times New Roman" panose="02020603050405020304" pitchFamily="18" charset="0"/>
                          <a:cs typeface="Times New Roman" panose="02020603050405020304" pitchFamily="18" charset="0"/>
                        </a:rPr>
                      </a:br>
                      <a:r>
                        <a:rPr lang="en-US" sz="1100" b="1" dirty="0" smtClean="0">
                          <a:latin typeface="Times New Roman" panose="02020603050405020304" pitchFamily="18" charset="0"/>
                          <a:cs typeface="Times New Roman" panose="02020603050405020304" pitchFamily="18" charset="0"/>
                        </a:rPr>
                        <a:t>(Proposal 2)</a:t>
                      </a:r>
                      <a:endParaRPr lang="en-US" sz="1100" b="1" dirty="0" smtClean="0">
                        <a:solidFill>
                          <a:srgbClr val="030303"/>
                        </a:solidFill>
                        <a:effectLst/>
                        <a:latin typeface="Times New Roman" panose="02020603050405020304" pitchFamily="18" charset="0"/>
                        <a:cs typeface="Times New Roman" panose="02020603050405020304" pitchFamily="18" charset="0"/>
                      </a:endParaRP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r>
                        <a:rPr lang="en-US" sz="1400" b="1" dirty="0" smtClean="0">
                          <a:latin typeface="Times New Roman" panose="02020603050405020304" pitchFamily="18" charset="0"/>
                          <a:cs typeface="Times New Roman" panose="02020603050405020304" pitchFamily="18" charset="0"/>
                        </a:rPr>
                        <a:t>Dynamic Thread Pool</a:t>
                      </a:r>
                    </a:p>
                    <a:p>
                      <a:pPr marL="0" marR="0" indent="0" algn="ctr" defTabSz="914400" rtl="0" eaLnBrk="1" fontAlgn="auto" latinLnBrk="0" hangingPunct="1">
                        <a:lnSpc>
                          <a:spcPct val="100000"/>
                        </a:lnSpc>
                        <a:spcBef>
                          <a:spcPts val="0"/>
                        </a:spcBef>
                        <a:spcAft>
                          <a:spcPts val="0"/>
                        </a:spcAft>
                        <a:buClrTx/>
                        <a:buSzTx/>
                        <a:buFontTx/>
                        <a:buNone/>
                        <a:tabLst/>
                        <a:defRPr/>
                      </a:pPr>
                      <a:r>
                        <a:rPr lang="en-US" sz="1100" b="1" dirty="0" smtClean="0">
                          <a:latin typeface="Times New Roman" panose="02020603050405020304" pitchFamily="18" charset="0"/>
                          <a:cs typeface="Times New Roman" panose="02020603050405020304" pitchFamily="18" charset="0"/>
                        </a:rPr>
                        <a:t>(Proposal 3)</a:t>
                      </a:r>
                      <a:endParaRPr lang="en-US" sz="1100" b="1" dirty="0" smtClean="0">
                        <a:solidFill>
                          <a:srgbClr val="030303"/>
                        </a:solidFill>
                        <a:effectLst/>
                        <a:latin typeface="Times New Roman" panose="02020603050405020304" pitchFamily="18" charset="0"/>
                        <a:cs typeface="Times New Roman" panose="02020603050405020304" pitchFamily="18" charset="0"/>
                      </a:endParaRP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r>
              <a:tr h="389625">
                <a:tc>
                  <a:txBody>
                    <a:bodyPr/>
                    <a:lstStyle/>
                    <a:p>
                      <a:r>
                        <a:rPr lang="en-US" sz="1400" b="0" dirty="0" smtClean="0">
                          <a:effectLst/>
                          <a:latin typeface="Times New Roman" panose="02020603050405020304" pitchFamily="18" charset="0"/>
                          <a:cs typeface="Times New Roman" panose="02020603050405020304" pitchFamily="18" charset="0"/>
                        </a:rPr>
                        <a:t>Performance</a:t>
                      </a:r>
                      <a:endParaRPr lang="en-US" sz="1400" b="0" dirty="0">
                        <a:effectLst/>
                        <a:latin typeface="Times New Roman" panose="02020603050405020304" pitchFamily="18" charset="0"/>
                        <a:cs typeface="Times New Roman" panose="02020603050405020304" pitchFamily="18" charset="0"/>
                      </a:endParaRP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r>
                        <a:rPr lang="en-US" sz="1400" kern="1200" dirty="0" smtClean="0">
                          <a:solidFill>
                            <a:schemeClr val="dk1"/>
                          </a:solidFill>
                          <a:effectLst/>
                          <a:latin typeface="Times New Roman" panose="02020603050405020304" pitchFamily="18" charset="0"/>
                          <a:ea typeface="+mn-ea"/>
                          <a:cs typeface="Times New Roman" panose="02020603050405020304" pitchFamily="18" charset="0"/>
                        </a:rPr>
                        <a:t>High</a:t>
                      </a:r>
                      <a:endParaRPr lang="en-US" sz="1400" kern="1200" dirty="0">
                        <a:solidFill>
                          <a:schemeClr val="dk1"/>
                        </a:solidFill>
                        <a:effectLst/>
                        <a:latin typeface="Times New Roman" panose="02020603050405020304" pitchFamily="18" charset="0"/>
                        <a:ea typeface="+mn-ea"/>
                        <a:cs typeface="Times New Roman" panose="02020603050405020304" pitchFamily="18" charset="0"/>
                      </a:endParaRP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r>
                        <a:rPr lang="en-US" sz="1400" b="0" dirty="0" smtClean="0">
                          <a:solidFill>
                            <a:srgbClr val="C00000"/>
                          </a:solidFill>
                          <a:effectLst/>
                          <a:latin typeface="Times New Roman" panose="02020603050405020304" pitchFamily="18" charset="0"/>
                          <a:cs typeface="Times New Roman" panose="02020603050405020304" pitchFamily="18" charset="0"/>
                        </a:rPr>
                        <a:t>Low</a:t>
                      </a:r>
                    </a:p>
                    <a:p>
                      <a:pPr algn="ctr"/>
                      <a:r>
                        <a:rPr lang="en-US" sz="1200" b="0" dirty="0" smtClean="0">
                          <a:solidFill>
                            <a:srgbClr val="C00000"/>
                          </a:solidFill>
                          <a:effectLst/>
                          <a:latin typeface="Times New Roman" panose="02020603050405020304" pitchFamily="18" charset="0"/>
                          <a:cs typeface="Times New Roman" panose="02020603050405020304" pitchFamily="18" charset="0"/>
                        </a:rPr>
                        <a:t>(~800ms)</a:t>
                      </a:r>
                      <a:endParaRPr lang="en-US" sz="1200" b="0" dirty="0">
                        <a:solidFill>
                          <a:srgbClr val="C00000"/>
                        </a:solidFill>
                        <a:effectLst/>
                        <a:latin typeface="Times New Roman" panose="02020603050405020304" pitchFamily="18" charset="0"/>
                        <a:cs typeface="Times New Roman" panose="02020603050405020304" pitchFamily="18" charset="0"/>
                      </a:endParaRP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400" b="0" dirty="0" smtClean="0">
                          <a:solidFill>
                            <a:srgbClr val="339933"/>
                          </a:solidFill>
                          <a:effectLst/>
                          <a:latin typeface="Times New Roman" panose="02020603050405020304" pitchFamily="18" charset="0"/>
                          <a:cs typeface="Times New Roman" panose="02020603050405020304" pitchFamily="18" charset="0"/>
                        </a:rPr>
                        <a:t>High</a:t>
                      </a:r>
                    </a:p>
                    <a:p>
                      <a:pPr algn="ctr"/>
                      <a:r>
                        <a:rPr lang="en-US" sz="1200" b="0" dirty="0" smtClean="0">
                          <a:solidFill>
                            <a:srgbClr val="339933"/>
                          </a:solidFill>
                          <a:effectLst/>
                          <a:latin typeface="Times New Roman" panose="02020603050405020304" pitchFamily="18" charset="0"/>
                          <a:cs typeface="Times New Roman" panose="02020603050405020304" pitchFamily="18" charset="0"/>
                        </a:rPr>
                        <a:t>(&lt;10ms)</a:t>
                      </a:r>
                      <a:endParaRPr lang="en-US" sz="1200" b="0" dirty="0">
                        <a:solidFill>
                          <a:srgbClr val="339933"/>
                        </a:solidFill>
                        <a:effectLst/>
                        <a:latin typeface="Times New Roman" panose="02020603050405020304" pitchFamily="18" charset="0"/>
                        <a:cs typeface="Times New Roman" panose="02020603050405020304" pitchFamily="18" charset="0"/>
                      </a:endParaRP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914400" rtl="0" eaLnBrk="1" latinLnBrk="0" hangingPunct="1"/>
                      <a:r>
                        <a:rPr lang="en-US" sz="1400" b="0" kern="1200" dirty="0" smtClean="0">
                          <a:solidFill>
                            <a:srgbClr val="339933"/>
                          </a:solidFill>
                          <a:effectLst/>
                          <a:latin typeface="Times New Roman" panose="02020603050405020304" pitchFamily="18" charset="0"/>
                          <a:ea typeface="+mn-ea"/>
                          <a:cs typeface="Times New Roman" panose="02020603050405020304" pitchFamily="18" charset="0"/>
                        </a:rPr>
                        <a:t>High</a:t>
                      </a:r>
                    </a:p>
                    <a:p>
                      <a:pPr marL="0" algn="ctr" defTabSz="914400" rtl="0" eaLnBrk="1" latinLnBrk="0" hangingPunct="1"/>
                      <a:r>
                        <a:rPr lang="en-US" sz="1200" b="0" kern="1200" dirty="0" smtClean="0">
                          <a:solidFill>
                            <a:srgbClr val="339933"/>
                          </a:solidFill>
                          <a:effectLst/>
                          <a:latin typeface="Times New Roman" panose="02020603050405020304" pitchFamily="18" charset="0"/>
                          <a:ea typeface="+mn-ea"/>
                          <a:cs typeface="Times New Roman" panose="02020603050405020304" pitchFamily="18" charset="0"/>
                        </a:rPr>
                        <a:t>(~20ms)</a:t>
                      </a:r>
                      <a:endParaRPr lang="en-US" sz="1200" b="0" kern="1200" dirty="0">
                        <a:solidFill>
                          <a:srgbClr val="339933"/>
                        </a:solidFill>
                        <a:effectLst/>
                        <a:latin typeface="Times New Roman" panose="02020603050405020304" pitchFamily="18" charset="0"/>
                        <a:ea typeface="+mn-ea"/>
                        <a:cs typeface="Times New Roman" panose="02020603050405020304" pitchFamily="18" charset="0"/>
                      </a:endParaRP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400" b="0" kern="1200" dirty="0" smtClean="0">
                          <a:solidFill>
                            <a:srgbClr val="339933"/>
                          </a:solidFill>
                          <a:effectLst/>
                          <a:latin typeface="Times New Roman" panose="02020603050405020304" pitchFamily="18" charset="0"/>
                          <a:ea typeface="+mn-ea"/>
                          <a:cs typeface="Times New Roman" panose="02020603050405020304" pitchFamily="18" charset="0"/>
                        </a:rPr>
                        <a:t>High</a:t>
                      </a:r>
                    </a:p>
                    <a:p>
                      <a:pPr marL="0" marR="0" indent="0" algn="ctr" defTabSz="914400" rtl="0" eaLnBrk="1" fontAlgn="auto" latinLnBrk="0" hangingPunct="1">
                        <a:lnSpc>
                          <a:spcPct val="100000"/>
                        </a:lnSpc>
                        <a:spcBef>
                          <a:spcPts val="0"/>
                        </a:spcBef>
                        <a:spcAft>
                          <a:spcPts val="0"/>
                        </a:spcAft>
                        <a:buClrTx/>
                        <a:buSzTx/>
                        <a:buFontTx/>
                        <a:buNone/>
                        <a:tabLst/>
                        <a:defRPr/>
                      </a:pPr>
                      <a:r>
                        <a:rPr lang="en-US" sz="1200" b="0" kern="1200" dirty="0" smtClean="0">
                          <a:solidFill>
                            <a:srgbClr val="339933"/>
                          </a:solidFill>
                          <a:effectLst/>
                          <a:latin typeface="Times New Roman" panose="02020603050405020304" pitchFamily="18" charset="0"/>
                          <a:ea typeface="+mn-ea"/>
                          <a:cs typeface="Times New Roman" panose="02020603050405020304" pitchFamily="18" charset="0"/>
                        </a:rPr>
                        <a:t>(~20ms)</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r>
              <a:tr h="0">
                <a:tc>
                  <a:txBody>
                    <a:bodyPr/>
                    <a:lstStyle/>
                    <a:p>
                      <a:r>
                        <a:rPr lang="en-US" sz="1400" b="0" dirty="0" smtClean="0">
                          <a:effectLst/>
                          <a:latin typeface="Times New Roman" panose="02020603050405020304" pitchFamily="18" charset="0"/>
                          <a:cs typeface="Times New Roman" panose="02020603050405020304" pitchFamily="18" charset="0"/>
                        </a:rPr>
                        <a:t>Reliability</a:t>
                      </a:r>
                      <a:endParaRPr lang="en-US" sz="1400" b="0" dirty="0">
                        <a:effectLst/>
                        <a:latin typeface="Times New Roman" panose="02020603050405020304" pitchFamily="18" charset="0"/>
                        <a:cs typeface="Times New Roman" panose="02020603050405020304" pitchFamily="18" charset="0"/>
                      </a:endParaRP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r>
                        <a:rPr lang="en-US" sz="1400" kern="1200" dirty="0" smtClean="0">
                          <a:solidFill>
                            <a:schemeClr val="dk1"/>
                          </a:solidFill>
                          <a:effectLst/>
                          <a:latin typeface="Times New Roman" panose="02020603050405020304" pitchFamily="18" charset="0"/>
                          <a:ea typeface="+mn-ea"/>
                          <a:cs typeface="Times New Roman" panose="02020603050405020304" pitchFamily="18" charset="0"/>
                        </a:rPr>
                        <a:t>High</a:t>
                      </a:r>
                      <a:endParaRPr lang="en-US" sz="1400" kern="1200" dirty="0">
                        <a:solidFill>
                          <a:schemeClr val="dk1"/>
                        </a:solidFill>
                        <a:effectLst/>
                        <a:latin typeface="Times New Roman" panose="02020603050405020304" pitchFamily="18" charset="0"/>
                        <a:ea typeface="+mn-ea"/>
                        <a:cs typeface="Times New Roman" panose="02020603050405020304" pitchFamily="18" charset="0"/>
                      </a:endParaRP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r>
                        <a:rPr lang="en-US" sz="1400" b="0" dirty="0" smtClean="0">
                          <a:solidFill>
                            <a:srgbClr val="339933"/>
                          </a:solidFill>
                          <a:effectLst/>
                          <a:latin typeface="Times New Roman" panose="02020603050405020304" pitchFamily="18" charset="0"/>
                          <a:cs typeface="Times New Roman" panose="02020603050405020304" pitchFamily="18" charset="0"/>
                        </a:rPr>
                        <a:t>High </a:t>
                      </a:r>
                      <a:endParaRPr lang="en-US" sz="1200" b="0" dirty="0">
                        <a:solidFill>
                          <a:srgbClr val="C00000"/>
                        </a:solidFill>
                        <a:effectLst/>
                        <a:latin typeface="Times New Roman" panose="02020603050405020304" pitchFamily="18" charset="0"/>
                        <a:cs typeface="Times New Roman" panose="02020603050405020304" pitchFamily="18" charset="0"/>
                      </a:endParaRP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400" b="0" kern="1200" dirty="0" smtClean="0">
                          <a:solidFill>
                            <a:srgbClr val="339933"/>
                          </a:solidFill>
                          <a:effectLst/>
                          <a:latin typeface="Times New Roman" panose="02020603050405020304" pitchFamily="18" charset="0"/>
                          <a:ea typeface="+mn-ea"/>
                          <a:cs typeface="Times New Roman" panose="02020603050405020304" pitchFamily="18" charset="0"/>
                        </a:rPr>
                        <a:t>High</a:t>
                      </a:r>
                      <a:endParaRPr lang="en-US" sz="1400" b="0" kern="1200" dirty="0">
                        <a:solidFill>
                          <a:srgbClr val="339933"/>
                        </a:solidFill>
                        <a:effectLst/>
                        <a:latin typeface="Times New Roman" panose="02020603050405020304" pitchFamily="18" charset="0"/>
                        <a:ea typeface="+mn-ea"/>
                        <a:cs typeface="Times New Roman" panose="02020603050405020304" pitchFamily="18" charset="0"/>
                      </a:endParaRP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400" b="0" dirty="0" smtClean="0">
                          <a:solidFill>
                            <a:srgbClr val="C00000"/>
                          </a:solidFill>
                          <a:effectLst/>
                          <a:latin typeface="Times New Roman" panose="02020603050405020304" pitchFamily="18" charset="0"/>
                          <a:cs typeface="Times New Roman" panose="02020603050405020304" pitchFamily="18" charset="0"/>
                        </a:rPr>
                        <a:t>Low</a:t>
                      </a:r>
                      <a:r>
                        <a:rPr lang="en-US" sz="1400" b="1" dirty="0" smtClean="0">
                          <a:solidFill>
                            <a:srgbClr val="C00000"/>
                          </a:solidFill>
                          <a:effectLst/>
                          <a:latin typeface="Times New Roman" panose="02020603050405020304" pitchFamily="18" charset="0"/>
                          <a:cs typeface="Times New Roman" panose="02020603050405020304" pitchFamily="18" charset="0"/>
                        </a:rPr>
                        <a:t> </a:t>
                      </a:r>
                      <a:br>
                        <a:rPr lang="en-US" sz="1400" b="1" dirty="0" smtClean="0">
                          <a:solidFill>
                            <a:srgbClr val="C00000"/>
                          </a:solidFill>
                          <a:effectLst/>
                          <a:latin typeface="Times New Roman" panose="02020603050405020304" pitchFamily="18" charset="0"/>
                          <a:cs typeface="Times New Roman" panose="02020603050405020304" pitchFamily="18" charset="0"/>
                        </a:rPr>
                      </a:br>
                      <a:r>
                        <a:rPr lang="en-US" sz="1100" b="0" dirty="0" smtClean="0">
                          <a:solidFill>
                            <a:srgbClr val="C00000"/>
                          </a:solidFill>
                          <a:effectLst/>
                          <a:latin typeface="Times New Roman" panose="02020603050405020304" pitchFamily="18" charset="0"/>
                          <a:cs typeface="Times New Roman" panose="02020603050405020304" pitchFamily="18" charset="0"/>
                        </a:rPr>
                        <a:t>(Delay/fail risk</a:t>
                      </a:r>
                      <a:r>
                        <a:rPr lang="en-US" sz="1100" b="0" dirty="0">
                          <a:solidFill>
                            <a:srgbClr val="C00000"/>
                          </a:solidFill>
                          <a:effectLst/>
                          <a:latin typeface="Times New Roman" panose="02020603050405020304" pitchFamily="18" charset="0"/>
                          <a:cs typeface="Times New Roman" panose="02020603050405020304" pitchFamily="18" charset="0"/>
                        </a:rPr>
                        <a:t>)</a:t>
                      </a:r>
                      <a:endParaRPr lang="en-US" sz="1200" b="0" dirty="0">
                        <a:solidFill>
                          <a:srgbClr val="C00000"/>
                        </a:solidFill>
                        <a:effectLst/>
                        <a:latin typeface="Times New Roman" panose="02020603050405020304" pitchFamily="18" charset="0"/>
                        <a:cs typeface="Times New Roman" panose="02020603050405020304" pitchFamily="18" charset="0"/>
                      </a:endParaRP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400" b="0" dirty="0" smtClean="0">
                          <a:solidFill>
                            <a:srgbClr val="339933"/>
                          </a:solidFill>
                          <a:effectLst/>
                          <a:latin typeface="Times New Roman" panose="02020603050405020304" pitchFamily="18" charset="0"/>
                          <a:cs typeface="Times New Roman" panose="02020603050405020304" pitchFamily="18" charset="0"/>
                        </a:rPr>
                        <a:t>High </a:t>
                      </a:r>
                      <a:r>
                        <a:rPr lang="en-US" sz="1200" b="0" dirty="0" smtClean="0">
                          <a:solidFill>
                            <a:srgbClr val="339933"/>
                          </a:solidFill>
                          <a:effectLst/>
                          <a:latin typeface="Times New Roman" panose="02020603050405020304" pitchFamily="18" charset="0"/>
                          <a:cs typeface="Times New Roman" panose="02020603050405020304" pitchFamily="18" charset="0"/>
                        </a:rPr>
                        <a:t/>
                      </a:r>
                      <a:br>
                        <a:rPr lang="en-US" sz="1200" b="0" dirty="0" smtClean="0">
                          <a:solidFill>
                            <a:srgbClr val="339933"/>
                          </a:solidFill>
                          <a:effectLst/>
                          <a:latin typeface="Times New Roman" panose="02020603050405020304" pitchFamily="18" charset="0"/>
                          <a:cs typeface="Times New Roman" panose="02020603050405020304" pitchFamily="18" charset="0"/>
                        </a:rPr>
                      </a:br>
                      <a:r>
                        <a:rPr lang="en-US" sz="1200" b="0" dirty="0" smtClean="0">
                          <a:solidFill>
                            <a:srgbClr val="339933"/>
                          </a:solidFill>
                          <a:effectLst/>
                          <a:latin typeface="Times New Roman" panose="02020603050405020304" pitchFamily="18" charset="0"/>
                          <a:cs typeface="Times New Roman" panose="02020603050405020304" pitchFamily="18" charset="0"/>
                        </a:rPr>
                        <a:t>(Auto-scale when</a:t>
                      </a:r>
                      <a:r>
                        <a:rPr lang="en-US" sz="1200" b="0" baseline="0" dirty="0" smtClean="0">
                          <a:solidFill>
                            <a:srgbClr val="339933"/>
                          </a:solidFill>
                          <a:effectLst/>
                          <a:latin typeface="Times New Roman" panose="02020603050405020304" pitchFamily="18" charset="0"/>
                          <a:cs typeface="Times New Roman" panose="02020603050405020304" pitchFamily="18" charset="0"/>
                        </a:rPr>
                        <a:t> delay</a:t>
                      </a:r>
                      <a:r>
                        <a:rPr lang="en-US" sz="1200" b="0" dirty="0" smtClean="0">
                          <a:solidFill>
                            <a:srgbClr val="339933"/>
                          </a:solidFill>
                          <a:effectLst/>
                          <a:latin typeface="Times New Roman" panose="02020603050405020304" pitchFamily="18" charset="0"/>
                          <a:cs typeface="Times New Roman" panose="02020603050405020304" pitchFamily="18" charset="0"/>
                        </a:rPr>
                        <a:t>)</a:t>
                      </a:r>
                      <a:endParaRPr lang="en-US" sz="1800" b="0" dirty="0">
                        <a:solidFill>
                          <a:srgbClr val="339933"/>
                        </a:solidFill>
                        <a:effectLst/>
                        <a:latin typeface="Times New Roman" panose="02020603050405020304" pitchFamily="18" charset="0"/>
                        <a:cs typeface="Times New Roman" panose="02020603050405020304" pitchFamily="18" charset="0"/>
                      </a:endParaRP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r>
              <a:tr h="825453">
                <a:tc>
                  <a:txBody>
                    <a:bodyPr/>
                    <a:lstStyle/>
                    <a:p>
                      <a:r>
                        <a:rPr lang="en-US" sz="1400" b="0" dirty="0" smtClean="0">
                          <a:effectLst/>
                          <a:latin typeface="Times New Roman" panose="02020603050405020304" pitchFamily="18" charset="0"/>
                          <a:cs typeface="Times New Roman" panose="02020603050405020304" pitchFamily="18" charset="0"/>
                        </a:rPr>
                        <a:t>Resource Efficiency </a:t>
                      </a:r>
                      <a:endParaRPr lang="en-US" sz="1400" b="0" dirty="0">
                        <a:effectLst/>
                        <a:latin typeface="Times New Roman" panose="02020603050405020304" pitchFamily="18" charset="0"/>
                        <a:cs typeface="Times New Roman" panose="02020603050405020304" pitchFamily="18" charset="0"/>
                      </a:endParaRP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kern="1200" dirty="0" smtClean="0">
                          <a:solidFill>
                            <a:schemeClr val="dk1"/>
                          </a:solidFill>
                          <a:effectLst/>
                          <a:latin typeface="Times New Roman" panose="02020603050405020304" pitchFamily="18" charset="0"/>
                          <a:ea typeface="+mn-ea"/>
                          <a:cs typeface="Times New Roman" panose="02020603050405020304" pitchFamily="18" charset="0"/>
                        </a:rPr>
                        <a:t>Medium</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effectLst/>
                          <a:latin typeface="Times New Roman" panose="02020603050405020304" pitchFamily="18" charset="0"/>
                          <a:cs typeface="Times New Roman" panose="02020603050405020304" pitchFamily="18" charset="0"/>
                        </a:rPr>
                        <a:t>Medium </a:t>
                      </a:r>
                      <a:endParaRPr lang="en-US" sz="1400" b="0" dirty="0" smtClean="0">
                        <a:solidFill>
                          <a:srgbClr val="339933"/>
                        </a:solidFill>
                        <a:effectLst/>
                        <a:latin typeface="Times New Roman" panose="02020603050405020304" pitchFamily="18" charset="0"/>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0" kern="1200" dirty="0" smtClean="0">
                          <a:solidFill>
                            <a:srgbClr val="339933"/>
                          </a:solidFill>
                          <a:effectLst/>
                          <a:latin typeface="Times New Roman" panose="02020603050405020304" pitchFamily="18" charset="0"/>
                          <a:ea typeface="+mn-ea"/>
                          <a:cs typeface="Times New Roman" panose="02020603050405020304" pitchFamily="18" charset="0"/>
                        </a:rPr>
                        <a:t>Clear threads when idle</a:t>
                      </a:r>
                    </a:p>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kern="1200" dirty="0" smtClean="0">
                          <a:solidFill>
                            <a:srgbClr val="C00000"/>
                          </a:solidFill>
                          <a:effectLst/>
                          <a:latin typeface="Times New Roman" panose="02020603050405020304" pitchFamily="18" charset="0"/>
                          <a:ea typeface="+mn-ea"/>
                          <a:cs typeface="Times New Roman" panose="02020603050405020304" pitchFamily="18" charset="0"/>
                        </a:rPr>
                        <a:t>High CPU when notify</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400" b="0" dirty="0" smtClean="0">
                          <a:solidFill>
                            <a:srgbClr val="C00000"/>
                          </a:solidFill>
                          <a:effectLst/>
                          <a:latin typeface="Times New Roman" panose="02020603050405020304" pitchFamily="18" charset="0"/>
                          <a:cs typeface="Times New Roman" panose="02020603050405020304" pitchFamily="18" charset="0"/>
                        </a:rPr>
                        <a:t>Low</a:t>
                      </a:r>
                    </a:p>
                    <a:p>
                      <a:pPr marL="0" marR="0" indent="0" algn="ctr" defTabSz="914400" rtl="0" eaLnBrk="1" fontAlgn="auto" latinLnBrk="0" hangingPunct="1">
                        <a:lnSpc>
                          <a:spcPct val="100000"/>
                        </a:lnSpc>
                        <a:spcBef>
                          <a:spcPts val="0"/>
                        </a:spcBef>
                        <a:spcAft>
                          <a:spcPts val="0"/>
                        </a:spcAft>
                        <a:buClrTx/>
                        <a:buSzTx/>
                        <a:buFontTx/>
                        <a:buNone/>
                        <a:tabLst/>
                        <a:defRPr/>
                      </a:pPr>
                      <a:r>
                        <a:rPr lang="en-US" sz="1200" dirty="0" smtClean="0">
                          <a:solidFill>
                            <a:srgbClr val="C00000"/>
                          </a:solidFill>
                          <a:effectLst/>
                          <a:latin typeface="Times New Roman" panose="02020603050405020304" pitchFamily="18" charset="0"/>
                          <a:cs typeface="Times New Roman" panose="02020603050405020304" pitchFamily="18" charset="0"/>
                        </a:rPr>
                        <a:t>Keep lots of threads when</a:t>
                      </a:r>
                      <a:r>
                        <a:rPr lang="en-US" sz="1200" baseline="0" dirty="0" smtClean="0">
                          <a:solidFill>
                            <a:srgbClr val="C00000"/>
                          </a:solidFill>
                          <a:effectLst/>
                          <a:latin typeface="Times New Roman" panose="02020603050405020304" pitchFamily="18" charset="0"/>
                          <a:cs typeface="Times New Roman" panose="02020603050405020304" pitchFamily="18" charset="0"/>
                        </a:rPr>
                        <a:t> </a:t>
                      </a:r>
                      <a:r>
                        <a:rPr lang="en-US" sz="1200" dirty="0" smtClean="0">
                          <a:solidFill>
                            <a:srgbClr val="C00000"/>
                          </a:solidFill>
                          <a:effectLst/>
                          <a:latin typeface="Times New Roman" panose="02020603050405020304" pitchFamily="18" charset="0"/>
                          <a:cs typeface="Times New Roman" panose="02020603050405020304" pitchFamily="18" charset="0"/>
                        </a:rPr>
                        <a:t>idle</a:t>
                      </a:r>
                    </a:p>
                    <a:p>
                      <a:pPr marL="0" marR="0" indent="0" algn="ctr" defTabSz="914400" rtl="0" eaLnBrk="1" fontAlgn="auto" latinLnBrk="0" hangingPunct="1">
                        <a:lnSpc>
                          <a:spcPct val="100000"/>
                        </a:lnSpc>
                        <a:spcBef>
                          <a:spcPts val="0"/>
                        </a:spcBef>
                        <a:spcAft>
                          <a:spcPts val="0"/>
                        </a:spcAft>
                        <a:buClrTx/>
                        <a:buSzTx/>
                        <a:buFontTx/>
                        <a:buNone/>
                        <a:tabLst/>
                        <a:defRPr/>
                      </a:pPr>
                      <a:r>
                        <a:rPr lang="en-US" sz="1200" dirty="0" smtClean="0">
                          <a:solidFill>
                            <a:srgbClr val="C00000"/>
                          </a:solidFill>
                          <a:effectLst/>
                          <a:latin typeface="Times New Roman" panose="02020603050405020304" pitchFamily="18" charset="0"/>
                          <a:cs typeface="Times New Roman" panose="02020603050405020304" pitchFamily="18" charset="0"/>
                        </a:rPr>
                        <a:t>High CPU when notify</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400" dirty="0" smtClean="0">
                          <a:effectLst/>
                          <a:latin typeface="Times New Roman" panose="02020603050405020304" pitchFamily="18" charset="0"/>
                          <a:cs typeface="Times New Roman" panose="02020603050405020304" pitchFamily="18" charset="0"/>
                        </a:rPr>
                        <a:t>Medium</a:t>
                      </a:r>
                      <a:endParaRPr lang="en-US" sz="1400" dirty="0">
                        <a:effectLst/>
                        <a:latin typeface="Times New Roman" panose="02020603050405020304" pitchFamily="18" charset="0"/>
                        <a:cs typeface="Times New Roman" panose="02020603050405020304" pitchFamily="18" charset="0"/>
                      </a:endParaRP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400" dirty="0" smtClean="0">
                          <a:effectLst/>
                          <a:latin typeface="Times New Roman" panose="02020603050405020304" pitchFamily="18" charset="0"/>
                          <a:cs typeface="Times New Roman" panose="02020603050405020304" pitchFamily="18" charset="0"/>
                        </a:rPr>
                        <a:t>Medium </a:t>
                      </a:r>
                      <a:endParaRPr lang="en-US" sz="1400" b="0" dirty="0">
                        <a:effectLst/>
                        <a:latin typeface="Times New Roman" panose="02020603050405020304" pitchFamily="18" charset="0"/>
                        <a:cs typeface="Times New Roman" panose="02020603050405020304" pitchFamily="18" charset="0"/>
                      </a:endParaRP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r>
              <a:tr h="376139">
                <a:tc>
                  <a:txBody>
                    <a:bodyPr/>
                    <a:lstStyle/>
                    <a:p>
                      <a:r>
                        <a:rPr lang="en-US" sz="1400" b="0" dirty="0" smtClean="0">
                          <a:effectLst/>
                          <a:latin typeface="Times New Roman" panose="02020603050405020304" pitchFamily="18" charset="0"/>
                          <a:cs typeface="Times New Roman" panose="02020603050405020304" pitchFamily="18" charset="0"/>
                        </a:rPr>
                        <a:t>Simplicity</a:t>
                      </a:r>
                      <a:endParaRPr lang="en-US" sz="1400" b="0" dirty="0">
                        <a:effectLst/>
                        <a:latin typeface="Times New Roman" panose="02020603050405020304" pitchFamily="18" charset="0"/>
                        <a:cs typeface="Times New Roman" panose="02020603050405020304" pitchFamily="18" charset="0"/>
                      </a:endParaRP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kern="1200" dirty="0" smtClean="0">
                          <a:solidFill>
                            <a:schemeClr val="dk1"/>
                          </a:solidFill>
                          <a:effectLst/>
                          <a:latin typeface="Times New Roman" panose="02020603050405020304" pitchFamily="18" charset="0"/>
                          <a:ea typeface="+mn-ea"/>
                          <a:cs typeface="Times New Roman" panose="02020603050405020304" pitchFamily="18" charset="0"/>
                        </a:rPr>
                        <a:t>Low</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b="0" kern="1200" dirty="0" smtClean="0">
                          <a:solidFill>
                            <a:srgbClr val="339933"/>
                          </a:solidFill>
                          <a:effectLst/>
                          <a:latin typeface="Times New Roman" panose="02020603050405020304" pitchFamily="18" charset="0"/>
                          <a:ea typeface="+mn-ea"/>
                          <a:cs typeface="Times New Roman" panose="02020603050405020304" pitchFamily="18" charset="0"/>
                        </a:rPr>
                        <a:t>High</a:t>
                      </a:r>
                      <a:r>
                        <a:rPr lang="en-US" sz="1200" b="0" dirty="0" smtClean="0">
                          <a:solidFill>
                            <a:srgbClr val="339933"/>
                          </a:solidFill>
                          <a:effectLst/>
                          <a:latin typeface="Times New Roman" panose="02020603050405020304" pitchFamily="18" charset="0"/>
                          <a:cs typeface="Times New Roman" panose="02020603050405020304" pitchFamily="18" charset="0"/>
                        </a:rPr>
                        <a:t> </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400" b="0" kern="1200" dirty="0" smtClean="0">
                          <a:solidFill>
                            <a:srgbClr val="339933"/>
                          </a:solidFill>
                          <a:effectLst/>
                          <a:latin typeface="Times New Roman" panose="02020603050405020304" pitchFamily="18" charset="0"/>
                          <a:ea typeface="+mn-ea"/>
                          <a:cs typeface="Times New Roman" panose="02020603050405020304" pitchFamily="18" charset="0"/>
                        </a:rPr>
                        <a:t>High</a:t>
                      </a:r>
                      <a:endParaRPr lang="en-US" sz="1400" b="1" dirty="0">
                        <a:solidFill>
                          <a:srgbClr val="FF0000"/>
                        </a:solidFill>
                        <a:effectLst/>
                        <a:latin typeface="Times New Roman" panose="02020603050405020304" pitchFamily="18" charset="0"/>
                        <a:cs typeface="Times New Roman" panose="02020603050405020304" pitchFamily="18" charset="0"/>
                      </a:endParaRP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400" dirty="0" smtClean="0">
                          <a:effectLst/>
                          <a:latin typeface="Times New Roman" panose="02020603050405020304" pitchFamily="18" charset="0"/>
                          <a:cs typeface="Times New Roman" panose="02020603050405020304" pitchFamily="18" charset="0"/>
                        </a:rPr>
                        <a:t>Medium </a:t>
                      </a:r>
                      <a:endParaRPr lang="en-US" sz="1400" dirty="0">
                        <a:effectLst/>
                        <a:latin typeface="Times New Roman" panose="02020603050405020304" pitchFamily="18" charset="0"/>
                        <a:cs typeface="Times New Roman" panose="02020603050405020304" pitchFamily="18" charset="0"/>
                      </a:endParaRP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400" b="0" dirty="0" smtClean="0">
                          <a:solidFill>
                            <a:srgbClr val="C00000"/>
                          </a:solidFill>
                          <a:effectLst/>
                          <a:latin typeface="Times New Roman" panose="02020603050405020304" pitchFamily="18" charset="0"/>
                          <a:cs typeface="Times New Roman" panose="02020603050405020304" pitchFamily="18" charset="0"/>
                        </a:rPr>
                        <a:t>Low</a:t>
                      </a:r>
                      <a:endParaRPr lang="en-US" sz="1400" b="0" dirty="0">
                        <a:solidFill>
                          <a:srgbClr val="C00000"/>
                        </a:solidFill>
                        <a:effectLst/>
                        <a:latin typeface="Times New Roman" panose="02020603050405020304" pitchFamily="18" charset="0"/>
                        <a:cs typeface="Times New Roman" panose="02020603050405020304" pitchFamily="18" charset="0"/>
                      </a:endParaRP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r>
            </a:tbl>
          </a:graphicData>
        </a:graphic>
      </p:graphicFrame>
      <p:sp>
        <p:nvSpPr>
          <p:cNvPr id="13" name="Rectangle 12"/>
          <p:cNvSpPr/>
          <p:nvPr/>
        </p:nvSpPr>
        <p:spPr>
          <a:xfrm>
            <a:off x="527525" y="3846094"/>
            <a:ext cx="10949354" cy="2477601"/>
          </a:xfrm>
          <a:prstGeom prst="rect">
            <a:avLst/>
          </a:prstGeom>
        </p:spPr>
        <p:txBody>
          <a:bodyPr wrap="square">
            <a:spAutoFit/>
          </a:bodyPr>
          <a:lstStyle/>
          <a:p>
            <a:pPr>
              <a:lnSpc>
                <a:spcPct val="150000"/>
              </a:lnSpc>
            </a:pPr>
            <a:r>
              <a:rPr lang="en-US" dirty="0" smtClean="0">
                <a:latin typeface="Times New Roman" panose="02020603050405020304" pitchFamily="18" charset="0"/>
                <a:cs typeface="Times New Roman" panose="02020603050405020304" pitchFamily="18" charset="0"/>
              </a:rPr>
              <a:t>Key </a:t>
            </a:r>
            <a:r>
              <a:rPr lang="en-US" dirty="0">
                <a:latin typeface="Times New Roman" panose="02020603050405020304" pitchFamily="18" charset="0"/>
                <a:cs typeface="Times New Roman" panose="02020603050405020304" pitchFamily="18" charset="0"/>
              </a:rPr>
              <a:t>Decision Factors</a:t>
            </a:r>
            <a:r>
              <a:rPr lang="en-US" dirty="0" smtClean="0">
                <a:latin typeface="Times New Roman" panose="02020603050405020304" pitchFamily="18" charset="0"/>
                <a:cs typeface="Times New Roman" panose="02020603050405020304" pitchFamily="18" charset="0"/>
              </a:rPr>
              <a:t>:</a:t>
            </a:r>
          </a:p>
          <a:p>
            <a:pPr marL="285750" indent="-285750">
              <a:buFont typeface="Arial" panose="020B0604020202020204" pitchFamily="34" charset="0"/>
              <a:buChar char="•"/>
            </a:pPr>
            <a:r>
              <a:rPr lang="en-US" b="1" dirty="0" smtClean="0">
                <a:latin typeface="Times New Roman" panose="02020603050405020304" pitchFamily="18" charset="0"/>
                <a:cs typeface="Times New Roman" panose="02020603050405020304" pitchFamily="18" charset="0"/>
              </a:rPr>
              <a:t>Performance vs. </a:t>
            </a:r>
            <a:r>
              <a:rPr lang="en-US" b="1" dirty="0">
                <a:latin typeface="Times New Roman" panose="02020603050405020304" pitchFamily="18" charset="0"/>
                <a:cs typeface="Times New Roman" panose="02020603050405020304" pitchFamily="18" charset="0"/>
              </a:rPr>
              <a:t>Resource</a:t>
            </a:r>
            <a:r>
              <a:rPr lang="en-US" dirty="0">
                <a:latin typeface="Times New Roman" panose="02020603050405020304" pitchFamily="18" charset="0"/>
                <a:cs typeface="Times New Roman" panose="02020603050405020304" pitchFamily="18" charset="0"/>
              </a:rPr>
              <a:t>: Dynamic Pool fast </a:t>
            </a:r>
            <a:r>
              <a:rPr lang="en-US" dirty="0" smtClean="0">
                <a:latin typeface="Times New Roman" panose="02020603050405020304" pitchFamily="18" charset="0"/>
                <a:cs typeface="Times New Roman" panose="02020603050405020304" pitchFamily="18" charset="0"/>
              </a:rPr>
              <a:t>enough (~20ms for 40 receives with 2 core threads), </a:t>
            </a:r>
            <a:r>
              <a:rPr lang="en-US" dirty="0">
                <a:latin typeface="Times New Roman" panose="02020603050405020304" pitchFamily="18" charset="0"/>
                <a:cs typeface="Times New Roman" panose="02020603050405020304" pitchFamily="18" charset="0"/>
              </a:rPr>
              <a:t>Thread Cache resource waste unacceptable for long-running </a:t>
            </a:r>
            <a:r>
              <a:rPr lang="en-US" dirty="0" smtClean="0">
                <a:latin typeface="Times New Roman" panose="02020603050405020304" pitchFamily="18" charset="0"/>
                <a:cs typeface="Times New Roman" panose="02020603050405020304" pitchFamily="18" charset="0"/>
              </a:rPr>
              <a:t>system.</a:t>
            </a:r>
            <a:endParaRPr lang="en-US"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b="1" dirty="0" smtClean="0">
                <a:latin typeface="Times New Roman" panose="02020603050405020304" pitchFamily="18" charset="0"/>
                <a:cs typeface="Times New Roman" panose="02020603050405020304" pitchFamily="18" charset="0"/>
              </a:rPr>
              <a:t>Simplicity</a:t>
            </a:r>
            <a:r>
              <a:rPr lang="en-US" dirty="0" smtClean="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Complex implementation acceptable due to Power Manager's mission-critical nature where </a:t>
            </a:r>
            <a:r>
              <a:rPr lang="en-US" b="1" dirty="0">
                <a:latin typeface="Times New Roman" panose="02020603050405020304" pitchFamily="18" charset="0"/>
                <a:cs typeface="Times New Roman" panose="02020603050405020304" pitchFamily="18" charset="0"/>
              </a:rPr>
              <a:t>reliability</a:t>
            </a:r>
            <a:r>
              <a:rPr lang="en-US" dirty="0">
                <a:latin typeface="Times New Roman" panose="02020603050405020304" pitchFamily="18" charset="0"/>
                <a:cs typeface="Times New Roman" panose="02020603050405020304" pitchFamily="18" charset="0"/>
              </a:rPr>
              <a:t> outweighs </a:t>
            </a:r>
            <a:r>
              <a:rPr lang="en-US" dirty="0" smtClean="0">
                <a:latin typeface="Times New Roman" panose="02020603050405020304" pitchFamily="18" charset="0"/>
                <a:cs typeface="Times New Roman" panose="02020603050405020304" pitchFamily="18" charset="0"/>
              </a:rPr>
              <a:t>simplicity.</a:t>
            </a:r>
          </a:p>
          <a:p>
            <a:pPr marL="285750" indent="-285750">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Balanced Trade-offs</a:t>
            </a:r>
            <a:r>
              <a:rPr lang="en-US" dirty="0">
                <a:latin typeface="Times New Roman" panose="02020603050405020304" pitchFamily="18" charset="0"/>
                <a:cs typeface="Times New Roman" panose="02020603050405020304" pitchFamily="18" charset="0"/>
              </a:rPr>
              <a:t>: Good performance + reliability + adaptive efficiency outweigh complexity concerns</a:t>
            </a:r>
            <a:r>
              <a:rPr lang="en-US" dirty="0" smtClean="0">
                <a:latin typeface="Times New Roman" panose="02020603050405020304" pitchFamily="18" charset="0"/>
                <a:cs typeface="Times New Roman" panose="02020603050405020304" pitchFamily="18" charset="0"/>
              </a:rPr>
              <a:t>.</a:t>
            </a:r>
          </a:p>
          <a:p>
            <a:pPr marL="285750" indent="-285750">
              <a:buFont typeface="Arial" panose="020B0604020202020204" pitchFamily="34" charset="0"/>
              <a:buChar char="•"/>
            </a:pPr>
            <a:endParaRPr lang="en-US" dirty="0" smtClean="0">
              <a:latin typeface="Times New Roman" panose="02020603050405020304" pitchFamily="18" charset="0"/>
              <a:cs typeface="Times New Roman" panose="02020603050405020304" pitchFamily="18" charset="0"/>
            </a:endParaRPr>
          </a:p>
          <a:p>
            <a:r>
              <a:rPr lang="en-US" sz="2000" dirty="0" smtClean="0">
                <a:latin typeface="Times New Roman" panose="02020603050405020304" pitchFamily="18" charset="0"/>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Selected </a:t>
            </a:r>
            <a:r>
              <a:rPr lang="en-US" sz="2000" dirty="0" smtClean="0">
                <a:latin typeface="Times New Roman" panose="02020603050405020304" pitchFamily="18" charset="0"/>
                <a:cs typeface="Times New Roman" panose="02020603050405020304" pitchFamily="18" charset="0"/>
              </a:rPr>
              <a:t>proposal 3: </a:t>
            </a:r>
            <a:r>
              <a:rPr lang="en-US" sz="2000" b="1" dirty="0">
                <a:latin typeface="Times New Roman" panose="02020603050405020304" pitchFamily="18" charset="0"/>
                <a:cs typeface="Times New Roman" panose="02020603050405020304" pitchFamily="18" charset="0"/>
              </a:rPr>
              <a:t>Dynamic Thread </a:t>
            </a:r>
            <a:r>
              <a:rPr lang="en-US" sz="2000" b="1" dirty="0" smtClean="0">
                <a:latin typeface="Times New Roman" panose="02020603050405020304" pitchFamily="18" charset="0"/>
                <a:cs typeface="Times New Roman" panose="02020603050405020304" pitchFamily="18" charset="0"/>
              </a:rPr>
              <a:t>Pool</a:t>
            </a:r>
            <a:endParaRPr lang="en-US" sz="2000" b="1" dirty="0">
              <a:latin typeface="Times New Roman" panose="02020603050405020304" pitchFamily="18" charset="0"/>
              <a:cs typeface="Times New Roman" panose="02020603050405020304" pitchFamily="18" charset="0"/>
            </a:endParaRPr>
          </a:p>
        </p:txBody>
      </p:sp>
      <p:sp>
        <p:nvSpPr>
          <p:cNvPr id="6" name="Rectangle 5"/>
          <p:cNvSpPr/>
          <p:nvPr/>
        </p:nvSpPr>
        <p:spPr>
          <a:xfrm>
            <a:off x="459789" y="146304"/>
            <a:ext cx="5449521" cy="461665"/>
          </a:xfrm>
          <a:prstGeom prst="rect">
            <a:avLst/>
          </a:prstGeom>
          <a:solidFill>
            <a:schemeClr val="bg1"/>
          </a:solidFill>
        </p:spPr>
        <p:txBody>
          <a:bodyPr wrap="square">
            <a:spAutoFit/>
          </a:bodyPr>
          <a:lstStyle/>
          <a:p>
            <a:r>
              <a:rPr lang="en-US" sz="2400" u="sng" dirty="0">
                <a:latin typeface="Times New Roman" panose="02020603050405020304" pitchFamily="18" charset="0"/>
                <a:cs typeface="Times New Roman" panose="02020603050405020304" pitchFamily="18" charset="0"/>
              </a:rPr>
              <a:t>3. Solution Proposals</a:t>
            </a:r>
          </a:p>
        </p:txBody>
      </p:sp>
      <p:sp>
        <p:nvSpPr>
          <p:cNvPr id="2" name="Rectangle 1"/>
          <p:cNvSpPr/>
          <p:nvPr/>
        </p:nvSpPr>
        <p:spPr>
          <a:xfrm>
            <a:off x="9447437" y="860818"/>
            <a:ext cx="2046210" cy="2760739"/>
          </a:xfrm>
          <a:prstGeom prst="rect">
            <a:avLst/>
          </a:prstGeom>
          <a:noFill/>
          <a:ln w="57150">
            <a:solidFill>
              <a:srgbClr val="3399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2"/>
          </p:nvPr>
        </p:nvSpPr>
        <p:spPr/>
        <p:txBody>
          <a:bodyPr/>
          <a:lstStyle/>
          <a:p>
            <a:fld id="{0059130C-D5A7-43F1-8BDF-D4DD1699FE09}" type="slidenum">
              <a:rPr lang="en-US" smtClean="0"/>
              <a:t>17</a:t>
            </a:fld>
            <a:endParaRPr lang="en-US"/>
          </a:p>
        </p:txBody>
      </p:sp>
    </p:spTree>
    <p:extLst>
      <p:ext uri="{BB962C8B-B14F-4D97-AF65-F5344CB8AC3E}">
        <p14:creationId xmlns:p14="http://schemas.microsoft.com/office/powerpoint/2010/main" val="13244338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xEl>
                                              <p:pRg st="5" end="5"/>
                                            </p:txEl>
                                          </p:spTgt>
                                        </p:tgtEl>
                                        <p:attrNameLst>
                                          <p:attrName>style.visibility</p:attrName>
                                        </p:attrNameLst>
                                      </p:cBhvr>
                                      <p:to>
                                        <p:strVal val="visible"/>
                                      </p:to>
                                    </p:set>
                                    <p:animEffect transition="in" filter="fade">
                                      <p:cBhvr>
                                        <p:cTn id="7" dur="500"/>
                                        <p:tgtEl>
                                          <p:spTgt spid="13">
                                            <p:txEl>
                                              <p:pRg st="5" end="5"/>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a:stretch>
            <a:fillRect/>
          </a:stretch>
        </p:blipFill>
        <p:spPr>
          <a:xfrm>
            <a:off x="692112" y="1025517"/>
            <a:ext cx="5073688" cy="5560488"/>
          </a:xfrm>
          <a:prstGeom prst="rect">
            <a:avLst/>
          </a:prstGeom>
          <a:ln>
            <a:noFill/>
          </a:ln>
          <a:effectLst>
            <a:outerShdw blurRad="190500" algn="tl" rotWithShape="0">
              <a:srgbClr val="000000">
                <a:alpha val="70000"/>
              </a:srgbClr>
            </a:outerShdw>
          </a:effectLst>
        </p:spPr>
      </p:pic>
      <p:sp>
        <p:nvSpPr>
          <p:cNvPr id="5" name="Rectangle 4"/>
          <p:cNvSpPr/>
          <p:nvPr/>
        </p:nvSpPr>
        <p:spPr>
          <a:xfrm>
            <a:off x="459789" y="146304"/>
            <a:ext cx="5449521" cy="461665"/>
          </a:xfrm>
          <a:prstGeom prst="rect">
            <a:avLst/>
          </a:prstGeom>
          <a:solidFill>
            <a:schemeClr val="bg1"/>
          </a:solidFill>
        </p:spPr>
        <p:txBody>
          <a:bodyPr wrap="square">
            <a:spAutoFit/>
          </a:bodyPr>
          <a:lstStyle/>
          <a:p>
            <a:r>
              <a:rPr lang="en-US" sz="2400" u="sng" dirty="0">
                <a:latin typeface="Times New Roman" panose="02020603050405020304" pitchFamily="18" charset="0"/>
                <a:cs typeface="Times New Roman" panose="02020603050405020304" pitchFamily="18" charset="0"/>
              </a:rPr>
              <a:t>4. Design Proposals for </a:t>
            </a:r>
            <a:r>
              <a:rPr lang="en-US" sz="2400" u="sng" dirty="0" smtClean="0">
                <a:latin typeface="Times New Roman" panose="02020603050405020304" pitchFamily="18" charset="0"/>
                <a:cs typeface="Times New Roman" panose="02020603050405020304" pitchFamily="18" charset="0"/>
              </a:rPr>
              <a:t>Selected Solution</a:t>
            </a:r>
            <a:endParaRPr lang="en-US" sz="2400" u="sng" dirty="0">
              <a:latin typeface="Times New Roman" panose="02020603050405020304" pitchFamily="18" charset="0"/>
              <a:cs typeface="Times New Roman" panose="02020603050405020304" pitchFamily="18" charset="0"/>
            </a:endParaRPr>
          </a:p>
        </p:txBody>
      </p:sp>
      <p:sp>
        <p:nvSpPr>
          <p:cNvPr id="2" name="Slide Number Placeholder 1"/>
          <p:cNvSpPr>
            <a:spLocks noGrp="1"/>
          </p:cNvSpPr>
          <p:nvPr>
            <p:ph type="sldNum" sz="quarter" idx="12"/>
          </p:nvPr>
        </p:nvSpPr>
        <p:spPr/>
        <p:txBody>
          <a:bodyPr/>
          <a:lstStyle/>
          <a:p>
            <a:fld id="{0059130C-D5A7-43F1-8BDF-D4DD1699FE09}" type="slidenum">
              <a:rPr lang="en-US" smtClean="0"/>
              <a:t>18</a:t>
            </a:fld>
            <a:endParaRPr lang="en-US"/>
          </a:p>
        </p:txBody>
      </p:sp>
      <p:sp>
        <p:nvSpPr>
          <p:cNvPr id="17" name="Rectangle 16"/>
          <p:cNvSpPr/>
          <p:nvPr/>
        </p:nvSpPr>
        <p:spPr>
          <a:xfrm>
            <a:off x="859692" y="919136"/>
            <a:ext cx="4737562" cy="307777"/>
          </a:xfrm>
          <a:prstGeom prst="rect">
            <a:avLst/>
          </a:prstGeom>
          <a:solidFill>
            <a:schemeClr val="bg1"/>
          </a:solidFill>
          <a:ln w="12700">
            <a:solidFill>
              <a:schemeClr val="tx1"/>
            </a:solidFill>
          </a:ln>
        </p:spPr>
        <p:txBody>
          <a:bodyPr wrap="square">
            <a:spAutoFit/>
          </a:bodyPr>
          <a:lstStyle/>
          <a:p>
            <a:r>
              <a:rPr lang="en-US" sz="1400" b="1" dirty="0" smtClean="0">
                <a:latin typeface="Times New Roman" panose="02020603050405020304" pitchFamily="18" charset="0"/>
                <a:cs typeface="Times New Roman" panose="02020603050405020304" pitchFamily="18" charset="0"/>
              </a:rPr>
              <a:t>Proposal 1: Direct Integration (Power-Specific Thread Pool)</a:t>
            </a:r>
            <a:endParaRPr lang="en-US" sz="1400" b="1" dirty="0">
              <a:latin typeface="Times New Roman" panose="02020603050405020304" pitchFamily="18" charset="0"/>
              <a:cs typeface="Times New Roman" panose="02020603050405020304" pitchFamily="18" charset="0"/>
            </a:endParaRPr>
          </a:p>
        </p:txBody>
      </p:sp>
      <p:grpSp>
        <p:nvGrpSpPr>
          <p:cNvPr id="25" name="Group 24"/>
          <p:cNvGrpSpPr/>
          <p:nvPr/>
        </p:nvGrpSpPr>
        <p:grpSpPr>
          <a:xfrm>
            <a:off x="6323761" y="919136"/>
            <a:ext cx="5308018" cy="5652306"/>
            <a:chOff x="6323761" y="919136"/>
            <a:chExt cx="5308018" cy="5652306"/>
          </a:xfrm>
        </p:grpSpPr>
        <p:pic>
          <p:nvPicPr>
            <p:cNvPr id="22" name="Picture 21"/>
            <p:cNvPicPr>
              <a:picLocks noChangeAspect="1"/>
            </p:cNvPicPr>
            <p:nvPr/>
          </p:nvPicPr>
          <p:blipFill>
            <a:blip r:embed="rId4"/>
            <a:stretch>
              <a:fillRect/>
            </a:stretch>
          </p:blipFill>
          <p:spPr>
            <a:xfrm>
              <a:off x="6323761" y="1011890"/>
              <a:ext cx="5308018" cy="5559552"/>
            </a:xfrm>
            <a:prstGeom prst="rect">
              <a:avLst/>
            </a:prstGeom>
            <a:ln>
              <a:noFill/>
            </a:ln>
            <a:effectLst>
              <a:outerShdw blurRad="190500" algn="tl" rotWithShape="0">
                <a:srgbClr val="000000">
                  <a:alpha val="70000"/>
                </a:srgbClr>
              </a:outerShdw>
            </a:effectLst>
          </p:spPr>
        </p:pic>
        <p:sp>
          <p:nvSpPr>
            <p:cNvPr id="18" name="Rectangle 17"/>
            <p:cNvSpPr/>
            <p:nvPr/>
          </p:nvSpPr>
          <p:spPr>
            <a:xfrm>
              <a:off x="7021317" y="919136"/>
              <a:ext cx="3912907" cy="308777"/>
            </a:xfrm>
            <a:prstGeom prst="rect">
              <a:avLst/>
            </a:prstGeom>
            <a:solidFill>
              <a:schemeClr val="bg1"/>
            </a:solidFill>
            <a:ln w="12700">
              <a:solidFill>
                <a:schemeClr val="tx1"/>
              </a:solidFill>
            </a:ln>
          </p:spPr>
          <p:txBody>
            <a:bodyPr wrap="square">
              <a:spAutoFit/>
            </a:bodyPr>
            <a:lstStyle/>
            <a:p>
              <a:pPr algn="ctr"/>
              <a:r>
                <a:rPr lang="en-US" sz="1400" b="1" dirty="0" smtClean="0">
                  <a:latin typeface="Times New Roman" panose="02020603050405020304" pitchFamily="18" charset="0"/>
                  <a:cs typeface="Times New Roman" panose="02020603050405020304" pitchFamily="18" charset="0"/>
                </a:rPr>
                <a:t>Proposal 2: Generic Interface Integration</a:t>
              </a:r>
              <a:endParaRPr lang="en-US" sz="1400" b="1" dirty="0">
                <a:latin typeface="Times New Roman" panose="02020603050405020304" pitchFamily="18" charset="0"/>
                <a:cs typeface="Times New Roman" panose="02020603050405020304" pitchFamily="18" charset="0"/>
              </a:endParaRPr>
            </a:p>
          </p:txBody>
        </p:sp>
        <p:sp>
          <p:nvSpPr>
            <p:cNvPr id="21" name="Rectangle 20"/>
            <p:cNvSpPr/>
            <p:nvPr/>
          </p:nvSpPr>
          <p:spPr>
            <a:xfrm>
              <a:off x="9653214" y="5746418"/>
              <a:ext cx="1202746" cy="664541"/>
            </a:xfrm>
            <a:prstGeom prst="rect">
              <a:avLst/>
            </a:prstGeom>
            <a:noFill/>
            <a:ln w="28575">
              <a:solidFill>
                <a:srgbClr val="FFCC00"/>
              </a:solidFill>
              <a:prstDash val="sysDash"/>
            </a:ln>
            <a:effectLst>
              <a:outerShdw blurRad="57785" dist="33020" dir="3180000" algn="ctr">
                <a:srgbClr val="000000">
                  <a:alpha val="30000"/>
                </a:srgbClr>
              </a:outerShdw>
            </a:effectLst>
            <a:scene3d>
              <a:camera prst="orthographicFront">
                <a:rot lat="0" lon="0" rev="0"/>
              </a:camera>
              <a:lightRig rig="brightRoom" dir="t">
                <a:rot lat="0" lon="0" rev="600000"/>
              </a:lightRig>
            </a:scene3d>
            <a:sp3d prstMaterial="metal">
              <a:bevelT w="38100" h="57150" prst="angl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p:cNvSpPr/>
            <p:nvPr/>
          </p:nvSpPr>
          <p:spPr>
            <a:xfrm>
              <a:off x="6956228" y="4812499"/>
              <a:ext cx="2030291" cy="332271"/>
            </a:xfrm>
            <a:prstGeom prst="rect">
              <a:avLst/>
            </a:prstGeom>
            <a:noFill/>
            <a:ln w="28575">
              <a:solidFill>
                <a:srgbClr val="FFCC00"/>
              </a:solidFill>
              <a:prstDash val="sysDash"/>
            </a:ln>
            <a:effectLst>
              <a:outerShdw blurRad="57785" dist="33020" dir="3180000" algn="ctr">
                <a:srgbClr val="000000">
                  <a:alpha val="30000"/>
                </a:srgbClr>
              </a:outerShdw>
            </a:effectLst>
            <a:scene3d>
              <a:camera prst="orthographicFront">
                <a:rot lat="0" lon="0" rev="0"/>
              </a:camera>
              <a:lightRig rig="brightRoom" dir="t">
                <a:rot lat="0" lon="0" rev="600000"/>
              </a:lightRig>
            </a:scene3d>
            <a:sp3d prstMaterial="metal">
              <a:bevelT w="38100" h="57150" prst="angl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4" name="Rectangle 23"/>
          <p:cNvSpPr/>
          <p:nvPr/>
        </p:nvSpPr>
        <p:spPr>
          <a:xfrm>
            <a:off x="2104829" y="5144771"/>
            <a:ext cx="1842332" cy="300990"/>
          </a:xfrm>
          <a:prstGeom prst="rect">
            <a:avLst/>
          </a:prstGeom>
          <a:noFill/>
          <a:ln w="28575">
            <a:solidFill>
              <a:srgbClr val="FFCC00"/>
            </a:solidFill>
            <a:prstDash val="sysDash"/>
          </a:ln>
          <a:effectLst>
            <a:outerShdw blurRad="57785" dist="33020" dir="3180000" algn="ctr">
              <a:srgbClr val="000000">
                <a:alpha val="30000"/>
              </a:srgbClr>
            </a:outerShdw>
          </a:effectLst>
          <a:scene3d>
            <a:camera prst="orthographicFront">
              <a:rot lat="0" lon="0" rev="0"/>
            </a:camera>
            <a:lightRig rig="brightRoom" dir="t">
              <a:rot lat="0" lon="0" rev="600000"/>
            </a:lightRig>
          </a:scene3d>
          <a:sp3d prstMaterial="metal">
            <a:bevelT w="38100" h="57150" prst="angl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3"/>
          <p:cNvGrpSpPr/>
          <p:nvPr/>
        </p:nvGrpSpPr>
        <p:grpSpPr>
          <a:xfrm>
            <a:off x="10063233" y="105547"/>
            <a:ext cx="1585453" cy="742455"/>
            <a:chOff x="10046326" y="80184"/>
            <a:chExt cx="1585453" cy="742455"/>
          </a:xfrm>
        </p:grpSpPr>
        <p:grpSp>
          <p:nvGrpSpPr>
            <p:cNvPr id="15" name="Group 14"/>
            <p:cNvGrpSpPr/>
            <p:nvPr/>
          </p:nvGrpSpPr>
          <p:grpSpPr>
            <a:xfrm>
              <a:off x="10128228" y="335697"/>
              <a:ext cx="1503551" cy="486942"/>
              <a:chOff x="6119446" y="5664338"/>
              <a:chExt cx="1503551" cy="486942"/>
            </a:xfrm>
          </p:grpSpPr>
          <p:sp>
            <p:nvSpPr>
              <p:cNvPr id="11" name="Rectangle 10"/>
              <p:cNvSpPr/>
              <p:nvPr/>
            </p:nvSpPr>
            <p:spPr>
              <a:xfrm>
                <a:off x="6119446" y="5719711"/>
                <a:ext cx="185438" cy="166254"/>
              </a:xfrm>
              <a:prstGeom prst="rect">
                <a:avLst/>
              </a:prstGeom>
              <a:solidFill>
                <a:schemeClr val="accent1">
                  <a:lumMod val="60000"/>
                  <a:lumOff val="4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p:cNvSpPr txBox="1"/>
              <p:nvPr/>
            </p:nvSpPr>
            <p:spPr>
              <a:xfrm>
                <a:off x="6260123" y="5664338"/>
                <a:ext cx="1191352" cy="261610"/>
              </a:xfrm>
              <a:prstGeom prst="rect">
                <a:avLst/>
              </a:prstGeom>
              <a:noFill/>
            </p:spPr>
            <p:txBody>
              <a:bodyPr wrap="none" rtlCol="0">
                <a:spAutoFit/>
              </a:bodyPr>
              <a:lstStyle/>
              <a:p>
                <a:r>
                  <a:rPr lang="en-US" sz="1100" dirty="0"/>
                  <a:t>New components</a:t>
                </a:r>
              </a:p>
            </p:txBody>
          </p:sp>
          <p:sp>
            <p:nvSpPr>
              <p:cNvPr id="13" name="Rectangle 12"/>
              <p:cNvSpPr/>
              <p:nvPr/>
            </p:nvSpPr>
            <p:spPr>
              <a:xfrm>
                <a:off x="6119446" y="5966614"/>
                <a:ext cx="185438" cy="166254"/>
              </a:xfrm>
              <a:prstGeom prst="rect">
                <a:avLst/>
              </a:prstGeom>
              <a:solidFill>
                <a:schemeClr val="bg2">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p:cNvSpPr txBox="1"/>
              <p:nvPr/>
            </p:nvSpPr>
            <p:spPr>
              <a:xfrm>
                <a:off x="6260123" y="5889670"/>
                <a:ext cx="1362874" cy="261610"/>
              </a:xfrm>
              <a:prstGeom prst="rect">
                <a:avLst/>
              </a:prstGeom>
              <a:noFill/>
            </p:spPr>
            <p:txBody>
              <a:bodyPr wrap="none" rtlCol="0">
                <a:spAutoFit/>
              </a:bodyPr>
              <a:lstStyle/>
              <a:p>
                <a:r>
                  <a:rPr lang="en-US" sz="1100" dirty="0"/>
                  <a:t>Existing components</a:t>
                </a:r>
              </a:p>
            </p:txBody>
          </p:sp>
        </p:grpSp>
        <p:sp>
          <p:nvSpPr>
            <p:cNvPr id="3" name="Rectangle 2"/>
            <p:cNvSpPr/>
            <p:nvPr/>
          </p:nvSpPr>
          <p:spPr>
            <a:xfrm>
              <a:off x="10046326" y="80184"/>
              <a:ext cx="633828" cy="276999"/>
            </a:xfrm>
            <a:prstGeom prst="rect">
              <a:avLst/>
            </a:prstGeom>
          </p:spPr>
          <p:txBody>
            <a:bodyPr wrap="none">
              <a:spAutoFit/>
            </a:bodyPr>
            <a:lstStyle/>
            <a:p>
              <a:r>
                <a:rPr lang="en-US" sz="1200" dirty="0" smtClean="0"/>
                <a:t>Legend</a:t>
              </a:r>
              <a:endParaRPr lang="en-US" sz="1200" dirty="0"/>
            </a:p>
          </p:txBody>
        </p:sp>
      </p:grpSp>
    </p:spTree>
    <p:extLst>
      <p:ext uri="{BB962C8B-B14F-4D97-AF65-F5344CB8AC3E}">
        <p14:creationId xmlns:p14="http://schemas.microsoft.com/office/powerpoint/2010/main" val="3138399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500"/>
                                        <p:tgtEl>
                                          <p:spTgt spid="2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Table 10"/>
          <p:cNvGraphicFramePr>
            <a:graphicFrameLocks noGrp="1"/>
          </p:cNvGraphicFramePr>
          <p:nvPr>
            <p:extLst>
              <p:ext uri="{D42A27DB-BD31-4B8C-83A1-F6EECF244321}">
                <p14:modId xmlns:p14="http://schemas.microsoft.com/office/powerpoint/2010/main" val="114328989"/>
              </p:ext>
            </p:extLst>
          </p:nvPr>
        </p:nvGraphicFramePr>
        <p:xfrm>
          <a:off x="654524" y="990391"/>
          <a:ext cx="10924198" cy="2206174"/>
        </p:xfrm>
        <a:graphic>
          <a:graphicData uri="http://schemas.openxmlformats.org/drawingml/2006/table">
            <a:tbl>
              <a:tblPr>
                <a:tableStyleId>{0505E3EF-67EA-436B-97B2-0124C06EBD24}</a:tableStyleId>
              </a:tblPr>
              <a:tblGrid>
                <a:gridCol w="1787536"/>
                <a:gridCol w="1175144"/>
                <a:gridCol w="4297680"/>
                <a:gridCol w="3663838"/>
              </a:tblGrid>
              <a:tr h="601408">
                <a:tc>
                  <a:txBody>
                    <a:bodyPr/>
                    <a:lstStyle/>
                    <a:p>
                      <a:pPr algn="ctr"/>
                      <a:r>
                        <a:rPr lang="en-US" sz="1800" b="1" kern="1200" dirty="0">
                          <a:solidFill>
                            <a:schemeClr val="tx1"/>
                          </a:solidFill>
                          <a:latin typeface="Times New Roman" panose="02020603050405020304" pitchFamily="18" charset="0"/>
                          <a:ea typeface="+mn-ea"/>
                          <a:cs typeface="Times New Roman" panose="02020603050405020304" pitchFamily="18" charset="0"/>
                        </a:rPr>
                        <a:t>Criteria</a:t>
                      </a:r>
                    </a:p>
                  </a:txBody>
                  <a:tcPr marL="38100" marR="38100" marT="25400" marB="254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r>
                        <a:rPr lang="en-US" sz="1800" b="1" dirty="0" smtClean="0">
                          <a:solidFill>
                            <a:srgbClr val="030303"/>
                          </a:solidFill>
                          <a:effectLst/>
                          <a:latin typeface="Times New Roman" panose="02020603050405020304" pitchFamily="18" charset="0"/>
                          <a:cs typeface="Times New Roman" panose="02020603050405020304" pitchFamily="18" charset="0"/>
                        </a:rPr>
                        <a:t>Priority </a:t>
                      </a:r>
                      <a:endParaRPr lang="en-US" sz="1400" b="1" kern="1200" dirty="0">
                        <a:solidFill>
                          <a:schemeClr val="tx1"/>
                        </a:solidFill>
                        <a:latin typeface="Times New Roman" panose="02020603050405020304" pitchFamily="18" charset="0"/>
                        <a:ea typeface="+mn-ea"/>
                        <a:cs typeface="Times New Roman" panose="02020603050405020304" pitchFamily="18" charset="0"/>
                      </a:endParaRPr>
                    </a:p>
                  </a:txBody>
                  <a:tcPr marL="38100" marR="38100" marT="25400" marB="254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r>
                        <a:rPr lang="en-US" sz="1800" b="1" kern="1200" dirty="0">
                          <a:solidFill>
                            <a:schemeClr val="tx1"/>
                          </a:solidFill>
                          <a:latin typeface="Times New Roman" panose="02020603050405020304" pitchFamily="18" charset="0"/>
                          <a:ea typeface="+mn-ea"/>
                          <a:cs typeface="Times New Roman" panose="02020603050405020304" pitchFamily="18" charset="0"/>
                        </a:rPr>
                        <a:t>Direct Integration </a:t>
                      </a:r>
                      <a:r>
                        <a:rPr lang="en-US" sz="1800" b="1" kern="1200" dirty="0" smtClean="0">
                          <a:solidFill>
                            <a:schemeClr val="tx1"/>
                          </a:solidFill>
                          <a:latin typeface="Times New Roman" panose="02020603050405020304" pitchFamily="18" charset="0"/>
                          <a:ea typeface="+mn-ea"/>
                          <a:cs typeface="Times New Roman" panose="02020603050405020304" pitchFamily="18" charset="0"/>
                        </a:rPr>
                        <a:t/>
                      </a:r>
                      <a:br>
                        <a:rPr lang="en-US" sz="1800" b="1" kern="1200" dirty="0" smtClean="0">
                          <a:solidFill>
                            <a:schemeClr val="tx1"/>
                          </a:solidFill>
                          <a:latin typeface="Times New Roman" panose="02020603050405020304" pitchFamily="18" charset="0"/>
                          <a:ea typeface="+mn-ea"/>
                          <a:cs typeface="Times New Roman" panose="02020603050405020304" pitchFamily="18" charset="0"/>
                        </a:rPr>
                      </a:br>
                      <a:r>
                        <a:rPr lang="en-US" sz="1400" b="1" kern="1200" dirty="0" smtClean="0">
                          <a:solidFill>
                            <a:schemeClr val="tx1"/>
                          </a:solidFill>
                          <a:latin typeface="Times New Roman" panose="02020603050405020304" pitchFamily="18" charset="0"/>
                          <a:ea typeface="+mn-ea"/>
                          <a:cs typeface="Times New Roman" panose="02020603050405020304" pitchFamily="18" charset="0"/>
                        </a:rPr>
                        <a:t>(</a:t>
                      </a:r>
                      <a:r>
                        <a:rPr lang="en-US" sz="1400" b="1" kern="1200" dirty="0">
                          <a:solidFill>
                            <a:schemeClr val="tx1"/>
                          </a:solidFill>
                          <a:latin typeface="Times New Roman" panose="02020603050405020304" pitchFamily="18" charset="0"/>
                          <a:ea typeface="+mn-ea"/>
                          <a:cs typeface="Times New Roman" panose="02020603050405020304" pitchFamily="18" charset="0"/>
                        </a:rPr>
                        <a:t>Proposal 1)</a:t>
                      </a:r>
                    </a:p>
                  </a:txBody>
                  <a:tcPr marL="38100" marR="38100" marT="25400" marB="254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r>
                        <a:rPr lang="en-US" sz="1800" b="1" kern="1200" dirty="0" smtClean="0">
                          <a:solidFill>
                            <a:schemeClr val="tx1"/>
                          </a:solidFill>
                          <a:latin typeface="Times New Roman" panose="02020603050405020304" pitchFamily="18" charset="0"/>
                          <a:ea typeface="+mn-ea"/>
                          <a:cs typeface="Times New Roman" panose="02020603050405020304" pitchFamily="18" charset="0"/>
                        </a:rPr>
                        <a:t>Generic Interface Integration</a:t>
                      </a:r>
                      <a:br>
                        <a:rPr lang="en-US" sz="1800" b="1" kern="1200" dirty="0" smtClean="0">
                          <a:solidFill>
                            <a:schemeClr val="tx1"/>
                          </a:solidFill>
                          <a:latin typeface="Times New Roman" panose="02020603050405020304" pitchFamily="18" charset="0"/>
                          <a:ea typeface="+mn-ea"/>
                          <a:cs typeface="Times New Roman" panose="02020603050405020304" pitchFamily="18" charset="0"/>
                        </a:rPr>
                      </a:br>
                      <a:r>
                        <a:rPr lang="en-US" sz="1400" b="1" kern="1200" dirty="0" smtClean="0">
                          <a:solidFill>
                            <a:schemeClr val="tx1"/>
                          </a:solidFill>
                          <a:latin typeface="Times New Roman" panose="02020603050405020304" pitchFamily="18" charset="0"/>
                          <a:ea typeface="+mn-ea"/>
                          <a:cs typeface="Times New Roman" panose="02020603050405020304" pitchFamily="18" charset="0"/>
                        </a:rPr>
                        <a:t>(</a:t>
                      </a:r>
                      <a:r>
                        <a:rPr lang="en-US" sz="1400" b="1" kern="1200" dirty="0">
                          <a:solidFill>
                            <a:schemeClr val="tx1"/>
                          </a:solidFill>
                          <a:latin typeface="Times New Roman" panose="02020603050405020304" pitchFamily="18" charset="0"/>
                          <a:ea typeface="+mn-ea"/>
                          <a:cs typeface="Times New Roman" panose="02020603050405020304" pitchFamily="18" charset="0"/>
                        </a:rPr>
                        <a:t>Proposal 2)</a:t>
                      </a:r>
                    </a:p>
                  </a:txBody>
                  <a:tcPr marL="38100" marR="38100" marT="25400" marB="254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r>
              <a:tr h="541801">
                <a:tc>
                  <a:txBody>
                    <a:bodyPr/>
                    <a:lstStyle/>
                    <a:p>
                      <a:pPr algn="l"/>
                      <a:r>
                        <a:rPr lang="en-US" sz="1800" kern="1200" dirty="0" smtClean="0">
                          <a:solidFill>
                            <a:schemeClr val="tx1"/>
                          </a:solidFill>
                          <a:latin typeface="Times New Roman" panose="02020603050405020304" pitchFamily="18" charset="0"/>
                          <a:ea typeface="+mn-ea"/>
                          <a:cs typeface="Times New Roman" panose="02020603050405020304" pitchFamily="18" charset="0"/>
                        </a:rPr>
                        <a:t>Maintainability</a:t>
                      </a:r>
                      <a:endParaRPr lang="en-US" sz="1800" kern="1200" dirty="0">
                        <a:solidFill>
                          <a:schemeClr val="tx1"/>
                        </a:solidFill>
                        <a:latin typeface="Times New Roman" panose="02020603050405020304" pitchFamily="18" charset="0"/>
                        <a:ea typeface="+mn-ea"/>
                        <a:cs typeface="Times New Roman" panose="02020603050405020304" pitchFamily="18" charset="0"/>
                      </a:endParaRP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r>
                        <a:rPr lang="en-US" sz="1800" kern="1200" dirty="0" smtClean="0">
                          <a:solidFill>
                            <a:schemeClr val="tx1"/>
                          </a:solidFill>
                          <a:effectLst/>
                          <a:latin typeface="Times New Roman" panose="02020603050405020304" pitchFamily="18" charset="0"/>
                          <a:ea typeface="+mn-ea"/>
                          <a:cs typeface="Times New Roman" panose="02020603050405020304" pitchFamily="18" charset="0"/>
                        </a:rPr>
                        <a:t>Medium</a:t>
                      </a:r>
                      <a:endParaRPr lang="en-US" sz="1800" kern="1200" dirty="0">
                        <a:solidFill>
                          <a:schemeClr val="tx1"/>
                        </a:solidFill>
                        <a:latin typeface="Times New Roman" panose="02020603050405020304" pitchFamily="18" charset="0"/>
                        <a:ea typeface="+mn-ea"/>
                        <a:cs typeface="Times New Roman" panose="02020603050405020304" pitchFamily="18" charset="0"/>
                      </a:endParaRP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r>
                        <a:rPr lang="en-US" sz="1800" kern="1200" dirty="0" smtClean="0">
                          <a:solidFill>
                            <a:schemeClr val="tx1"/>
                          </a:solidFill>
                          <a:latin typeface="Times New Roman" panose="02020603050405020304" pitchFamily="18" charset="0"/>
                          <a:ea typeface="+mn-ea"/>
                          <a:cs typeface="Times New Roman" panose="02020603050405020304" pitchFamily="18" charset="0"/>
                        </a:rPr>
                        <a:t>Low (mixed concerns)</a:t>
                      </a:r>
                      <a:endParaRPr lang="en-US" sz="1800" kern="1200" dirty="0">
                        <a:solidFill>
                          <a:schemeClr val="tx1"/>
                        </a:solidFill>
                        <a:latin typeface="Times New Roman" panose="02020603050405020304" pitchFamily="18" charset="0"/>
                        <a:ea typeface="+mn-ea"/>
                        <a:cs typeface="Times New Roman" panose="02020603050405020304" pitchFamily="18" charset="0"/>
                      </a:endParaRP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sz="1800" b="1" kern="1200" dirty="0" smtClean="0">
                          <a:solidFill>
                            <a:srgbClr val="339933"/>
                          </a:solidFill>
                          <a:latin typeface="Times New Roman" panose="02020603050405020304" pitchFamily="18" charset="0"/>
                          <a:ea typeface="+mn-ea"/>
                          <a:cs typeface="Times New Roman" panose="02020603050405020304" pitchFamily="18" charset="0"/>
                        </a:rPr>
                        <a:t>High (separated concerns)</a:t>
                      </a:r>
                      <a:endParaRPr lang="en-US" sz="1800" b="1" kern="1200" dirty="0">
                        <a:solidFill>
                          <a:srgbClr val="339933"/>
                        </a:solidFill>
                        <a:latin typeface="Times New Roman" panose="02020603050405020304" pitchFamily="18" charset="0"/>
                        <a:ea typeface="+mn-ea"/>
                        <a:cs typeface="Times New Roman" panose="02020603050405020304" pitchFamily="18" charset="0"/>
                      </a:endParaRP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r>
              <a:tr h="524709">
                <a:tc>
                  <a:txBody>
                    <a:bodyPr/>
                    <a:lstStyle/>
                    <a:p>
                      <a:pPr algn="l"/>
                      <a:r>
                        <a:rPr lang="en-US" sz="1800" kern="1200" dirty="0" smtClean="0">
                          <a:solidFill>
                            <a:schemeClr val="tx1"/>
                          </a:solidFill>
                          <a:latin typeface="Times New Roman" panose="02020603050405020304" pitchFamily="18" charset="0"/>
                          <a:ea typeface="+mn-ea"/>
                          <a:cs typeface="Times New Roman" panose="02020603050405020304" pitchFamily="18" charset="0"/>
                        </a:rPr>
                        <a:t>Reusability</a:t>
                      </a:r>
                      <a:endParaRPr lang="en-US" sz="1800" kern="1200" dirty="0">
                        <a:solidFill>
                          <a:schemeClr val="tx1"/>
                        </a:solidFill>
                        <a:latin typeface="Times New Roman" panose="02020603050405020304" pitchFamily="18" charset="0"/>
                        <a:ea typeface="+mn-ea"/>
                        <a:cs typeface="Times New Roman" panose="02020603050405020304" pitchFamily="18" charset="0"/>
                      </a:endParaRP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r>
                        <a:rPr lang="en-US" sz="1800" kern="1200" dirty="0" smtClean="0">
                          <a:solidFill>
                            <a:schemeClr val="tx1"/>
                          </a:solidFill>
                          <a:effectLst/>
                          <a:latin typeface="Times New Roman" panose="02020603050405020304" pitchFamily="18" charset="0"/>
                          <a:ea typeface="+mn-ea"/>
                          <a:cs typeface="Times New Roman" panose="02020603050405020304" pitchFamily="18" charset="0"/>
                        </a:rPr>
                        <a:t>Medium</a:t>
                      </a:r>
                      <a:endParaRPr lang="en-US" sz="1800" kern="1200" dirty="0">
                        <a:solidFill>
                          <a:schemeClr val="tx1"/>
                        </a:solidFill>
                        <a:latin typeface="Times New Roman" panose="02020603050405020304" pitchFamily="18" charset="0"/>
                        <a:ea typeface="+mn-ea"/>
                        <a:cs typeface="Times New Roman" panose="02020603050405020304" pitchFamily="18" charset="0"/>
                      </a:endParaRP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r>
                        <a:rPr lang="en-US" sz="1800" kern="1200" dirty="0" smtClean="0">
                          <a:solidFill>
                            <a:schemeClr val="tx1"/>
                          </a:solidFill>
                          <a:latin typeface="Times New Roman" panose="02020603050405020304" pitchFamily="18" charset="0"/>
                          <a:ea typeface="+mn-ea"/>
                          <a:cs typeface="Times New Roman" panose="02020603050405020304" pitchFamily="18" charset="0"/>
                        </a:rPr>
                        <a:t>Low (power-specific only)</a:t>
                      </a:r>
                      <a:endParaRPr lang="en-US" sz="1800" kern="1200" dirty="0">
                        <a:solidFill>
                          <a:schemeClr val="tx1"/>
                        </a:solidFill>
                        <a:latin typeface="Times New Roman" panose="02020603050405020304" pitchFamily="18" charset="0"/>
                        <a:ea typeface="+mn-ea"/>
                        <a:cs typeface="Times New Roman" panose="02020603050405020304" pitchFamily="18" charset="0"/>
                      </a:endParaRP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sz="1800" b="1" kern="1200" dirty="0" smtClean="0">
                          <a:solidFill>
                            <a:srgbClr val="339933"/>
                          </a:solidFill>
                          <a:latin typeface="Times New Roman" panose="02020603050405020304" pitchFamily="18" charset="0"/>
                          <a:ea typeface="+mn-ea"/>
                          <a:cs typeface="Times New Roman" panose="02020603050405020304" pitchFamily="18" charset="0"/>
                        </a:rPr>
                        <a:t>High (works across services) </a:t>
                      </a:r>
                      <a:endParaRPr lang="en-US" sz="1800" b="1" kern="1200" dirty="0">
                        <a:solidFill>
                          <a:srgbClr val="339933"/>
                        </a:solidFill>
                        <a:latin typeface="Times New Roman" panose="02020603050405020304" pitchFamily="18" charset="0"/>
                        <a:ea typeface="+mn-ea"/>
                        <a:cs typeface="Times New Roman" panose="02020603050405020304" pitchFamily="18" charset="0"/>
                      </a:endParaRP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r>
              <a:tr h="538256">
                <a:tc>
                  <a:txBody>
                    <a:bodyPr/>
                    <a:lstStyle/>
                    <a:p>
                      <a:pPr algn="l"/>
                      <a:r>
                        <a:rPr lang="en-US" sz="1800" kern="1200" dirty="0" smtClean="0">
                          <a:solidFill>
                            <a:schemeClr val="tx1"/>
                          </a:solidFill>
                          <a:latin typeface="Times New Roman" panose="02020603050405020304" pitchFamily="18" charset="0"/>
                          <a:ea typeface="+mn-ea"/>
                          <a:cs typeface="Times New Roman" panose="02020603050405020304" pitchFamily="18" charset="0"/>
                        </a:rPr>
                        <a:t>Simplicity</a:t>
                      </a:r>
                      <a:endParaRPr lang="en-US" sz="1800" kern="1200" dirty="0">
                        <a:solidFill>
                          <a:schemeClr val="tx1"/>
                        </a:solidFill>
                        <a:latin typeface="Times New Roman" panose="02020603050405020304" pitchFamily="18" charset="0"/>
                        <a:ea typeface="+mn-ea"/>
                        <a:cs typeface="Times New Roman" panose="02020603050405020304" pitchFamily="18" charset="0"/>
                      </a:endParaRP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r>
                        <a:rPr lang="en-US" sz="1800" b="0" kern="1200" dirty="0" smtClean="0">
                          <a:solidFill>
                            <a:schemeClr val="tx1"/>
                          </a:solidFill>
                          <a:latin typeface="Times New Roman" panose="02020603050405020304" pitchFamily="18" charset="0"/>
                          <a:ea typeface="+mn-ea"/>
                          <a:cs typeface="Times New Roman" panose="02020603050405020304" pitchFamily="18" charset="0"/>
                        </a:rPr>
                        <a:t>Low</a:t>
                      </a:r>
                      <a:endParaRPr lang="en-US" sz="1800" b="0" kern="1200" dirty="0">
                        <a:solidFill>
                          <a:schemeClr val="tx1"/>
                        </a:solidFill>
                        <a:latin typeface="Times New Roman" panose="02020603050405020304" pitchFamily="18" charset="0"/>
                        <a:ea typeface="+mn-ea"/>
                        <a:cs typeface="Times New Roman" panose="02020603050405020304" pitchFamily="18" charset="0"/>
                      </a:endParaRP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r>
                        <a:rPr lang="en-US" sz="1800" b="1" kern="1200" dirty="0" smtClean="0">
                          <a:solidFill>
                            <a:srgbClr val="339933"/>
                          </a:solidFill>
                          <a:latin typeface="Times New Roman" panose="02020603050405020304" pitchFamily="18" charset="0"/>
                          <a:ea typeface="+mn-ea"/>
                          <a:cs typeface="Times New Roman" panose="02020603050405020304" pitchFamily="18" charset="0"/>
                        </a:rPr>
                        <a:t>High (simple integration)</a:t>
                      </a:r>
                      <a:endParaRPr lang="en-US" sz="1800" b="1" kern="1200" dirty="0">
                        <a:solidFill>
                          <a:srgbClr val="339933"/>
                        </a:solidFill>
                        <a:latin typeface="Times New Roman" panose="02020603050405020304" pitchFamily="18" charset="0"/>
                        <a:ea typeface="+mn-ea"/>
                        <a:cs typeface="Times New Roman" panose="02020603050405020304" pitchFamily="18" charset="0"/>
                      </a:endParaRP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sz="1800" kern="1200" dirty="0" smtClean="0">
                          <a:solidFill>
                            <a:schemeClr val="tx1"/>
                          </a:solidFill>
                          <a:latin typeface="Times New Roman" panose="02020603050405020304" pitchFamily="18" charset="0"/>
                          <a:ea typeface="+mn-ea"/>
                          <a:cs typeface="Times New Roman" panose="02020603050405020304" pitchFamily="18" charset="0"/>
                        </a:rPr>
                        <a:t>Medium</a:t>
                      </a:r>
                      <a:endParaRPr lang="en-US" sz="1800" kern="1200" dirty="0">
                        <a:solidFill>
                          <a:schemeClr val="tx1"/>
                        </a:solidFill>
                        <a:latin typeface="Times New Roman" panose="02020603050405020304" pitchFamily="18" charset="0"/>
                        <a:ea typeface="+mn-ea"/>
                        <a:cs typeface="Times New Roman" panose="02020603050405020304" pitchFamily="18" charset="0"/>
                      </a:endParaRP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r>
            </a:tbl>
          </a:graphicData>
        </a:graphic>
      </p:graphicFrame>
      <p:sp>
        <p:nvSpPr>
          <p:cNvPr id="13" name="Rectangle 12"/>
          <p:cNvSpPr/>
          <p:nvPr/>
        </p:nvSpPr>
        <p:spPr>
          <a:xfrm>
            <a:off x="654524" y="3162488"/>
            <a:ext cx="10949354" cy="2031325"/>
          </a:xfrm>
          <a:prstGeom prst="rect">
            <a:avLst/>
          </a:prstGeom>
        </p:spPr>
        <p:txBody>
          <a:bodyPr wrap="square">
            <a:spAutoFit/>
          </a:bodyPr>
          <a:lstStyle/>
          <a:p>
            <a:endParaRPr lang="en-US"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Key Decision Factors:</a:t>
            </a:r>
          </a:p>
          <a:p>
            <a:pPr marL="285750" indent="-285750">
              <a:buFont typeface="Arial" panose="020B0604020202020204" pitchFamily="34" charset="0"/>
              <a:buChar char="•"/>
            </a:pPr>
            <a:r>
              <a:rPr lang="en-US" b="1" dirty="0" smtClean="0">
                <a:latin typeface="Times New Roman" panose="02020603050405020304" pitchFamily="18" charset="0"/>
                <a:cs typeface="Times New Roman" panose="02020603050405020304" pitchFamily="18" charset="0"/>
              </a:rPr>
              <a:t>Reusability</a:t>
            </a:r>
            <a:r>
              <a:rPr lang="en-US" dirty="0" smtClean="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Enable thread pool usage across multiple services</a:t>
            </a:r>
          </a:p>
          <a:p>
            <a:pPr marL="285750" indent="-285750">
              <a:buFont typeface="Arial" panose="020B0604020202020204" pitchFamily="34" charset="0"/>
              <a:buChar char="•"/>
            </a:pPr>
            <a:r>
              <a:rPr lang="en-US" b="1" dirty="0" smtClean="0">
                <a:latin typeface="Times New Roman" panose="02020603050405020304" pitchFamily="18" charset="0"/>
                <a:cs typeface="Times New Roman" panose="02020603050405020304" pitchFamily="18" charset="0"/>
              </a:rPr>
              <a:t>Clean </a:t>
            </a:r>
            <a:r>
              <a:rPr lang="en-US" b="1" dirty="0">
                <a:latin typeface="Times New Roman" panose="02020603050405020304" pitchFamily="18" charset="0"/>
                <a:cs typeface="Times New Roman" panose="02020603050405020304" pitchFamily="18" charset="0"/>
              </a:rPr>
              <a:t>Architecture</a:t>
            </a:r>
            <a:r>
              <a:rPr lang="en-US" dirty="0">
                <a:latin typeface="Times New Roman" panose="02020603050405020304" pitchFamily="18" charset="0"/>
                <a:cs typeface="Times New Roman" panose="02020603050405020304" pitchFamily="18" charset="0"/>
              </a:rPr>
              <a:t>: Separation of concerns for better </a:t>
            </a:r>
            <a:r>
              <a:rPr lang="en-US" dirty="0" smtClean="0">
                <a:latin typeface="Times New Roman" panose="02020603050405020304" pitchFamily="18" charset="0"/>
                <a:cs typeface="Times New Roman" panose="02020603050405020304" pitchFamily="18" charset="0"/>
              </a:rPr>
              <a:t>maintainability</a:t>
            </a:r>
          </a:p>
          <a:p>
            <a:pPr marL="285750" indent="-285750">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Trade-off</a:t>
            </a:r>
            <a:r>
              <a:rPr lang="en-US" dirty="0">
                <a:latin typeface="Times New Roman" panose="02020603050405020304" pitchFamily="18" charset="0"/>
                <a:cs typeface="Times New Roman" panose="02020603050405020304" pitchFamily="18" charset="0"/>
              </a:rPr>
              <a:t>: Slightly higher </a:t>
            </a:r>
            <a:r>
              <a:rPr lang="en-US" dirty="0" smtClean="0">
                <a:latin typeface="Times New Roman" panose="02020603050405020304" pitchFamily="18" charset="0"/>
                <a:cs typeface="Times New Roman" panose="02020603050405020304" pitchFamily="18" charset="0"/>
              </a:rPr>
              <a:t>complexity for </a:t>
            </a:r>
            <a:r>
              <a:rPr lang="en-US" dirty="0">
                <a:latin typeface="Times New Roman" panose="02020603050405020304" pitchFamily="18" charset="0"/>
                <a:cs typeface="Times New Roman" panose="02020603050405020304" pitchFamily="18" charset="0"/>
              </a:rPr>
              <a:t>significantly better long-term value</a:t>
            </a:r>
          </a:p>
          <a:p>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p:txBody>
      </p:sp>
      <p:sp>
        <p:nvSpPr>
          <p:cNvPr id="6" name="Rectangle 5"/>
          <p:cNvSpPr/>
          <p:nvPr/>
        </p:nvSpPr>
        <p:spPr>
          <a:xfrm>
            <a:off x="459789" y="146304"/>
            <a:ext cx="5449521" cy="461665"/>
          </a:xfrm>
          <a:prstGeom prst="rect">
            <a:avLst/>
          </a:prstGeom>
          <a:solidFill>
            <a:schemeClr val="bg1"/>
          </a:solidFill>
        </p:spPr>
        <p:txBody>
          <a:bodyPr wrap="square">
            <a:spAutoFit/>
          </a:bodyPr>
          <a:lstStyle/>
          <a:p>
            <a:r>
              <a:rPr lang="en-US" sz="2400" u="sng" dirty="0">
                <a:latin typeface="Times New Roman" panose="02020603050405020304" pitchFamily="18" charset="0"/>
                <a:cs typeface="Times New Roman" panose="02020603050405020304" pitchFamily="18" charset="0"/>
              </a:rPr>
              <a:t>4. Design Proposals for Selected Solution</a:t>
            </a:r>
          </a:p>
        </p:txBody>
      </p:sp>
      <p:sp>
        <p:nvSpPr>
          <p:cNvPr id="2" name="Rectangle 1"/>
          <p:cNvSpPr/>
          <p:nvPr/>
        </p:nvSpPr>
        <p:spPr>
          <a:xfrm>
            <a:off x="580383" y="4824481"/>
            <a:ext cx="10393680" cy="369332"/>
          </a:xfrm>
          <a:prstGeom prst="rect">
            <a:avLst/>
          </a:prstGeom>
        </p:spPr>
        <p:txBody>
          <a:bodyPr wrap="square">
            <a:spAutoFit/>
          </a:bodyPr>
          <a:lstStyle/>
          <a:p>
            <a:r>
              <a:rPr lang="en-US" dirty="0">
                <a:latin typeface="Times New Roman" panose="02020603050405020304" pitchFamily="18" charset="0"/>
                <a:cs typeface="Times New Roman" panose="02020603050405020304" pitchFamily="18" charset="0"/>
              </a:rPr>
              <a:t>🏆 Selected Design: </a:t>
            </a:r>
            <a:r>
              <a:rPr lang="en-US" b="1" dirty="0">
                <a:latin typeface="Times New Roman" panose="02020603050405020304" pitchFamily="18" charset="0"/>
                <a:cs typeface="Times New Roman" panose="02020603050405020304" pitchFamily="18" charset="0"/>
              </a:rPr>
              <a:t>Generic Interface Integration (Proposal 2</a:t>
            </a:r>
            <a:r>
              <a:rPr lang="en-US" b="1" dirty="0" smtClean="0">
                <a:latin typeface="Times New Roman" panose="02020603050405020304" pitchFamily="18" charset="0"/>
                <a:cs typeface="Times New Roman" panose="02020603050405020304" pitchFamily="18" charset="0"/>
              </a:rPr>
              <a:t>)</a:t>
            </a:r>
            <a:endParaRPr lang="en-US" b="1" dirty="0">
              <a:latin typeface="Times New Roman" panose="02020603050405020304" pitchFamily="18" charset="0"/>
              <a:cs typeface="Times New Roman" panose="02020603050405020304" pitchFamily="18" charset="0"/>
            </a:endParaRPr>
          </a:p>
        </p:txBody>
      </p:sp>
      <p:sp>
        <p:nvSpPr>
          <p:cNvPr id="7" name="Rectangle 6"/>
          <p:cNvSpPr/>
          <p:nvPr/>
        </p:nvSpPr>
        <p:spPr>
          <a:xfrm>
            <a:off x="7901821" y="964661"/>
            <a:ext cx="3676901" cy="2252671"/>
          </a:xfrm>
          <a:prstGeom prst="rect">
            <a:avLst/>
          </a:prstGeom>
          <a:noFill/>
          <a:ln w="57150">
            <a:solidFill>
              <a:srgbClr val="3399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2"/>
          </p:nvPr>
        </p:nvSpPr>
        <p:spPr/>
        <p:txBody>
          <a:bodyPr/>
          <a:lstStyle/>
          <a:p>
            <a:fld id="{0059130C-D5A7-43F1-8BDF-D4DD1699FE09}" type="slidenum">
              <a:rPr lang="en-US" smtClean="0"/>
              <a:t>19</a:t>
            </a:fld>
            <a:endParaRPr lang="en-US"/>
          </a:p>
        </p:txBody>
      </p:sp>
    </p:spTree>
    <p:extLst>
      <p:ext uri="{BB962C8B-B14F-4D97-AF65-F5344CB8AC3E}">
        <p14:creationId xmlns:p14="http://schemas.microsoft.com/office/powerpoint/2010/main" val="7911272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2">
                                            <p:txEl>
                                              <p:pRg st="0" end="0"/>
                                            </p:txEl>
                                          </p:spTgt>
                                        </p:tgtEl>
                                        <p:attrNameLst>
                                          <p:attrName>style.visibility</p:attrName>
                                        </p:attrNameLst>
                                      </p:cBhvr>
                                      <p:to>
                                        <p:strVal val="visible"/>
                                      </p:to>
                                    </p:set>
                                    <p:animEffect transition="in" filter="fade">
                                      <p:cBhvr>
                                        <p:cTn id="10" dur="500"/>
                                        <p:tgtEl>
                                          <p:spTgt spid="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xfrm>
            <a:off x="8519163" y="6382474"/>
            <a:ext cx="2743200" cy="365125"/>
          </a:xfrm>
        </p:spPr>
        <p:txBody>
          <a:bodyPr/>
          <a:lstStyle/>
          <a:p>
            <a:fld id="{0059130C-D5A7-43F1-8BDF-D4DD1699FE09}" type="slidenum">
              <a:rPr lang="en-US" smtClean="0"/>
              <a:t>20</a:t>
            </a:fld>
            <a:endParaRPr lang="en-US"/>
          </a:p>
        </p:txBody>
      </p:sp>
      <p:sp>
        <p:nvSpPr>
          <p:cNvPr id="22" name="Rectangle 21"/>
          <p:cNvSpPr/>
          <p:nvPr/>
        </p:nvSpPr>
        <p:spPr>
          <a:xfrm>
            <a:off x="283725" y="44073"/>
            <a:ext cx="5449521" cy="461665"/>
          </a:xfrm>
          <a:prstGeom prst="rect">
            <a:avLst/>
          </a:prstGeom>
          <a:solidFill>
            <a:schemeClr val="bg1"/>
          </a:solidFill>
        </p:spPr>
        <p:txBody>
          <a:bodyPr wrap="square">
            <a:spAutoFit/>
          </a:bodyPr>
          <a:lstStyle/>
          <a:p>
            <a:endParaRPr lang="en-US" sz="2400" u="sng" dirty="0">
              <a:latin typeface="Times New Roman" panose="02020603050405020304" pitchFamily="18" charset="0"/>
              <a:cs typeface="Times New Roman" panose="02020603050405020304" pitchFamily="18" charset="0"/>
            </a:endParaRPr>
          </a:p>
        </p:txBody>
      </p:sp>
      <p:sp>
        <p:nvSpPr>
          <p:cNvPr id="4" name="Rectangle 3"/>
          <p:cNvSpPr/>
          <p:nvPr/>
        </p:nvSpPr>
        <p:spPr>
          <a:xfrm>
            <a:off x="674810" y="794036"/>
            <a:ext cx="10341293" cy="1892826"/>
          </a:xfrm>
          <a:prstGeom prst="rect">
            <a:avLst/>
          </a:prstGeom>
        </p:spPr>
        <p:txBody>
          <a:bodyPr wrap="none">
            <a:spAutoFit/>
          </a:bodyPr>
          <a:lstStyle/>
          <a:p>
            <a:r>
              <a:rPr lang="en-US" dirty="0">
                <a:latin typeface="Times New Roman" panose="02020603050405020304" pitchFamily="18" charset="0"/>
                <a:cs typeface="Times New Roman" panose="02020603050405020304" pitchFamily="18" charset="0"/>
              </a:rPr>
              <a:t>DCM24MON-4575 </a:t>
            </a:r>
            <a:r>
              <a:rPr lang="en-US" dirty="0" smtClean="0">
                <a:latin typeface="Times New Roman" panose="02020603050405020304" pitchFamily="18" charset="0"/>
                <a:cs typeface="Times New Roman" panose="02020603050405020304" pitchFamily="18" charset="0"/>
              </a:rPr>
              <a:t>test results</a:t>
            </a:r>
          </a:p>
          <a:p>
            <a:endParaRPr lang="en-US" dirty="0" smtClean="0">
              <a:latin typeface="Times New Roman" panose="02020603050405020304" pitchFamily="18" charset="0"/>
              <a:cs typeface="Times New Roman" panose="02020603050405020304" pitchFamily="18" charset="0"/>
            </a:endParaRPr>
          </a:p>
          <a:p>
            <a:r>
              <a:rPr lang="en-US" b="1" dirty="0" smtClean="0">
                <a:latin typeface="Times New Roman" panose="02020603050405020304" pitchFamily="18" charset="0"/>
                <a:cs typeface="Times New Roman" panose="02020603050405020304" pitchFamily="18" charset="0"/>
              </a:rPr>
              <a:t>Configuration</a:t>
            </a:r>
            <a:r>
              <a:rPr lang="en-US" dirty="0" smtClean="0">
                <a:latin typeface="Times New Roman" panose="02020603050405020304" pitchFamily="18" charset="0"/>
                <a:cs typeface="Times New Roman" panose="02020603050405020304" pitchFamily="18" charset="0"/>
              </a:rPr>
              <a:t>: 2 core threads.</a:t>
            </a:r>
            <a:endParaRPr lang="en-US" i="1" dirty="0" smtClean="0">
              <a:latin typeface="Times New Roman" panose="02020603050405020304" pitchFamily="18" charset="0"/>
              <a:cs typeface="Times New Roman" panose="02020603050405020304" pitchFamily="18" charset="0"/>
            </a:endParaRPr>
          </a:p>
          <a:p>
            <a:pPr>
              <a:lnSpc>
                <a:spcPct val="150000"/>
              </a:lnSpc>
            </a:pPr>
            <a:r>
              <a:rPr lang="en-US" b="1" dirty="0" smtClean="0">
                <a:latin typeface="Times New Roman" panose="02020603050405020304" pitchFamily="18" charset="0"/>
                <a:cs typeface="Times New Roman" panose="02020603050405020304" pitchFamily="18" charset="0"/>
              </a:rPr>
              <a:t>Log </a:t>
            </a:r>
            <a:r>
              <a:rPr lang="en-US" b="1" dirty="0">
                <a:latin typeface="Times New Roman" panose="02020603050405020304" pitchFamily="18" charset="0"/>
                <a:cs typeface="Times New Roman" panose="02020603050405020304" pitchFamily="18" charset="0"/>
              </a:rPr>
              <a:t>explanation</a:t>
            </a:r>
            <a:r>
              <a:rPr lang="en-US" dirty="0" smtClean="0">
                <a:latin typeface="Times New Roman" panose="02020603050405020304" pitchFamily="18" charset="0"/>
                <a:cs typeface="Times New Roman" panose="02020603050405020304" pitchFamily="18" charset="0"/>
              </a:rPr>
              <a:t>:</a:t>
            </a:r>
          </a:p>
          <a:p>
            <a:pPr marL="285750" indent="-285750">
              <a:buFont typeface="Wingdings" panose="05000000000000000000" pitchFamily="2" charset="2"/>
              <a:buChar char="§"/>
            </a:pPr>
            <a:r>
              <a:rPr lang="en-US" dirty="0" smtClean="0">
                <a:latin typeface="Times New Roman" panose="02020603050405020304" pitchFamily="18" charset="0"/>
                <a:cs typeface="Times New Roman" panose="02020603050405020304" pitchFamily="18" charset="0"/>
              </a:rPr>
              <a:t>Ignition OFF</a:t>
            </a:r>
            <a:r>
              <a:rPr lang="en-US" i="1" dirty="0" smtClean="0">
                <a:latin typeface="Times New Roman" panose="02020603050405020304" pitchFamily="18" charset="0"/>
                <a:cs typeface="Times New Roman" panose="02020603050405020304" pitchFamily="18" charset="0"/>
              </a:rPr>
              <a:t>: </a:t>
            </a:r>
            <a:r>
              <a:rPr lang="en-US" sz="1600" dirty="0">
                <a:solidFill>
                  <a:schemeClr val="bg2">
                    <a:lumMod val="25000"/>
                  </a:schemeClr>
                </a:solidFill>
                <a:latin typeface="Consolas" panose="020B0609020204030204" pitchFamily="49" charset="0"/>
                <a:cs typeface="Courier New" panose="02070309020205020404" pitchFamily="49" charset="0"/>
              </a:rPr>
              <a:t>“IGN-OFF”</a:t>
            </a:r>
          </a:p>
          <a:p>
            <a:pPr marL="285750" indent="-285750">
              <a:buFont typeface="Wingdings" panose="05000000000000000000" pitchFamily="2" charset="2"/>
              <a:buChar char="§"/>
            </a:pPr>
            <a:r>
              <a:rPr lang="en-US" dirty="0" smtClean="0">
                <a:latin typeface="Times New Roman" panose="02020603050405020304" pitchFamily="18" charset="0"/>
                <a:cs typeface="Times New Roman" panose="02020603050405020304" pitchFamily="18" charset="0"/>
              </a:rPr>
              <a:t>Remote Service received IG OFF status</a:t>
            </a:r>
            <a:r>
              <a:rPr lang="en-US" i="1" dirty="0" smtClean="0">
                <a:latin typeface="Times New Roman" panose="02020603050405020304" pitchFamily="18" charset="0"/>
                <a:cs typeface="Times New Roman" panose="02020603050405020304" pitchFamily="18" charset="0"/>
              </a:rPr>
              <a:t>: </a:t>
            </a:r>
            <a:r>
              <a:rPr lang="en-US" sz="1600" dirty="0">
                <a:solidFill>
                  <a:schemeClr val="bg2">
                    <a:lumMod val="25000"/>
                  </a:schemeClr>
                </a:solidFill>
                <a:latin typeface="Consolas" panose="020B0609020204030204" pitchFamily="49" charset="0"/>
                <a:cs typeface="Courier New" panose="02070309020205020404" pitchFamily="49" charset="0"/>
              </a:rPr>
              <a:t>“State = 2 RAC_remoteAcCallback.c racChangeIgnitionCb”</a:t>
            </a:r>
          </a:p>
        </p:txBody>
      </p:sp>
      <p:grpSp>
        <p:nvGrpSpPr>
          <p:cNvPr id="2" name="Group 1"/>
          <p:cNvGrpSpPr/>
          <p:nvPr/>
        </p:nvGrpSpPr>
        <p:grpSpPr>
          <a:xfrm>
            <a:off x="622115" y="3179669"/>
            <a:ext cx="9090309" cy="2945063"/>
            <a:chOff x="622115" y="2923637"/>
            <a:chExt cx="9090309" cy="2945063"/>
          </a:xfrm>
        </p:grpSpPr>
        <p:pic>
          <p:nvPicPr>
            <p:cNvPr id="7" name="Picture 6"/>
            <p:cNvPicPr>
              <a:picLocks noChangeAspect="1"/>
            </p:cNvPicPr>
            <p:nvPr/>
          </p:nvPicPr>
          <p:blipFill rotWithShape="1">
            <a:blip r:embed="rId3"/>
            <a:srcRect l="33882"/>
            <a:stretch/>
          </p:blipFill>
          <p:spPr>
            <a:xfrm>
              <a:off x="845460" y="4954300"/>
              <a:ext cx="6845688" cy="914400"/>
            </a:xfrm>
            <a:prstGeom prst="rect">
              <a:avLst/>
            </a:prstGeom>
          </p:spPr>
        </p:pic>
        <p:pic>
          <p:nvPicPr>
            <p:cNvPr id="8" name="Picture 7"/>
            <p:cNvPicPr>
              <a:picLocks noChangeAspect="1"/>
            </p:cNvPicPr>
            <p:nvPr/>
          </p:nvPicPr>
          <p:blipFill rotWithShape="1">
            <a:blip r:embed="rId4"/>
            <a:srcRect l="405" r="5231"/>
            <a:stretch/>
          </p:blipFill>
          <p:spPr>
            <a:xfrm>
              <a:off x="835152" y="3302041"/>
              <a:ext cx="6795036" cy="885825"/>
            </a:xfrm>
            <a:prstGeom prst="rect">
              <a:avLst/>
            </a:prstGeom>
          </p:spPr>
        </p:pic>
        <p:sp>
          <p:nvSpPr>
            <p:cNvPr id="9" name="Right Bracket 8"/>
            <p:cNvSpPr/>
            <p:nvPr/>
          </p:nvSpPr>
          <p:spPr>
            <a:xfrm>
              <a:off x="7706247" y="3738602"/>
              <a:ext cx="219456" cy="442913"/>
            </a:xfrm>
            <a:prstGeom prst="rightBracket">
              <a:avLst/>
            </a:prstGeom>
            <a:ln w="1905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1" name="Rectangle 20"/>
            <p:cNvSpPr/>
            <p:nvPr/>
          </p:nvSpPr>
          <p:spPr>
            <a:xfrm>
              <a:off x="7925703" y="3781742"/>
              <a:ext cx="1261884" cy="369332"/>
            </a:xfrm>
            <a:prstGeom prst="rect">
              <a:avLst/>
            </a:prstGeom>
          </p:spPr>
          <p:txBody>
            <a:bodyPr wrap="none">
              <a:spAutoFit/>
            </a:bodyPr>
            <a:lstStyle/>
            <a:p>
              <a:r>
                <a:rPr lang="en-US" dirty="0" smtClean="0">
                  <a:solidFill>
                    <a:srgbClr val="C00000"/>
                  </a:solidFill>
                  <a:latin typeface="Times New Roman" panose="02020603050405020304" pitchFamily="18" charset="0"/>
                  <a:cs typeface="Times New Roman" panose="02020603050405020304" pitchFamily="18" charset="0"/>
                </a:rPr>
                <a:t>4.2 seconds</a:t>
              </a:r>
              <a:endParaRPr lang="en-US" dirty="0">
                <a:solidFill>
                  <a:srgbClr val="C00000"/>
                </a:solidFill>
                <a:latin typeface="Times New Roman" panose="02020603050405020304" pitchFamily="18" charset="0"/>
                <a:cs typeface="Times New Roman" panose="02020603050405020304" pitchFamily="18" charset="0"/>
              </a:endParaRPr>
            </a:p>
          </p:txBody>
        </p:sp>
        <p:sp>
          <p:nvSpPr>
            <p:cNvPr id="33" name="Right Bracket 32"/>
            <p:cNvSpPr/>
            <p:nvPr/>
          </p:nvSpPr>
          <p:spPr>
            <a:xfrm>
              <a:off x="7748919" y="5403560"/>
              <a:ext cx="219456" cy="442913"/>
            </a:xfrm>
            <a:prstGeom prst="rightBracket">
              <a:avLst/>
            </a:prstGeom>
            <a:ln w="19050">
              <a:solidFill>
                <a:srgbClr val="33993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339933"/>
                </a:solidFill>
              </a:endParaRPr>
            </a:p>
          </p:txBody>
        </p:sp>
        <p:sp>
          <p:nvSpPr>
            <p:cNvPr id="34" name="Rectangle 33"/>
            <p:cNvSpPr/>
            <p:nvPr/>
          </p:nvSpPr>
          <p:spPr>
            <a:xfrm>
              <a:off x="7943991" y="5434000"/>
              <a:ext cx="1768433" cy="369332"/>
            </a:xfrm>
            <a:prstGeom prst="rect">
              <a:avLst/>
            </a:prstGeom>
          </p:spPr>
          <p:txBody>
            <a:bodyPr wrap="none">
              <a:spAutoFit/>
            </a:bodyPr>
            <a:lstStyle/>
            <a:p>
              <a:r>
                <a:rPr lang="en-US" dirty="0" smtClean="0">
                  <a:solidFill>
                    <a:srgbClr val="339933"/>
                  </a:solidFill>
                  <a:latin typeface="Times New Roman" panose="02020603050405020304" pitchFamily="18" charset="0"/>
                  <a:cs typeface="Times New Roman" panose="02020603050405020304" pitchFamily="18" charset="0"/>
                </a:rPr>
                <a:t>140 mili-seconds</a:t>
              </a:r>
              <a:endParaRPr lang="en-US" dirty="0">
                <a:solidFill>
                  <a:srgbClr val="339933"/>
                </a:solidFill>
                <a:latin typeface="Times New Roman" panose="02020603050405020304" pitchFamily="18" charset="0"/>
                <a:cs typeface="Times New Roman" panose="02020603050405020304" pitchFamily="18" charset="0"/>
              </a:endParaRPr>
            </a:p>
          </p:txBody>
        </p:sp>
        <p:sp>
          <p:nvSpPr>
            <p:cNvPr id="35" name="Rectangle 34"/>
            <p:cNvSpPr/>
            <p:nvPr/>
          </p:nvSpPr>
          <p:spPr>
            <a:xfrm>
              <a:off x="634939" y="2923637"/>
              <a:ext cx="2322111" cy="369332"/>
            </a:xfrm>
            <a:prstGeom prst="rect">
              <a:avLst/>
            </a:prstGeom>
          </p:spPr>
          <p:txBody>
            <a:bodyPr wrap="none">
              <a:spAutoFit/>
            </a:bodyPr>
            <a:lstStyle/>
            <a:p>
              <a:pPr marL="285750" indent="-285750" algn="ctr">
                <a:buFont typeface="Arial" panose="020B0604020202020204" pitchFamily="34" charset="0"/>
                <a:buChar char="•"/>
                <a:defRPr/>
              </a:pPr>
              <a:r>
                <a:rPr lang="en-US" dirty="0" smtClean="0">
                  <a:latin typeface="Times New Roman" panose="02020603050405020304" pitchFamily="18" charset="0"/>
                  <a:cs typeface="Times New Roman" panose="02020603050405020304" pitchFamily="18" charset="0"/>
                </a:rPr>
                <a:t>On-Demand Thread</a:t>
              </a:r>
              <a:endParaRPr lang="en-US" dirty="0">
                <a:latin typeface="Times New Roman" panose="02020603050405020304" pitchFamily="18" charset="0"/>
                <a:cs typeface="Times New Roman" panose="02020603050405020304" pitchFamily="18" charset="0"/>
              </a:endParaRPr>
            </a:p>
          </p:txBody>
        </p:sp>
        <p:sp>
          <p:nvSpPr>
            <p:cNvPr id="36" name="Rectangle 35"/>
            <p:cNvSpPr/>
            <p:nvPr/>
          </p:nvSpPr>
          <p:spPr>
            <a:xfrm>
              <a:off x="622115" y="4540804"/>
              <a:ext cx="2508059" cy="369332"/>
            </a:xfrm>
            <a:prstGeom prst="rect">
              <a:avLst/>
            </a:prstGeom>
          </p:spPr>
          <p:txBody>
            <a:bodyPr wrap="none">
              <a:spAutoFit/>
            </a:bodyPr>
            <a:lstStyle/>
            <a:p>
              <a:pPr marL="285750" indent="-285750" algn="ctr">
                <a:buFont typeface="Arial" panose="020B0604020202020204" pitchFamily="34" charset="0"/>
                <a:buChar char="•"/>
                <a:defRPr/>
              </a:pPr>
              <a:r>
                <a:rPr lang="en-US" dirty="0" smtClean="0">
                  <a:latin typeface="Times New Roman" panose="02020603050405020304" pitchFamily="18" charset="0"/>
                  <a:cs typeface="Times New Roman" panose="02020603050405020304" pitchFamily="18" charset="0"/>
                </a:rPr>
                <a:t>Dynamic Thread Pool</a:t>
              </a:r>
              <a:endParaRPr lang="en-US" dirty="0">
                <a:latin typeface="Times New Roman" panose="02020603050405020304" pitchFamily="18" charset="0"/>
                <a:cs typeface="Times New Roman" panose="02020603050405020304" pitchFamily="18" charset="0"/>
              </a:endParaRPr>
            </a:p>
          </p:txBody>
        </p:sp>
        <p:sp>
          <p:nvSpPr>
            <p:cNvPr id="37" name="Rectangle 36"/>
            <p:cNvSpPr/>
            <p:nvPr/>
          </p:nvSpPr>
          <p:spPr>
            <a:xfrm>
              <a:off x="845460" y="5403306"/>
              <a:ext cx="648060" cy="442913"/>
            </a:xfrm>
            <a:prstGeom prst="rect">
              <a:avLst/>
            </a:prstGeom>
            <a:noFill/>
            <a:ln w="19050">
              <a:solidFill>
                <a:srgbClr val="3399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8" name="Rectangle 37"/>
            <p:cNvSpPr/>
            <p:nvPr/>
          </p:nvSpPr>
          <p:spPr>
            <a:xfrm>
              <a:off x="835152" y="3744952"/>
              <a:ext cx="648060" cy="442913"/>
            </a:xfrm>
            <a:prstGeom prst="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9" name="Rectangle 38"/>
          <p:cNvSpPr/>
          <p:nvPr/>
        </p:nvSpPr>
        <p:spPr>
          <a:xfrm>
            <a:off x="459789" y="146304"/>
            <a:ext cx="5449521" cy="461665"/>
          </a:xfrm>
          <a:prstGeom prst="rect">
            <a:avLst/>
          </a:prstGeom>
          <a:solidFill>
            <a:schemeClr val="bg1"/>
          </a:solidFill>
        </p:spPr>
        <p:txBody>
          <a:bodyPr wrap="square">
            <a:spAutoFit/>
          </a:bodyPr>
          <a:lstStyle/>
          <a:p>
            <a:r>
              <a:rPr lang="en-US" sz="2400" u="sng" dirty="0">
                <a:latin typeface="Times New Roman" panose="02020603050405020304" pitchFamily="18" charset="0"/>
                <a:cs typeface="Times New Roman" panose="02020603050405020304" pitchFamily="18" charset="0"/>
              </a:rPr>
              <a:t>5. Implementation and Verification</a:t>
            </a:r>
          </a:p>
        </p:txBody>
      </p:sp>
    </p:spTree>
    <p:extLst>
      <p:ext uri="{BB962C8B-B14F-4D97-AF65-F5344CB8AC3E}">
        <p14:creationId xmlns:p14="http://schemas.microsoft.com/office/powerpoint/2010/main" val="1659265521"/>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xfrm>
            <a:off x="8519163" y="6382474"/>
            <a:ext cx="2743200" cy="365125"/>
          </a:xfrm>
        </p:spPr>
        <p:txBody>
          <a:bodyPr/>
          <a:lstStyle/>
          <a:p>
            <a:fld id="{0059130C-D5A7-43F1-8BDF-D4DD1699FE09}" type="slidenum">
              <a:rPr lang="en-US" smtClean="0"/>
              <a:t>21</a:t>
            </a:fld>
            <a:endParaRPr lang="en-US"/>
          </a:p>
        </p:txBody>
      </p:sp>
      <p:sp>
        <p:nvSpPr>
          <p:cNvPr id="22" name="Rectangle 21"/>
          <p:cNvSpPr/>
          <p:nvPr/>
        </p:nvSpPr>
        <p:spPr>
          <a:xfrm>
            <a:off x="283725" y="44073"/>
            <a:ext cx="5449521" cy="461665"/>
          </a:xfrm>
          <a:prstGeom prst="rect">
            <a:avLst/>
          </a:prstGeom>
          <a:solidFill>
            <a:schemeClr val="bg1"/>
          </a:solidFill>
        </p:spPr>
        <p:txBody>
          <a:bodyPr wrap="square">
            <a:spAutoFit/>
          </a:bodyPr>
          <a:lstStyle/>
          <a:p>
            <a:endParaRPr lang="en-US" sz="2400" u="sng" dirty="0">
              <a:latin typeface="Times New Roman" panose="02020603050405020304" pitchFamily="18" charset="0"/>
              <a:cs typeface="Times New Roman" panose="02020603050405020304" pitchFamily="18" charset="0"/>
            </a:endParaRPr>
          </a:p>
        </p:txBody>
      </p:sp>
      <p:sp>
        <p:nvSpPr>
          <p:cNvPr id="4" name="Rectangle 3"/>
          <p:cNvSpPr/>
          <p:nvPr/>
        </p:nvSpPr>
        <p:spPr>
          <a:xfrm>
            <a:off x="459789" y="757166"/>
            <a:ext cx="2924903" cy="369332"/>
          </a:xfrm>
          <a:prstGeom prst="rect">
            <a:avLst/>
          </a:prstGeom>
        </p:spPr>
        <p:txBody>
          <a:bodyPr wrap="none">
            <a:spAutoFit/>
          </a:bodyPr>
          <a:lstStyle/>
          <a:p>
            <a:r>
              <a:rPr lang="en-US" dirty="0">
                <a:latin typeface="Times New Roman" panose="02020603050405020304" pitchFamily="18" charset="0"/>
                <a:cs typeface="Times New Roman" panose="02020603050405020304" pitchFamily="18" charset="0"/>
              </a:rPr>
              <a:t>System Resource </a:t>
            </a:r>
            <a:r>
              <a:rPr lang="en-US" dirty="0" smtClean="0">
                <a:latin typeface="Times New Roman" panose="02020603050405020304" pitchFamily="18" charset="0"/>
                <a:cs typeface="Times New Roman" panose="02020603050405020304" pitchFamily="18" charset="0"/>
              </a:rPr>
              <a:t>Verification</a:t>
            </a:r>
            <a:endParaRPr lang="en-US" dirty="0">
              <a:latin typeface="Times New Roman" panose="02020603050405020304" pitchFamily="18" charset="0"/>
              <a:cs typeface="Times New Roman" panose="02020603050405020304" pitchFamily="18" charset="0"/>
            </a:endParaRPr>
          </a:p>
        </p:txBody>
      </p:sp>
      <p:sp>
        <p:nvSpPr>
          <p:cNvPr id="13" name="Rectangle 12"/>
          <p:cNvSpPr/>
          <p:nvPr/>
        </p:nvSpPr>
        <p:spPr>
          <a:xfrm>
            <a:off x="459789" y="146304"/>
            <a:ext cx="5449521" cy="461665"/>
          </a:xfrm>
          <a:prstGeom prst="rect">
            <a:avLst/>
          </a:prstGeom>
          <a:solidFill>
            <a:schemeClr val="bg1"/>
          </a:solidFill>
        </p:spPr>
        <p:txBody>
          <a:bodyPr wrap="square">
            <a:spAutoFit/>
          </a:bodyPr>
          <a:lstStyle/>
          <a:p>
            <a:r>
              <a:rPr lang="en-US" sz="2400" u="sng" dirty="0">
                <a:latin typeface="Times New Roman" panose="02020603050405020304" pitchFamily="18" charset="0"/>
                <a:cs typeface="Times New Roman" panose="02020603050405020304" pitchFamily="18" charset="0"/>
              </a:rPr>
              <a:t>5. Implementation and Verification</a:t>
            </a:r>
          </a:p>
        </p:txBody>
      </p:sp>
      <p:graphicFrame>
        <p:nvGraphicFramePr>
          <p:cNvPr id="2" name="Table 1"/>
          <p:cNvGraphicFramePr>
            <a:graphicFrameLocks noGrp="1"/>
          </p:cNvGraphicFramePr>
          <p:nvPr>
            <p:extLst>
              <p:ext uri="{D42A27DB-BD31-4B8C-83A1-F6EECF244321}">
                <p14:modId xmlns:p14="http://schemas.microsoft.com/office/powerpoint/2010/main" val="1060961460"/>
              </p:ext>
            </p:extLst>
          </p:nvPr>
        </p:nvGraphicFramePr>
        <p:xfrm>
          <a:off x="549279" y="1396216"/>
          <a:ext cx="5583298" cy="2819400"/>
        </p:xfrm>
        <a:graphic>
          <a:graphicData uri="http://schemas.openxmlformats.org/drawingml/2006/table">
            <a:tbl>
              <a:tblPr>
                <a:tableStyleId>{616DA210-FB5B-4158-B5E0-FEB733F419BA}</a:tableStyleId>
              </a:tblPr>
              <a:tblGrid>
                <a:gridCol w="2098671"/>
                <a:gridCol w="1716786"/>
                <a:gridCol w="1767841"/>
              </a:tblGrid>
              <a:tr h="0">
                <a:tc>
                  <a:txBody>
                    <a:bodyPr/>
                    <a:lstStyle/>
                    <a:p>
                      <a:pPr algn="ctr"/>
                      <a:r>
                        <a:rPr lang="en-US" sz="1600" dirty="0" smtClean="0">
                          <a:effectLst/>
                          <a:latin typeface="Times New Roman" panose="02020603050405020304" pitchFamily="18" charset="0"/>
                          <a:cs typeface="Times New Roman" panose="02020603050405020304" pitchFamily="18" charset="0"/>
                        </a:rPr>
                        <a:t>Criteria</a:t>
                      </a:r>
                      <a:endParaRPr lang="en-US" sz="1600" b="1" dirty="0">
                        <a:solidFill>
                          <a:srgbClr val="030303"/>
                        </a:solidFill>
                        <a:effectLst/>
                        <a:latin typeface="Times New Roman" panose="02020603050405020304" pitchFamily="18" charset="0"/>
                        <a:cs typeface="Times New Roman" panose="02020603050405020304" pitchFamily="18" charset="0"/>
                      </a:endParaRPr>
                    </a:p>
                  </a:txBody>
                  <a:tcPr marL="82550" marR="82550" marT="38100" marB="38100" anchor="ctr">
                    <a:solidFill>
                      <a:schemeClr val="bg2"/>
                    </a:solidFill>
                  </a:tcPr>
                </a:tc>
                <a:tc>
                  <a:txBody>
                    <a:bodyPr/>
                    <a:lstStyle/>
                    <a:p>
                      <a:pPr algn="ctr"/>
                      <a:r>
                        <a:rPr lang="en-US" sz="1600" dirty="0">
                          <a:effectLst/>
                          <a:latin typeface="Times New Roman" panose="02020603050405020304" pitchFamily="18" charset="0"/>
                          <a:cs typeface="Times New Roman" panose="02020603050405020304" pitchFamily="18" charset="0"/>
                        </a:rPr>
                        <a:t>On-Demand Thread</a:t>
                      </a:r>
                      <a:endParaRPr lang="en-US" sz="1600" b="1" dirty="0">
                        <a:solidFill>
                          <a:srgbClr val="030303"/>
                        </a:solidFill>
                        <a:effectLst/>
                        <a:latin typeface="Times New Roman" panose="02020603050405020304" pitchFamily="18" charset="0"/>
                        <a:cs typeface="Times New Roman" panose="02020603050405020304" pitchFamily="18" charset="0"/>
                      </a:endParaRPr>
                    </a:p>
                  </a:txBody>
                  <a:tcPr marL="82550" marR="82550" marT="38100" marB="38100" anchor="ctr">
                    <a:solidFill>
                      <a:schemeClr val="bg2"/>
                    </a:solidFill>
                  </a:tcPr>
                </a:tc>
                <a:tc>
                  <a:txBody>
                    <a:bodyPr/>
                    <a:lstStyle/>
                    <a:p>
                      <a:pPr algn="ctr"/>
                      <a:r>
                        <a:rPr lang="en-US" sz="1600" dirty="0">
                          <a:effectLst/>
                          <a:latin typeface="Times New Roman" panose="02020603050405020304" pitchFamily="18" charset="0"/>
                          <a:cs typeface="Times New Roman" panose="02020603050405020304" pitchFamily="18" charset="0"/>
                        </a:rPr>
                        <a:t>Dynamic Thread Pool</a:t>
                      </a:r>
                      <a:endParaRPr lang="en-US" sz="1600" b="1" dirty="0">
                        <a:solidFill>
                          <a:srgbClr val="030303"/>
                        </a:solidFill>
                        <a:effectLst/>
                        <a:latin typeface="Times New Roman" panose="02020603050405020304" pitchFamily="18" charset="0"/>
                        <a:cs typeface="Times New Roman" panose="02020603050405020304" pitchFamily="18" charset="0"/>
                      </a:endParaRPr>
                    </a:p>
                  </a:txBody>
                  <a:tcPr marL="82550" marR="82550" marT="38100" marB="38100" anchor="ctr">
                    <a:solidFill>
                      <a:schemeClr val="bg2"/>
                    </a:solidFill>
                  </a:tcPr>
                </a:tc>
              </a:tr>
              <a:tr h="503864">
                <a:tc>
                  <a:txBody>
                    <a:bodyPr/>
                    <a:lstStyle/>
                    <a:p>
                      <a:r>
                        <a:rPr lang="en-US" sz="1600" dirty="0">
                          <a:effectLst/>
                          <a:latin typeface="Times New Roman" panose="02020603050405020304" pitchFamily="18" charset="0"/>
                          <a:cs typeface="Times New Roman" panose="02020603050405020304" pitchFamily="18" charset="0"/>
                        </a:rPr>
                        <a:t>Notification </a:t>
                      </a:r>
                      <a:r>
                        <a:rPr lang="en-US" sz="1600" dirty="0" smtClean="0">
                          <a:effectLst/>
                          <a:latin typeface="Times New Roman" panose="02020603050405020304" pitchFamily="18" charset="0"/>
                          <a:cs typeface="Times New Roman" panose="02020603050405020304" pitchFamily="18" charset="0"/>
                        </a:rPr>
                        <a:t>time </a:t>
                      </a:r>
                    </a:p>
                    <a:p>
                      <a:r>
                        <a:rPr lang="en-US" sz="1600" dirty="0" smtClean="0">
                          <a:effectLst/>
                          <a:latin typeface="Times New Roman" panose="02020603050405020304" pitchFamily="18" charset="0"/>
                          <a:cs typeface="Times New Roman" panose="02020603050405020304" pitchFamily="18" charset="0"/>
                        </a:rPr>
                        <a:t>(for an event)</a:t>
                      </a:r>
                      <a:endParaRPr lang="en-US" sz="1600" dirty="0">
                        <a:effectLst/>
                        <a:latin typeface="Times New Roman" panose="02020603050405020304" pitchFamily="18" charset="0"/>
                        <a:cs typeface="Times New Roman" panose="02020603050405020304" pitchFamily="18" charset="0"/>
                      </a:endParaRPr>
                    </a:p>
                  </a:txBody>
                  <a:tcPr marL="82550" marR="82550" marT="38100" marB="38100" anchor="ctr">
                    <a:solidFill>
                      <a:schemeClr val="bg2"/>
                    </a:solidFill>
                  </a:tcPr>
                </a:tc>
                <a:tc>
                  <a:txBody>
                    <a:bodyPr/>
                    <a:lstStyle/>
                    <a:p>
                      <a:pPr algn="ctr"/>
                      <a:r>
                        <a:rPr lang="en-US" sz="1600" dirty="0" smtClean="0">
                          <a:effectLst/>
                          <a:latin typeface="Times New Roman" panose="02020603050405020304" pitchFamily="18" charset="0"/>
                          <a:cs typeface="Times New Roman" panose="02020603050405020304" pitchFamily="18" charset="0"/>
                        </a:rPr>
                        <a:t>750 ms</a:t>
                      </a:r>
                      <a:endParaRPr lang="en-US" sz="1600" dirty="0">
                        <a:effectLst/>
                        <a:latin typeface="Times New Roman" panose="02020603050405020304" pitchFamily="18" charset="0"/>
                        <a:cs typeface="Times New Roman" panose="02020603050405020304" pitchFamily="18" charset="0"/>
                      </a:endParaRPr>
                    </a:p>
                  </a:txBody>
                  <a:tcPr marL="82550" marR="82550" marT="38100" marB="38100" anchor="ctr">
                    <a:solidFill>
                      <a:schemeClr val="bg1"/>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600" b="1" kern="1200" dirty="0" smtClean="0">
                          <a:solidFill>
                            <a:schemeClr val="accent6">
                              <a:lumMod val="75000"/>
                            </a:schemeClr>
                          </a:solidFill>
                          <a:effectLst/>
                          <a:latin typeface="Times New Roman" panose="02020603050405020304" pitchFamily="18" charset="0"/>
                          <a:ea typeface="+mn-ea"/>
                          <a:cs typeface="Times New Roman" panose="02020603050405020304" pitchFamily="18" charset="0"/>
                        </a:rPr>
                        <a:t>22 ms</a:t>
                      </a:r>
                      <a:r>
                        <a:rPr lang="en-US" sz="1600" b="1" kern="1200" baseline="0" dirty="0" smtClean="0">
                          <a:solidFill>
                            <a:schemeClr val="accent6">
                              <a:lumMod val="75000"/>
                            </a:schemeClr>
                          </a:solidFill>
                          <a:effectLst/>
                          <a:latin typeface="Times New Roman" panose="02020603050405020304" pitchFamily="18" charset="0"/>
                          <a:ea typeface="+mn-ea"/>
                          <a:cs typeface="Times New Roman" panose="02020603050405020304" pitchFamily="18" charset="0"/>
                        </a:rPr>
                        <a:t> </a:t>
                      </a:r>
                      <a:r>
                        <a:rPr lang="en-US" sz="1600" b="1" dirty="0" smtClean="0">
                          <a:solidFill>
                            <a:schemeClr val="accent6">
                              <a:lumMod val="75000"/>
                            </a:schemeClr>
                          </a:solidFill>
                          <a:effectLst/>
                          <a:latin typeface="Times New Roman" panose="02020603050405020304" pitchFamily="18" charset="0"/>
                          <a:cs typeface="Times New Roman" panose="02020603050405020304" pitchFamily="18" charset="0"/>
                        </a:rPr>
                        <a:t>(↓97%)</a:t>
                      </a:r>
                    </a:p>
                  </a:txBody>
                  <a:tcPr marL="82550" marR="82550" marT="38100" marB="38100" anchor="ctr">
                    <a:solidFill>
                      <a:schemeClr val="bg1"/>
                    </a:solidFill>
                  </a:tcPr>
                </a:tc>
              </a:tr>
              <a:tr h="499872">
                <a:tc>
                  <a:txBody>
                    <a:bodyPr/>
                    <a:lstStyle/>
                    <a:p>
                      <a:r>
                        <a:rPr lang="en-US" sz="1600" dirty="0">
                          <a:effectLst/>
                          <a:latin typeface="Times New Roman" panose="02020603050405020304" pitchFamily="18" charset="0"/>
                          <a:cs typeface="Times New Roman" panose="02020603050405020304" pitchFamily="18" charset="0"/>
                        </a:rPr>
                        <a:t>CPU </a:t>
                      </a:r>
                      <a:r>
                        <a:rPr lang="en-US" sz="1600" dirty="0" smtClean="0">
                          <a:effectLst/>
                          <a:latin typeface="Times New Roman" panose="02020603050405020304" pitchFamily="18" charset="0"/>
                          <a:cs typeface="Times New Roman" panose="02020603050405020304" pitchFamily="18" charset="0"/>
                        </a:rPr>
                        <a:t>utilization </a:t>
                      </a:r>
                    </a:p>
                    <a:p>
                      <a:r>
                        <a:rPr lang="en-US" sz="1600" dirty="0" smtClean="0">
                          <a:effectLst/>
                          <a:latin typeface="Times New Roman" panose="02020603050405020304" pitchFamily="18" charset="0"/>
                          <a:cs typeface="Times New Roman" panose="02020603050405020304" pitchFamily="18" charset="0"/>
                        </a:rPr>
                        <a:t>(</a:t>
                      </a:r>
                      <a:r>
                        <a:rPr lang="en-US" sz="1600" dirty="0">
                          <a:effectLst/>
                          <a:latin typeface="Times New Roman" panose="02020603050405020304" pitchFamily="18" charset="0"/>
                          <a:cs typeface="Times New Roman" panose="02020603050405020304" pitchFamily="18" charset="0"/>
                        </a:rPr>
                        <a:t>during notifications)</a:t>
                      </a:r>
                    </a:p>
                  </a:txBody>
                  <a:tcPr marL="82550" marR="82550" marT="38100" marB="38100" anchor="ctr">
                    <a:solidFill>
                      <a:schemeClr val="bg2"/>
                    </a:solidFill>
                  </a:tcPr>
                </a:tc>
                <a:tc>
                  <a:txBody>
                    <a:bodyPr/>
                    <a:lstStyle/>
                    <a:p>
                      <a:pPr algn="ctr"/>
                      <a:r>
                        <a:rPr lang="en-US" sz="1600" dirty="0" smtClean="0">
                          <a:effectLst/>
                          <a:latin typeface="Times New Roman" panose="02020603050405020304" pitchFamily="18" charset="0"/>
                          <a:cs typeface="Times New Roman" panose="02020603050405020304" pitchFamily="18" charset="0"/>
                        </a:rPr>
                        <a:t>14%</a:t>
                      </a:r>
                      <a:endParaRPr lang="en-US" sz="1600" dirty="0">
                        <a:effectLst/>
                        <a:latin typeface="Times New Roman" panose="02020603050405020304" pitchFamily="18" charset="0"/>
                        <a:cs typeface="Times New Roman" panose="02020603050405020304" pitchFamily="18" charset="0"/>
                      </a:endParaRPr>
                    </a:p>
                  </a:txBody>
                  <a:tcPr marL="82550" marR="82550" marT="38100" marB="38100" anchor="ctr">
                    <a:solidFill>
                      <a:schemeClr val="bg1"/>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600" b="1" kern="1200" dirty="0" smtClean="0">
                          <a:solidFill>
                            <a:schemeClr val="accent6">
                              <a:lumMod val="75000"/>
                            </a:schemeClr>
                          </a:solidFill>
                          <a:effectLst/>
                          <a:latin typeface="Times New Roman" panose="02020603050405020304" pitchFamily="18" charset="0"/>
                          <a:ea typeface="+mn-ea"/>
                          <a:cs typeface="Times New Roman" panose="02020603050405020304" pitchFamily="18" charset="0"/>
                        </a:rPr>
                        <a:t>3.7% </a:t>
                      </a:r>
                      <a:r>
                        <a:rPr lang="en-US" sz="1600" b="1" dirty="0" smtClean="0">
                          <a:solidFill>
                            <a:schemeClr val="accent6">
                              <a:lumMod val="75000"/>
                            </a:schemeClr>
                          </a:solidFill>
                          <a:effectLst/>
                          <a:latin typeface="Times New Roman" panose="02020603050405020304" pitchFamily="18" charset="0"/>
                          <a:cs typeface="Times New Roman" panose="02020603050405020304" pitchFamily="18" charset="0"/>
                        </a:rPr>
                        <a:t>(↓74%)</a:t>
                      </a:r>
                    </a:p>
                  </a:txBody>
                  <a:tcPr marL="82550" marR="82550" marT="38100" marB="38100" anchor="ctr">
                    <a:solidFill>
                      <a:schemeClr val="bg1"/>
                    </a:solidFill>
                  </a:tcPr>
                </a:tc>
              </a:tr>
              <a:tr h="505968">
                <a:tc>
                  <a:txBody>
                    <a:bodyPr/>
                    <a:lstStyle/>
                    <a:p>
                      <a:r>
                        <a:rPr lang="en-US" sz="1600" dirty="0">
                          <a:effectLst/>
                          <a:latin typeface="Times New Roman" panose="02020603050405020304" pitchFamily="18" charset="0"/>
                          <a:cs typeface="Times New Roman" panose="02020603050405020304" pitchFamily="18" charset="0"/>
                        </a:rPr>
                        <a:t>VmRSS </a:t>
                      </a:r>
                      <a:endParaRPr lang="en-US" sz="1600" dirty="0" smtClean="0">
                        <a:effectLst/>
                        <a:latin typeface="Times New Roman" panose="02020603050405020304" pitchFamily="18" charset="0"/>
                        <a:cs typeface="Times New Roman" panose="02020603050405020304" pitchFamily="18" charset="0"/>
                      </a:endParaRPr>
                    </a:p>
                    <a:p>
                      <a:r>
                        <a:rPr lang="en-US" sz="1600" dirty="0" smtClean="0">
                          <a:effectLst/>
                          <a:latin typeface="Times New Roman" panose="02020603050405020304" pitchFamily="18" charset="0"/>
                          <a:cs typeface="Times New Roman" panose="02020603050405020304" pitchFamily="18" charset="0"/>
                        </a:rPr>
                        <a:t>(</a:t>
                      </a:r>
                      <a:r>
                        <a:rPr lang="en-US" sz="1600" dirty="0">
                          <a:effectLst/>
                          <a:latin typeface="Times New Roman" panose="02020603050405020304" pitchFamily="18" charset="0"/>
                          <a:cs typeface="Times New Roman" panose="02020603050405020304" pitchFamily="18" charset="0"/>
                        </a:rPr>
                        <a:t>Physical RAM)</a:t>
                      </a:r>
                    </a:p>
                  </a:txBody>
                  <a:tcPr marL="82550" marR="82550" marT="38100" marB="38100" anchor="ctr">
                    <a:solidFill>
                      <a:schemeClr val="bg2"/>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600" b="0" dirty="0" smtClean="0">
                          <a:effectLst/>
                          <a:latin typeface="Times New Roman" panose="02020603050405020304" pitchFamily="18" charset="0"/>
                          <a:cs typeface="Times New Roman" panose="02020603050405020304" pitchFamily="18" charset="0"/>
                        </a:rPr>
                        <a:t>6.8</a:t>
                      </a:r>
                      <a:r>
                        <a:rPr lang="en-US" sz="1600" b="0" baseline="0" dirty="0" smtClean="0">
                          <a:effectLst/>
                          <a:latin typeface="Times New Roman" panose="02020603050405020304" pitchFamily="18" charset="0"/>
                          <a:cs typeface="Times New Roman" panose="02020603050405020304" pitchFamily="18" charset="0"/>
                        </a:rPr>
                        <a:t> </a:t>
                      </a:r>
                      <a:r>
                        <a:rPr lang="en-US" sz="1600" b="0" dirty="0" smtClean="0">
                          <a:effectLst/>
                          <a:latin typeface="Times New Roman" panose="02020603050405020304" pitchFamily="18" charset="0"/>
                          <a:cs typeface="Times New Roman" panose="02020603050405020304" pitchFamily="18" charset="0"/>
                        </a:rPr>
                        <a:t>MB</a:t>
                      </a:r>
                    </a:p>
                  </a:txBody>
                  <a:tcPr marL="82550" marR="82550" marT="38100" marB="38100" anchor="ctr">
                    <a:solidFill>
                      <a:schemeClr val="bg1"/>
                    </a:solidFill>
                  </a:tcPr>
                </a:tc>
                <a:tc>
                  <a:txBody>
                    <a:bodyPr/>
                    <a:lstStyle/>
                    <a:p>
                      <a:pPr algn="ctr"/>
                      <a:r>
                        <a:rPr lang="en-US" sz="1600" b="1" kern="1200" dirty="0" smtClean="0">
                          <a:solidFill>
                            <a:schemeClr val="accent6">
                              <a:lumMod val="75000"/>
                            </a:schemeClr>
                          </a:solidFill>
                          <a:effectLst/>
                          <a:latin typeface="Times New Roman" panose="02020603050405020304" pitchFamily="18" charset="0"/>
                          <a:ea typeface="+mn-ea"/>
                          <a:cs typeface="Times New Roman" panose="02020603050405020304" pitchFamily="18" charset="0"/>
                        </a:rPr>
                        <a:t>5.7 MB (</a:t>
                      </a:r>
                      <a:r>
                        <a:rPr lang="en-US" sz="1600" b="1" dirty="0" smtClean="0">
                          <a:solidFill>
                            <a:schemeClr val="accent6">
                              <a:lumMod val="75000"/>
                            </a:schemeClr>
                          </a:solidFill>
                          <a:effectLst/>
                          <a:latin typeface="Times New Roman" panose="02020603050405020304" pitchFamily="18" charset="0"/>
                          <a:cs typeface="Times New Roman" panose="02020603050405020304" pitchFamily="18" charset="0"/>
                        </a:rPr>
                        <a:t>↓12%)</a:t>
                      </a:r>
                      <a:endParaRPr lang="en-US" sz="1600" b="1" dirty="0">
                        <a:solidFill>
                          <a:schemeClr val="accent6">
                            <a:lumMod val="75000"/>
                          </a:schemeClr>
                        </a:solidFill>
                        <a:effectLst/>
                        <a:latin typeface="Times New Roman" panose="02020603050405020304" pitchFamily="18" charset="0"/>
                        <a:cs typeface="Times New Roman" panose="02020603050405020304" pitchFamily="18" charset="0"/>
                      </a:endParaRPr>
                    </a:p>
                  </a:txBody>
                  <a:tcPr marL="82550" marR="82550" marT="38100" marB="38100" anchor="ctr">
                    <a:solidFill>
                      <a:schemeClr val="bg1"/>
                    </a:solidFill>
                  </a:tcPr>
                </a:tc>
              </a:tr>
              <a:tr h="493776">
                <a:tc>
                  <a:txBody>
                    <a:bodyPr/>
                    <a:lstStyle/>
                    <a:p>
                      <a:r>
                        <a:rPr lang="en-US" sz="1600" dirty="0">
                          <a:effectLst/>
                          <a:latin typeface="Times New Roman" panose="02020603050405020304" pitchFamily="18" charset="0"/>
                          <a:cs typeface="Times New Roman" panose="02020603050405020304" pitchFamily="18" charset="0"/>
                        </a:rPr>
                        <a:t>VmSize </a:t>
                      </a:r>
                      <a:endParaRPr lang="en-US" sz="1600" dirty="0" smtClean="0">
                        <a:effectLst/>
                        <a:latin typeface="Times New Roman" panose="02020603050405020304" pitchFamily="18" charset="0"/>
                        <a:cs typeface="Times New Roman" panose="02020603050405020304" pitchFamily="18" charset="0"/>
                      </a:endParaRPr>
                    </a:p>
                    <a:p>
                      <a:r>
                        <a:rPr lang="en-US" sz="1600" dirty="0" smtClean="0">
                          <a:effectLst/>
                          <a:latin typeface="Times New Roman" panose="02020603050405020304" pitchFamily="18" charset="0"/>
                          <a:cs typeface="Times New Roman" panose="02020603050405020304" pitchFamily="18" charset="0"/>
                        </a:rPr>
                        <a:t>(</a:t>
                      </a:r>
                      <a:r>
                        <a:rPr lang="en-US" sz="1600" dirty="0">
                          <a:effectLst/>
                          <a:latin typeface="Times New Roman" panose="02020603050405020304" pitchFamily="18" charset="0"/>
                          <a:cs typeface="Times New Roman" panose="02020603050405020304" pitchFamily="18" charset="0"/>
                        </a:rPr>
                        <a:t>Virtual </a:t>
                      </a:r>
                      <a:r>
                        <a:rPr lang="en-US" sz="1600" dirty="0" smtClean="0">
                          <a:effectLst/>
                          <a:latin typeface="Times New Roman" panose="02020603050405020304" pitchFamily="18" charset="0"/>
                          <a:cs typeface="Times New Roman" panose="02020603050405020304" pitchFamily="18" charset="0"/>
                        </a:rPr>
                        <a:t>Memory)</a:t>
                      </a:r>
                      <a:endParaRPr lang="en-US" sz="1600" dirty="0">
                        <a:effectLst/>
                        <a:latin typeface="Times New Roman" panose="02020603050405020304" pitchFamily="18" charset="0"/>
                        <a:cs typeface="Times New Roman" panose="02020603050405020304" pitchFamily="18" charset="0"/>
                      </a:endParaRPr>
                    </a:p>
                  </a:txBody>
                  <a:tcPr marL="82550" marR="82550" marT="38100" marB="38100" anchor="ctr">
                    <a:solidFill>
                      <a:schemeClr val="bg2"/>
                    </a:solidFill>
                  </a:tcPr>
                </a:tc>
                <a:tc>
                  <a:txBody>
                    <a:bodyPr/>
                    <a:lstStyle/>
                    <a:p>
                      <a:pPr algn="ctr"/>
                      <a:r>
                        <a:rPr lang="en-US" sz="1600" dirty="0" smtClean="0">
                          <a:effectLst/>
                          <a:latin typeface="Times New Roman" panose="02020603050405020304" pitchFamily="18" charset="0"/>
                          <a:cs typeface="Times New Roman" panose="02020603050405020304" pitchFamily="18" charset="0"/>
                        </a:rPr>
                        <a:t>335 MB</a:t>
                      </a:r>
                      <a:endParaRPr lang="en-US" sz="1600" dirty="0">
                        <a:effectLst/>
                        <a:latin typeface="Times New Roman" panose="02020603050405020304" pitchFamily="18" charset="0"/>
                        <a:cs typeface="Times New Roman" panose="02020603050405020304" pitchFamily="18" charset="0"/>
                      </a:endParaRPr>
                    </a:p>
                  </a:txBody>
                  <a:tcPr marL="82550" marR="82550" marT="38100" marB="38100" anchor="ctr">
                    <a:solidFill>
                      <a:schemeClr val="bg1"/>
                    </a:solidFill>
                  </a:tcPr>
                </a:tc>
                <a:tc>
                  <a:txBody>
                    <a:bodyPr/>
                    <a:lstStyle/>
                    <a:p>
                      <a:pPr algn="ctr"/>
                      <a:r>
                        <a:rPr lang="en-US" sz="1600" b="1" kern="1200" dirty="0" smtClean="0">
                          <a:solidFill>
                            <a:schemeClr val="accent6">
                              <a:lumMod val="75000"/>
                            </a:schemeClr>
                          </a:solidFill>
                          <a:effectLst/>
                          <a:latin typeface="Times New Roman" panose="02020603050405020304" pitchFamily="18" charset="0"/>
                          <a:ea typeface="+mn-ea"/>
                          <a:cs typeface="Times New Roman" panose="02020603050405020304" pitchFamily="18" charset="0"/>
                        </a:rPr>
                        <a:t>142 MB </a:t>
                      </a:r>
                      <a:r>
                        <a:rPr lang="en-US" sz="1600" b="1" dirty="0" smtClean="0">
                          <a:solidFill>
                            <a:schemeClr val="accent6">
                              <a:lumMod val="75000"/>
                            </a:schemeClr>
                          </a:solidFill>
                          <a:effectLst/>
                          <a:latin typeface="Times New Roman" panose="02020603050405020304" pitchFamily="18" charset="0"/>
                          <a:cs typeface="Times New Roman" panose="02020603050405020304" pitchFamily="18" charset="0"/>
                        </a:rPr>
                        <a:t>(↓58%)</a:t>
                      </a:r>
                      <a:endParaRPr lang="en-US" sz="1600" b="1" dirty="0">
                        <a:solidFill>
                          <a:schemeClr val="accent6">
                            <a:lumMod val="75000"/>
                          </a:schemeClr>
                        </a:solidFill>
                        <a:effectLst/>
                        <a:latin typeface="Times New Roman" panose="02020603050405020304" pitchFamily="18" charset="0"/>
                        <a:cs typeface="Times New Roman" panose="02020603050405020304" pitchFamily="18" charset="0"/>
                      </a:endParaRPr>
                    </a:p>
                  </a:txBody>
                  <a:tcPr marL="82550" marR="82550" marT="38100" marB="38100" anchor="ctr">
                    <a:solidFill>
                      <a:schemeClr val="bg1"/>
                    </a:solidFill>
                  </a:tcPr>
                </a:tc>
              </a:tr>
            </a:tbl>
          </a:graphicData>
        </a:graphic>
      </p:graphicFrame>
      <p:sp>
        <p:nvSpPr>
          <p:cNvPr id="17" name="Rectangle 16"/>
          <p:cNvSpPr/>
          <p:nvPr/>
        </p:nvSpPr>
        <p:spPr>
          <a:xfrm>
            <a:off x="6450924" y="3628321"/>
            <a:ext cx="2343591" cy="369332"/>
          </a:xfrm>
          <a:prstGeom prst="rect">
            <a:avLst/>
          </a:prstGeom>
        </p:spPr>
        <p:txBody>
          <a:bodyPr wrap="none">
            <a:spAutoFit/>
          </a:bodyPr>
          <a:lstStyle/>
          <a:p>
            <a:pPr algn="ctr">
              <a:defRPr/>
            </a:pPr>
            <a:r>
              <a:rPr lang="en-US" b="1" dirty="0" smtClean="0">
                <a:latin typeface="Times New Roman" panose="02020603050405020304" pitchFamily="18" charset="0"/>
                <a:cs typeface="Times New Roman" panose="02020603050405020304" pitchFamily="18" charset="0"/>
              </a:rPr>
              <a:t>Dynamic Thread Pool</a:t>
            </a:r>
            <a:endParaRPr lang="en-US" b="1" dirty="0">
              <a:latin typeface="Times New Roman" panose="02020603050405020304" pitchFamily="18" charset="0"/>
              <a:cs typeface="Times New Roman" panose="02020603050405020304" pitchFamily="18" charset="0"/>
            </a:endParaRPr>
          </a:p>
        </p:txBody>
      </p:sp>
      <p:sp>
        <p:nvSpPr>
          <p:cNvPr id="20" name="Rectangle 19"/>
          <p:cNvSpPr/>
          <p:nvPr/>
        </p:nvSpPr>
        <p:spPr>
          <a:xfrm>
            <a:off x="6450924" y="372799"/>
            <a:ext cx="2183290" cy="369332"/>
          </a:xfrm>
          <a:prstGeom prst="rect">
            <a:avLst/>
          </a:prstGeom>
        </p:spPr>
        <p:txBody>
          <a:bodyPr wrap="none">
            <a:spAutoFit/>
          </a:bodyPr>
          <a:lstStyle/>
          <a:p>
            <a:pPr algn="ctr">
              <a:defRPr/>
            </a:pPr>
            <a:r>
              <a:rPr lang="en-US" b="1" dirty="0">
                <a:latin typeface="Times New Roman" panose="02020603050405020304" pitchFamily="18" charset="0"/>
                <a:cs typeface="Times New Roman" panose="02020603050405020304" pitchFamily="18" charset="0"/>
              </a:rPr>
              <a:t>On-Demand Thread</a:t>
            </a:r>
          </a:p>
        </p:txBody>
      </p:sp>
      <p:sp>
        <p:nvSpPr>
          <p:cNvPr id="15" name="Rectangle 14"/>
          <p:cNvSpPr/>
          <p:nvPr/>
        </p:nvSpPr>
        <p:spPr>
          <a:xfrm>
            <a:off x="542544" y="4566449"/>
            <a:ext cx="5608320" cy="923330"/>
          </a:xfrm>
          <a:prstGeom prst="rect">
            <a:avLst/>
          </a:prstGeom>
          <a:solidFill>
            <a:schemeClr val="accent6">
              <a:lumMod val="40000"/>
              <a:lumOff val="60000"/>
            </a:schemeClr>
          </a:solidFill>
        </p:spPr>
        <p:txBody>
          <a:bodyPr wrap="square">
            <a:spAutoFit/>
          </a:bodyPr>
          <a:lstStyle/>
          <a:p>
            <a:pPr algn="just"/>
            <a:r>
              <a:rPr lang="en-US" dirty="0" smtClean="0">
                <a:latin typeface="Times New Roman" panose="02020603050405020304" pitchFamily="18" charset="0"/>
                <a:cs typeface="Times New Roman" panose="02020603050405020304" pitchFamily="18" charset="0"/>
              </a:rPr>
              <a:t>Dynamic </a:t>
            </a:r>
            <a:r>
              <a:rPr lang="en-US" dirty="0">
                <a:latin typeface="Times New Roman" panose="02020603050405020304" pitchFamily="18" charset="0"/>
                <a:cs typeface="Times New Roman" panose="02020603050405020304" pitchFamily="18" charset="0"/>
              </a:rPr>
              <a:t>Thread Pool not only improves performance but also uses resources more reasonably and efficiently, making the entire system more </a:t>
            </a:r>
            <a:r>
              <a:rPr lang="en-US" b="1" dirty="0">
                <a:latin typeface="Times New Roman" panose="02020603050405020304" pitchFamily="18" charset="0"/>
                <a:cs typeface="Times New Roman" panose="02020603050405020304" pitchFamily="18" charset="0"/>
              </a:rPr>
              <a:t>stable</a:t>
            </a:r>
            <a:r>
              <a:rPr lang="en-US" dirty="0">
                <a:latin typeface="Times New Roman" panose="02020603050405020304" pitchFamily="18" charset="0"/>
                <a:cs typeface="Times New Roman" panose="02020603050405020304" pitchFamily="18" charset="0"/>
              </a:rPr>
              <a:t>.</a:t>
            </a:r>
          </a:p>
        </p:txBody>
      </p:sp>
      <p:pic>
        <p:nvPicPr>
          <p:cNvPr id="19" name="Picture 18"/>
          <p:cNvPicPr>
            <a:picLocks noChangeAspect="1"/>
          </p:cNvPicPr>
          <p:nvPr/>
        </p:nvPicPr>
        <p:blipFill rotWithShape="1">
          <a:blip r:embed="rId3"/>
          <a:srcRect r="8390"/>
          <a:stretch/>
        </p:blipFill>
        <p:spPr>
          <a:xfrm>
            <a:off x="6528202" y="5274944"/>
            <a:ext cx="5212080" cy="1195415"/>
          </a:xfrm>
          <a:prstGeom prst="rect">
            <a:avLst/>
          </a:prstGeom>
          <a:ln>
            <a:solidFill>
              <a:schemeClr val="tx1"/>
            </a:solidFill>
          </a:ln>
        </p:spPr>
      </p:pic>
      <p:pic>
        <p:nvPicPr>
          <p:cNvPr id="25" name="Picture 24"/>
          <p:cNvPicPr>
            <a:picLocks noChangeAspect="1"/>
          </p:cNvPicPr>
          <p:nvPr/>
        </p:nvPicPr>
        <p:blipFill>
          <a:blip r:embed="rId4"/>
          <a:stretch>
            <a:fillRect/>
          </a:stretch>
        </p:blipFill>
        <p:spPr>
          <a:xfrm>
            <a:off x="6528202" y="4025078"/>
            <a:ext cx="5212080" cy="1171641"/>
          </a:xfrm>
          <a:prstGeom prst="rect">
            <a:avLst/>
          </a:prstGeom>
          <a:ln>
            <a:solidFill>
              <a:schemeClr val="tx1"/>
            </a:solidFill>
          </a:ln>
        </p:spPr>
      </p:pic>
      <p:pic>
        <p:nvPicPr>
          <p:cNvPr id="28" name="Picture 27"/>
          <p:cNvPicPr>
            <a:picLocks noChangeAspect="1"/>
          </p:cNvPicPr>
          <p:nvPr/>
        </p:nvPicPr>
        <p:blipFill rotWithShape="1">
          <a:blip r:embed="rId5"/>
          <a:srcRect r="8788"/>
          <a:stretch/>
        </p:blipFill>
        <p:spPr>
          <a:xfrm>
            <a:off x="6528202" y="2041029"/>
            <a:ext cx="5212080" cy="1136737"/>
          </a:xfrm>
          <a:prstGeom prst="rect">
            <a:avLst/>
          </a:prstGeom>
          <a:ln>
            <a:solidFill>
              <a:schemeClr val="tx1"/>
            </a:solidFill>
          </a:ln>
        </p:spPr>
      </p:pic>
      <p:pic>
        <p:nvPicPr>
          <p:cNvPr id="5" name="Picture 4"/>
          <p:cNvPicPr>
            <a:picLocks noChangeAspect="1"/>
          </p:cNvPicPr>
          <p:nvPr/>
        </p:nvPicPr>
        <p:blipFill>
          <a:blip r:embed="rId6"/>
          <a:stretch>
            <a:fillRect/>
          </a:stretch>
        </p:blipFill>
        <p:spPr>
          <a:xfrm>
            <a:off x="6528201" y="790937"/>
            <a:ext cx="5212081" cy="1202514"/>
          </a:xfrm>
          <a:prstGeom prst="rect">
            <a:avLst/>
          </a:prstGeom>
          <a:ln>
            <a:solidFill>
              <a:schemeClr val="tx1"/>
            </a:solidFill>
          </a:ln>
        </p:spPr>
      </p:pic>
    </p:spTree>
    <p:extLst>
      <p:ext uri="{BB962C8B-B14F-4D97-AF65-F5344CB8AC3E}">
        <p14:creationId xmlns:p14="http://schemas.microsoft.com/office/powerpoint/2010/main" val="987310209"/>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459789" y="146304"/>
            <a:ext cx="5449521" cy="461665"/>
          </a:xfrm>
          <a:prstGeom prst="rect">
            <a:avLst/>
          </a:prstGeom>
          <a:solidFill>
            <a:schemeClr val="bg1"/>
          </a:solidFill>
        </p:spPr>
        <p:txBody>
          <a:bodyPr wrap="square">
            <a:spAutoFit/>
          </a:bodyPr>
          <a:lstStyle/>
          <a:p>
            <a:r>
              <a:rPr lang="en-US" sz="2400" u="sng" dirty="0" smtClean="0">
                <a:latin typeface="Times New Roman" panose="02020603050405020304" pitchFamily="18" charset="0"/>
                <a:cs typeface="Times New Roman" panose="02020603050405020304" pitchFamily="18" charset="0"/>
              </a:rPr>
              <a:t>6. Conclusion</a:t>
            </a:r>
            <a:endParaRPr lang="en-US" sz="2400" u="sng" dirty="0">
              <a:latin typeface="Times New Roman" panose="02020603050405020304" pitchFamily="18" charset="0"/>
              <a:cs typeface="Times New Roman" panose="02020603050405020304" pitchFamily="18" charset="0"/>
            </a:endParaRPr>
          </a:p>
        </p:txBody>
      </p:sp>
      <p:sp>
        <p:nvSpPr>
          <p:cNvPr id="3" name="Slide Number Placeholder 2"/>
          <p:cNvSpPr>
            <a:spLocks noGrp="1"/>
          </p:cNvSpPr>
          <p:nvPr>
            <p:ph type="sldNum" sz="quarter" idx="12"/>
          </p:nvPr>
        </p:nvSpPr>
        <p:spPr/>
        <p:txBody>
          <a:bodyPr/>
          <a:lstStyle/>
          <a:p>
            <a:fld id="{0059130C-D5A7-43F1-8BDF-D4DD1699FE09}" type="slidenum">
              <a:rPr lang="en-US" smtClean="0"/>
              <a:t>22</a:t>
            </a:fld>
            <a:endParaRPr lang="en-US"/>
          </a:p>
        </p:txBody>
      </p:sp>
      <p:graphicFrame>
        <p:nvGraphicFramePr>
          <p:cNvPr id="8" name="Table 7">
            <a:extLst>
              <a:ext uri="{FF2B5EF4-FFF2-40B4-BE49-F238E27FC236}">
                <a16:creationId xmlns:a16="http://schemas.microsoft.com/office/drawing/2014/main" xmlns="" id="{56D77E60-BE34-C8BB-2710-0C915E9E0C34}"/>
              </a:ext>
            </a:extLst>
          </p:cNvPr>
          <p:cNvGraphicFramePr>
            <a:graphicFrameLocks noGrp="1"/>
          </p:cNvGraphicFramePr>
          <p:nvPr>
            <p:extLst>
              <p:ext uri="{D42A27DB-BD31-4B8C-83A1-F6EECF244321}">
                <p14:modId xmlns:p14="http://schemas.microsoft.com/office/powerpoint/2010/main" val="1394884348"/>
              </p:ext>
            </p:extLst>
          </p:nvPr>
        </p:nvGraphicFramePr>
        <p:xfrm>
          <a:off x="508557" y="710319"/>
          <a:ext cx="11197212" cy="3901215"/>
        </p:xfrm>
        <a:graphic>
          <a:graphicData uri="http://schemas.openxmlformats.org/drawingml/2006/table">
            <a:tbl>
              <a:tblPr firstRow="1" firstCol="1" bandRow="1">
                <a:tableStyleId>{0505E3EF-67EA-436B-97B2-0124C06EBD24}</a:tableStyleId>
              </a:tblPr>
              <a:tblGrid>
                <a:gridCol w="2216355">
                  <a:extLst>
                    <a:ext uri="{9D8B030D-6E8A-4147-A177-3AD203B41FA5}">
                      <a16:colId xmlns:a16="http://schemas.microsoft.com/office/drawing/2014/main" xmlns="" val="1582101385"/>
                    </a:ext>
                  </a:extLst>
                </a:gridCol>
                <a:gridCol w="1146048">
                  <a:extLst>
                    <a:ext uri="{9D8B030D-6E8A-4147-A177-3AD203B41FA5}">
                      <a16:colId xmlns:a16="http://schemas.microsoft.com/office/drawing/2014/main" xmlns="" val="3606558556"/>
                    </a:ext>
                  </a:extLst>
                </a:gridCol>
                <a:gridCol w="7006675">
                  <a:extLst>
                    <a:ext uri="{9D8B030D-6E8A-4147-A177-3AD203B41FA5}">
                      <a16:colId xmlns:a16="http://schemas.microsoft.com/office/drawing/2014/main" xmlns="" val="3174540060"/>
                    </a:ext>
                  </a:extLst>
                </a:gridCol>
                <a:gridCol w="828134"/>
              </a:tblGrid>
              <a:tr h="415168">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a:solidFill>
                            <a:schemeClr val="tx1"/>
                          </a:solidFill>
                          <a:latin typeface="Times New Roman" panose="02020603050405020304" pitchFamily="18" charset="0"/>
                          <a:ea typeface="+mn-ea"/>
                          <a:cs typeface="Times New Roman" panose="02020603050405020304" pitchFamily="18" charset="0"/>
                        </a:rPr>
                        <a:t>Quality Attribute</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a:solidFill>
                            <a:schemeClr val="tx1"/>
                          </a:solidFill>
                          <a:latin typeface="Times New Roman" panose="02020603050405020304" pitchFamily="18" charset="0"/>
                          <a:ea typeface="+mn-ea"/>
                          <a:cs typeface="Times New Roman" panose="02020603050405020304" pitchFamily="18" charset="0"/>
                        </a:rPr>
                        <a:t>Priority</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a:solidFill>
                            <a:schemeClr val="tx1"/>
                          </a:solidFill>
                          <a:latin typeface="Times New Roman" panose="02020603050405020304" pitchFamily="18" charset="0"/>
                          <a:ea typeface="+mn-ea"/>
                          <a:cs typeface="Times New Roman" panose="02020603050405020304" pitchFamily="18" charset="0"/>
                        </a:rPr>
                        <a:t>Description</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smtClean="0">
                          <a:solidFill>
                            <a:schemeClr val="tx1"/>
                          </a:solidFill>
                          <a:latin typeface="Times New Roman" panose="02020603050405020304" pitchFamily="18" charset="0"/>
                          <a:ea typeface="+mn-ea"/>
                          <a:cs typeface="Times New Roman" panose="02020603050405020304" pitchFamily="18" charset="0"/>
                        </a:rPr>
                        <a:t>Result</a:t>
                      </a:r>
                      <a:endParaRPr lang="en-US" sz="1800" kern="1200" dirty="0">
                        <a:solidFill>
                          <a:schemeClr val="tx1"/>
                        </a:solidFill>
                        <a:latin typeface="Times New Roman" panose="02020603050405020304" pitchFamily="18" charset="0"/>
                        <a:ea typeface="+mn-ea"/>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99882093"/>
                  </a:ext>
                </a:extLst>
              </a:tr>
              <a:tr h="761897">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a:solidFill>
                            <a:schemeClr val="tx1"/>
                          </a:solidFill>
                          <a:latin typeface="Times New Roman" panose="02020603050405020304" pitchFamily="18" charset="0"/>
                          <a:ea typeface="+mn-ea"/>
                          <a:cs typeface="Times New Roman" panose="02020603050405020304" pitchFamily="18" charset="0"/>
                        </a:rPr>
                        <a:t>Performance</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a:solidFill>
                            <a:schemeClr val="tx1"/>
                          </a:solidFill>
                          <a:latin typeface="Times New Roman" panose="02020603050405020304" pitchFamily="18" charset="0"/>
                          <a:ea typeface="+mn-ea"/>
                          <a:cs typeface="Times New Roman" panose="02020603050405020304" pitchFamily="18" charset="0"/>
                        </a:rPr>
                        <a:t>High</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0" marR="0" lvl="0" indent="0" algn="l" defTabSz="914400" rtl="0" eaLnBrk="1" fontAlgn="auto" latinLnBrk="0" hangingPunct="1">
                        <a:lnSpc>
                          <a:spcPct val="100000"/>
                        </a:lnSpc>
                        <a:spcBef>
                          <a:spcPts val="600"/>
                        </a:spcBef>
                        <a:spcAft>
                          <a:spcPts val="600"/>
                        </a:spcAft>
                        <a:buClrTx/>
                        <a:buSzTx/>
                        <a:buFontTx/>
                        <a:buNone/>
                        <a:tabLst/>
                        <a:defRPr/>
                      </a:pPr>
                      <a:r>
                        <a:rPr lang="en-US" sz="1800" kern="1200" dirty="0" smtClean="0">
                          <a:solidFill>
                            <a:schemeClr val="tx1"/>
                          </a:solidFill>
                          <a:latin typeface="Times New Roman" panose="02020603050405020304" pitchFamily="18" charset="0"/>
                          <a:ea typeface="+mn-ea"/>
                          <a:cs typeface="Times New Roman" panose="02020603050405020304" pitchFamily="18" charset="0"/>
                        </a:rPr>
                        <a:t>Improved notification processing to ~22ms per event.</a:t>
                      </a:r>
                      <a:endParaRPr lang="en-US" sz="1800" i="1" kern="1200" dirty="0">
                        <a:solidFill>
                          <a:schemeClr val="tx1"/>
                        </a:solidFill>
                        <a:latin typeface="Times New Roman" panose="02020603050405020304" pitchFamily="18" charset="0"/>
                        <a:ea typeface="+mn-ea"/>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0" marR="0" lvl="0" indent="0" algn="ctr" defTabSz="914400" rtl="0" eaLnBrk="1" fontAlgn="auto" latinLnBrk="0" hangingPunct="1">
                        <a:lnSpc>
                          <a:spcPct val="100000"/>
                        </a:lnSpc>
                        <a:spcBef>
                          <a:spcPts val="600"/>
                        </a:spcBef>
                        <a:spcAft>
                          <a:spcPts val="600"/>
                        </a:spcAft>
                        <a:buClrTx/>
                        <a:buSzTx/>
                        <a:buFontTx/>
                        <a:buNone/>
                        <a:tabLst/>
                        <a:defRPr/>
                      </a:pPr>
                      <a:r>
                        <a:rPr lang="en-US" dirty="0" smtClean="0">
                          <a:solidFill>
                            <a:srgbClr val="339933"/>
                          </a:solidFill>
                          <a:latin typeface="Times New Roman" panose="02020603050405020304" pitchFamily="18" charset="0"/>
                          <a:cs typeface="Times New Roman" panose="02020603050405020304" pitchFamily="18" charset="0"/>
                        </a:rPr>
                        <a:t>✅</a:t>
                      </a:r>
                      <a:endParaRPr lang="en-US" sz="1800" i="1" kern="1200" dirty="0">
                        <a:solidFill>
                          <a:schemeClr val="tx1"/>
                        </a:solidFill>
                        <a:latin typeface="Times New Roman" panose="02020603050405020304" pitchFamily="18" charset="0"/>
                        <a:ea typeface="+mn-ea"/>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xmlns="" val="1824361779"/>
                  </a:ext>
                </a:extLst>
              </a:tr>
              <a:tr h="685800">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a:solidFill>
                            <a:schemeClr val="tx1"/>
                          </a:solidFill>
                          <a:latin typeface="Times New Roman" panose="02020603050405020304" pitchFamily="18" charset="0"/>
                          <a:ea typeface="+mn-ea"/>
                          <a:cs typeface="Times New Roman" panose="02020603050405020304" pitchFamily="18" charset="0"/>
                        </a:rPr>
                        <a:t>Reliability</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a:solidFill>
                            <a:schemeClr val="tx1"/>
                          </a:solidFill>
                          <a:latin typeface="Times New Roman" panose="02020603050405020304" pitchFamily="18" charset="0"/>
                          <a:ea typeface="+mn-ea"/>
                          <a:cs typeface="Times New Roman" panose="02020603050405020304" pitchFamily="18" charset="0"/>
                        </a:rPr>
                        <a:t>High</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smtClean="0">
                          <a:solidFill>
                            <a:schemeClr val="tx1"/>
                          </a:solidFill>
                          <a:latin typeface="Times New Roman" panose="02020603050405020304" pitchFamily="18" charset="0"/>
                          <a:ea typeface="+mn-ea"/>
                          <a:cs typeface="Times New Roman" panose="02020603050405020304" pitchFamily="18" charset="0"/>
                        </a:rPr>
                        <a:t>Implemented fail-safe mechanism to prevent one service from affecting other services during notification processing.	</a:t>
                      </a:r>
                      <a:endParaRPr lang="en-US" sz="1800" kern="1200" dirty="0">
                        <a:solidFill>
                          <a:schemeClr val="tx1"/>
                        </a:solidFill>
                        <a:latin typeface="Times New Roman" panose="02020603050405020304" pitchFamily="18" charset="0"/>
                        <a:ea typeface="+mn-ea"/>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0" marR="0" lvl="0" indent="0" algn="ctr" defTabSz="914400" rtl="0" eaLnBrk="1" fontAlgn="auto" latinLnBrk="0" hangingPunct="1">
                        <a:lnSpc>
                          <a:spcPct val="100000"/>
                        </a:lnSpc>
                        <a:spcBef>
                          <a:spcPts val="600"/>
                        </a:spcBef>
                        <a:spcAft>
                          <a:spcPts val="600"/>
                        </a:spcAft>
                        <a:buClrTx/>
                        <a:buSzTx/>
                        <a:buFontTx/>
                        <a:buNone/>
                        <a:tabLst/>
                        <a:defRPr/>
                      </a:pPr>
                      <a:r>
                        <a:rPr lang="en-US" dirty="0" smtClean="0">
                          <a:solidFill>
                            <a:srgbClr val="339933"/>
                          </a:solidFill>
                          <a:latin typeface="Times New Roman" panose="02020603050405020304" pitchFamily="18" charset="0"/>
                          <a:cs typeface="Times New Roman" panose="02020603050405020304" pitchFamily="18" charset="0"/>
                        </a:rPr>
                        <a:t>✅</a:t>
                      </a:r>
                      <a:endParaRPr lang="en-US" sz="1800" kern="1200" dirty="0">
                        <a:solidFill>
                          <a:schemeClr val="tx1"/>
                        </a:solidFill>
                        <a:latin typeface="Times New Roman" panose="02020603050405020304" pitchFamily="18" charset="0"/>
                        <a:ea typeface="+mn-ea"/>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xmlns="" val="1853277442"/>
                  </a:ext>
                </a:extLst>
              </a:tr>
              <a:tr h="463550">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smtClean="0">
                          <a:solidFill>
                            <a:schemeClr val="tx1"/>
                          </a:solidFill>
                          <a:latin typeface="Times New Roman" panose="02020603050405020304" pitchFamily="18" charset="0"/>
                          <a:ea typeface="+mn-ea"/>
                          <a:cs typeface="Times New Roman" panose="02020603050405020304" pitchFamily="18" charset="0"/>
                        </a:rPr>
                        <a:t>Resource Efficiency </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smtClean="0">
                          <a:solidFill>
                            <a:schemeClr val="tx1"/>
                          </a:solidFill>
                          <a:latin typeface="Times New Roman" panose="02020603050405020304" pitchFamily="18" charset="0"/>
                          <a:ea typeface="+mn-ea"/>
                          <a:cs typeface="Times New Roman" panose="02020603050405020304" pitchFamily="18" charset="0"/>
                        </a:rPr>
                        <a:t>Medium</a:t>
                      </a:r>
                      <a:endParaRPr lang="en-US" sz="1800" kern="1200" dirty="0">
                        <a:solidFill>
                          <a:schemeClr val="tx1"/>
                        </a:solidFill>
                        <a:latin typeface="Times New Roman" panose="02020603050405020304" pitchFamily="18" charset="0"/>
                        <a:ea typeface="+mn-ea"/>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smtClean="0">
                          <a:solidFill>
                            <a:schemeClr val="tx1"/>
                          </a:solidFill>
                          <a:latin typeface="Times New Roman" panose="02020603050405020304" pitchFamily="18" charset="0"/>
                          <a:ea typeface="+mn-ea"/>
                          <a:cs typeface="Times New Roman" panose="02020603050405020304" pitchFamily="18" charset="0"/>
                        </a:rPr>
                        <a:t>Resource optimization mechanism when not in use in</a:t>
                      </a:r>
                      <a:r>
                        <a:rPr lang="en-US" sz="1800" kern="1200" baseline="0" dirty="0" smtClean="0">
                          <a:solidFill>
                            <a:schemeClr val="tx1"/>
                          </a:solidFill>
                          <a:latin typeface="Times New Roman" panose="02020603050405020304" pitchFamily="18" charset="0"/>
                          <a:ea typeface="+mn-ea"/>
                          <a:cs typeface="Times New Roman" panose="02020603050405020304" pitchFamily="18" charset="0"/>
                        </a:rPr>
                        <a:t> idle time.</a:t>
                      </a:r>
                      <a:r>
                        <a:rPr lang="en-US" sz="1800" kern="1200" dirty="0" smtClean="0">
                          <a:solidFill>
                            <a:schemeClr val="tx1"/>
                          </a:solidFill>
                          <a:latin typeface="Times New Roman" panose="02020603050405020304" pitchFamily="18" charset="0"/>
                          <a:ea typeface="+mn-ea"/>
                          <a:cs typeface="Times New Roman" panose="02020603050405020304" pitchFamily="18" charset="0"/>
                        </a:rPr>
                        <a:t>	</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600"/>
                        </a:spcBef>
                        <a:spcAft>
                          <a:spcPts val="600"/>
                        </a:spcAft>
                        <a:buClrTx/>
                        <a:buSzTx/>
                        <a:buFontTx/>
                        <a:buNone/>
                        <a:tabLst/>
                        <a:defRPr/>
                      </a:pPr>
                      <a:r>
                        <a:rPr lang="en-US" dirty="0" smtClean="0">
                          <a:solidFill>
                            <a:srgbClr val="339933"/>
                          </a:solidFill>
                          <a:latin typeface="Times New Roman" panose="02020603050405020304" pitchFamily="18" charset="0"/>
                          <a:cs typeface="Times New Roman" panose="02020603050405020304" pitchFamily="18" charset="0"/>
                        </a:rPr>
                        <a:t>✅</a:t>
                      </a:r>
                      <a:endParaRPr lang="en-US" sz="1800" kern="1200" dirty="0" smtClean="0">
                        <a:solidFill>
                          <a:schemeClr val="tx1"/>
                        </a:solidFill>
                        <a:latin typeface="Times New Roman" panose="02020603050405020304" pitchFamily="18" charset="0"/>
                        <a:ea typeface="+mn-ea"/>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r>
              <a:tr h="482600">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a:solidFill>
                            <a:schemeClr val="tx1"/>
                          </a:solidFill>
                          <a:latin typeface="Times New Roman" panose="02020603050405020304" pitchFamily="18" charset="0"/>
                          <a:ea typeface="+mn-ea"/>
                          <a:cs typeface="Times New Roman" panose="02020603050405020304" pitchFamily="18" charset="0"/>
                        </a:rPr>
                        <a:t>Maintainability</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a:solidFill>
                            <a:schemeClr val="tx1"/>
                          </a:solidFill>
                          <a:latin typeface="Times New Roman" panose="02020603050405020304" pitchFamily="18" charset="0"/>
                          <a:ea typeface="+mn-ea"/>
                          <a:cs typeface="Times New Roman" panose="02020603050405020304" pitchFamily="18" charset="0"/>
                        </a:rPr>
                        <a:t>Medium</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smtClean="0">
                          <a:solidFill>
                            <a:schemeClr val="tx1"/>
                          </a:solidFill>
                          <a:latin typeface="Times New Roman" panose="02020603050405020304" pitchFamily="18" charset="0"/>
                          <a:ea typeface="+mn-ea"/>
                          <a:cs typeface="Times New Roman" panose="02020603050405020304" pitchFamily="18" charset="0"/>
                        </a:rPr>
                        <a:t>New design is modular and independent, making it easy to maintain.</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600"/>
                        </a:spcBef>
                        <a:spcAft>
                          <a:spcPts val="600"/>
                        </a:spcAft>
                        <a:buClrTx/>
                        <a:buSzTx/>
                        <a:buFontTx/>
                        <a:buNone/>
                        <a:tabLst/>
                        <a:defRPr/>
                      </a:pPr>
                      <a:r>
                        <a:rPr lang="en-US" dirty="0" smtClean="0">
                          <a:solidFill>
                            <a:srgbClr val="339933"/>
                          </a:solidFill>
                          <a:latin typeface="Times New Roman" panose="02020603050405020304" pitchFamily="18" charset="0"/>
                          <a:cs typeface="Times New Roman" panose="02020603050405020304" pitchFamily="18" charset="0"/>
                        </a:rPr>
                        <a:t>✅</a:t>
                      </a:r>
                      <a:endParaRPr lang="en-US" sz="1800" kern="1200" dirty="0" smtClean="0">
                        <a:solidFill>
                          <a:schemeClr val="tx1"/>
                        </a:solidFill>
                        <a:latin typeface="Times New Roman" panose="02020603050405020304" pitchFamily="18" charset="0"/>
                        <a:ea typeface="+mn-ea"/>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r>
              <a:tr h="645835">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smtClean="0">
                          <a:solidFill>
                            <a:schemeClr val="tx1"/>
                          </a:solidFill>
                          <a:latin typeface="Times New Roman" panose="02020603050405020304" pitchFamily="18" charset="0"/>
                          <a:ea typeface="+mn-ea"/>
                          <a:cs typeface="Times New Roman" panose="02020603050405020304" pitchFamily="18" charset="0"/>
                        </a:rPr>
                        <a:t>Reusability</a:t>
                      </a:r>
                      <a:endParaRPr lang="en-US" sz="1800" kern="1200" dirty="0">
                        <a:solidFill>
                          <a:schemeClr val="tx1"/>
                        </a:solidFill>
                        <a:latin typeface="Times New Roman" panose="02020603050405020304" pitchFamily="18" charset="0"/>
                        <a:ea typeface="+mn-ea"/>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smtClean="0">
                          <a:solidFill>
                            <a:schemeClr val="tx1"/>
                          </a:solidFill>
                          <a:latin typeface="Times New Roman" panose="02020603050405020304" pitchFamily="18" charset="0"/>
                          <a:ea typeface="+mn-ea"/>
                          <a:cs typeface="Times New Roman" panose="02020603050405020304" pitchFamily="18" charset="0"/>
                        </a:rPr>
                        <a:t>Medium</a:t>
                      </a:r>
                      <a:endParaRPr lang="en-US" sz="1800" kern="1200" dirty="0">
                        <a:solidFill>
                          <a:schemeClr val="tx1"/>
                        </a:solidFill>
                        <a:latin typeface="Times New Roman" panose="02020603050405020304" pitchFamily="18" charset="0"/>
                        <a:ea typeface="+mn-ea"/>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smtClean="0">
                          <a:solidFill>
                            <a:schemeClr val="tx1"/>
                          </a:solidFill>
                          <a:latin typeface="Times New Roman" panose="02020603050405020304" pitchFamily="18" charset="0"/>
                          <a:ea typeface="+mn-ea"/>
                          <a:cs typeface="Times New Roman" panose="02020603050405020304" pitchFamily="18" charset="0"/>
                        </a:rPr>
                        <a:t>New design can be reused for notification tasks or other operations requiring multi-threading capabilities.</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600"/>
                        </a:spcBef>
                        <a:spcAft>
                          <a:spcPts val="600"/>
                        </a:spcAft>
                        <a:buClrTx/>
                        <a:buSzTx/>
                        <a:buFontTx/>
                        <a:buNone/>
                        <a:tabLst/>
                        <a:defRPr/>
                      </a:pPr>
                      <a:r>
                        <a:rPr lang="en-US" dirty="0" smtClean="0">
                          <a:solidFill>
                            <a:srgbClr val="339933"/>
                          </a:solidFill>
                          <a:latin typeface="Times New Roman" panose="02020603050405020304" pitchFamily="18" charset="0"/>
                          <a:cs typeface="Times New Roman" panose="02020603050405020304" pitchFamily="18" charset="0"/>
                        </a:rPr>
                        <a:t>✅</a:t>
                      </a:r>
                      <a:endParaRPr lang="en-US" sz="1800" kern="1200" dirty="0" smtClean="0">
                        <a:solidFill>
                          <a:schemeClr val="tx1"/>
                        </a:solidFill>
                        <a:latin typeface="Times New Roman" panose="02020603050405020304" pitchFamily="18" charset="0"/>
                        <a:ea typeface="+mn-ea"/>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r>
              <a:tr h="446365">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a:solidFill>
                            <a:schemeClr val="tx1"/>
                          </a:solidFill>
                          <a:latin typeface="Times New Roman" panose="02020603050405020304" pitchFamily="18" charset="0"/>
                          <a:ea typeface="+mn-ea"/>
                          <a:cs typeface="Times New Roman" panose="02020603050405020304" pitchFamily="18" charset="0"/>
                        </a:rPr>
                        <a:t>Simplicity</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EF4E8"/>
                    </a:solidFill>
                  </a:tcPr>
                </a:tc>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a:solidFill>
                            <a:schemeClr val="tx1"/>
                          </a:solidFill>
                          <a:latin typeface="Times New Roman" panose="02020603050405020304" pitchFamily="18" charset="0"/>
                          <a:ea typeface="+mn-ea"/>
                          <a:cs typeface="Times New Roman" panose="02020603050405020304" pitchFamily="18" charset="0"/>
                        </a:rPr>
                        <a:t>Low</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EF4E8"/>
                    </a:solidFill>
                  </a:tcPr>
                </a:tc>
                <a:tc>
                  <a:txBody>
                    <a:bodyPr/>
                    <a:lstStyle/>
                    <a:p>
                      <a:pPr marL="0" marR="0" lvl="0" indent="0" algn="just" defTabSz="914400" rtl="0" eaLnBrk="1" fontAlgn="auto" latinLnBrk="0" hangingPunct="1">
                        <a:lnSpc>
                          <a:spcPct val="100000"/>
                        </a:lnSpc>
                        <a:spcBef>
                          <a:spcPts val="600"/>
                        </a:spcBef>
                        <a:spcAft>
                          <a:spcPts val="600"/>
                        </a:spcAft>
                        <a:buClrTx/>
                        <a:buSzTx/>
                        <a:buFontTx/>
                        <a:buNone/>
                        <a:tabLst/>
                        <a:defRPr/>
                      </a:pPr>
                      <a:r>
                        <a:rPr lang="en-US" sz="1800" kern="1200" dirty="0" smtClean="0">
                          <a:solidFill>
                            <a:schemeClr val="tx1"/>
                          </a:solidFill>
                          <a:latin typeface="Times New Roman" panose="02020603050405020304" pitchFamily="18" charset="0"/>
                          <a:ea typeface="+mn-ea"/>
                          <a:cs typeface="Times New Roman" panose="02020603050405020304" pitchFamily="18" charset="0"/>
                        </a:rPr>
                        <a:t>New implementation is relatively complex but acceptable.</a:t>
                      </a:r>
                      <a:endParaRPr lang="en-US" sz="1800" kern="1200" dirty="0">
                        <a:solidFill>
                          <a:schemeClr val="tx1"/>
                        </a:solidFill>
                        <a:latin typeface="Times New Roman" panose="02020603050405020304" pitchFamily="18" charset="0"/>
                        <a:ea typeface="+mn-ea"/>
                        <a:cs typeface="Times New Roman" panose="02020603050405020304" pitchFamily="18" charset="0"/>
                      </a:endParaRPr>
                    </a:p>
                  </a:txBody>
                  <a:tcPr marL="38100" marR="38100" marT="25400" marB="254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EF4E8"/>
                    </a:solidFill>
                  </a:tcPr>
                </a:tc>
                <a:tc>
                  <a:txBody>
                    <a:bodyPr/>
                    <a:lstStyle/>
                    <a:p>
                      <a:pPr marL="0" marR="0" lvl="0" indent="0" algn="ctr" defTabSz="914400" rtl="0" eaLnBrk="1" fontAlgn="auto" latinLnBrk="0" hangingPunct="1">
                        <a:lnSpc>
                          <a:spcPct val="100000"/>
                        </a:lnSpc>
                        <a:spcBef>
                          <a:spcPts val="600"/>
                        </a:spcBef>
                        <a:spcAft>
                          <a:spcPts val="600"/>
                        </a:spcAft>
                        <a:buClrTx/>
                        <a:buSzTx/>
                        <a:buFontTx/>
                        <a:buNone/>
                        <a:tabLst/>
                        <a:defRPr/>
                      </a:pPr>
                      <a:r>
                        <a:rPr lang="en-US" dirty="0" smtClean="0">
                          <a:solidFill>
                            <a:srgbClr val="C00000"/>
                          </a:solidFill>
                          <a:latin typeface="Times New Roman" panose="02020603050405020304" pitchFamily="18" charset="0"/>
                          <a:cs typeface="Times New Roman" panose="02020603050405020304" pitchFamily="18" charset="0"/>
                        </a:rPr>
                        <a:t>❌</a:t>
                      </a:r>
                      <a:endParaRPr lang="en-US" sz="1800" kern="1200" dirty="0">
                        <a:solidFill>
                          <a:schemeClr val="tx1"/>
                        </a:solidFill>
                        <a:latin typeface="Times New Roman" panose="02020603050405020304" pitchFamily="18" charset="0"/>
                        <a:ea typeface="+mn-ea"/>
                        <a:cs typeface="Times New Roman" panose="02020603050405020304" pitchFamily="18" charset="0"/>
                      </a:endParaRPr>
                    </a:p>
                  </a:txBody>
                  <a:tcPr marL="38100" marR="38100" marT="25400" marB="254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EF4E8"/>
                    </a:solidFill>
                  </a:tcPr>
                </a:tc>
                <a:extLst>
                  <a:ext uri="{0D108BD9-81ED-4DB2-BD59-A6C34878D82A}">
                    <a16:rowId xmlns:a16="http://schemas.microsoft.com/office/drawing/2014/main" xmlns="" val="2918095390"/>
                  </a:ext>
                </a:extLst>
              </a:tr>
            </a:tbl>
          </a:graphicData>
        </a:graphic>
      </p:graphicFrame>
      <p:sp>
        <p:nvSpPr>
          <p:cNvPr id="2" name="Rectangle 1"/>
          <p:cNvSpPr/>
          <p:nvPr/>
        </p:nvSpPr>
        <p:spPr>
          <a:xfrm>
            <a:off x="459789" y="4514425"/>
            <a:ext cx="11183571" cy="2585323"/>
          </a:xfrm>
          <a:prstGeom prst="rect">
            <a:avLst/>
          </a:prstGeom>
        </p:spPr>
        <p:txBody>
          <a:bodyPr wrap="square">
            <a:spAutoFit/>
          </a:bodyPr>
          <a:lstStyle/>
          <a:p>
            <a:pPr>
              <a:lnSpc>
                <a:spcPct val="200000"/>
              </a:lnSpc>
            </a:pPr>
            <a:r>
              <a:rPr lang="en-US" b="1" dirty="0" smtClean="0">
                <a:latin typeface="Times New Roman" panose="02020603050405020304" pitchFamily="18" charset="0"/>
                <a:cs typeface="Times New Roman" panose="02020603050405020304" pitchFamily="18" charset="0"/>
              </a:rPr>
              <a:t>Plan to apply:</a:t>
            </a:r>
          </a:p>
          <a:p>
            <a:pPr marL="285750" indent="-285750">
              <a:buFont typeface="Arial" panose="020B0604020202020204" pitchFamily="34" charset="0"/>
              <a:buChar char="•"/>
            </a:pPr>
            <a:r>
              <a:rPr lang="en-US" u="sng" dirty="0" smtClean="0">
                <a:latin typeface="Times New Roman" panose="02020603050405020304" pitchFamily="18" charset="0"/>
                <a:cs typeface="Times New Roman" panose="02020603050405020304" pitchFamily="18" charset="0"/>
              </a:rPr>
              <a:t>November 2025</a:t>
            </a:r>
            <a:r>
              <a:rPr lang="en-US" dirty="0" smtClean="0">
                <a:latin typeface="Times New Roman" panose="02020603050405020304" pitchFamily="18" charset="0"/>
                <a:cs typeface="Times New Roman" panose="02020603050405020304" pitchFamily="18" charset="0"/>
              </a:rPr>
              <a:t>: </a:t>
            </a:r>
          </a:p>
          <a:p>
            <a:pPr marL="742950" lvl="1" indent="-285750">
              <a:buFont typeface="Wingdings" panose="05000000000000000000" pitchFamily="2" charset="2"/>
              <a:buChar char="§"/>
            </a:pPr>
            <a:r>
              <a:rPr lang="en-US" dirty="0" smtClean="0">
                <a:latin typeface="Times New Roman" panose="02020603050405020304" pitchFamily="18" charset="0"/>
                <a:cs typeface="Times New Roman" panose="02020603050405020304" pitchFamily="18" charset="0"/>
              </a:rPr>
              <a:t>Apply </a:t>
            </a:r>
            <a:r>
              <a:rPr lang="en-US" dirty="0">
                <a:latin typeface="Times New Roman" panose="02020603050405020304" pitchFamily="18" charset="0"/>
                <a:cs typeface="Times New Roman" panose="02020603050405020304" pitchFamily="18" charset="0"/>
              </a:rPr>
              <a:t>the </a:t>
            </a:r>
            <a:r>
              <a:rPr lang="en-US" dirty="0" smtClean="0">
                <a:latin typeface="Times New Roman" panose="02020603050405020304" pitchFamily="18" charset="0"/>
                <a:cs typeface="Times New Roman" panose="02020603050405020304" pitchFamily="18" charset="0"/>
              </a:rPr>
              <a:t>Dynamic Thread Pool to </a:t>
            </a:r>
            <a:r>
              <a:rPr lang="en-US" dirty="0">
                <a:latin typeface="Times New Roman" panose="02020603050405020304" pitchFamily="18" charset="0"/>
                <a:cs typeface="Times New Roman" panose="02020603050405020304" pitchFamily="18" charset="0"/>
              </a:rPr>
              <a:t>the </a:t>
            </a:r>
            <a:r>
              <a:rPr lang="en-US" dirty="0" smtClean="0">
                <a:latin typeface="Times New Roman" panose="02020603050405020304" pitchFamily="18" charset="0"/>
                <a:cs typeface="Times New Roman" panose="02020603050405020304" pitchFamily="18" charset="0"/>
              </a:rPr>
              <a:t>Power Manager Service (Core part) </a:t>
            </a:r>
            <a:r>
              <a:rPr lang="en-US" dirty="0">
                <a:latin typeface="Times New Roman" panose="02020603050405020304" pitchFamily="18" charset="0"/>
                <a:cs typeface="Times New Roman" panose="02020603050405020304" pitchFamily="18" charset="0"/>
              </a:rPr>
              <a:t>in the Toyota </a:t>
            </a:r>
            <a:r>
              <a:rPr lang="en-US" dirty="0" smtClean="0">
                <a:latin typeface="Times New Roman" panose="02020603050405020304" pitchFamily="18" charset="0"/>
                <a:cs typeface="Times New Roman" panose="02020603050405020304" pitchFamily="18" charset="0"/>
              </a:rPr>
              <a:t>24DCM (SU) </a:t>
            </a:r>
            <a:r>
              <a:rPr lang="en-US" dirty="0">
                <a:latin typeface="Times New Roman" panose="02020603050405020304" pitchFamily="18" charset="0"/>
                <a:cs typeface="Times New Roman" panose="02020603050405020304" pitchFamily="18" charset="0"/>
              </a:rPr>
              <a:t>project</a:t>
            </a:r>
            <a:r>
              <a:rPr lang="en-US" dirty="0" smtClean="0">
                <a:latin typeface="Times New Roman" panose="02020603050405020304" pitchFamily="18" charset="0"/>
                <a:cs typeface="Times New Roman" panose="02020603050405020304" pitchFamily="18" charset="0"/>
              </a:rPr>
              <a:t>.</a:t>
            </a:r>
          </a:p>
          <a:p>
            <a:pPr marL="742950" lvl="1" indent="-285750">
              <a:buFont typeface="Wingdings" panose="05000000000000000000" pitchFamily="2" charset="2"/>
              <a:buChar char="§"/>
            </a:pPr>
            <a:r>
              <a:rPr lang="en-US" dirty="0">
                <a:latin typeface="Times New Roman" panose="02020603050405020304" pitchFamily="18" charset="0"/>
                <a:cs typeface="Times New Roman" panose="02020603050405020304" pitchFamily="18" charset="0"/>
              </a:rPr>
              <a:t>Apply the Dynamic Thread </a:t>
            </a:r>
            <a:r>
              <a:rPr lang="en-US" dirty="0" smtClean="0">
                <a:latin typeface="Times New Roman" panose="02020603050405020304" pitchFamily="18" charset="0"/>
                <a:cs typeface="Times New Roman" panose="02020603050405020304" pitchFamily="18" charset="0"/>
              </a:rPr>
              <a:t>Pool for 26BEV project</a:t>
            </a:r>
            <a:endParaRPr lang="en-US"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u="sng" dirty="0" smtClean="0">
                <a:latin typeface="Times New Roman" panose="02020603050405020304" pitchFamily="18" charset="0"/>
                <a:cs typeface="Times New Roman" panose="02020603050405020304" pitchFamily="18" charset="0"/>
              </a:rPr>
              <a:t>May 2026</a:t>
            </a:r>
            <a:r>
              <a:rPr lang="en-US" dirty="0" smtClean="0">
                <a:latin typeface="Times New Roman" panose="02020603050405020304" pitchFamily="18" charset="0"/>
                <a:cs typeface="Times New Roman" panose="02020603050405020304" pitchFamily="18" charset="0"/>
              </a:rPr>
              <a:t>: </a:t>
            </a:r>
          </a:p>
          <a:p>
            <a:pPr marL="742950" lvl="1" indent="-285750">
              <a:buFont typeface="Wingdings" panose="05000000000000000000" pitchFamily="2" charset="2"/>
              <a:buChar char="§"/>
            </a:pPr>
            <a:r>
              <a:rPr lang="en-US" dirty="0" smtClean="0">
                <a:latin typeface="Times New Roman" panose="02020603050405020304" pitchFamily="18" charset="0"/>
                <a:cs typeface="Times New Roman" panose="02020603050405020304" pitchFamily="18" charset="0"/>
              </a:rPr>
              <a:t>Apply the </a:t>
            </a:r>
            <a:r>
              <a:rPr lang="en-US" dirty="0">
                <a:latin typeface="Times New Roman" panose="02020603050405020304" pitchFamily="18" charset="0"/>
                <a:cs typeface="Times New Roman" panose="02020603050405020304" pitchFamily="18" charset="0"/>
              </a:rPr>
              <a:t>solution to Power Manager Service </a:t>
            </a:r>
            <a:r>
              <a:rPr lang="en-US" dirty="0" smtClean="0">
                <a:latin typeface="Times New Roman" panose="02020603050405020304" pitchFamily="18" charset="0"/>
                <a:cs typeface="Times New Roman" panose="02020603050405020304" pitchFamily="18" charset="0"/>
              </a:rPr>
              <a:t>of all projects</a:t>
            </a:r>
            <a:r>
              <a:rPr lang="en-US" dirty="0">
                <a:latin typeface="Times New Roman" panose="02020603050405020304" pitchFamily="18" charset="0"/>
                <a:cs typeface="Times New Roman" panose="02020603050405020304" pitchFamily="18" charset="0"/>
              </a:rPr>
              <a:t>.</a:t>
            </a:r>
          </a:p>
          <a:p>
            <a:pPr marL="742950" lvl="1" indent="-285750">
              <a:buFont typeface="Wingdings" panose="05000000000000000000" pitchFamily="2" charset="2"/>
              <a:buChar char="§"/>
            </a:pPr>
            <a:r>
              <a:rPr lang="en-US" dirty="0">
                <a:latin typeface="Times New Roman" panose="02020603050405020304" pitchFamily="18" charset="0"/>
                <a:cs typeface="Times New Roman" panose="02020603050405020304" pitchFamily="18" charset="0"/>
              </a:rPr>
              <a:t>Move the </a:t>
            </a:r>
            <a:r>
              <a:rPr lang="en-US" dirty="0" smtClean="0">
                <a:latin typeface="Times New Roman" panose="02020603050405020304" pitchFamily="18" charset="0"/>
                <a:cs typeface="Times New Roman" panose="02020603050405020304" pitchFamily="18" charset="0"/>
              </a:rPr>
              <a:t>Dynamic Thread Pool </a:t>
            </a:r>
            <a:r>
              <a:rPr lang="en-US" dirty="0">
                <a:latin typeface="Times New Roman" panose="02020603050405020304" pitchFamily="18" charset="0"/>
                <a:cs typeface="Times New Roman" panose="02020603050405020304" pitchFamily="18" charset="0"/>
              </a:rPr>
              <a:t>source code to the Tiger </a:t>
            </a:r>
            <a:r>
              <a:rPr lang="en-US" dirty="0" smtClean="0">
                <a:latin typeface="Times New Roman" panose="02020603050405020304" pitchFamily="18" charset="0"/>
                <a:cs typeface="Times New Roman" panose="02020603050405020304" pitchFamily="18" charset="0"/>
              </a:rPr>
              <a:t>Framework Until </a:t>
            </a:r>
            <a:r>
              <a:rPr lang="en-US" dirty="0">
                <a:latin typeface="Times New Roman" panose="02020603050405020304" pitchFamily="18" charset="0"/>
                <a:cs typeface="Times New Roman" panose="02020603050405020304" pitchFamily="18" charset="0"/>
              </a:rPr>
              <a:t>to enable usage by other services. </a:t>
            </a:r>
            <a:endParaRPr lang="en-US" dirty="0" smtClean="0">
              <a:latin typeface="Times New Roman" panose="02020603050405020304" pitchFamily="18" charset="0"/>
              <a:cs typeface="Times New Roman" panose="02020603050405020304" pitchFamily="18" charset="0"/>
            </a:endParaRPr>
          </a:p>
          <a:p>
            <a:pPr marL="742950" lvl="1" indent="-285750">
              <a:buFont typeface="Arial" panose="020B0604020202020204" pitchFamily="34" charset="0"/>
              <a:buChar char="•"/>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91624232"/>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182552" y="1995722"/>
            <a:ext cx="7619394" cy="2862322"/>
          </a:xfrm>
          <a:prstGeom prst="rect">
            <a:avLst/>
          </a:prstGeom>
          <a:noFill/>
        </p:spPr>
        <p:txBody>
          <a:bodyPr wrap="none" rtlCol="0">
            <a:spAutoFit/>
          </a:bodyPr>
          <a:lstStyle/>
          <a:p>
            <a:pPr algn="ctr"/>
            <a:r>
              <a:rPr lang="en-US" sz="6000" smtClean="0">
                <a:latin typeface="Times New Roman" panose="02020603050405020304" pitchFamily="18" charset="0"/>
                <a:cs typeface="Times New Roman" panose="02020603050405020304" pitchFamily="18" charset="0"/>
              </a:rPr>
              <a:t>Q&amp;A</a:t>
            </a:r>
          </a:p>
          <a:p>
            <a:pPr algn="ctr"/>
            <a:r>
              <a:rPr lang="en-US" sz="6000" smtClean="0">
                <a:latin typeface="Times New Roman" panose="02020603050405020304" pitchFamily="18" charset="0"/>
                <a:cs typeface="Times New Roman" panose="02020603050405020304" pitchFamily="18" charset="0"/>
              </a:rPr>
              <a:t>Thank you for listening </a:t>
            </a:r>
          </a:p>
          <a:p>
            <a:pPr algn="ctr"/>
            <a:endParaRPr lang="en-US" sz="6000" dirty="0">
              <a:latin typeface="Times New Roman" panose="02020603050405020304" pitchFamily="18" charset="0"/>
              <a:cs typeface="Times New Roman" panose="02020603050405020304" pitchFamily="18" charset="0"/>
            </a:endParaRPr>
          </a:p>
        </p:txBody>
      </p:sp>
      <p:sp>
        <p:nvSpPr>
          <p:cNvPr id="3" name="Slide Number Placeholder 2"/>
          <p:cNvSpPr>
            <a:spLocks noGrp="1"/>
          </p:cNvSpPr>
          <p:nvPr>
            <p:ph type="sldNum" sz="quarter" idx="12"/>
          </p:nvPr>
        </p:nvSpPr>
        <p:spPr/>
        <p:txBody>
          <a:bodyPr/>
          <a:lstStyle/>
          <a:p>
            <a:fld id="{0059130C-D5A7-43F1-8BDF-D4DD1699FE09}" type="slidenum">
              <a:rPr lang="en-US" smtClean="0"/>
              <a:t>23</a:t>
            </a:fld>
            <a:endParaRPr lang="en-US"/>
          </a:p>
        </p:txBody>
      </p:sp>
    </p:spTree>
    <p:extLst>
      <p:ext uri="{BB962C8B-B14F-4D97-AF65-F5344CB8AC3E}">
        <p14:creationId xmlns:p14="http://schemas.microsoft.com/office/powerpoint/2010/main" val="386414373"/>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0059130C-D5A7-43F1-8BDF-D4DD1699FE09}" type="slidenum">
              <a:rPr lang="en-US" smtClean="0"/>
              <a:t>24</a:t>
            </a:fld>
            <a:endParaRPr lang="en-US"/>
          </a:p>
        </p:txBody>
      </p:sp>
      <p:sp>
        <p:nvSpPr>
          <p:cNvPr id="5" name="Rectangle 4"/>
          <p:cNvSpPr/>
          <p:nvPr/>
        </p:nvSpPr>
        <p:spPr>
          <a:xfrm>
            <a:off x="1466851" y="495300"/>
            <a:ext cx="5667374" cy="4552950"/>
          </a:xfrm>
          <a:prstGeom prst="rect">
            <a:avLst/>
          </a:prstGeom>
          <a:solidFill>
            <a:srgbClr val="FFFFE0"/>
          </a:solidFill>
          <a:ln w="19050">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r>
              <a:rPr lang="en-US" dirty="0" smtClean="0">
                <a:solidFill>
                  <a:schemeClr val="tx1">
                    <a:lumMod val="95000"/>
                    <a:lumOff val="5000"/>
                  </a:schemeClr>
                </a:solidFill>
              </a:rPr>
              <a:t>DCM</a:t>
            </a:r>
            <a:endParaRPr lang="en-US" dirty="0">
              <a:solidFill>
                <a:schemeClr val="tx1">
                  <a:lumMod val="95000"/>
                  <a:lumOff val="5000"/>
                </a:schemeClr>
              </a:solidFill>
            </a:endParaRPr>
          </a:p>
        </p:txBody>
      </p:sp>
      <p:sp>
        <p:nvSpPr>
          <p:cNvPr id="7" name="Rectangle 6"/>
          <p:cNvSpPr/>
          <p:nvPr/>
        </p:nvSpPr>
        <p:spPr>
          <a:xfrm>
            <a:off x="1552576" y="866775"/>
            <a:ext cx="2628899" cy="3228975"/>
          </a:xfrm>
          <a:prstGeom prst="rect">
            <a:avLst/>
          </a:prstGeom>
          <a:solidFill>
            <a:srgbClr val="FFFFE0"/>
          </a:solidFill>
          <a:ln w="19050">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r>
              <a:rPr lang="en-US" dirty="0" smtClean="0">
                <a:solidFill>
                  <a:schemeClr val="tx1">
                    <a:lumMod val="95000"/>
                    <a:lumOff val="5000"/>
                  </a:schemeClr>
                </a:solidFill>
              </a:rPr>
              <a:t>EP Container</a:t>
            </a:r>
            <a:endParaRPr lang="en-US" dirty="0">
              <a:solidFill>
                <a:schemeClr val="tx1">
                  <a:lumMod val="95000"/>
                  <a:lumOff val="5000"/>
                </a:schemeClr>
              </a:solidFill>
            </a:endParaRPr>
          </a:p>
        </p:txBody>
      </p:sp>
      <p:sp>
        <p:nvSpPr>
          <p:cNvPr id="12" name="Rectangle 11"/>
          <p:cNvSpPr/>
          <p:nvPr/>
        </p:nvSpPr>
        <p:spPr>
          <a:xfrm>
            <a:off x="4362449" y="866775"/>
            <a:ext cx="2638426" cy="3228975"/>
          </a:xfrm>
          <a:prstGeom prst="rect">
            <a:avLst/>
          </a:prstGeom>
          <a:solidFill>
            <a:srgbClr val="FFFFE0"/>
          </a:solidFill>
          <a:ln w="19050">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r>
              <a:rPr lang="en-US" dirty="0" smtClean="0">
                <a:solidFill>
                  <a:schemeClr val="tx1">
                    <a:lumMod val="95000"/>
                    <a:lumOff val="5000"/>
                  </a:schemeClr>
                </a:solidFill>
              </a:rPr>
              <a:t>Internal Container</a:t>
            </a:r>
            <a:endParaRPr lang="en-US" dirty="0">
              <a:solidFill>
                <a:schemeClr val="tx1">
                  <a:lumMod val="95000"/>
                  <a:lumOff val="5000"/>
                </a:schemeClr>
              </a:solidFill>
            </a:endParaRPr>
          </a:p>
        </p:txBody>
      </p:sp>
      <p:sp>
        <p:nvSpPr>
          <p:cNvPr id="13" name="Rectangle 12"/>
          <p:cNvSpPr/>
          <p:nvPr/>
        </p:nvSpPr>
        <p:spPr>
          <a:xfrm>
            <a:off x="1741414" y="3248023"/>
            <a:ext cx="2266949" cy="647700"/>
          </a:xfrm>
          <a:prstGeom prst="rect">
            <a:avLst/>
          </a:prstGeom>
          <a:solidFill>
            <a:srgbClr val="C2F0FF"/>
          </a:solidFill>
          <a:ln w="28575"/>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r>
              <a:rPr lang="en-US" dirty="0" smtClean="0">
                <a:solidFill>
                  <a:schemeClr val="tx1">
                    <a:lumMod val="95000"/>
                    <a:lumOff val="5000"/>
                  </a:schemeClr>
                </a:solidFill>
              </a:rPr>
              <a:t>Remote </a:t>
            </a:r>
            <a:r>
              <a:rPr lang="en-US" dirty="0" err="1" smtClean="0">
                <a:solidFill>
                  <a:schemeClr val="tx1">
                    <a:lumMod val="95000"/>
                    <a:lumOff val="5000"/>
                  </a:schemeClr>
                </a:solidFill>
              </a:rPr>
              <a:t>Diag</a:t>
            </a:r>
            <a:endParaRPr lang="en-US" dirty="0">
              <a:solidFill>
                <a:schemeClr val="tx1">
                  <a:lumMod val="95000"/>
                  <a:lumOff val="5000"/>
                </a:schemeClr>
              </a:solidFill>
            </a:endParaRPr>
          </a:p>
        </p:txBody>
      </p:sp>
      <p:sp>
        <p:nvSpPr>
          <p:cNvPr id="14" name="Rectangle 13"/>
          <p:cNvSpPr/>
          <p:nvPr/>
        </p:nvSpPr>
        <p:spPr>
          <a:xfrm>
            <a:off x="1733550" y="1400175"/>
            <a:ext cx="2266949" cy="647700"/>
          </a:xfrm>
          <a:prstGeom prst="rect">
            <a:avLst/>
          </a:prstGeom>
          <a:solidFill>
            <a:schemeClr val="accent6">
              <a:lumMod val="75000"/>
            </a:schemeClr>
          </a:solidFill>
          <a:ln w="28575"/>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r>
              <a:rPr lang="en-US" b="1" dirty="0" smtClean="0">
                <a:solidFill>
                  <a:schemeClr val="bg1"/>
                </a:solidFill>
              </a:rPr>
              <a:t>TMC Apps</a:t>
            </a:r>
            <a:endParaRPr lang="en-US" b="1" dirty="0">
              <a:solidFill>
                <a:schemeClr val="bg1"/>
              </a:solidFill>
            </a:endParaRPr>
          </a:p>
        </p:txBody>
      </p:sp>
      <p:sp>
        <p:nvSpPr>
          <p:cNvPr id="15" name="Rectangle 14"/>
          <p:cNvSpPr/>
          <p:nvPr/>
        </p:nvSpPr>
        <p:spPr>
          <a:xfrm>
            <a:off x="1768329" y="2371724"/>
            <a:ext cx="2232170" cy="647700"/>
          </a:xfrm>
          <a:prstGeom prst="rect">
            <a:avLst/>
          </a:prstGeom>
          <a:solidFill>
            <a:srgbClr val="C2F0FF"/>
          </a:solidFill>
          <a:ln w="28575"/>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r>
              <a:rPr lang="en-US" dirty="0" smtClean="0">
                <a:solidFill>
                  <a:schemeClr val="tx1">
                    <a:lumMod val="95000"/>
                    <a:lumOff val="5000"/>
                  </a:schemeClr>
                </a:solidFill>
              </a:rPr>
              <a:t>Other</a:t>
            </a:r>
            <a:endParaRPr lang="en-US" dirty="0">
              <a:solidFill>
                <a:schemeClr val="tx1">
                  <a:lumMod val="95000"/>
                  <a:lumOff val="5000"/>
                </a:schemeClr>
              </a:solidFill>
            </a:endParaRPr>
          </a:p>
        </p:txBody>
      </p:sp>
      <p:sp>
        <p:nvSpPr>
          <p:cNvPr id="16" name="Rectangle 15"/>
          <p:cNvSpPr/>
          <p:nvPr/>
        </p:nvSpPr>
        <p:spPr>
          <a:xfrm>
            <a:off x="1733550" y="2324099"/>
            <a:ext cx="2232170" cy="647700"/>
          </a:xfrm>
          <a:prstGeom prst="rect">
            <a:avLst/>
          </a:prstGeom>
          <a:solidFill>
            <a:srgbClr val="C2F0FF"/>
          </a:solidFill>
          <a:ln w="28575"/>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r>
              <a:rPr lang="en-US" dirty="0" smtClean="0">
                <a:solidFill>
                  <a:schemeClr val="tx1">
                    <a:lumMod val="95000"/>
                    <a:lumOff val="5000"/>
                  </a:schemeClr>
                </a:solidFill>
              </a:rPr>
              <a:t>LGE Apps/Services</a:t>
            </a:r>
            <a:endParaRPr lang="en-US" dirty="0">
              <a:solidFill>
                <a:schemeClr val="tx1">
                  <a:lumMod val="95000"/>
                  <a:lumOff val="5000"/>
                </a:schemeClr>
              </a:solidFill>
            </a:endParaRPr>
          </a:p>
        </p:txBody>
      </p:sp>
      <p:sp>
        <p:nvSpPr>
          <p:cNvPr id="18" name="Rectangle 17"/>
          <p:cNvSpPr/>
          <p:nvPr/>
        </p:nvSpPr>
        <p:spPr>
          <a:xfrm>
            <a:off x="4548187" y="3248023"/>
            <a:ext cx="2266949" cy="647700"/>
          </a:xfrm>
          <a:prstGeom prst="rect">
            <a:avLst/>
          </a:prstGeom>
          <a:solidFill>
            <a:srgbClr val="C2F0FF"/>
          </a:solidFill>
          <a:ln w="28575"/>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r>
              <a:rPr lang="en-US" dirty="0" smtClean="0">
                <a:solidFill>
                  <a:schemeClr val="tx1">
                    <a:lumMod val="95000"/>
                    <a:lumOff val="5000"/>
                  </a:schemeClr>
                </a:solidFill>
              </a:rPr>
              <a:t>OBC</a:t>
            </a:r>
            <a:endParaRPr lang="en-US" dirty="0">
              <a:solidFill>
                <a:schemeClr val="tx1">
                  <a:lumMod val="95000"/>
                  <a:lumOff val="5000"/>
                </a:schemeClr>
              </a:solidFill>
            </a:endParaRPr>
          </a:p>
        </p:txBody>
      </p:sp>
      <p:sp>
        <p:nvSpPr>
          <p:cNvPr id="19" name="Rectangle 18"/>
          <p:cNvSpPr/>
          <p:nvPr/>
        </p:nvSpPr>
        <p:spPr>
          <a:xfrm>
            <a:off x="1552576" y="4219572"/>
            <a:ext cx="5448299" cy="647700"/>
          </a:xfrm>
          <a:prstGeom prst="rect">
            <a:avLst/>
          </a:prstGeom>
          <a:solidFill>
            <a:schemeClr val="bg2">
              <a:lumMod val="75000"/>
            </a:schemeClr>
          </a:solidFill>
          <a:ln w="28575"/>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r>
              <a:rPr lang="en-US" dirty="0" smtClean="0">
                <a:solidFill>
                  <a:schemeClr val="tx1">
                    <a:lumMod val="95000"/>
                    <a:lumOff val="5000"/>
                  </a:schemeClr>
                </a:solidFill>
              </a:rPr>
              <a:t>Linux Kernel/Driver</a:t>
            </a:r>
            <a:endParaRPr lang="en-US" dirty="0">
              <a:solidFill>
                <a:schemeClr val="tx1">
                  <a:lumMod val="95000"/>
                  <a:lumOff val="5000"/>
                </a:schemeClr>
              </a:solidFill>
            </a:endParaRPr>
          </a:p>
        </p:txBody>
      </p:sp>
      <p:grpSp>
        <p:nvGrpSpPr>
          <p:cNvPr id="22" name="Group 21"/>
          <p:cNvGrpSpPr/>
          <p:nvPr/>
        </p:nvGrpSpPr>
        <p:grpSpPr>
          <a:xfrm>
            <a:off x="4722017" y="4386261"/>
            <a:ext cx="1935956" cy="276227"/>
            <a:chOff x="4722017" y="4386261"/>
            <a:chExt cx="1935956" cy="276227"/>
          </a:xfrm>
        </p:grpSpPr>
        <p:sp>
          <p:nvSpPr>
            <p:cNvPr id="20" name="Rectangle 19"/>
            <p:cNvSpPr/>
            <p:nvPr/>
          </p:nvSpPr>
          <p:spPr>
            <a:xfrm>
              <a:off x="4722017" y="4386261"/>
              <a:ext cx="820340" cy="276227"/>
            </a:xfrm>
            <a:prstGeom prst="rect">
              <a:avLst/>
            </a:prstGeom>
            <a:solidFill>
              <a:schemeClr val="bg2">
                <a:lumMod val="90000"/>
              </a:schemeClr>
            </a:solidFill>
            <a:ln w="28575"/>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r>
                <a:rPr lang="en-US" dirty="0" smtClean="0">
                  <a:solidFill>
                    <a:schemeClr val="tx1">
                      <a:lumMod val="95000"/>
                      <a:lumOff val="5000"/>
                    </a:schemeClr>
                  </a:solidFill>
                </a:rPr>
                <a:t>SPI Rx</a:t>
              </a:r>
              <a:endParaRPr lang="en-US" dirty="0">
                <a:solidFill>
                  <a:schemeClr val="tx1">
                    <a:lumMod val="95000"/>
                    <a:lumOff val="5000"/>
                  </a:schemeClr>
                </a:solidFill>
              </a:endParaRPr>
            </a:p>
          </p:txBody>
        </p:sp>
        <p:sp>
          <p:nvSpPr>
            <p:cNvPr id="21" name="Rectangle 20"/>
            <p:cNvSpPr/>
            <p:nvPr/>
          </p:nvSpPr>
          <p:spPr>
            <a:xfrm>
              <a:off x="5837633" y="4386261"/>
              <a:ext cx="820340" cy="276227"/>
            </a:xfrm>
            <a:prstGeom prst="rect">
              <a:avLst/>
            </a:prstGeom>
            <a:solidFill>
              <a:schemeClr val="bg2">
                <a:lumMod val="90000"/>
              </a:schemeClr>
            </a:solidFill>
            <a:ln w="28575"/>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r>
                <a:rPr lang="en-US" dirty="0" smtClean="0">
                  <a:solidFill>
                    <a:schemeClr val="tx1">
                      <a:lumMod val="95000"/>
                      <a:lumOff val="5000"/>
                    </a:schemeClr>
                  </a:solidFill>
                </a:rPr>
                <a:t>SPI </a:t>
              </a:r>
              <a:r>
                <a:rPr lang="en-US" dirty="0" err="1" smtClean="0">
                  <a:solidFill>
                    <a:schemeClr val="tx1">
                      <a:lumMod val="95000"/>
                      <a:lumOff val="5000"/>
                    </a:schemeClr>
                  </a:solidFill>
                </a:rPr>
                <a:t>Tx</a:t>
              </a:r>
              <a:endParaRPr lang="en-US" dirty="0">
                <a:solidFill>
                  <a:schemeClr val="tx1">
                    <a:lumMod val="95000"/>
                    <a:lumOff val="5000"/>
                  </a:schemeClr>
                </a:solidFill>
              </a:endParaRPr>
            </a:p>
          </p:txBody>
        </p:sp>
      </p:grpSp>
      <p:sp>
        <p:nvSpPr>
          <p:cNvPr id="23" name="Rectangle 22"/>
          <p:cNvSpPr/>
          <p:nvPr/>
        </p:nvSpPr>
        <p:spPr>
          <a:xfrm>
            <a:off x="7258048" y="495299"/>
            <a:ext cx="1762128" cy="2476499"/>
          </a:xfrm>
          <a:prstGeom prst="rect">
            <a:avLst/>
          </a:prstGeom>
          <a:solidFill>
            <a:schemeClr val="bg2">
              <a:lumMod val="75000"/>
            </a:schemeClr>
          </a:solidFill>
          <a:ln w="28575"/>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r>
              <a:rPr lang="en-US" dirty="0" smtClean="0">
                <a:solidFill>
                  <a:schemeClr val="tx1">
                    <a:lumMod val="95000"/>
                    <a:lumOff val="5000"/>
                  </a:schemeClr>
                </a:solidFill>
              </a:rPr>
              <a:t>MCU</a:t>
            </a:r>
            <a:endParaRPr lang="en-US" dirty="0">
              <a:solidFill>
                <a:schemeClr val="tx1">
                  <a:lumMod val="95000"/>
                  <a:lumOff val="5000"/>
                </a:schemeClr>
              </a:solidFill>
            </a:endParaRPr>
          </a:p>
        </p:txBody>
      </p:sp>
      <p:sp>
        <p:nvSpPr>
          <p:cNvPr id="24" name="Rectangle 23"/>
          <p:cNvSpPr/>
          <p:nvPr/>
        </p:nvSpPr>
        <p:spPr>
          <a:xfrm>
            <a:off x="7353299" y="866775"/>
            <a:ext cx="1543050" cy="647700"/>
          </a:xfrm>
          <a:prstGeom prst="rect">
            <a:avLst/>
          </a:prstGeom>
          <a:solidFill>
            <a:schemeClr val="bg2">
              <a:lumMod val="90000"/>
            </a:schemeClr>
          </a:solidFill>
          <a:ln w="28575"/>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r>
              <a:rPr lang="en-US" dirty="0" smtClean="0">
                <a:solidFill>
                  <a:schemeClr val="tx1">
                    <a:lumMod val="95000"/>
                    <a:lumOff val="5000"/>
                  </a:schemeClr>
                </a:solidFill>
              </a:rPr>
              <a:t>MCU Apps</a:t>
            </a:r>
            <a:endParaRPr lang="en-US" dirty="0">
              <a:solidFill>
                <a:schemeClr val="tx1">
                  <a:lumMod val="95000"/>
                  <a:lumOff val="5000"/>
                </a:schemeClr>
              </a:solidFill>
            </a:endParaRPr>
          </a:p>
        </p:txBody>
      </p:sp>
      <p:sp>
        <p:nvSpPr>
          <p:cNvPr id="25" name="Rectangle 24"/>
          <p:cNvSpPr/>
          <p:nvPr/>
        </p:nvSpPr>
        <p:spPr>
          <a:xfrm>
            <a:off x="7362822" y="1635123"/>
            <a:ext cx="1533527" cy="1231902"/>
          </a:xfrm>
          <a:prstGeom prst="rect">
            <a:avLst/>
          </a:prstGeom>
          <a:solidFill>
            <a:schemeClr val="bg2">
              <a:lumMod val="90000"/>
            </a:schemeClr>
          </a:solidFill>
          <a:ln w="28575"/>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r>
              <a:rPr lang="en-US" dirty="0" smtClean="0">
                <a:solidFill>
                  <a:schemeClr val="tx1">
                    <a:lumMod val="95000"/>
                    <a:lumOff val="5000"/>
                  </a:schemeClr>
                </a:solidFill>
              </a:rPr>
              <a:t>AUTOSAR</a:t>
            </a:r>
            <a:endParaRPr lang="en-US" dirty="0">
              <a:solidFill>
                <a:schemeClr val="tx1">
                  <a:lumMod val="95000"/>
                  <a:lumOff val="5000"/>
                </a:schemeClr>
              </a:solidFill>
            </a:endParaRPr>
          </a:p>
        </p:txBody>
      </p:sp>
      <p:cxnSp>
        <p:nvCxnSpPr>
          <p:cNvPr id="27" name="Straight Arrow Connector 26"/>
          <p:cNvCxnSpPr/>
          <p:nvPr/>
        </p:nvCxnSpPr>
        <p:spPr>
          <a:xfrm>
            <a:off x="8110535" y="3009899"/>
            <a:ext cx="0" cy="876299"/>
          </a:xfrm>
          <a:prstGeom prst="straightConnector1">
            <a:avLst/>
          </a:prstGeom>
          <a:ln w="38100">
            <a:solidFill>
              <a:schemeClr val="bg2">
                <a:lumMod val="5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8177211" y="3539094"/>
            <a:ext cx="1495425" cy="369332"/>
          </a:xfrm>
          <a:prstGeom prst="rect">
            <a:avLst/>
          </a:prstGeom>
          <a:noFill/>
        </p:spPr>
        <p:txBody>
          <a:bodyPr wrap="square" rtlCol="0">
            <a:spAutoFit/>
          </a:bodyPr>
          <a:lstStyle/>
          <a:p>
            <a:r>
              <a:rPr lang="en-US" dirty="0" smtClean="0"/>
              <a:t>Internal CAN</a:t>
            </a:r>
            <a:endParaRPr lang="en-US" dirty="0"/>
          </a:p>
        </p:txBody>
      </p:sp>
      <p:cxnSp>
        <p:nvCxnSpPr>
          <p:cNvPr id="36" name="Straight Connector 35"/>
          <p:cNvCxnSpPr/>
          <p:nvPr/>
        </p:nvCxnSpPr>
        <p:spPr>
          <a:xfrm>
            <a:off x="7629525" y="3895723"/>
            <a:ext cx="2000250" cy="0"/>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p:nvPr/>
        </p:nvCxnSpPr>
        <p:spPr>
          <a:xfrm>
            <a:off x="7781924" y="3962398"/>
            <a:ext cx="2000250" cy="0"/>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16175203"/>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3"/>
          <a:stretch>
            <a:fillRect/>
          </a:stretch>
        </p:blipFill>
        <p:spPr>
          <a:xfrm>
            <a:off x="1437155" y="953344"/>
            <a:ext cx="8903084" cy="5132942"/>
          </a:xfrm>
          <a:prstGeom prst="rect">
            <a:avLst/>
          </a:prstGeom>
        </p:spPr>
      </p:pic>
      <p:sp>
        <p:nvSpPr>
          <p:cNvPr id="4" name="Rectangle 3"/>
          <p:cNvSpPr/>
          <p:nvPr/>
        </p:nvSpPr>
        <p:spPr>
          <a:xfrm>
            <a:off x="459789" y="146304"/>
            <a:ext cx="2214831" cy="461665"/>
          </a:xfrm>
          <a:prstGeom prst="rect">
            <a:avLst/>
          </a:prstGeom>
          <a:solidFill>
            <a:schemeClr val="bg1"/>
          </a:solidFill>
        </p:spPr>
        <p:txBody>
          <a:bodyPr wrap="square">
            <a:spAutoFit/>
          </a:bodyPr>
          <a:lstStyle/>
          <a:p>
            <a:r>
              <a:rPr lang="en-US" sz="2400" u="sng" dirty="0" smtClean="0">
                <a:latin typeface="Times New Roman" panose="02020603050405020304" pitchFamily="18" charset="0"/>
                <a:cs typeface="Times New Roman" panose="02020603050405020304" pitchFamily="18" charset="0"/>
              </a:rPr>
              <a:t>Appendix 1</a:t>
            </a:r>
            <a:endParaRPr lang="en-US" sz="2400" u="sng" dirty="0">
              <a:latin typeface="Times New Roman" panose="02020603050405020304" pitchFamily="18" charset="0"/>
              <a:cs typeface="Times New Roman" panose="02020603050405020304" pitchFamily="18" charset="0"/>
            </a:endParaRPr>
          </a:p>
        </p:txBody>
      </p:sp>
      <p:sp>
        <p:nvSpPr>
          <p:cNvPr id="2" name="Slide Number Placeholder 1"/>
          <p:cNvSpPr>
            <a:spLocks noGrp="1"/>
          </p:cNvSpPr>
          <p:nvPr>
            <p:ph type="sldNum" sz="quarter" idx="12"/>
          </p:nvPr>
        </p:nvSpPr>
        <p:spPr/>
        <p:txBody>
          <a:bodyPr/>
          <a:lstStyle/>
          <a:p>
            <a:fld id="{0059130C-D5A7-43F1-8BDF-D4DD1699FE09}" type="slidenum">
              <a:rPr lang="en-US" smtClean="0"/>
              <a:t>25</a:t>
            </a:fld>
            <a:endParaRPr lang="en-US"/>
          </a:p>
        </p:txBody>
      </p:sp>
    </p:spTree>
    <p:extLst>
      <p:ext uri="{BB962C8B-B14F-4D97-AF65-F5344CB8AC3E}">
        <p14:creationId xmlns:p14="http://schemas.microsoft.com/office/powerpoint/2010/main" val="3240511889"/>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459789" y="146304"/>
            <a:ext cx="2214831" cy="461665"/>
          </a:xfrm>
          <a:prstGeom prst="rect">
            <a:avLst/>
          </a:prstGeom>
          <a:solidFill>
            <a:schemeClr val="bg1"/>
          </a:solidFill>
        </p:spPr>
        <p:txBody>
          <a:bodyPr wrap="square">
            <a:spAutoFit/>
          </a:bodyPr>
          <a:lstStyle/>
          <a:p>
            <a:r>
              <a:rPr lang="en-US" sz="2400" u="sng" dirty="0">
                <a:latin typeface="Times New Roman" panose="02020603050405020304" pitchFamily="18" charset="0"/>
                <a:cs typeface="Times New Roman" panose="02020603050405020304" pitchFamily="18" charset="0"/>
              </a:rPr>
              <a:t>Appendix </a:t>
            </a:r>
            <a:r>
              <a:rPr lang="en-US" sz="2400" u="sng" dirty="0" smtClean="0">
                <a:latin typeface="Times New Roman" panose="02020603050405020304" pitchFamily="18" charset="0"/>
                <a:cs typeface="Times New Roman" panose="02020603050405020304" pitchFamily="18" charset="0"/>
              </a:rPr>
              <a:t>2</a:t>
            </a:r>
            <a:endParaRPr lang="en-US" sz="2400" u="sng" dirty="0">
              <a:latin typeface="Times New Roman" panose="02020603050405020304" pitchFamily="18" charset="0"/>
              <a:cs typeface="Times New Roman" panose="02020603050405020304" pitchFamily="18" charset="0"/>
            </a:endParaRPr>
          </a:p>
        </p:txBody>
      </p:sp>
      <p:sp>
        <p:nvSpPr>
          <p:cNvPr id="2" name="Slide Number Placeholder 1"/>
          <p:cNvSpPr>
            <a:spLocks noGrp="1"/>
          </p:cNvSpPr>
          <p:nvPr>
            <p:ph type="sldNum" sz="quarter" idx="12"/>
          </p:nvPr>
        </p:nvSpPr>
        <p:spPr/>
        <p:txBody>
          <a:bodyPr/>
          <a:lstStyle/>
          <a:p>
            <a:fld id="{0059130C-D5A7-43F1-8BDF-D4DD1699FE09}" type="slidenum">
              <a:rPr lang="en-US" smtClean="0"/>
              <a:t>26</a:t>
            </a:fld>
            <a:endParaRPr lang="en-US"/>
          </a:p>
        </p:txBody>
      </p:sp>
      <p:pic>
        <p:nvPicPr>
          <p:cNvPr id="5" name="Picture 4"/>
          <p:cNvPicPr>
            <a:picLocks noChangeAspect="1"/>
          </p:cNvPicPr>
          <p:nvPr/>
        </p:nvPicPr>
        <p:blipFill>
          <a:blip r:embed="rId3"/>
          <a:stretch>
            <a:fillRect/>
          </a:stretch>
        </p:blipFill>
        <p:spPr>
          <a:xfrm>
            <a:off x="3911346" y="78191"/>
            <a:ext cx="4531614" cy="6643284"/>
          </a:xfrm>
          <a:prstGeom prst="rect">
            <a:avLst/>
          </a:prstGeom>
        </p:spPr>
      </p:pic>
    </p:spTree>
    <p:extLst>
      <p:ext uri="{BB962C8B-B14F-4D97-AF65-F5344CB8AC3E}">
        <p14:creationId xmlns:p14="http://schemas.microsoft.com/office/powerpoint/2010/main" val="3939323698"/>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xfrm>
            <a:off x="8519163" y="6382474"/>
            <a:ext cx="2743200" cy="365125"/>
          </a:xfrm>
        </p:spPr>
        <p:txBody>
          <a:bodyPr/>
          <a:lstStyle/>
          <a:p>
            <a:fld id="{0059130C-D5A7-43F1-8BDF-D4DD1699FE09}" type="slidenum">
              <a:rPr lang="en-US" smtClean="0"/>
              <a:t>27</a:t>
            </a:fld>
            <a:endParaRPr lang="en-US"/>
          </a:p>
        </p:txBody>
      </p:sp>
      <p:sp>
        <p:nvSpPr>
          <p:cNvPr id="22" name="Rectangle 21"/>
          <p:cNvSpPr/>
          <p:nvPr/>
        </p:nvSpPr>
        <p:spPr>
          <a:xfrm>
            <a:off x="283725" y="44073"/>
            <a:ext cx="5449521" cy="461665"/>
          </a:xfrm>
          <a:prstGeom prst="rect">
            <a:avLst/>
          </a:prstGeom>
          <a:solidFill>
            <a:schemeClr val="bg1"/>
          </a:solidFill>
        </p:spPr>
        <p:txBody>
          <a:bodyPr wrap="square">
            <a:spAutoFit/>
          </a:bodyPr>
          <a:lstStyle/>
          <a:p>
            <a:endParaRPr lang="en-US" sz="2400" u="sng" dirty="0">
              <a:latin typeface="Times New Roman" panose="02020603050405020304" pitchFamily="18" charset="0"/>
              <a:cs typeface="Times New Roman" panose="02020603050405020304" pitchFamily="18" charset="0"/>
            </a:endParaRPr>
          </a:p>
        </p:txBody>
      </p:sp>
      <p:sp>
        <p:nvSpPr>
          <p:cNvPr id="13" name="Rectangle 12"/>
          <p:cNvSpPr/>
          <p:nvPr/>
        </p:nvSpPr>
        <p:spPr>
          <a:xfrm>
            <a:off x="459789" y="146304"/>
            <a:ext cx="5449521" cy="461665"/>
          </a:xfrm>
          <a:prstGeom prst="rect">
            <a:avLst/>
          </a:prstGeom>
          <a:solidFill>
            <a:schemeClr val="bg1"/>
          </a:solidFill>
        </p:spPr>
        <p:txBody>
          <a:bodyPr wrap="square">
            <a:spAutoFit/>
          </a:bodyPr>
          <a:lstStyle/>
          <a:p>
            <a:r>
              <a:rPr lang="en-US" sz="2400" u="sng" dirty="0">
                <a:latin typeface="Times New Roman" panose="02020603050405020304" pitchFamily="18" charset="0"/>
                <a:cs typeface="Times New Roman" panose="02020603050405020304" pitchFamily="18" charset="0"/>
              </a:rPr>
              <a:t>Appendix 3 - </a:t>
            </a:r>
            <a:r>
              <a:rPr lang="en-US" sz="2400" u="sng" dirty="0" smtClean="0">
                <a:latin typeface="Times New Roman" panose="02020603050405020304" pitchFamily="18" charset="0"/>
                <a:cs typeface="Times New Roman" panose="02020603050405020304" pitchFamily="18" charset="0"/>
              </a:rPr>
              <a:t>Configuration</a:t>
            </a:r>
            <a:endParaRPr lang="en-US" sz="2400" u="sng" dirty="0">
              <a:latin typeface="Times New Roman" panose="02020603050405020304" pitchFamily="18" charset="0"/>
              <a:cs typeface="Times New Roman" panose="02020603050405020304" pitchFamily="18" charset="0"/>
            </a:endParaRPr>
          </a:p>
        </p:txBody>
      </p:sp>
      <p:sp>
        <p:nvSpPr>
          <p:cNvPr id="17" name="Rectangle 16"/>
          <p:cNvSpPr/>
          <p:nvPr/>
        </p:nvSpPr>
        <p:spPr>
          <a:xfrm>
            <a:off x="6434673" y="607969"/>
            <a:ext cx="3963907" cy="369332"/>
          </a:xfrm>
          <a:prstGeom prst="rect">
            <a:avLst/>
          </a:prstGeom>
        </p:spPr>
        <p:txBody>
          <a:bodyPr wrap="none">
            <a:spAutoFit/>
          </a:bodyPr>
          <a:lstStyle/>
          <a:p>
            <a:pPr algn="ctr">
              <a:defRPr/>
            </a:pPr>
            <a:r>
              <a:rPr lang="en-US" b="1" dirty="0" smtClean="0">
                <a:latin typeface="Times New Roman" panose="02020603050405020304" pitchFamily="18" charset="0"/>
                <a:cs typeface="Times New Roman" panose="02020603050405020304" pitchFamily="18" charset="0"/>
              </a:rPr>
              <a:t>Dynamic Thread Pool – 2 core threads</a:t>
            </a:r>
            <a:endParaRPr lang="en-US" b="1" dirty="0">
              <a:latin typeface="Times New Roman" panose="02020603050405020304" pitchFamily="18" charset="0"/>
              <a:cs typeface="Times New Roman" panose="02020603050405020304" pitchFamily="18" charset="0"/>
            </a:endParaRPr>
          </a:p>
        </p:txBody>
      </p:sp>
      <p:grpSp>
        <p:nvGrpSpPr>
          <p:cNvPr id="20" name="Group 19"/>
          <p:cNvGrpSpPr/>
          <p:nvPr/>
        </p:nvGrpSpPr>
        <p:grpSpPr>
          <a:xfrm>
            <a:off x="6496050" y="1039597"/>
            <a:ext cx="5212080" cy="2445281"/>
            <a:chOff x="6496050" y="1039597"/>
            <a:chExt cx="5212080" cy="2445281"/>
          </a:xfrm>
        </p:grpSpPr>
        <p:pic>
          <p:nvPicPr>
            <p:cNvPr id="19" name="Picture 18"/>
            <p:cNvPicPr>
              <a:picLocks noChangeAspect="1"/>
            </p:cNvPicPr>
            <p:nvPr/>
          </p:nvPicPr>
          <p:blipFill rotWithShape="1">
            <a:blip r:embed="rId3"/>
            <a:srcRect r="8390"/>
            <a:stretch/>
          </p:blipFill>
          <p:spPr>
            <a:xfrm>
              <a:off x="6496050" y="2289463"/>
              <a:ext cx="5212080" cy="1195415"/>
            </a:xfrm>
            <a:prstGeom prst="rect">
              <a:avLst/>
            </a:prstGeom>
            <a:ln>
              <a:solidFill>
                <a:schemeClr val="tx1"/>
              </a:solidFill>
            </a:ln>
          </p:spPr>
        </p:pic>
        <p:pic>
          <p:nvPicPr>
            <p:cNvPr id="25" name="Picture 24"/>
            <p:cNvPicPr>
              <a:picLocks noChangeAspect="1"/>
            </p:cNvPicPr>
            <p:nvPr/>
          </p:nvPicPr>
          <p:blipFill>
            <a:blip r:embed="rId4"/>
            <a:stretch>
              <a:fillRect/>
            </a:stretch>
          </p:blipFill>
          <p:spPr>
            <a:xfrm>
              <a:off x="6496050" y="1039597"/>
              <a:ext cx="5212080" cy="1171641"/>
            </a:xfrm>
            <a:prstGeom prst="rect">
              <a:avLst/>
            </a:prstGeom>
            <a:ln>
              <a:solidFill>
                <a:schemeClr val="tx1"/>
              </a:solidFill>
            </a:ln>
          </p:spPr>
        </p:pic>
      </p:grpSp>
      <p:sp>
        <p:nvSpPr>
          <p:cNvPr id="16" name="Rectangle 15"/>
          <p:cNvSpPr/>
          <p:nvPr/>
        </p:nvSpPr>
        <p:spPr>
          <a:xfrm>
            <a:off x="555803" y="3671449"/>
            <a:ext cx="3963907" cy="369332"/>
          </a:xfrm>
          <a:prstGeom prst="rect">
            <a:avLst/>
          </a:prstGeom>
        </p:spPr>
        <p:txBody>
          <a:bodyPr wrap="none">
            <a:spAutoFit/>
          </a:bodyPr>
          <a:lstStyle/>
          <a:p>
            <a:pPr algn="ctr">
              <a:defRPr/>
            </a:pPr>
            <a:r>
              <a:rPr lang="en-US" b="1" dirty="0" smtClean="0">
                <a:latin typeface="Times New Roman" panose="02020603050405020304" pitchFamily="18" charset="0"/>
                <a:cs typeface="Times New Roman" panose="02020603050405020304" pitchFamily="18" charset="0"/>
              </a:rPr>
              <a:t>Dynamic Thread Pool – 4 core threads</a:t>
            </a:r>
            <a:endParaRPr lang="en-US" b="1" dirty="0">
              <a:latin typeface="Times New Roman" panose="02020603050405020304" pitchFamily="18" charset="0"/>
              <a:cs typeface="Times New Roman" panose="02020603050405020304" pitchFamily="18" charset="0"/>
            </a:endParaRPr>
          </a:p>
        </p:txBody>
      </p:sp>
      <p:pic>
        <p:nvPicPr>
          <p:cNvPr id="5" name="Picture 4"/>
          <p:cNvPicPr>
            <a:picLocks noChangeAspect="1"/>
          </p:cNvPicPr>
          <p:nvPr/>
        </p:nvPicPr>
        <p:blipFill rotWithShape="1">
          <a:blip r:embed="rId5">
            <a:extLst>
              <a:ext uri="{28A0092B-C50C-407E-A947-70E740481C1C}">
                <a14:useLocalDpi xmlns:a14="http://schemas.microsoft.com/office/drawing/2010/main" val="0"/>
              </a:ext>
            </a:extLst>
          </a:blip>
          <a:srcRect r="1972" b="10794"/>
          <a:stretch/>
        </p:blipFill>
        <p:spPr>
          <a:xfrm>
            <a:off x="625011" y="4101395"/>
            <a:ext cx="5108235" cy="1104590"/>
          </a:xfrm>
          <a:prstGeom prst="rect">
            <a:avLst/>
          </a:prstGeom>
          <a:ln>
            <a:solidFill>
              <a:schemeClr val="tx1"/>
            </a:solidFill>
          </a:ln>
        </p:spPr>
      </p:pic>
      <p:pic>
        <p:nvPicPr>
          <p:cNvPr id="7" name="Picture 6"/>
          <p:cNvPicPr>
            <a:picLocks noChangeAspect="1"/>
          </p:cNvPicPr>
          <p:nvPr/>
        </p:nvPicPr>
        <p:blipFill rotWithShape="1">
          <a:blip r:embed="rId6">
            <a:extLst>
              <a:ext uri="{28A0092B-C50C-407E-A947-70E740481C1C}">
                <a14:useLocalDpi xmlns:a14="http://schemas.microsoft.com/office/drawing/2010/main" val="0"/>
              </a:ext>
            </a:extLst>
          </a:blip>
          <a:srcRect r="15913"/>
          <a:stretch/>
        </p:blipFill>
        <p:spPr>
          <a:xfrm>
            <a:off x="615909" y="5291174"/>
            <a:ext cx="5107613" cy="1207008"/>
          </a:xfrm>
          <a:prstGeom prst="rect">
            <a:avLst/>
          </a:prstGeom>
          <a:ln>
            <a:solidFill>
              <a:schemeClr val="tx1"/>
            </a:solidFill>
          </a:ln>
        </p:spPr>
      </p:pic>
      <p:sp>
        <p:nvSpPr>
          <p:cNvPr id="21" name="Rectangle 20"/>
          <p:cNvSpPr/>
          <p:nvPr/>
        </p:nvSpPr>
        <p:spPr>
          <a:xfrm>
            <a:off x="6409404" y="3665353"/>
            <a:ext cx="3963907" cy="369332"/>
          </a:xfrm>
          <a:prstGeom prst="rect">
            <a:avLst/>
          </a:prstGeom>
        </p:spPr>
        <p:txBody>
          <a:bodyPr wrap="none">
            <a:spAutoFit/>
          </a:bodyPr>
          <a:lstStyle/>
          <a:p>
            <a:pPr algn="ctr">
              <a:defRPr/>
            </a:pPr>
            <a:r>
              <a:rPr lang="en-US" b="1" dirty="0" smtClean="0">
                <a:latin typeface="Times New Roman" panose="02020603050405020304" pitchFamily="18" charset="0"/>
                <a:cs typeface="Times New Roman" panose="02020603050405020304" pitchFamily="18" charset="0"/>
              </a:rPr>
              <a:t>Dynamic Thread Pool – 8 core threads</a:t>
            </a:r>
            <a:endParaRPr lang="en-US" b="1" dirty="0">
              <a:latin typeface="Times New Roman" panose="02020603050405020304" pitchFamily="18" charset="0"/>
              <a:cs typeface="Times New Roman" panose="02020603050405020304" pitchFamily="18" charset="0"/>
            </a:endParaRPr>
          </a:p>
        </p:txBody>
      </p:sp>
      <p:pic>
        <p:nvPicPr>
          <p:cNvPr id="8" name="Picture 7"/>
          <p:cNvPicPr>
            <a:picLocks noChangeAspect="1"/>
          </p:cNvPicPr>
          <p:nvPr/>
        </p:nvPicPr>
        <p:blipFill rotWithShape="1">
          <a:blip r:embed="rId7">
            <a:extLst>
              <a:ext uri="{28A0092B-C50C-407E-A947-70E740481C1C}">
                <a14:useLocalDpi xmlns:a14="http://schemas.microsoft.com/office/drawing/2010/main" val="0"/>
              </a:ext>
            </a:extLst>
          </a:blip>
          <a:srcRect r="12375"/>
          <a:stretch/>
        </p:blipFill>
        <p:spPr>
          <a:xfrm>
            <a:off x="6499861" y="5315151"/>
            <a:ext cx="5222748" cy="1207821"/>
          </a:xfrm>
          <a:prstGeom prst="rect">
            <a:avLst/>
          </a:prstGeom>
          <a:ln>
            <a:solidFill>
              <a:schemeClr val="tx1"/>
            </a:solidFill>
          </a:ln>
        </p:spPr>
      </p:pic>
      <p:pic>
        <p:nvPicPr>
          <p:cNvPr id="9" name="Picture 8"/>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505956" y="4107807"/>
            <a:ext cx="5212080" cy="1124847"/>
          </a:xfrm>
          <a:prstGeom prst="rect">
            <a:avLst/>
          </a:prstGeom>
          <a:ln>
            <a:solidFill>
              <a:schemeClr val="tx1"/>
            </a:solidFill>
          </a:ln>
        </p:spPr>
      </p:pic>
      <p:sp>
        <p:nvSpPr>
          <p:cNvPr id="18" name="Rectangle 17"/>
          <p:cNvSpPr/>
          <p:nvPr/>
        </p:nvSpPr>
        <p:spPr>
          <a:xfrm>
            <a:off x="511353" y="638765"/>
            <a:ext cx="3963907" cy="369332"/>
          </a:xfrm>
          <a:prstGeom prst="rect">
            <a:avLst/>
          </a:prstGeom>
        </p:spPr>
        <p:txBody>
          <a:bodyPr wrap="none">
            <a:spAutoFit/>
          </a:bodyPr>
          <a:lstStyle/>
          <a:p>
            <a:pPr algn="ctr">
              <a:defRPr/>
            </a:pPr>
            <a:r>
              <a:rPr lang="en-US" b="1" dirty="0" smtClean="0">
                <a:latin typeface="Times New Roman" panose="02020603050405020304" pitchFamily="18" charset="0"/>
                <a:cs typeface="Times New Roman" panose="02020603050405020304" pitchFamily="18" charset="0"/>
              </a:rPr>
              <a:t>Dynamic Thread Pool – 1 core thread</a:t>
            </a:r>
            <a:endParaRPr lang="en-US" b="1" dirty="0">
              <a:latin typeface="Times New Roman" panose="02020603050405020304" pitchFamily="18" charset="0"/>
              <a:cs typeface="Times New Roman" panose="02020603050405020304" pitchFamily="18" charset="0"/>
            </a:endParaRPr>
          </a:p>
        </p:txBody>
      </p:sp>
      <p:grpSp>
        <p:nvGrpSpPr>
          <p:cNvPr id="15" name="Group 14"/>
          <p:cNvGrpSpPr/>
          <p:nvPr/>
        </p:nvGrpSpPr>
        <p:grpSpPr>
          <a:xfrm>
            <a:off x="634196" y="1029894"/>
            <a:ext cx="5105564" cy="2461080"/>
            <a:chOff x="634196" y="1029894"/>
            <a:chExt cx="5105564" cy="2461080"/>
          </a:xfrm>
        </p:grpSpPr>
        <p:pic>
          <p:nvPicPr>
            <p:cNvPr id="11" name="Picture 10"/>
            <p:cNvPicPr>
              <a:picLocks noChangeAspect="1"/>
            </p:cNvPicPr>
            <p:nvPr/>
          </p:nvPicPr>
          <p:blipFill rotWithShape="1">
            <a:blip r:embed="rId9"/>
            <a:srcRect r="793"/>
            <a:stretch/>
          </p:blipFill>
          <p:spPr>
            <a:xfrm>
              <a:off x="637408" y="1029894"/>
              <a:ext cx="5102352" cy="1183671"/>
            </a:xfrm>
            <a:prstGeom prst="rect">
              <a:avLst/>
            </a:prstGeom>
            <a:ln>
              <a:solidFill>
                <a:schemeClr val="tx1"/>
              </a:solidFill>
            </a:ln>
          </p:spPr>
        </p:pic>
        <p:pic>
          <p:nvPicPr>
            <p:cNvPr id="14" name="Picture 13"/>
            <p:cNvPicPr>
              <a:picLocks noChangeAspect="1"/>
            </p:cNvPicPr>
            <p:nvPr/>
          </p:nvPicPr>
          <p:blipFill rotWithShape="1">
            <a:blip r:embed="rId10"/>
            <a:srcRect r="13863"/>
            <a:stretch/>
          </p:blipFill>
          <p:spPr>
            <a:xfrm>
              <a:off x="634196" y="2289516"/>
              <a:ext cx="5102140" cy="1201458"/>
            </a:xfrm>
            <a:prstGeom prst="rect">
              <a:avLst/>
            </a:prstGeom>
            <a:ln>
              <a:solidFill>
                <a:schemeClr val="tx1"/>
              </a:solidFill>
            </a:ln>
          </p:spPr>
        </p:pic>
      </p:grpSp>
    </p:spTree>
    <p:extLst>
      <p:ext uri="{BB962C8B-B14F-4D97-AF65-F5344CB8AC3E}">
        <p14:creationId xmlns:p14="http://schemas.microsoft.com/office/powerpoint/2010/main" val="4212707719"/>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xfrm>
            <a:off x="8519163" y="6382474"/>
            <a:ext cx="2743200" cy="365125"/>
          </a:xfrm>
        </p:spPr>
        <p:txBody>
          <a:bodyPr/>
          <a:lstStyle/>
          <a:p>
            <a:fld id="{0059130C-D5A7-43F1-8BDF-D4DD1699FE09}" type="slidenum">
              <a:rPr lang="en-US" smtClean="0"/>
              <a:t>28</a:t>
            </a:fld>
            <a:endParaRPr lang="en-US" dirty="0"/>
          </a:p>
        </p:txBody>
      </p:sp>
      <p:sp>
        <p:nvSpPr>
          <p:cNvPr id="22" name="Rectangle 21"/>
          <p:cNvSpPr/>
          <p:nvPr/>
        </p:nvSpPr>
        <p:spPr>
          <a:xfrm>
            <a:off x="283725" y="44073"/>
            <a:ext cx="5449521" cy="461665"/>
          </a:xfrm>
          <a:prstGeom prst="rect">
            <a:avLst/>
          </a:prstGeom>
          <a:solidFill>
            <a:schemeClr val="bg1"/>
          </a:solidFill>
        </p:spPr>
        <p:txBody>
          <a:bodyPr wrap="square">
            <a:spAutoFit/>
          </a:bodyPr>
          <a:lstStyle/>
          <a:p>
            <a:endParaRPr lang="en-US" sz="2400" u="sng" dirty="0">
              <a:latin typeface="Times New Roman" panose="02020603050405020304" pitchFamily="18" charset="0"/>
              <a:cs typeface="Times New Roman" panose="02020603050405020304" pitchFamily="18" charset="0"/>
            </a:endParaRPr>
          </a:p>
        </p:txBody>
      </p:sp>
      <p:sp>
        <p:nvSpPr>
          <p:cNvPr id="13" name="Rectangle 12"/>
          <p:cNvSpPr/>
          <p:nvPr/>
        </p:nvSpPr>
        <p:spPr>
          <a:xfrm>
            <a:off x="459789" y="146304"/>
            <a:ext cx="6099761" cy="461665"/>
          </a:xfrm>
          <a:prstGeom prst="rect">
            <a:avLst/>
          </a:prstGeom>
          <a:solidFill>
            <a:schemeClr val="bg1"/>
          </a:solidFill>
        </p:spPr>
        <p:txBody>
          <a:bodyPr wrap="square">
            <a:spAutoFit/>
          </a:bodyPr>
          <a:lstStyle/>
          <a:p>
            <a:r>
              <a:rPr lang="en-US" sz="2400" u="sng" dirty="0">
                <a:latin typeface="Times New Roman" panose="02020603050405020304" pitchFamily="18" charset="0"/>
                <a:cs typeface="Times New Roman" panose="02020603050405020304" pitchFamily="18" charset="0"/>
              </a:rPr>
              <a:t>Appendix </a:t>
            </a:r>
            <a:r>
              <a:rPr lang="en-US" sz="2400" u="sng" dirty="0" smtClean="0">
                <a:latin typeface="Times New Roman" panose="02020603050405020304" pitchFamily="18" charset="0"/>
                <a:cs typeface="Times New Roman" panose="02020603050405020304" pitchFamily="18" charset="0"/>
              </a:rPr>
              <a:t>4 - </a:t>
            </a:r>
            <a:r>
              <a:rPr lang="en-US" sz="2400" u="sng" dirty="0">
                <a:latin typeface="Times New Roman" panose="02020603050405020304" pitchFamily="18" charset="0"/>
                <a:cs typeface="Times New Roman" panose="02020603050405020304" pitchFamily="18" charset="0"/>
              </a:rPr>
              <a:t>Configuration</a:t>
            </a:r>
          </a:p>
        </p:txBody>
      </p:sp>
      <p:graphicFrame>
        <p:nvGraphicFramePr>
          <p:cNvPr id="10" name="Table 9"/>
          <p:cNvGraphicFramePr>
            <a:graphicFrameLocks noGrp="1"/>
          </p:cNvGraphicFramePr>
          <p:nvPr>
            <p:extLst>
              <p:ext uri="{D42A27DB-BD31-4B8C-83A1-F6EECF244321}">
                <p14:modId xmlns:p14="http://schemas.microsoft.com/office/powerpoint/2010/main" val="2605662832"/>
              </p:ext>
            </p:extLst>
          </p:nvPr>
        </p:nvGraphicFramePr>
        <p:xfrm>
          <a:off x="899163" y="1053417"/>
          <a:ext cx="10363200" cy="2674486"/>
        </p:xfrm>
        <a:graphic>
          <a:graphicData uri="http://schemas.openxmlformats.org/drawingml/2006/table">
            <a:tbl>
              <a:tblPr firstRow="1" bandRow="1">
                <a:tableStyleId>{5940675A-B579-460E-94D1-54222C63F5DA}</a:tableStyleId>
              </a:tblPr>
              <a:tblGrid>
                <a:gridCol w="2739161"/>
                <a:gridCol w="1843381"/>
                <a:gridCol w="1843381"/>
                <a:gridCol w="1900644"/>
                <a:gridCol w="2036633"/>
              </a:tblGrid>
              <a:tr h="418966">
                <a:tc>
                  <a:txBody>
                    <a:bodyPr/>
                    <a:lstStyle/>
                    <a:p>
                      <a:pPr algn="ctr"/>
                      <a:r>
                        <a:rPr lang="en-US" sz="1600" b="1" dirty="0" smtClean="0">
                          <a:effectLst/>
                          <a:latin typeface="Times New Roman" panose="02020603050405020304" pitchFamily="18" charset="0"/>
                          <a:cs typeface="Times New Roman" panose="02020603050405020304" pitchFamily="18" charset="0"/>
                        </a:rPr>
                        <a:t>Criteria</a:t>
                      </a:r>
                      <a:endParaRPr lang="en-US" sz="1600" b="1" dirty="0">
                        <a:solidFill>
                          <a:srgbClr val="030303"/>
                        </a:solidFill>
                        <a:effectLst/>
                        <a:latin typeface="Times New Roman" panose="02020603050405020304" pitchFamily="18" charset="0"/>
                        <a:cs typeface="Times New Roman" panose="02020603050405020304" pitchFamily="18" charset="0"/>
                      </a:endParaRPr>
                    </a:p>
                  </a:txBody>
                  <a:tcPr marL="82550" marR="82550" marT="38100" marB="38100" anchor="ctr">
                    <a:solidFill>
                      <a:schemeClr val="bg1">
                        <a:lumMod val="95000"/>
                      </a:schemeClr>
                    </a:solidFill>
                  </a:tcPr>
                </a:tc>
                <a:tc>
                  <a:txBody>
                    <a:bodyPr/>
                    <a:lstStyle/>
                    <a:p>
                      <a:pPr algn="ctr"/>
                      <a:r>
                        <a:rPr lang="en-US" sz="1600" b="1" kern="1200" dirty="0" smtClean="0">
                          <a:solidFill>
                            <a:schemeClr val="tx1"/>
                          </a:solidFill>
                          <a:effectLst/>
                          <a:latin typeface="Times New Roman" panose="02020603050405020304" pitchFamily="18" charset="0"/>
                          <a:ea typeface="+mn-ea"/>
                          <a:cs typeface="Times New Roman" panose="02020603050405020304" pitchFamily="18" charset="0"/>
                        </a:rPr>
                        <a:t>1 core</a:t>
                      </a:r>
                      <a:r>
                        <a:rPr lang="en-US" sz="1600" b="1" kern="1200" baseline="0" dirty="0" smtClean="0">
                          <a:solidFill>
                            <a:schemeClr val="tx1"/>
                          </a:solidFill>
                          <a:effectLst/>
                          <a:latin typeface="Times New Roman" panose="02020603050405020304" pitchFamily="18" charset="0"/>
                          <a:ea typeface="+mn-ea"/>
                          <a:cs typeface="Times New Roman" panose="02020603050405020304" pitchFamily="18" charset="0"/>
                        </a:rPr>
                        <a:t> thread</a:t>
                      </a:r>
                      <a:endParaRPr lang="en-US" sz="1600" b="1" kern="1200" dirty="0">
                        <a:solidFill>
                          <a:schemeClr val="tx1"/>
                        </a:solidFill>
                        <a:effectLst/>
                        <a:latin typeface="Times New Roman" panose="02020603050405020304" pitchFamily="18" charset="0"/>
                        <a:ea typeface="+mn-ea"/>
                        <a:cs typeface="Times New Roman" panose="02020603050405020304" pitchFamily="18" charset="0"/>
                      </a:endParaRPr>
                    </a:p>
                  </a:txBody>
                  <a:tcPr anchor="ctr">
                    <a:solidFill>
                      <a:schemeClr val="bg1">
                        <a:lumMod val="95000"/>
                      </a:schemeClr>
                    </a:solidFill>
                  </a:tcPr>
                </a:tc>
                <a:tc>
                  <a:txBody>
                    <a:bodyPr/>
                    <a:lstStyle/>
                    <a:p>
                      <a:pPr algn="ctr"/>
                      <a:r>
                        <a:rPr lang="en-US" sz="1600" b="1" kern="1200" dirty="0" smtClean="0">
                          <a:solidFill>
                            <a:schemeClr val="tx1"/>
                          </a:solidFill>
                          <a:effectLst/>
                          <a:latin typeface="Times New Roman" panose="02020603050405020304" pitchFamily="18" charset="0"/>
                          <a:ea typeface="+mn-ea"/>
                          <a:cs typeface="Times New Roman" panose="02020603050405020304" pitchFamily="18" charset="0"/>
                        </a:rPr>
                        <a:t>2 core threads</a:t>
                      </a:r>
                      <a:endParaRPr lang="en-US" sz="1600" b="1" kern="1200" dirty="0">
                        <a:solidFill>
                          <a:schemeClr val="tx1"/>
                        </a:solidFill>
                        <a:effectLst/>
                        <a:latin typeface="Times New Roman" panose="02020603050405020304" pitchFamily="18" charset="0"/>
                        <a:ea typeface="+mn-ea"/>
                        <a:cs typeface="Times New Roman" panose="02020603050405020304" pitchFamily="18" charset="0"/>
                      </a:endParaRPr>
                    </a:p>
                  </a:txBody>
                  <a:tcPr anchor="ctr">
                    <a:solidFill>
                      <a:schemeClr val="bg1">
                        <a:lumMod val="95000"/>
                      </a:schemeClr>
                    </a:solidFill>
                  </a:tcPr>
                </a:tc>
                <a:tc>
                  <a:txBody>
                    <a:bodyPr/>
                    <a:lstStyle/>
                    <a:p>
                      <a:pPr marL="0" algn="ctr" defTabSz="914400" rtl="0" eaLnBrk="1" latinLnBrk="0" hangingPunct="1"/>
                      <a:r>
                        <a:rPr lang="en-US" sz="1600" b="1" kern="1200" dirty="0" smtClean="0">
                          <a:solidFill>
                            <a:schemeClr val="tx1"/>
                          </a:solidFill>
                          <a:effectLst/>
                          <a:latin typeface="Times New Roman" panose="02020603050405020304" pitchFamily="18" charset="0"/>
                          <a:ea typeface="+mn-ea"/>
                          <a:cs typeface="Times New Roman" panose="02020603050405020304" pitchFamily="18" charset="0"/>
                        </a:rPr>
                        <a:t>4 core threads</a:t>
                      </a:r>
                    </a:p>
                  </a:txBody>
                  <a:tcPr anchor="ctr">
                    <a:solidFill>
                      <a:schemeClr val="bg1">
                        <a:lumMod val="95000"/>
                      </a:schemeClr>
                    </a:solidFill>
                  </a:tcPr>
                </a:tc>
                <a:tc>
                  <a:txBody>
                    <a:bodyPr/>
                    <a:lstStyle/>
                    <a:p>
                      <a:pPr marL="0" algn="ctr" defTabSz="914400" rtl="0" eaLnBrk="1" latinLnBrk="0" hangingPunct="1"/>
                      <a:r>
                        <a:rPr lang="en-US" sz="1600" b="1" kern="1200" dirty="0" smtClean="0">
                          <a:solidFill>
                            <a:schemeClr val="tx1"/>
                          </a:solidFill>
                          <a:effectLst/>
                          <a:latin typeface="Times New Roman" panose="02020603050405020304" pitchFamily="18" charset="0"/>
                          <a:ea typeface="+mn-ea"/>
                          <a:cs typeface="Times New Roman" panose="02020603050405020304" pitchFamily="18" charset="0"/>
                        </a:rPr>
                        <a:t>8 core threads</a:t>
                      </a:r>
                    </a:p>
                  </a:txBody>
                  <a:tcPr anchor="ctr">
                    <a:solidFill>
                      <a:schemeClr val="bg1">
                        <a:lumMod val="95000"/>
                      </a:schemeClr>
                    </a:solidFill>
                  </a:tcPr>
                </a:tc>
              </a:tr>
              <a:tr h="514705">
                <a:tc>
                  <a:txBody>
                    <a:bodyPr/>
                    <a:lstStyle/>
                    <a:p>
                      <a:r>
                        <a:rPr lang="en-US" sz="1600" dirty="0">
                          <a:effectLst/>
                          <a:latin typeface="Times New Roman" panose="02020603050405020304" pitchFamily="18" charset="0"/>
                          <a:cs typeface="Times New Roman" panose="02020603050405020304" pitchFamily="18" charset="0"/>
                        </a:rPr>
                        <a:t>Notification </a:t>
                      </a:r>
                      <a:r>
                        <a:rPr lang="en-US" sz="1600" dirty="0" smtClean="0">
                          <a:effectLst/>
                          <a:latin typeface="Times New Roman" panose="02020603050405020304" pitchFamily="18" charset="0"/>
                          <a:cs typeface="Times New Roman" panose="02020603050405020304" pitchFamily="18" charset="0"/>
                        </a:rPr>
                        <a:t>time </a:t>
                      </a:r>
                    </a:p>
                    <a:p>
                      <a:r>
                        <a:rPr lang="en-US" sz="1600" dirty="0" smtClean="0">
                          <a:effectLst/>
                          <a:latin typeface="Times New Roman" panose="02020603050405020304" pitchFamily="18" charset="0"/>
                          <a:cs typeface="Times New Roman" panose="02020603050405020304" pitchFamily="18" charset="0"/>
                        </a:rPr>
                        <a:t>(for an event)</a:t>
                      </a:r>
                    </a:p>
                  </a:txBody>
                  <a:tcPr marL="82550" marR="82550" marT="38100" marB="38100" anchor="ctr">
                    <a:solidFill>
                      <a:schemeClr val="bg1">
                        <a:lumMod val="95000"/>
                      </a:schemeClr>
                    </a:solidFill>
                  </a:tcPr>
                </a:tc>
                <a:tc>
                  <a:txBody>
                    <a:bodyPr/>
                    <a:lstStyle/>
                    <a:p>
                      <a:pPr marL="0" algn="ctr" defTabSz="914400" rtl="0" eaLnBrk="1" latinLnBrk="0" hangingPunct="1"/>
                      <a:r>
                        <a:rPr lang="en-US" sz="1600" kern="1200" dirty="0" smtClean="0">
                          <a:solidFill>
                            <a:schemeClr val="tx1"/>
                          </a:solidFill>
                          <a:effectLst/>
                          <a:latin typeface="Times New Roman" panose="02020603050405020304" pitchFamily="18" charset="0"/>
                          <a:ea typeface="+mn-ea"/>
                          <a:cs typeface="Times New Roman" panose="02020603050405020304" pitchFamily="18" charset="0"/>
                        </a:rPr>
                        <a:t>42ms</a:t>
                      </a:r>
                      <a:endParaRPr lang="en-US" sz="1600" kern="1200" dirty="0">
                        <a:solidFill>
                          <a:schemeClr val="tx1"/>
                        </a:solidFill>
                        <a:effectLst/>
                        <a:latin typeface="Times New Roman" panose="02020603050405020304" pitchFamily="18" charset="0"/>
                        <a:ea typeface="+mn-ea"/>
                        <a:cs typeface="Times New Roman" panose="02020603050405020304" pitchFamily="18" charset="0"/>
                      </a:endParaRPr>
                    </a:p>
                  </a:txBody>
                  <a:tcPr anchor="ctr"/>
                </a:tc>
                <a:tc>
                  <a:txBody>
                    <a:bodyPr/>
                    <a:lstStyle/>
                    <a:p>
                      <a:pPr marL="0" algn="ctr" defTabSz="914400" rtl="0" eaLnBrk="1" latinLnBrk="0" hangingPunct="1"/>
                      <a:r>
                        <a:rPr lang="en-US" sz="1600" kern="1200" dirty="0" smtClean="0">
                          <a:solidFill>
                            <a:schemeClr val="tx1"/>
                          </a:solidFill>
                          <a:effectLst/>
                          <a:latin typeface="Times New Roman" panose="02020603050405020304" pitchFamily="18" charset="0"/>
                          <a:ea typeface="+mn-ea"/>
                          <a:cs typeface="Times New Roman" panose="02020603050405020304" pitchFamily="18" charset="0"/>
                        </a:rPr>
                        <a:t>22ms</a:t>
                      </a:r>
                      <a:endParaRPr lang="en-US" sz="1600" kern="1200" dirty="0">
                        <a:solidFill>
                          <a:schemeClr val="tx1"/>
                        </a:solidFill>
                        <a:effectLst/>
                        <a:latin typeface="Times New Roman" panose="02020603050405020304" pitchFamily="18" charset="0"/>
                        <a:ea typeface="+mn-ea"/>
                        <a:cs typeface="Times New Roman" panose="02020603050405020304" pitchFamily="18" charset="0"/>
                      </a:endParaRP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600" kern="1200" dirty="0" smtClean="0">
                          <a:solidFill>
                            <a:schemeClr val="tx1"/>
                          </a:solidFill>
                          <a:effectLst/>
                          <a:latin typeface="Times New Roman" panose="02020603050405020304" pitchFamily="18" charset="0"/>
                          <a:ea typeface="+mn-ea"/>
                          <a:cs typeface="Times New Roman" panose="02020603050405020304" pitchFamily="18" charset="0"/>
                        </a:rPr>
                        <a:t>19ms</a:t>
                      </a:r>
                    </a:p>
                  </a:txBody>
                  <a:tcPr anchor="ctr"/>
                </a:tc>
                <a:tc>
                  <a:txBody>
                    <a:bodyPr/>
                    <a:lstStyle/>
                    <a:p>
                      <a:pPr marL="0" algn="ctr" defTabSz="914400" rtl="0" eaLnBrk="1" latinLnBrk="0" hangingPunct="1"/>
                      <a:r>
                        <a:rPr lang="en-US" sz="1600" kern="1200" dirty="0" smtClean="0">
                          <a:solidFill>
                            <a:schemeClr val="tx1"/>
                          </a:solidFill>
                          <a:effectLst/>
                          <a:latin typeface="Times New Roman" panose="02020603050405020304" pitchFamily="18" charset="0"/>
                          <a:ea typeface="+mn-ea"/>
                          <a:cs typeface="Times New Roman" panose="02020603050405020304" pitchFamily="18" charset="0"/>
                        </a:rPr>
                        <a:t>13ms</a:t>
                      </a:r>
                      <a:endParaRPr lang="en-US" sz="1600" kern="1200" dirty="0">
                        <a:solidFill>
                          <a:schemeClr val="tx1"/>
                        </a:solidFill>
                        <a:effectLst/>
                        <a:latin typeface="Times New Roman" panose="02020603050405020304" pitchFamily="18" charset="0"/>
                        <a:ea typeface="+mn-ea"/>
                        <a:cs typeface="Times New Roman" panose="02020603050405020304" pitchFamily="18" charset="0"/>
                      </a:endParaRPr>
                    </a:p>
                  </a:txBody>
                  <a:tcPr anchor="ctr"/>
                </a:tc>
              </a:tr>
              <a:tr h="553234">
                <a:tc>
                  <a:txBody>
                    <a:bodyPr/>
                    <a:lstStyle/>
                    <a:p>
                      <a:r>
                        <a:rPr lang="en-US" sz="1600" dirty="0">
                          <a:effectLst/>
                          <a:latin typeface="Times New Roman" panose="02020603050405020304" pitchFamily="18" charset="0"/>
                          <a:cs typeface="Times New Roman" panose="02020603050405020304" pitchFamily="18" charset="0"/>
                        </a:rPr>
                        <a:t>CPU </a:t>
                      </a:r>
                      <a:r>
                        <a:rPr lang="en-US" sz="1600" dirty="0" smtClean="0">
                          <a:effectLst/>
                          <a:latin typeface="Times New Roman" panose="02020603050405020304" pitchFamily="18" charset="0"/>
                          <a:cs typeface="Times New Roman" panose="02020603050405020304" pitchFamily="18" charset="0"/>
                        </a:rPr>
                        <a:t>utilization </a:t>
                      </a:r>
                    </a:p>
                    <a:p>
                      <a:r>
                        <a:rPr lang="en-US" sz="1600" dirty="0" smtClean="0">
                          <a:effectLst/>
                          <a:latin typeface="Times New Roman" panose="02020603050405020304" pitchFamily="18" charset="0"/>
                          <a:cs typeface="Times New Roman" panose="02020603050405020304" pitchFamily="18" charset="0"/>
                        </a:rPr>
                        <a:t>(</a:t>
                      </a:r>
                      <a:r>
                        <a:rPr lang="en-US" sz="1600" dirty="0">
                          <a:effectLst/>
                          <a:latin typeface="Times New Roman" panose="02020603050405020304" pitchFamily="18" charset="0"/>
                          <a:cs typeface="Times New Roman" panose="02020603050405020304" pitchFamily="18" charset="0"/>
                        </a:rPr>
                        <a:t>during notifications)</a:t>
                      </a:r>
                    </a:p>
                  </a:txBody>
                  <a:tcPr marL="82550" marR="82550" marT="38100" marB="38100" anchor="ctr">
                    <a:solidFill>
                      <a:schemeClr val="bg1">
                        <a:lumMod val="95000"/>
                      </a:schemeClr>
                    </a:solidFill>
                  </a:tcPr>
                </a:tc>
                <a:tc>
                  <a:txBody>
                    <a:bodyPr/>
                    <a:lstStyle/>
                    <a:p>
                      <a:pPr marL="0" algn="ctr" defTabSz="914400" rtl="0" eaLnBrk="1" latinLnBrk="0" hangingPunct="1"/>
                      <a:r>
                        <a:rPr lang="en-US" sz="1600" kern="1200" dirty="0" smtClean="0">
                          <a:solidFill>
                            <a:schemeClr val="tx1"/>
                          </a:solidFill>
                          <a:effectLst/>
                          <a:latin typeface="Times New Roman" panose="02020603050405020304" pitchFamily="18" charset="0"/>
                          <a:ea typeface="+mn-ea"/>
                          <a:cs typeface="Times New Roman" panose="02020603050405020304" pitchFamily="18" charset="0"/>
                        </a:rPr>
                        <a:t>3.7%</a:t>
                      </a:r>
                      <a:endParaRPr lang="en-US" sz="1600" kern="1200" dirty="0">
                        <a:solidFill>
                          <a:schemeClr val="tx1"/>
                        </a:solidFill>
                        <a:effectLst/>
                        <a:latin typeface="Times New Roman" panose="02020603050405020304" pitchFamily="18" charset="0"/>
                        <a:ea typeface="+mn-ea"/>
                        <a:cs typeface="Times New Roman" panose="02020603050405020304" pitchFamily="18" charset="0"/>
                      </a:endParaRPr>
                    </a:p>
                  </a:txBody>
                  <a:tcPr anchor="ctr"/>
                </a:tc>
                <a:tc>
                  <a:txBody>
                    <a:bodyPr/>
                    <a:lstStyle/>
                    <a:p>
                      <a:pPr marL="0" algn="ctr" defTabSz="914400" rtl="0" eaLnBrk="1" latinLnBrk="0" hangingPunct="1"/>
                      <a:r>
                        <a:rPr lang="en-US" sz="1600" kern="1200" dirty="0" smtClean="0">
                          <a:solidFill>
                            <a:schemeClr val="tx1"/>
                          </a:solidFill>
                          <a:effectLst/>
                          <a:latin typeface="Times New Roman" panose="02020603050405020304" pitchFamily="18" charset="0"/>
                          <a:ea typeface="+mn-ea"/>
                          <a:cs typeface="Times New Roman" panose="02020603050405020304" pitchFamily="18" charset="0"/>
                        </a:rPr>
                        <a:t>3.7%</a:t>
                      </a:r>
                      <a:endParaRPr lang="en-US" sz="1600" kern="1200" dirty="0">
                        <a:solidFill>
                          <a:schemeClr val="tx1"/>
                        </a:solidFill>
                        <a:effectLst/>
                        <a:latin typeface="Times New Roman" panose="02020603050405020304" pitchFamily="18" charset="0"/>
                        <a:ea typeface="+mn-ea"/>
                        <a:cs typeface="Times New Roman" panose="02020603050405020304" pitchFamily="18" charset="0"/>
                      </a:endParaRP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600" kern="1200" dirty="0" smtClean="0">
                          <a:solidFill>
                            <a:schemeClr val="tx1"/>
                          </a:solidFill>
                          <a:effectLst/>
                          <a:latin typeface="Times New Roman" panose="02020603050405020304" pitchFamily="18" charset="0"/>
                          <a:ea typeface="+mn-ea"/>
                          <a:cs typeface="Times New Roman" panose="02020603050405020304" pitchFamily="18" charset="0"/>
                        </a:rPr>
                        <a:t>4.3%</a:t>
                      </a:r>
                    </a:p>
                  </a:txBody>
                  <a:tcPr anchor="ctr"/>
                </a:tc>
                <a:tc>
                  <a:txBody>
                    <a:bodyPr/>
                    <a:lstStyle/>
                    <a:p>
                      <a:pPr marL="0" algn="ctr" defTabSz="914400" rtl="0" eaLnBrk="1" latinLnBrk="0" hangingPunct="1"/>
                      <a:r>
                        <a:rPr lang="en-US" sz="1600" kern="1200" dirty="0" smtClean="0">
                          <a:solidFill>
                            <a:schemeClr val="tx1"/>
                          </a:solidFill>
                          <a:effectLst/>
                          <a:latin typeface="Times New Roman" panose="02020603050405020304" pitchFamily="18" charset="0"/>
                          <a:ea typeface="+mn-ea"/>
                          <a:cs typeface="Times New Roman" panose="02020603050405020304" pitchFamily="18" charset="0"/>
                        </a:rPr>
                        <a:t>5.0%</a:t>
                      </a:r>
                      <a:endParaRPr lang="en-US" sz="1600" kern="1200" dirty="0">
                        <a:solidFill>
                          <a:schemeClr val="tx1"/>
                        </a:solidFill>
                        <a:effectLst/>
                        <a:latin typeface="Times New Roman" panose="02020603050405020304" pitchFamily="18" charset="0"/>
                        <a:ea typeface="+mn-ea"/>
                        <a:cs typeface="Times New Roman" panose="02020603050405020304" pitchFamily="18" charset="0"/>
                      </a:endParaRPr>
                    </a:p>
                  </a:txBody>
                  <a:tcPr anchor="ctr"/>
                </a:tc>
              </a:tr>
              <a:tr h="527165">
                <a:tc>
                  <a:txBody>
                    <a:bodyPr/>
                    <a:lstStyle/>
                    <a:p>
                      <a:r>
                        <a:rPr lang="en-US" sz="1600" dirty="0">
                          <a:effectLst/>
                          <a:latin typeface="Times New Roman" panose="02020603050405020304" pitchFamily="18" charset="0"/>
                          <a:cs typeface="Times New Roman" panose="02020603050405020304" pitchFamily="18" charset="0"/>
                        </a:rPr>
                        <a:t>VmRSS </a:t>
                      </a:r>
                      <a:endParaRPr lang="en-US" sz="1600" dirty="0" smtClean="0">
                        <a:effectLst/>
                        <a:latin typeface="Times New Roman" panose="02020603050405020304" pitchFamily="18" charset="0"/>
                        <a:cs typeface="Times New Roman" panose="02020603050405020304" pitchFamily="18" charset="0"/>
                      </a:endParaRPr>
                    </a:p>
                    <a:p>
                      <a:r>
                        <a:rPr lang="en-US" sz="1600" dirty="0" smtClean="0">
                          <a:effectLst/>
                          <a:latin typeface="Times New Roman" panose="02020603050405020304" pitchFamily="18" charset="0"/>
                          <a:cs typeface="Times New Roman" panose="02020603050405020304" pitchFamily="18" charset="0"/>
                        </a:rPr>
                        <a:t>(</a:t>
                      </a:r>
                      <a:r>
                        <a:rPr lang="en-US" sz="1600" dirty="0">
                          <a:effectLst/>
                          <a:latin typeface="Times New Roman" panose="02020603050405020304" pitchFamily="18" charset="0"/>
                          <a:cs typeface="Times New Roman" panose="02020603050405020304" pitchFamily="18" charset="0"/>
                        </a:rPr>
                        <a:t>Physical RAM)</a:t>
                      </a:r>
                    </a:p>
                  </a:txBody>
                  <a:tcPr marL="82550" marR="82550" marT="38100" marB="38100" anchor="ctr">
                    <a:solidFill>
                      <a:schemeClr val="bg1">
                        <a:lumMod val="95000"/>
                      </a:schemeClr>
                    </a:solidFill>
                  </a:tcPr>
                </a:tc>
                <a:tc>
                  <a:txBody>
                    <a:bodyPr/>
                    <a:lstStyle/>
                    <a:p>
                      <a:pPr marL="0" algn="ctr" defTabSz="914400" rtl="0" eaLnBrk="1" latinLnBrk="0" hangingPunct="1"/>
                      <a:r>
                        <a:rPr lang="en-US" sz="1600" kern="1200" dirty="0" smtClean="0">
                          <a:solidFill>
                            <a:schemeClr val="tx1"/>
                          </a:solidFill>
                          <a:effectLst/>
                          <a:latin typeface="Times New Roman" panose="02020603050405020304" pitchFamily="18" charset="0"/>
                          <a:ea typeface="+mn-ea"/>
                          <a:cs typeface="Times New Roman" panose="02020603050405020304" pitchFamily="18" charset="0"/>
                        </a:rPr>
                        <a:t>5.72 MB</a:t>
                      </a:r>
                      <a:endParaRPr lang="en-US" sz="1600" kern="1200" dirty="0">
                        <a:solidFill>
                          <a:schemeClr val="tx1"/>
                        </a:solidFill>
                        <a:effectLst/>
                        <a:latin typeface="Times New Roman" panose="02020603050405020304" pitchFamily="18" charset="0"/>
                        <a:ea typeface="+mn-ea"/>
                        <a:cs typeface="Times New Roman" panose="02020603050405020304" pitchFamily="18" charset="0"/>
                      </a:endParaRPr>
                    </a:p>
                  </a:txBody>
                  <a:tcPr anchor="ctr"/>
                </a:tc>
                <a:tc>
                  <a:txBody>
                    <a:bodyPr/>
                    <a:lstStyle/>
                    <a:p>
                      <a:pPr marL="0" algn="ctr" defTabSz="914400" rtl="0" eaLnBrk="1" latinLnBrk="0" hangingPunct="1"/>
                      <a:r>
                        <a:rPr lang="en-US" sz="1600" kern="1200" dirty="0" smtClean="0">
                          <a:solidFill>
                            <a:schemeClr val="tx1"/>
                          </a:solidFill>
                          <a:effectLst/>
                          <a:latin typeface="Times New Roman" panose="02020603050405020304" pitchFamily="18" charset="0"/>
                          <a:ea typeface="+mn-ea"/>
                          <a:cs typeface="Times New Roman" panose="02020603050405020304" pitchFamily="18" charset="0"/>
                        </a:rPr>
                        <a:t>5.76MB</a:t>
                      </a:r>
                      <a:endParaRPr lang="en-US" sz="1600" kern="1200" dirty="0">
                        <a:solidFill>
                          <a:schemeClr val="tx1"/>
                        </a:solidFill>
                        <a:effectLst/>
                        <a:latin typeface="Times New Roman" panose="02020603050405020304" pitchFamily="18" charset="0"/>
                        <a:ea typeface="+mn-ea"/>
                        <a:cs typeface="Times New Roman" panose="02020603050405020304" pitchFamily="18" charset="0"/>
                      </a:endParaRP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600" kern="1200" dirty="0" smtClean="0">
                          <a:solidFill>
                            <a:schemeClr val="tx1"/>
                          </a:solidFill>
                          <a:effectLst/>
                          <a:latin typeface="Times New Roman" panose="02020603050405020304" pitchFamily="18" charset="0"/>
                          <a:ea typeface="+mn-ea"/>
                          <a:cs typeface="Times New Roman" panose="02020603050405020304" pitchFamily="18" charset="0"/>
                        </a:rPr>
                        <a:t>5.86MB</a:t>
                      </a:r>
                    </a:p>
                  </a:txBody>
                  <a:tcPr anchor="ctr"/>
                </a:tc>
                <a:tc>
                  <a:txBody>
                    <a:bodyPr/>
                    <a:lstStyle/>
                    <a:p>
                      <a:pPr marL="0" algn="ctr" defTabSz="914400" rtl="0" eaLnBrk="1" latinLnBrk="0" hangingPunct="1"/>
                      <a:r>
                        <a:rPr lang="en-US" sz="1600" kern="1200" dirty="0" smtClean="0">
                          <a:solidFill>
                            <a:schemeClr val="tx1"/>
                          </a:solidFill>
                          <a:effectLst/>
                          <a:latin typeface="Times New Roman" panose="02020603050405020304" pitchFamily="18" charset="0"/>
                          <a:ea typeface="+mn-ea"/>
                          <a:cs typeface="Times New Roman" panose="02020603050405020304" pitchFamily="18" charset="0"/>
                        </a:rPr>
                        <a:t>6.03 MB</a:t>
                      </a:r>
                      <a:endParaRPr lang="en-US" sz="1600" kern="1200" dirty="0">
                        <a:solidFill>
                          <a:schemeClr val="tx1"/>
                        </a:solidFill>
                        <a:effectLst/>
                        <a:latin typeface="Times New Roman" panose="02020603050405020304" pitchFamily="18" charset="0"/>
                        <a:ea typeface="+mn-ea"/>
                        <a:cs typeface="Times New Roman" panose="02020603050405020304" pitchFamily="18" charset="0"/>
                      </a:endParaRPr>
                    </a:p>
                  </a:txBody>
                  <a:tcPr anchor="ctr"/>
                </a:tc>
              </a:tr>
              <a:tr h="447814">
                <a:tc>
                  <a:txBody>
                    <a:bodyPr/>
                    <a:lstStyle/>
                    <a:p>
                      <a:r>
                        <a:rPr lang="en-US" sz="1600" dirty="0">
                          <a:effectLst/>
                          <a:latin typeface="Times New Roman" panose="02020603050405020304" pitchFamily="18" charset="0"/>
                          <a:cs typeface="Times New Roman" panose="02020603050405020304" pitchFamily="18" charset="0"/>
                        </a:rPr>
                        <a:t>VmSize </a:t>
                      </a:r>
                      <a:endParaRPr lang="en-US" sz="1600" dirty="0" smtClean="0">
                        <a:effectLst/>
                        <a:latin typeface="Times New Roman" panose="02020603050405020304" pitchFamily="18" charset="0"/>
                        <a:cs typeface="Times New Roman" panose="02020603050405020304" pitchFamily="18" charset="0"/>
                      </a:endParaRPr>
                    </a:p>
                    <a:p>
                      <a:r>
                        <a:rPr lang="en-US" sz="1600" dirty="0" smtClean="0">
                          <a:effectLst/>
                          <a:latin typeface="Times New Roman" panose="02020603050405020304" pitchFamily="18" charset="0"/>
                          <a:cs typeface="Times New Roman" panose="02020603050405020304" pitchFamily="18" charset="0"/>
                        </a:rPr>
                        <a:t>(</a:t>
                      </a:r>
                      <a:r>
                        <a:rPr lang="en-US" sz="1600" dirty="0">
                          <a:effectLst/>
                          <a:latin typeface="Times New Roman" panose="02020603050405020304" pitchFamily="18" charset="0"/>
                          <a:cs typeface="Times New Roman" panose="02020603050405020304" pitchFamily="18" charset="0"/>
                        </a:rPr>
                        <a:t>Virtual Memory)</a:t>
                      </a:r>
                    </a:p>
                  </a:txBody>
                  <a:tcPr marL="82550" marR="82550" marT="38100" marB="38100" anchor="ctr">
                    <a:solidFill>
                      <a:schemeClr val="bg1">
                        <a:lumMod val="95000"/>
                      </a:schemeClr>
                    </a:solidFill>
                  </a:tcPr>
                </a:tc>
                <a:tc>
                  <a:txBody>
                    <a:bodyPr/>
                    <a:lstStyle/>
                    <a:p>
                      <a:pPr marL="0" algn="ctr" defTabSz="914400" rtl="0" eaLnBrk="1" latinLnBrk="0" hangingPunct="1"/>
                      <a:r>
                        <a:rPr lang="en-US" sz="1600" kern="1200" dirty="0" smtClean="0">
                          <a:solidFill>
                            <a:schemeClr val="tx1"/>
                          </a:solidFill>
                          <a:effectLst/>
                          <a:latin typeface="Times New Roman" panose="02020603050405020304" pitchFamily="18" charset="0"/>
                          <a:ea typeface="+mn-ea"/>
                          <a:cs typeface="Times New Roman" panose="02020603050405020304" pitchFamily="18" charset="0"/>
                        </a:rPr>
                        <a:t>134MB</a:t>
                      </a:r>
                      <a:endParaRPr lang="en-US" sz="1600" kern="1200" dirty="0">
                        <a:solidFill>
                          <a:schemeClr val="tx1"/>
                        </a:solidFill>
                        <a:effectLst/>
                        <a:latin typeface="Times New Roman" panose="02020603050405020304" pitchFamily="18" charset="0"/>
                        <a:ea typeface="+mn-ea"/>
                        <a:cs typeface="Times New Roman" panose="02020603050405020304" pitchFamily="18" charset="0"/>
                      </a:endParaRPr>
                    </a:p>
                  </a:txBody>
                  <a:tcPr anchor="ctr"/>
                </a:tc>
                <a:tc>
                  <a:txBody>
                    <a:bodyPr/>
                    <a:lstStyle/>
                    <a:p>
                      <a:pPr marL="0" algn="ctr" defTabSz="914400" rtl="0" eaLnBrk="1" latinLnBrk="0" hangingPunct="1"/>
                      <a:r>
                        <a:rPr lang="en-US" sz="1600" kern="1200" dirty="0" smtClean="0">
                          <a:solidFill>
                            <a:schemeClr val="tx1"/>
                          </a:solidFill>
                          <a:effectLst/>
                          <a:latin typeface="Times New Roman" panose="02020603050405020304" pitchFamily="18" charset="0"/>
                          <a:ea typeface="+mn-ea"/>
                          <a:cs typeface="Times New Roman" panose="02020603050405020304" pitchFamily="18" charset="0"/>
                        </a:rPr>
                        <a:t>142 MB</a:t>
                      </a:r>
                      <a:endParaRPr lang="en-US" sz="1600" kern="1200" dirty="0">
                        <a:solidFill>
                          <a:schemeClr val="tx1"/>
                        </a:solidFill>
                        <a:effectLst/>
                        <a:latin typeface="Times New Roman" panose="02020603050405020304" pitchFamily="18" charset="0"/>
                        <a:ea typeface="+mn-ea"/>
                        <a:cs typeface="Times New Roman" panose="02020603050405020304" pitchFamily="18" charset="0"/>
                      </a:endParaRPr>
                    </a:p>
                  </a:txBody>
                  <a:tcPr anchor="ctr"/>
                </a:tc>
                <a:tc>
                  <a:txBody>
                    <a:bodyPr/>
                    <a:lstStyle/>
                    <a:p>
                      <a:pPr marL="0" algn="ctr" defTabSz="914400" rtl="0" eaLnBrk="1" latinLnBrk="0" hangingPunct="1"/>
                      <a:r>
                        <a:rPr lang="en-US" sz="1600" kern="1200" dirty="0" smtClean="0">
                          <a:solidFill>
                            <a:schemeClr val="tx1"/>
                          </a:solidFill>
                          <a:effectLst/>
                          <a:latin typeface="Times New Roman" panose="02020603050405020304" pitchFamily="18" charset="0"/>
                          <a:ea typeface="+mn-ea"/>
                          <a:cs typeface="Times New Roman" panose="02020603050405020304" pitchFamily="18" charset="0"/>
                        </a:rPr>
                        <a:t>158 MB</a:t>
                      </a:r>
                      <a:endParaRPr lang="en-US" sz="1600" kern="1200" dirty="0">
                        <a:solidFill>
                          <a:schemeClr val="tx1"/>
                        </a:solidFill>
                        <a:effectLst/>
                        <a:latin typeface="Times New Roman" panose="02020603050405020304" pitchFamily="18" charset="0"/>
                        <a:ea typeface="+mn-ea"/>
                        <a:cs typeface="Times New Roman" panose="02020603050405020304" pitchFamily="18" charset="0"/>
                      </a:endParaRPr>
                    </a:p>
                  </a:txBody>
                  <a:tcPr anchor="ctr"/>
                </a:tc>
                <a:tc>
                  <a:txBody>
                    <a:bodyPr/>
                    <a:lstStyle/>
                    <a:p>
                      <a:pPr marL="0" algn="ctr" defTabSz="914400" rtl="0" eaLnBrk="1" latinLnBrk="0" hangingPunct="1"/>
                      <a:r>
                        <a:rPr lang="en-US" sz="1600" kern="1200" dirty="0" smtClean="0">
                          <a:solidFill>
                            <a:schemeClr val="tx1"/>
                          </a:solidFill>
                          <a:effectLst/>
                          <a:latin typeface="Times New Roman" panose="02020603050405020304" pitchFamily="18" charset="0"/>
                          <a:ea typeface="+mn-ea"/>
                          <a:cs typeface="Times New Roman" panose="02020603050405020304" pitchFamily="18" charset="0"/>
                        </a:rPr>
                        <a:t>190 MB</a:t>
                      </a:r>
                      <a:endParaRPr lang="en-US" sz="1600" kern="1200" dirty="0">
                        <a:solidFill>
                          <a:schemeClr val="tx1"/>
                        </a:solidFill>
                        <a:effectLst/>
                        <a:latin typeface="Times New Roman" panose="02020603050405020304" pitchFamily="18" charset="0"/>
                        <a:ea typeface="+mn-ea"/>
                        <a:cs typeface="Times New Roman" panose="02020603050405020304" pitchFamily="18" charset="0"/>
                      </a:endParaRPr>
                    </a:p>
                  </a:txBody>
                  <a:tcPr anchor="ctr"/>
                </a:tc>
              </a:tr>
            </a:tbl>
          </a:graphicData>
        </a:graphic>
      </p:graphicFrame>
      <p:sp>
        <p:nvSpPr>
          <p:cNvPr id="15" name="Rectangle 14"/>
          <p:cNvSpPr/>
          <p:nvPr/>
        </p:nvSpPr>
        <p:spPr>
          <a:xfrm>
            <a:off x="5489837" y="1050393"/>
            <a:ext cx="1819267" cy="2665388"/>
          </a:xfrm>
          <a:prstGeom prst="rect">
            <a:avLst/>
          </a:prstGeom>
          <a:noFill/>
          <a:ln w="57150">
            <a:solidFill>
              <a:srgbClr val="3399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p:nvSpPr>
        <p:spPr>
          <a:xfrm>
            <a:off x="965200" y="4033465"/>
            <a:ext cx="10220960" cy="2585323"/>
          </a:xfrm>
          <a:prstGeom prst="rect">
            <a:avLst/>
          </a:prstGeom>
        </p:spPr>
        <p:txBody>
          <a:bodyPr wrap="square">
            <a:spAutoFit/>
          </a:bodyPr>
          <a:lstStyle/>
          <a:p>
            <a:r>
              <a:rPr lang="en-US" dirty="0">
                <a:latin typeface="Times New Roman" panose="02020603050405020304" pitchFamily="18" charset="0"/>
                <a:cs typeface="Times New Roman" panose="02020603050405020304" pitchFamily="18" charset="0"/>
              </a:rPr>
              <a:t>Key Decision </a:t>
            </a:r>
            <a:r>
              <a:rPr lang="en-US" dirty="0" smtClean="0">
                <a:latin typeface="Times New Roman" panose="02020603050405020304" pitchFamily="18" charset="0"/>
                <a:cs typeface="Times New Roman" panose="02020603050405020304" pitchFamily="18" charset="0"/>
              </a:rPr>
              <a:t>Factors:</a:t>
            </a:r>
            <a:endParaRPr lang="en-US"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b="1" dirty="0" smtClean="0">
                <a:latin typeface="Times New Roman" panose="02020603050405020304" pitchFamily="18" charset="0"/>
                <a:cs typeface="Times New Roman" panose="02020603050405020304" pitchFamily="18" charset="0"/>
              </a:rPr>
              <a:t>Resource Efficiency</a:t>
            </a:r>
            <a:r>
              <a:rPr lang="en-US" dirty="0" smtClean="0">
                <a:latin typeface="Times New Roman" panose="02020603050405020304" pitchFamily="18" charset="0"/>
                <a:cs typeface="Times New Roman" panose="02020603050405020304" pitchFamily="18" charset="0"/>
              </a:rPr>
              <a:t>:</a:t>
            </a:r>
            <a:r>
              <a:rPr lang="en-US" dirty="0">
                <a:latin typeface="Times New Roman" panose="02020603050405020304" pitchFamily="18" charset="0"/>
                <a:cs typeface="Times New Roman" panose="02020603050405020304" pitchFamily="18" charset="0"/>
              </a:rPr>
              <a:t> </a:t>
            </a:r>
            <a:r>
              <a:rPr lang="en-US" dirty="0" smtClean="0">
                <a:latin typeface="Times New Roman" panose="02020603050405020304" pitchFamily="18" charset="0"/>
                <a:cs typeface="Times New Roman" panose="02020603050405020304" pitchFamily="18" charset="0"/>
              </a:rPr>
              <a:t>Use </a:t>
            </a:r>
            <a:r>
              <a:rPr lang="en-US" dirty="0">
                <a:latin typeface="Times New Roman" panose="02020603050405020304" pitchFamily="18" charset="0"/>
                <a:cs typeface="Times New Roman" panose="02020603050405020304" pitchFamily="18" charset="0"/>
              </a:rPr>
              <a:t>as few resources as possible to keep the system stable.</a:t>
            </a:r>
            <a:endParaRPr lang="en-US" dirty="0" smtClean="0">
              <a:latin typeface="Times New Roman" panose="02020603050405020304" pitchFamily="18" charset="0"/>
              <a:cs typeface="Times New Roman" panose="02020603050405020304" pitchFamily="18" charset="0"/>
            </a:endParaRPr>
          </a:p>
          <a:p>
            <a:pPr marL="285750" indent="-285750" algn="just">
              <a:buFont typeface="Arial" panose="020B0604020202020204" pitchFamily="34" charset="0"/>
              <a:buChar char="•"/>
            </a:pPr>
            <a:r>
              <a:rPr lang="en-US" b="1" dirty="0" smtClean="0">
                <a:latin typeface="Times New Roman" panose="02020603050405020304" pitchFamily="18" charset="0"/>
                <a:cs typeface="Times New Roman" panose="02020603050405020304" pitchFamily="18" charset="0"/>
              </a:rPr>
              <a:t>Performance</a:t>
            </a:r>
            <a:r>
              <a:rPr lang="en-US" dirty="0">
                <a:latin typeface="Times New Roman" panose="02020603050405020304" pitchFamily="18" charset="0"/>
                <a:cs typeface="Times New Roman" panose="02020603050405020304" pitchFamily="18" charset="0"/>
              </a:rPr>
              <a:t>: All configurations satisfy the target of less than 250ms. However, if a hang </a:t>
            </a:r>
            <a:r>
              <a:rPr lang="en-US" dirty="0" smtClean="0">
                <a:latin typeface="Times New Roman" panose="02020603050405020304" pitchFamily="18" charset="0"/>
                <a:cs typeface="Times New Roman" panose="02020603050405020304" pitchFamily="18" charset="0"/>
              </a:rPr>
              <a:t>occurs, </a:t>
            </a:r>
            <a:r>
              <a:rPr lang="en-US" dirty="0">
                <a:latin typeface="Times New Roman" panose="02020603050405020304" pitchFamily="18" charset="0"/>
                <a:cs typeface="Times New Roman" panose="02020603050405020304" pitchFamily="18" charset="0"/>
              </a:rPr>
              <a:t>with 1 core </a:t>
            </a:r>
            <a:r>
              <a:rPr lang="en-US" dirty="0" smtClean="0">
                <a:latin typeface="Times New Roman" panose="02020603050405020304" pitchFamily="18" charset="0"/>
                <a:cs typeface="Times New Roman" panose="02020603050405020304" pitchFamily="18" charset="0"/>
              </a:rPr>
              <a:t>thread </a:t>
            </a:r>
            <a:r>
              <a:rPr lang="en-US" dirty="0">
                <a:latin typeface="Times New Roman" panose="02020603050405020304" pitchFamily="18" charset="0"/>
                <a:cs typeface="Times New Roman" panose="02020603050405020304" pitchFamily="18" charset="0"/>
              </a:rPr>
              <a:t>the Thread Pool will be blocked during hang recovery (~20ms for new thread creation and scheduling</a:t>
            </a:r>
            <a:r>
              <a:rPr lang="en-US" dirty="0" smtClean="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w</a:t>
            </a:r>
            <a:r>
              <a:rPr lang="en-US" dirty="0" smtClean="0">
                <a:latin typeface="Times New Roman" panose="02020603050405020304" pitchFamily="18" charset="0"/>
                <a:cs typeface="Times New Roman" panose="02020603050405020304" pitchFamily="18" charset="0"/>
              </a:rPr>
              <a:t>ith </a:t>
            </a:r>
            <a:r>
              <a:rPr lang="en-US" dirty="0">
                <a:latin typeface="Times New Roman" panose="02020603050405020304" pitchFamily="18" charset="0"/>
                <a:cs typeface="Times New Roman" panose="02020603050405020304" pitchFamily="18" charset="0"/>
              </a:rPr>
              <a:t>2 core threads, one thread continues </a:t>
            </a:r>
            <a:r>
              <a:rPr lang="en-US" dirty="0" smtClean="0">
                <a:latin typeface="Times New Roman" panose="02020603050405020304" pitchFamily="18" charset="0"/>
                <a:cs typeface="Times New Roman" panose="02020603050405020304" pitchFamily="18" charset="0"/>
              </a:rPr>
              <a:t>working while </a:t>
            </a:r>
            <a:r>
              <a:rPr lang="en-US" dirty="0">
                <a:latin typeface="Times New Roman" panose="02020603050405020304" pitchFamily="18" charset="0"/>
                <a:cs typeface="Times New Roman" panose="02020603050405020304" pitchFamily="18" charset="0"/>
              </a:rPr>
              <a:t>the </a:t>
            </a:r>
            <a:r>
              <a:rPr lang="en-US" dirty="0" smtClean="0">
                <a:latin typeface="Times New Roman" panose="02020603050405020304" pitchFamily="18" charset="0"/>
                <a:cs typeface="Times New Roman" panose="02020603050405020304" pitchFamily="18" charset="0"/>
              </a:rPr>
              <a:t>other thread </a:t>
            </a:r>
            <a:r>
              <a:rPr lang="en-US" dirty="0">
                <a:latin typeface="Times New Roman" panose="02020603050405020304" pitchFamily="18" charset="0"/>
                <a:cs typeface="Times New Roman" panose="02020603050405020304" pitchFamily="18" charset="0"/>
              </a:rPr>
              <a:t>recovers, minimizing blocking time in notification processing</a:t>
            </a:r>
            <a:r>
              <a:rPr lang="en-US" dirty="0" smtClean="0">
                <a:latin typeface="Times New Roman" panose="02020603050405020304" pitchFamily="18" charset="0"/>
                <a:cs typeface="Times New Roman" panose="02020603050405020304" pitchFamily="18" charset="0"/>
              </a:rPr>
              <a:t>.</a:t>
            </a:r>
          </a:p>
          <a:p>
            <a:pPr algn="just"/>
            <a:endParaRPr lang="en-US" dirty="0" smtClean="0">
              <a:latin typeface="Times New Roman" panose="02020603050405020304" pitchFamily="18" charset="0"/>
              <a:cs typeface="Times New Roman" panose="02020603050405020304" pitchFamily="18" charset="0"/>
            </a:endParaRPr>
          </a:p>
          <a:p>
            <a:pPr algn="just"/>
            <a:r>
              <a:rPr lang="en-US" dirty="0" smtClean="0">
                <a:latin typeface="Times New Roman" panose="02020603050405020304" pitchFamily="18" charset="0"/>
                <a:cs typeface="Times New Roman" panose="02020603050405020304" pitchFamily="18" charset="0"/>
              </a:rPr>
              <a:t>→ </a:t>
            </a:r>
            <a:r>
              <a:rPr lang="en-US" b="1" dirty="0" smtClean="0">
                <a:latin typeface="Times New Roman" panose="02020603050405020304" pitchFamily="18" charset="0"/>
                <a:cs typeface="Times New Roman" panose="02020603050405020304" pitchFamily="18" charset="0"/>
              </a:rPr>
              <a:t>2 </a:t>
            </a:r>
            <a:r>
              <a:rPr lang="en-US" b="1" dirty="0">
                <a:latin typeface="Times New Roman" panose="02020603050405020304" pitchFamily="18" charset="0"/>
                <a:cs typeface="Times New Roman" panose="02020603050405020304" pitchFamily="18" charset="0"/>
              </a:rPr>
              <a:t>core threads</a:t>
            </a:r>
            <a:r>
              <a:rPr lang="en-US" dirty="0">
                <a:latin typeface="Times New Roman" panose="02020603050405020304" pitchFamily="18" charset="0"/>
                <a:cs typeface="Times New Roman" panose="02020603050405020304" pitchFamily="18" charset="0"/>
              </a:rPr>
              <a:t> provides the optimal balance between risk mitigation, resource efficiency, and performance.</a:t>
            </a:r>
          </a:p>
        </p:txBody>
      </p:sp>
      <p:sp>
        <p:nvSpPr>
          <p:cNvPr id="20" name="Rectangle 19"/>
          <p:cNvSpPr/>
          <p:nvPr/>
        </p:nvSpPr>
        <p:spPr>
          <a:xfrm>
            <a:off x="9302559" y="3747323"/>
            <a:ext cx="2248930" cy="401595"/>
          </a:xfrm>
          <a:prstGeom prst="rect">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i="1" dirty="0" smtClean="0">
                <a:solidFill>
                  <a:schemeClr val="tx1"/>
                </a:solidFill>
                <a:latin typeface="Times New Roman" panose="02020603050405020304" pitchFamily="18" charset="0"/>
                <a:cs typeface="Times New Roman" panose="02020603050405020304" pitchFamily="18" charset="0"/>
              </a:rPr>
              <a:t>More details at </a:t>
            </a:r>
            <a:r>
              <a:rPr lang="en-US" sz="1100" i="1" dirty="0">
                <a:solidFill>
                  <a:schemeClr val="tx1"/>
                </a:solidFill>
                <a:latin typeface="Times New Roman" panose="02020603050405020304" pitchFamily="18" charset="0"/>
                <a:cs typeface="Times New Roman" panose="02020603050405020304" pitchFamily="18" charset="0"/>
              </a:rPr>
              <a:t>Appendix </a:t>
            </a:r>
            <a:r>
              <a:rPr lang="en-US" sz="1100" i="1" dirty="0" smtClean="0">
                <a:solidFill>
                  <a:schemeClr val="tx1"/>
                </a:solidFill>
                <a:latin typeface="Times New Roman" panose="02020603050405020304" pitchFamily="18" charset="0"/>
                <a:cs typeface="Times New Roman" panose="02020603050405020304" pitchFamily="18" charset="0"/>
              </a:rPr>
              <a:t>3</a:t>
            </a:r>
            <a:endParaRPr lang="en-US" sz="1100" i="1" dirty="0">
              <a:solidFill>
                <a:schemeClr val="tx1"/>
              </a:solidFill>
              <a:latin typeface="Times New Roman" panose="02020603050405020304" pitchFamily="18" charset="0"/>
              <a:cs typeface="Times New Roman" panose="02020603050405020304" pitchFamily="18" charset="0"/>
            </a:endParaRPr>
          </a:p>
          <a:p>
            <a:pPr algn="ctr"/>
            <a:endParaRPr lang="en-US" sz="1200" i="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824611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459789" y="146304"/>
            <a:ext cx="4215843" cy="461665"/>
          </a:xfrm>
          <a:prstGeom prst="rect">
            <a:avLst/>
          </a:prstGeom>
          <a:solidFill>
            <a:schemeClr val="bg1"/>
          </a:solidFill>
        </p:spPr>
        <p:txBody>
          <a:bodyPr wrap="square">
            <a:spAutoFit/>
          </a:bodyPr>
          <a:lstStyle/>
          <a:p>
            <a:r>
              <a:rPr lang="en-US" sz="2400" u="sng" dirty="0">
                <a:latin typeface="Times New Roman" panose="02020603050405020304" pitchFamily="18" charset="0"/>
                <a:cs typeface="Times New Roman" panose="02020603050405020304" pitchFamily="18" charset="0"/>
              </a:rPr>
              <a:t>Appendix 5 - Configuration</a:t>
            </a:r>
          </a:p>
        </p:txBody>
      </p:sp>
      <p:sp>
        <p:nvSpPr>
          <p:cNvPr id="2" name="Slide Number Placeholder 1"/>
          <p:cNvSpPr>
            <a:spLocks noGrp="1"/>
          </p:cNvSpPr>
          <p:nvPr>
            <p:ph type="sldNum" sz="quarter" idx="12"/>
          </p:nvPr>
        </p:nvSpPr>
        <p:spPr>
          <a:xfrm>
            <a:off x="8220456" y="6258814"/>
            <a:ext cx="2743200" cy="365125"/>
          </a:xfrm>
        </p:spPr>
        <p:txBody>
          <a:bodyPr/>
          <a:lstStyle/>
          <a:p>
            <a:fld id="{0059130C-D5A7-43F1-8BDF-D4DD1699FE09}" type="slidenum">
              <a:rPr lang="en-US" smtClean="0"/>
              <a:t>29</a:t>
            </a:fld>
            <a:endParaRPr lang="en-US"/>
          </a:p>
        </p:txBody>
      </p:sp>
      <p:sp>
        <p:nvSpPr>
          <p:cNvPr id="5" name="Rectangle 4"/>
          <p:cNvSpPr/>
          <p:nvPr/>
        </p:nvSpPr>
        <p:spPr>
          <a:xfrm>
            <a:off x="459789" y="984933"/>
            <a:ext cx="10909251" cy="5632311"/>
          </a:xfrm>
          <a:prstGeom prst="rect">
            <a:avLst/>
          </a:prstGeom>
        </p:spPr>
        <p:txBody>
          <a:bodyPr wrap="square">
            <a:spAutoFit/>
          </a:bodyPr>
          <a:lstStyle/>
          <a:p>
            <a:pPr>
              <a:lnSpc>
                <a:spcPct val="150000"/>
              </a:lnSpc>
            </a:pPr>
            <a:r>
              <a:rPr lang="en-US" b="1" dirty="0">
                <a:latin typeface="Times New Roman" panose="02020603050405020304" pitchFamily="18" charset="0"/>
                <a:cs typeface="Times New Roman" panose="02020603050405020304" pitchFamily="18" charset="0"/>
              </a:rPr>
              <a:t>Hanging threshold (Scale up threshold)</a:t>
            </a:r>
          </a:p>
          <a:p>
            <a:pPr marL="285750" indent="-285750" algn="just">
              <a:buFont typeface="Arial" panose="020B0604020202020204" pitchFamily="34" charset="0"/>
              <a:buChar char="•"/>
            </a:pPr>
            <a:r>
              <a:rPr lang="en-US" dirty="0" smtClean="0">
                <a:latin typeface="Times New Roman" panose="02020603050405020304" pitchFamily="18" charset="0"/>
                <a:cs typeface="Times New Roman" panose="02020603050405020304" pitchFamily="18" charset="0"/>
              </a:rPr>
              <a:t>Measurement </a:t>
            </a:r>
            <a:r>
              <a:rPr lang="en-US" dirty="0">
                <a:latin typeface="Times New Roman" panose="02020603050405020304" pitchFamily="18" charset="0"/>
                <a:cs typeface="Times New Roman" panose="02020603050405020304" pitchFamily="18" charset="0"/>
              </a:rPr>
              <a:t>Result: Most services process notifications within 10ms under normal </a:t>
            </a:r>
            <a:r>
              <a:rPr lang="en-US" dirty="0" smtClean="0">
                <a:latin typeface="Times New Roman" panose="02020603050405020304" pitchFamily="18" charset="0"/>
                <a:cs typeface="Times New Roman" panose="02020603050405020304" pitchFamily="18" charset="0"/>
              </a:rPr>
              <a:t>conditions.</a:t>
            </a:r>
            <a:endParaRPr lang="en-US" dirty="0">
              <a:latin typeface="Times New Roman" panose="02020603050405020304" pitchFamily="18" charset="0"/>
              <a:cs typeface="Times New Roman" panose="02020603050405020304" pitchFamily="18" charset="0"/>
            </a:endParaRPr>
          </a:p>
          <a:p>
            <a:pPr marL="285750" indent="-285750" algn="just">
              <a:buFont typeface="Arial" panose="020B0604020202020204" pitchFamily="34" charset="0"/>
              <a:buChar char="•"/>
            </a:pPr>
            <a:r>
              <a:rPr lang="en-US" dirty="0" smtClean="0">
                <a:latin typeface="Times New Roman" panose="02020603050405020304" pitchFamily="18" charset="0"/>
                <a:cs typeface="Times New Roman" panose="02020603050405020304" pitchFamily="18" charset="0"/>
              </a:rPr>
              <a:t>Reason: The </a:t>
            </a:r>
            <a:r>
              <a:rPr lang="en-US" dirty="0">
                <a:latin typeface="Times New Roman" panose="02020603050405020304" pitchFamily="18" charset="0"/>
                <a:cs typeface="Times New Roman" panose="02020603050405020304" pitchFamily="18" charset="0"/>
              </a:rPr>
              <a:t>500ms threshold balances thread creation overhead with response time - avoiding excessive overhead from too low values (100ms) while preventing notification delays from too high values (1000ms), providing sufficient buffer for both normal operations and heavy tasks like file saves during sleep/reset sequences</a:t>
            </a:r>
            <a:r>
              <a:rPr lang="en-US" dirty="0" smtClean="0">
                <a:latin typeface="Times New Roman" panose="02020603050405020304" pitchFamily="18" charset="0"/>
                <a:cs typeface="Times New Roman" panose="02020603050405020304" pitchFamily="18" charset="0"/>
              </a:rPr>
              <a:t>.</a:t>
            </a:r>
          </a:p>
          <a:p>
            <a:pPr>
              <a:lnSpc>
                <a:spcPct val="150000"/>
              </a:lnSpc>
            </a:pPr>
            <a:r>
              <a:rPr lang="en-US" dirty="0">
                <a:latin typeface="Times New Roman" panose="02020603050405020304" pitchFamily="18" charset="0"/>
                <a:cs typeface="Times New Roman" panose="02020603050405020304" pitchFamily="18" charset="0"/>
              </a:rPr>
              <a:t>→</a:t>
            </a:r>
            <a:r>
              <a:rPr lang="en-US" dirty="0" smtClean="0">
                <a:latin typeface="Times New Roman" panose="02020603050405020304" pitchFamily="18" charset="0"/>
                <a:cs typeface="Times New Roman" panose="02020603050405020304" pitchFamily="18" charset="0"/>
              </a:rPr>
              <a:t> Selected </a:t>
            </a:r>
            <a:r>
              <a:rPr lang="en-US" dirty="0">
                <a:latin typeface="Times New Roman" panose="02020603050405020304" pitchFamily="18" charset="0"/>
                <a:cs typeface="Times New Roman" panose="02020603050405020304" pitchFamily="18" charset="0"/>
              </a:rPr>
              <a:t>Value: </a:t>
            </a:r>
            <a:r>
              <a:rPr lang="en-US" b="1" dirty="0">
                <a:latin typeface="Times New Roman" panose="02020603050405020304" pitchFamily="18" charset="0"/>
                <a:cs typeface="Times New Roman" panose="02020603050405020304" pitchFamily="18" charset="0"/>
              </a:rPr>
              <a:t>500ms </a:t>
            </a:r>
            <a:r>
              <a:rPr lang="en-US" b="1" dirty="0" smtClean="0">
                <a:latin typeface="Times New Roman" panose="02020603050405020304" pitchFamily="18" charset="0"/>
                <a:cs typeface="Times New Roman" panose="02020603050405020304" pitchFamily="18" charset="0"/>
              </a:rPr>
              <a:t>threshold</a:t>
            </a:r>
          </a:p>
          <a:p>
            <a:endParaRPr lang="en-US" b="1" dirty="0" smtClean="0">
              <a:latin typeface="Times New Roman" panose="02020603050405020304" pitchFamily="18" charset="0"/>
              <a:cs typeface="Times New Roman" panose="02020603050405020304" pitchFamily="18" charset="0"/>
            </a:endParaRPr>
          </a:p>
          <a:p>
            <a:endParaRPr lang="en-US" b="1" dirty="0">
              <a:latin typeface="Times New Roman" panose="02020603050405020304" pitchFamily="18" charset="0"/>
              <a:cs typeface="Times New Roman" panose="02020603050405020304" pitchFamily="18" charset="0"/>
            </a:endParaRPr>
          </a:p>
          <a:p>
            <a:pPr>
              <a:lnSpc>
                <a:spcPct val="150000"/>
              </a:lnSpc>
            </a:pPr>
            <a:r>
              <a:rPr lang="en-US" b="1" dirty="0" smtClean="0">
                <a:latin typeface="Times New Roman" panose="02020603050405020304" pitchFamily="18" charset="0"/>
                <a:cs typeface="Times New Roman" panose="02020603050405020304" pitchFamily="18" charset="0"/>
              </a:rPr>
              <a:t>Keep </a:t>
            </a:r>
            <a:r>
              <a:rPr lang="en-US" b="1" dirty="0">
                <a:latin typeface="Times New Roman" panose="02020603050405020304" pitchFamily="18" charset="0"/>
                <a:cs typeface="Times New Roman" panose="02020603050405020304" pitchFamily="18" charset="0"/>
              </a:rPr>
              <a:t>alive time (Scale down </a:t>
            </a:r>
            <a:r>
              <a:rPr lang="en-US" b="1" dirty="0" smtClean="0">
                <a:latin typeface="Times New Roman" panose="02020603050405020304" pitchFamily="18" charset="0"/>
                <a:cs typeface="Times New Roman" panose="02020603050405020304" pitchFamily="18" charset="0"/>
              </a:rPr>
              <a:t>threshold)</a:t>
            </a:r>
          </a:p>
          <a:p>
            <a:pPr marL="285750" indent="-285750" algn="just">
              <a:buFont typeface="Arial" panose="020B0604020202020204" pitchFamily="34" charset="0"/>
              <a:buChar char="•"/>
            </a:pPr>
            <a:r>
              <a:rPr lang="en-US" dirty="0" smtClean="0">
                <a:latin typeface="Times New Roman" panose="02020603050405020304" pitchFamily="18" charset="0"/>
                <a:cs typeface="Times New Roman" panose="02020603050405020304" pitchFamily="18" charset="0"/>
              </a:rPr>
              <a:t>Reason:</a:t>
            </a:r>
            <a:r>
              <a:rPr lang="en-US" dirty="0">
                <a:latin typeface="Times New Roman" panose="02020603050405020304" pitchFamily="18" charset="0"/>
                <a:cs typeface="Times New Roman" panose="02020603050405020304" pitchFamily="18" charset="0"/>
              </a:rPr>
              <a:t> 30 seconds based on automotive power event patterns where events occur in clusters followed by 30 seconds to several minutes of idle time. This duration balances thread availability for subsequent events against resource conservation, avoiding frequent creation/destruction cycles </a:t>
            </a:r>
            <a:r>
              <a:rPr lang="en-US" dirty="0" smtClean="0">
                <a:latin typeface="Times New Roman" panose="02020603050405020304" pitchFamily="18" charset="0"/>
                <a:cs typeface="Times New Roman" panose="02020603050405020304" pitchFamily="18" charset="0"/>
              </a:rPr>
              <a:t>(10s </a:t>
            </a:r>
            <a:r>
              <a:rPr lang="en-US" dirty="0">
                <a:latin typeface="Times New Roman" panose="02020603050405020304" pitchFamily="18" charset="0"/>
                <a:cs typeface="Times New Roman" panose="02020603050405020304" pitchFamily="18" charset="0"/>
              </a:rPr>
              <a:t>too short) while preventing resource waste during extended idle periods </a:t>
            </a:r>
            <a:r>
              <a:rPr lang="en-US" dirty="0" smtClean="0">
                <a:latin typeface="Times New Roman" panose="02020603050405020304" pitchFamily="18" charset="0"/>
                <a:cs typeface="Times New Roman" panose="02020603050405020304" pitchFamily="18" charset="0"/>
              </a:rPr>
              <a:t>(120s </a:t>
            </a:r>
            <a:r>
              <a:rPr lang="en-US" dirty="0">
                <a:latin typeface="Times New Roman" panose="02020603050405020304" pitchFamily="18" charset="0"/>
                <a:cs typeface="Times New Roman" panose="02020603050405020304" pitchFamily="18" charset="0"/>
              </a:rPr>
              <a:t>too long</a:t>
            </a:r>
            <a:r>
              <a:rPr lang="en-US" dirty="0" smtClean="0">
                <a:latin typeface="Times New Roman" panose="02020603050405020304" pitchFamily="18" charset="0"/>
                <a:cs typeface="Times New Roman" panose="02020603050405020304" pitchFamily="18" charset="0"/>
              </a:rPr>
              <a:t>).</a:t>
            </a:r>
          </a:p>
          <a:p>
            <a:pPr>
              <a:lnSpc>
                <a:spcPct val="150000"/>
              </a:lnSpc>
            </a:pPr>
            <a:r>
              <a:rPr lang="en-US" dirty="0">
                <a:latin typeface="Times New Roman" panose="02020603050405020304" pitchFamily="18" charset="0"/>
                <a:cs typeface="Times New Roman" panose="02020603050405020304" pitchFamily="18" charset="0"/>
              </a:rPr>
              <a:t>→ Selected Value: </a:t>
            </a:r>
            <a:r>
              <a:rPr lang="en-US" b="1" dirty="0">
                <a:latin typeface="Times New Roman" panose="02020603050405020304" pitchFamily="18" charset="0"/>
                <a:cs typeface="Times New Roman" panose="02020603050405020304" pitchFamily="18" charset="0"/>
              </a:rPr>
              <a:t>30 seconds </a:t>
            </a:r>
          </a:p>
          <a:p>
            <a:endParaRPr lang="en-US" dirty="0">
              <a:latin typeface="Times New Roman" panose="02020603050405020304" pitchFamily="18" charset="0"/>
              <a:cs typeface="Times New Roman" panose="02020603050405020304" pitchFamily="18" charset="0"/>
            </a:endParaRPr>
          </a:p>
          <a:p>
            <a:endParaRPr lang="en-US" b="1" dirty="0">
              <a:latin typeface="Times New Roman" panose="02020603050405020304" pitchFamily="18" charset="0"/>
              <a:cs typeface="Times New Roman" panose="02020603050405020304" pitchFamily="18" charset="0"/>
            </a:endParaRPr>
          </a:p>
          <a:p>
            <a:endParaRPr 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49403819"/>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stretch>
            <a:fillRect/>
          </a:stretch>
        </p:blipFill>
        <p:spPr>
          <a:xfrm>
            <a:off x="6388608" y="121920"/>
            <a:ext cx="5618025" cy="6656896"/>
          </a:xfrm>
          <a:prstGeom prst="rect">
            <a:avLst/>
          </a:prstGeom>
        </p:spPr>
      </p:pic>
      <p:sp>
        <p:nvSpPr>
          <p:cNvPr id="5" name="Rectangle 4"/>
          <p:cNvSpPr/>
          <p:nvPr/>
        </p:nvSpPr>
        <p:spPr>
          <a:xfrm>
            <a:off x="459789" y="146304"/>
            <a:ext cx="5449521" cy="461665"/>
          </a:xfrm>
          <a:prstGeom prst="rect">
            <a:avLst/>
          </a:prstGeom>
          <a:solidFill>
            <a:schemeClr val="bg1"/>
          </a:solidFill>
        </p:spPr>
        <p:txBody>
          <a:bodyPr wrap="square">
            <a:spAutoFit/>
          </a:bodyPr>
          <a:lstStyle/>
          <a:p>
            <a:r>
              <a:rPr lang="en-US" sz="2400" u="sng" dirty="0">
                <a:latin typeface="Times New Roman" panose="02020603050405020304" pitchFamily="18" charset="0"/>
                <a:cs typeface="Times New Roman" panose="02020603050405020304" pitchFamily="18" charset="0"/>
              </a:rPr>
              <a:t>Appendix </a:t>
            </a:r>
            <a:r>
              <a:rPr lang="en-US" sz="2400" u="sng" dirty="0" smtClean="0">
                <a:latin typeface="Times New Roman" panose="02020603050405020304" pitchFamily="18" charset="0"/>
                <a:cs typeface="Times New Roman" panose="02020603050405020304" pitchFamily="18" charset="0"/>
              </a:rPr>
              <a:t>6</a:t>
            </a:r>
            <a:endParaRPr lang="en-US" sz="2400" u="sng" dirty="0">
              <a:latin typeface="Times New Roman" panose="02020603050405020304" pitchFamily="18" charset="0"/>
              <a:cs typeface="Times New Roman" panose="02020603050405020304" pitchFamily="18" charset="0"/>
            </a:endParaRPr>
          </a:p>
        </p:txBody>
      </p:sp>
      <p:sp>
        <p:nvSpPr>
          <p:cNvPr id="7" name="Rectangle 6"/>
          <p:cNvSpPr/>
          <p:nvPr/>
        </p:nvSpPr>
        <p:spPr>
          <a:xfrm>
            <a:off x="525588" y="887274"/>
            <a:ext cx="4128053" cy="369332"/>
          </a:xfrm>
          <a:prstGeom prst="rect">
            <a:avLst/>
          </a:prstGeom>
        </p:spPr>
        <p:txBody>
          <a:bodyPr wrap="none">
            <a:spAutoFit/>
          </a:bodyPr>
          <a:lstStyle/>
          <a:p>
            <a:r>
              <a:rPr lang="en-US" b="1" dirty="0">
                <a:latin typeface="Times New Roman" panose="02020603050405020304" pitchFamily="18" charset="0"/>
                <a:cs typeface="Times New Roman" panose="02020603050405020304" pitchFamily="18" charset="0"/>
              </a:rPr>
              <a:t>Starting Point: issue </a:t>
            </a:r>
            <a:r>
              <a:rPr lang="en-US" b="1" dirty="0" smtClean="0">
                <a:latin typeface="Times New Roman" panose="02020603050405020304" pitchFamily="18" charset="0"/>
                <a:cs typeface="Times New Roman" panose="02020603050405020304" pitchFamily="18" charset="0"/>
              </a:rPr>
              <a:t>DCM24MON-4575</a:t>
            </a:r>
            <a:endParaRPr lang="en-US" b="1" dirty="0">
              <a:latin typeface="Times New Roman" panose="02020603050405020304" pitchFamily="18" charset="0"/>
              <a:cs typeface="Times New Roman" panose="02020603050405020304" pitchFamily="18" charset="0"/>
            </a:endParaRPr>
          </a:p>
        </p:txBody>
      </p:sp>
      <p:pic>
        <p:nvPicPr>
          <p:cNvPr id="17" name="Picture 16"/>
          <p:cNvPicPr>
            <a:picLocks noChangeAspect="1"/>
          </p:cNvPicPr>
          <p:nvPr/>
        </p:nvPicPr>
        <p:blipFill>
          <a:blip r:embed="rId4"/>
          <a:stretch>
            <a:fillRect/>
          </a:stretch>
        </p:blipFill>
        <p:spPr>
          <a:xfrm>
            <a:off x="275001" y="3265210"/>
            <a:ext cx="4800600" cy="1971675"/>
          </a:xfrm>
          <a:prstGeom prst="rect">
            <a:avLst/>
          </a:prstGeom>
        </p:spPr>
      </p:pic>
      <p:sp>
        <p:nvSpPr>
          <p:cNvPr id="8" name="Rectangle 7"/>
          <p:cNvSpPr/>
          <p:nvPr/>
        </p:nvSpPr>
        <p:spPr>
          <a:xfrm>
            <a:off x="525588" y="5616770"/>
            <a:ext cx="5226636" cy="923330"/>
          </a:xfrm>
          <a:prstGeom prst="rect">
            <a:avLst/>
          </a:prstGeom>
          <a:solidFill>
            <a:schemeClr val="bg2">
              <a:lumMod val="90000"/>
            </a:schemeClr>
          </a:solidFill>
        </p:spPr>
        <p:txBody>
          <a:bodyPr wrap="square">
            <a:spAutoFit/>
          </a:bodyPr>
          <a:lstStyle/>
          <a:p>
            <a:pPr>
              <a:lnSpc>
                <a:spcPct val="150000"/>
              </a:lnSpc>
            </a:pPr>
            <a:r>
              <a:rPr lang="en-US" b="1" dirty="0">
                <a:latin typeface="Times New Roman" panose="02020603050405020304" pitchFamily="18" charset="0"/>
                <a:cs typeface="Times New Roman" panose="02020603050405020304" pitchFamily="18" charset="0"/>
              </a:rPr>
              <a:t>Why does </a:t>
            </a:r>
            <a:r>
              <a:rPr lang="en-US" b="1" dirty="0" smtClean="0">
                <a:latin typeface="Times New Roman" panose="02020603050405020304" pitchFamily="18" charset="0"/>
                <a:cs typeface="Times New Roman" panose="02020603050405020304" pitchFamily="18" charset="0"/>
              </a:rPr>
              <a:t>IG OFF status is delayed 4 seconds in Power Manager?</a:t>
            </a:r>
            <a:endParaRPr lang="en-US" b="1" dirty="0">
              <a:latin typeface="Times New Roman" panose="02020603050405020304" pitchFamily="18" charset="0"/>
              <a:cs typeface="Times New Roman" panose="02020603050405020304" pitchFamily="18" charset="0"/>
            </a:endParaRPr>
          </a:p>
        </p:txBody>
      </p:sp>
      <p:sp>
        <p:nvSpPr>
          <p:cNvPr id="9" name="Rectangle 8"/>
          <p:cNvSpPr/>
          <p:nvPr/>
        </p:nvSpPr>
        <p:spPr>
          <a:xfrm>
            <a:off x="525588" y="1418688"/>
            <a:ext cx="6096000" cy="1754326"/>
          </a:xfrm>
          <a:prstGeom prst="rect">
            <a:avLst/>
          </a:prstGeom>
        </p:spPr>
        <p:txBody>
          <a:bodyPr>
            <a:spAutoFit/>
          </a:bodyPr>
          <a:lstStyle/>
          <a:p>
            <a:r>
              <a:rPr lang="en-US" u="sng" dirty="0" smtClean="0">
                <a:latin typeface="Times New Roman" panose="02020603050405020304" pitchFamily="18" charset="0"/>
                <a:cs typeface="Times New Roman" panose="02020603050405020304" pitchFamily="18" charset="0"/>
              </a:rPr>
              <a:t>Scenario</a:t>
            </a:r>
            <a:r>
              <a:rPr lang="en-US" dirty="0" smtClean="0">
                <a:latin typeface="Times New Roman" panose="02020603050405020304" pitchFamily="18" charset="0"/>
                <a:cs typeface="Times New Roman" panose="02020603050405020304" pitchFamily="18" charset="0"/>
              </a:rPr>
              <a:t>:  User turns off Ignition (IG)</a:t>
            </a:r>
            <a:endParaRPr lang="en-US" dirty="0">
              <a:latin typeface="Times New Roman" panose="02020603050405020304" pitchFamily="18" charset="0"/>
              <a:cs typeface="Times New Roman" panose="02020603050405020304" pitchFamily="18" charset="0"/>
            </a:endParaRPr>
          </a:p>
          <a:p>
            <a:r>
              <a:rPr lang="en-US" u="sng" dirty="0" smtClean="0">
                <a:latin typeface="Times New Roman" panose="02020603050405020304" pitchFamily="18" charset="0"/>
                <a:cs typeface="Times New Roman" panose="02020603050405020304" pitchFamily="18" charset="0"/>
              </a:rPr>
              <a:t>Expected</a:t>
            </a:r>
            <a:r>
              <a:rPr lang="en-US" dirty="0">
                <a:latin typeface="Times New Roman" panose="02020603050405020304" pitchFamily="18" charset="0"/>
                <a:cs typeface="Times New Roman" panose="02020603050405020304" pitchFamily="18" charset="0"/>
              </a:rPr>
              <a:t>: AC stops within ~1.5s</a:t>
            </a:r>
          </a:p>
          <a:p>
            <a:r>
              <a:rPr lang="en-US" u="sng" dirty="0" smtClean="0">
                <a:latin typeface="Times New Roman" panose="02020603050405020304" pitchFamily="18" charset="0"/>
                <a:cs typeface="Times New Roman" panose="02020603050405020304" pitchFamily="18" charset="0"/>
              </a:rPr>
              <a:t>Actual</a:t>
            </a:r>
            <a:r>
              <a:rPr lang="en-US" dirty="0">
                <a:latin typeface="Times New Roman" panose="02020603050405020304" pitchFamily="18" charset="0"/>
                <a:cs typeface="Times New Roman" panose="02020603050405020304" pitchFamily="18" charset="0"/>
              </a:rPr>
              <a:t>: </a:t>
            </a:r>
            <a:r>
              <a:rPr lang="en-US" dirty="0" smtClean="0">
                <a:latin typeface="Times New Roman" panose="02020603050405020304" pitchFamily="18" charset="0"/>
                <a:cs typeface="Times New Roman" panose="02020603050405020304" pitchFamily="18" charset="0"/>
              </a:rPr>
              <a:t>    AC </a:t>
            </a:r>
            <a:r>
              <a:rPr lang="en-US" dirty="0">
                <a:latin typeface="Times New Roman" panose="02020603050405020304" pitchFamily="18" charset="0"/>
                <a:cs typeface="Times New Roman" panose="02020603050405020304" pitchFamily="18" charset="0"/>
              </a:rPr>
              <a:t>takes 4s to </a:t>
            </a:r>
            <a:r>
              <a:rPr lang="en-US" dirty="0" smtClean="0">
                <a:latin typeface="Times New Roman" panose="02020603050405020304" pitchFamily="18" charset="0"/>
                <a:cs typeface="Times New Roman" panose="02020603050405020304" pitchFamily="18" charset="0"/>
              </a:rPr>
              <a:t>respond</a:t>
            </a:r>
          </a:p>
          <a:p>
            <a:endParaRPr lang="en-US" dirty="0" smtClean="0">
              <a:latin typeface="Times New Roman" panose="02020603050405020304" pitchFamily="18" charset="0"/>
              <a:cs typeface="Times New Roman" panose="02020603050405020304" pitchFamily="18" charset="0"/>
            </a:endParaRPr>
          </a:p>
          <a:p>
            <a:r>
              <a:rPr lang="en-US" u="sng" dirty="0" smtClean="0">
                <a:latin typeface="Times New Roman" panose="02020603050405020304" pitchFamily="18" charset="0"/>
                <a:cs typeface="Times New Roman" panose="02020603050405020304" pitchFamily="18" charset="0"/>
              </a:rPr>
              <a:t>Cause</a:t>
            </a:r>
            <a:r>
              <a:rPr lang="en-US" dirty="0" smtClean="0">
                <a:latin typeface="Times New Roman" panose="02020603050405020304" pitchFamily="18" charset="0"/>
                <a:cs typeface="Times New Roman" panose="02020603050405020304" pitchFamily="18" charset="0"/>
              </a:rPr>
              <a:t>: The IG off status is delayed </a:t>
            </a:r>
            <a:r>
              <a:rPr lang="en-US" b="1" dirty="0" smtClean="0">
                <a:latin typeface="Times New Roman" panose="02020603050405020304" pitchFamily="18" charset="0"/>
                <a:cs typeface="Times New Roman" panose="02020603050405020304" pitchFamily="18" charset="0"/>
              </a:rPr>
              <a:t>4 seconds </a:t>
            </a:r>
            <a:r>
              <a:rPr lang="en-US" dirty="0" smtClean="0">
                <a:latin typeface="Times New Roman" panose="02020603050405020304" pitchFamily="18" charset="0"/>
                <a:cs typeface="Times New Roman" panose="02020603050405020304" pitchFamily="18" charset="0"/>
              </a:rPr>
              <a:t>in Power Manager before notified to Remote Service (AC controller)</a:t>
            </a:r>
            <a:endParaRPr lang="en-US" dirty="0">
              <a:latin typeface="Times New Roman" panose="02020603050405020304" pitchFamily="18" charset="0"/>
              <a:cs typeface="Times New Roman" panose="02020603050405020304" pitchFamily="18" charset="0"/>
            </a:endParaRPr>
          </a:p>
        </p:txBody>
      </p:sp>
      <p:sp>
        <p:nvSpPr>
          <p:cNvPr id="3" name="Slide Number Placeholder 2"/>
          <p:cNvSpPr>
            <a:spLocks noGrp="1"/>
          </p:cNvSpPr>
          <p:nvPr>
            <p:ph type="sldNum" sz="quarter" idx="12"/>
          </p:nvPr>
        </p:nvSpPr>
        <p:spPr/>
        <p:txBody>
          <a:bodyPr/>
          <a:lstStyle/>
          <a:p>
            <a:fld id="{0059130C-D5A7-43F1-8BDF-D4DD1699FE09}" type="slidenum">
              <a:rPr lang="en-US" smtClean="0"/>
              <a:t>30</a:t>
            </a:fld>
            <a:endParaRPr lang="en-US"/>
          </a:p>
        </p:txBody>
      </p:sp>
      <p:sp>
        <p:nvSpPr>
          <p:cNvPr id="6" name="Rectangle 5"/>
          <p:cNvSpPr/>
          <p:nvPr/>
        </p:nvSpPr>
        <p:spPr>
          <a:xfrm>
            <a:off x="8290560" y="4517136"/>
            <a:ext cx="2084832" cy="938784"/>
          </a:xfrm>
          <a:prstGeom prst="rect">
            <a:avLst/>
          </a:prstGeom>
          <a:noFill/>
          <a:ln w="19050">
            <a:solidFill>
              <a:srgbClr val="C0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91386325"/>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a:stretch>
            <a:fillRect/>
          </a:stretch>
        </p:blipFill>
        <p:spPr>
          <a:xfrm>
            <a:off x="6255609" y="0"/>
            <a:ext cx="5761303" cy="6665037"/>
          </a:xfrm>
          <a:prstGeom prst="rect">
            <a:avLst/>
          </a:prstGeom>
        </p:spPr>
      </p:pic>
      <p:sp>
        <p:nvSpPr>
          <p:cNvPr id="2" name="Rectangle 1"/>
          <p:cNvSpPr/>
          <p:nvPr/>
        </p:nvSpPr>
        <p:spPr>
          <a:xfrm>
            <a:off x="253645" y="752399"/>
            <a:ext cx="6096000" cy="1477328"/>
          </a:xfrm>
          <a:prstGeom prst="rect">
            <a:avLst/>
          </a:prstGeom>
        </p:spPr>
        <p:txBody>
          <a:bodyPr>
            <a:spAutoFit/>
          </a:bodyPr>
          <a:lstStyle/>
          <a:p>
            <a:r>
              <a:rPr lang="en-US" dirty="0" smtClean="0">
                <a:latin typeface="Times New Roman" panose="02020603050405020304" pitchFamily="18" charset="0"/>
                <a:cs typeface="Times New Roman" panose="02020603050405020304" pitchFamily="18" charset="0"/>
              </a:rPr>
              <a:t>    </a:t>
            </a:r>
            <a:endParaRPr lang="en-US" dirty="0">
              <a:latin typeface="Times New Roman" panose="02020603050405020304" pitchFamily="18" charset="0"/>
              <a:cs typeface="Times New Roman" panose="02020603050405020304" pitchFamily="18" charset="0"/>
            </a:endParaRPr>
          </a:p>
          <a:p>
            <a:r>
              <a:rPr lang="en-US" dirty="0" smtClean="0">
                <a:latin typeface="Times New Roman" panose="02020603050405020304" pitchFamily="18" charset="0"/>
                <a:cs typeface="Times New Roman" panose="02020603050405020304" pitchFamily="18" charset="0"/>
              </a:rPr>
              <a:t>    Powerless Bottleneck:</a:t>
            </a:r>
          </a:p>
          <a:p>
            <a:r>
              <a:rPr lang="en-US" dirty="0" smtClean="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 </a:t>
            </a:r>
            <a:r>
              <a:rPr lang="en-US" dirty="0" smtClean="0">
                <a:latin typeface="Times New Roman" panose="02020603050405020304" pitchFamily="18" charset="0"/>
                <a:cs typeface="Times New Roman" panose="02020603050405020304" pitchFamily="18" charset="0"/>
              </a:rPr>
              <a:t>38 </a:t>
            </a:r>
            <a:r>
              <a:rPr lang="en-US" dirty="0">
                <a:latin typeface="Times New Roman" panose="02020603050405020304" pitchFamily="18" charset="0"/>
                <a:cs typeface="Times New Roman" panose="02020603050405020304" pitchFamily="18" charset="0"/>
              </a:rPr>
              <a:t>receivers per event × 6 events = massive delay</a:t>
            </a:r>
          </a:p>
          <a:p>
            <a:r>
              <a:rPr lang="en-US" dirty="0">
                <a:latin typeface="Times New Roman" panose="02020603050405020304" pitchFamily="18" charset="0"/>
                <a:cs typeface="Times New Roman" panose="02020603050405020304" pitchFamily="18" charset="0"/>
              </a:rPr>
              <a:t>    • IG-OFF notification stuck behind other system events</a:t>
            </a:r>
          </a:p>
          <a:p>
            <a:r>
              <a:rPr lang="en-US" dirty="0">
                <a:latin typeface="Times New Roman" panose="02020603050405020304" pitchFamily="18" charset="0"/>
                <a:cs typeface="Times New Roman" panose="02020603050405020304" pitchFamily="18" charset="0"/>
              </a:rPr>
              <a:t>    </a:t>
            </a:r>
          </a:p>
        </p:txBody>
      </p:sp>
      <p:sp>
        <p:nvSpPr>
          <p:cNvPr id="4" name="Rectangle 3"/>
          <p:cNvSpPr/>
          <p:nvPr/>
        </p:nvSpPr>
        <p:spPr>
          <a:xfrm>
            <a:off x="571231" y="2374157"/>
            <a:ext cx="5226636" cy="923330"/>
          </a:xfrm>
          <a:prstGeom prst="rect">
            <a:avLst/>
          </a:prstGeom>
          <a:solidFill>
            <a:schemeClr val="bg2">
              <a:lumMod val="90000"/>
            </a:schemeClr>
          </a:solidFill>
        </p:spPr>
        <p:txBody>
          <a:bodyPr wrap="square">
            <a:spAutoFit/>
          </a:bodyPr>
          <a:lstStyle/>
          <a:p>
            <a:pPr>
              <a:lnSpc>
                <a:spcPct val="150000"/>
              </a:lnSpc>
            </a:pPr>
            <a:r>
              <a:rPr lang="en-US" b="1" dirty="0">
                <a:latin typeface="Times New Roman" panose="02020603050405020304" pitchFamily="18" charset="0"/>
                <a:cs typeface="Times New Roman" panose="02020603050405020304" pitchFamily="18" charset="0"/>
              </a:rPr>
              <a:t>Why does </a:t>
            </a:r>
            <a:r>
              <a:rPr lang="en-US" b="1" dirty="0" smtClean="0">
                <a:latin typeface="Times New Roman" panose="02020603050405020304" pitchFamily="18" charset="0"/>
                <a:cs typeface="Times New Roman" panose="02020603050405020304" pitchFamily="18" charset="0"/>
              </a:rPr>
              <a:t>Power Manager </a:t>
            </a:r>
            <a:r>
              <a:rPr lang="en-US" b="1" dirty="0">
                <a:latin typeface="Times New Roman" panose="02020603050405020304" pitchFamily="18" charset="0"/>
                <a:cs typeface="Times New Roman" panose="02020603050405020304" pitchFamily="18" charset="0"/>
              </a:rPr>
              <a:t>take </a:t>
            </a:r>
            <a:r>
              <a:rPr lang="en-US" b="1" dirty="0" smtClean="0">
                <a:latin typeface="Times New Roman" panose="02020603050405020304" pitchFamily="18" charset="0"/>
                <a:cs typeface="Times New Roman" panose="02020603050405020304" pitchFamily="18" charset="0"/>
              </a:rPr>
              <a:t>~760ms per </a:t>
            </a:r>
            <a:r>
              <a:rPr lang="en-US" b="1" dirty="0">
                <a:latin typeface="Times New Roman" panose="02020603050405020304" pitchFamily="18" charset="0"/>
                <a:cs typeface="Times New Roman" panose="02020603050405020304" pitchFamily="18" charset="0"/>
              </a:rPr>
              <a:t>notify for </a:t>
            </a:r>
            <a:r>
              <a:rPr lang="en-US" b="1" dirty="0" smtClean="0">
                <a:latin typeface="Times New Roman" panose="02020603050405020304" pitchFamily="18" charset="0"/>
                <a:cs typeface="Times New Roman" panose="02020603050405020304" pitchFamily="18" charset="0"/>
              </a:rPr>
              <a:t>~38 </a:t>
            </a:r>
            <a:r>
              <a:rPr lang="en-US" b="1" dirty="0">
                <a:latin typeface="Times New Roman" panose="02020603050405020304" pitchFamily="18" charset="0"/>
                <a:cs typeface="Times New Roman" panose="02020603050405020304" pitchFamily="18" charset="0"/>
              </a:rPr>
              <a:t>receives?</a:t>
            </a:r>
          </a:p>
        </p:txBody>
      </p:sp>
      <p:cxnSp>
        <p:nvCxnSpPr>
          <p:cNvPr id="11" name="Straight Connector 10"/>
          <p:cNvCxnSpPr/>
          <p:nvPr/>
        </p:nvCxnSpPr>
        <p:spPr>
          <a:xfrm flipV="1">
            <a:off x="7618130" y="2921000"/>
            <a:ext cx="4184403" cy="18544"/>
          </a:xfrm>
          <a:prstGeom prst="line">
            <a:avLst/>
          </a:prstGeom>
          <a:ln w="19050">
            <a:solidFill>
              <a:srgbClr val="C00000"/>
            </a:solidFill>
            <a:prstDash val="sysDash"/>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10893159" y="5543246"/>
            <a:ext cx="897571" cy="0"/>
          </a:xfrm>
          <a:prstGeom prst="line">
            <a:avLst/>
          </a:prstGeom>
          <a:ln w="19050">
            <a:solidFill>
              <a:srgbClr val="C00000"/>
            </a:solidFill>
            <a:prstDash val="sysDash"/>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p:nvCxnSpPr>
        <p:spPr>
          <a:xfrm>
            <a:off x="11371097" y="3001252"/>
            <a:ext cx="0" cy="2448572"/>
          </a:xfrm>
          <a:prstGeom prst="straightConnector1">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p:cNvSpPr txBox="1"/>
          <p:nvPr/>
        </p:nvSpPr>
        <p:spPr>
          <a:xfrm>
            <a:off x="10905649" y="4290613"/>
            <a:ext cx="930896" cy="276999"/>
          </a:xfrm>
          <a:prstGeom prst="rect">
            <a:avLst/>
          </a:prstGeom>
          <a:solidFill>
            <a:srgbClr val="C00000"/>
          </a:solidFill>
          <a:ln>
            <a:solidFill>
              <a:srgbClr val="C00000"/>
            </a:solidFill>
          </a:ln>
        </p:spPr>
        <p:txBody>
          <a:bodyPr wrap="none" rtlCol="0">
            <a:spAutoFit/>
          </a:bodyPr>
          <a:lstStyle/>
          <a:p>
            <a:r>
              <a:rPr lang="en-US" sz="1200" b="1" dirty="0" smtClean="0">
                <a:solidFill>
                  <a:schemeClr val="bg1"/>
                </a:solidFill>
              </a:rPr>
              <a:t>4.1 seconds</a:t>
            </a:r>
            <a:endParaRPr lang="en-US" sz="1200" b="1" dirty="0">
              <a:solidFill>
                <a:schemeClr val="bg1"/>
              </a:solidFill>
            </a:endParaRPr>
          </a:p>
        </p:txBody>
      </p:sp>
      <p:sp>
        <p:nvSpPr>
          <p:cNvPr id="22" name="Rectangle 21"/>
          <p:cNvSpPr/>
          <p:nvPr/>
        </p:nvSpPr>
        <p:spPr>
          <a:xfrm>
            <a:off x="459789" y="146304"/>
            <a:ext cx="5449521" cy="461665"/>
          </a:xfrm>
          <a:prstGeom prst="rect">
            <a:avLst/>
          </a:prstGeom>
          <a:solidFill>
            <a:schemeClr val="bg1"/>
          </a:solidFill>
        </p:spPr>
        <p:txBody>
          <a:bodyPr wrap="square">
            <a:spAutoFit/>
          </a:bodyPr>
          <a:lstStyle/>
          <a:p>
            <a:r>
              <a:rPr lang="en-US" sz="2400" u="sng" dirty="0">
                <a:latin typeface="Times New Roman" panose="02020603050405020304" pitchFamily="18" charset="0"/>
                <a:cs typeface="Times New Roman" panose="02020603050405020304" pitchFamily="18" charset="0"/>
              </a:rPr>
              <a:t>Appendix </a:t>
            </a:r>
            <a:r>
              <a:rPr lang="en-US" sz="2400" u="sng" dirty="0" smtClean="0">
                <a:latin typeface="Times New Roman" panose="02020603050405020304" pitchFamily="18" charset="0"/>
                <a:cs typeface="Times New Roman" panose="02020603050405020304" pitchFamily="18" charset="0"/>
              </a:rPr>
              <a:t>7</a:t>
            </a:r>
            <a:endParaRPr lang="en-US" sz="2400" u="sng" dirty="0">
              <a:latin typeface="Times New Roman" panose="02020603050405020304" pitchFamily="18" charset="0"/>
              <a:cs typeface="Times New Roman" panose="02020603050405020304" pitchFamily="18" charset="0"/>
            </a:endParaRPr>
          </a:p>
        </p:txBody>
      </p:sp>
      <p:sp>
        <p:nvSpPr>
          <p:cNvPr id="5" name="Slide Number Placeholder 4"/>
          <p:cNvSpPr>
            <a:spLocks noGrp="1"/>
          </p:cNvSpPr>
          <p:nvPr>
            <p:ph type="sldNum" sz="quarter" idx="12"/>
          </p:nvPr>
        </p:nvSpPr>
        <p:spPr/>
        <p:txBody>
          <a:bodyPr/>
          <a:lstStyle/>
          <a:p>
            <a:fld id="{0059130C-D5A7-43F1-8BDF-D4DD1699FE09}" type="slidenum">
              <a:rPr lang="en-US" smtClean="0"/>
              <a:t>31</a:t>
            </a:fld>
            <a:endParaRPr lang="en-US"/>
          </a:p>
        </p:txBody>
      </p:sp>
      <p:sp>
        <p:nvSpPr>
          <p:cNvPr id="3" name="Rectangle 2"/>
          <p:cNvSpPr/>
          <p:nvPr/>
        </p:nvSpPr>
        <p:spPr>
          <a:xfrm>
            <a:off x="6553200" y="3419856"/>
            <a:ext cx="2968752" cy="1511807"/>
          </a:xfrm>
          <a:prstGeom prst="rect">
            <a:avLst/>
          </a:prstGeom>
          <a:noFill/>
          <a:ln w="19050">
            <a:solidFill>
              <a:srgbClr val="C0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17390370"/>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p:cNvSpPr/>
          <p:nvPr/>
        </p:nvSpPr>
        <p:spPr>
          <a:xfrm>
            <a:off x="459789" y="1927086"/>
            <a:ext cx="5566952" cy="3416320"/>
          </a:xfrm>
          <a:prstGeom prst="rect">
            <a:avLst/>
          </a:prstGeom>
        </p:spPr>
        <p:txBody>
          <a:bodyPr wrap="square">
            <a:spAutoFit/>
          </a:bodyPr>
          <a:lstStyle/>
          <a:p>
            <a:r>
              <a:rPr lang="en-US" dirty="0">
                <a:latin typeface="Times New Roman" panose="02020603050405020304" pitchFamily="18" charset="0"/>
                <a:cs typeface="Times New Roman" panose="02020603050405020304" pitchFamily="18" charset="0"/>
              </a:rPr>
              <a:t>Current Implementation </a:t>
            </a:r>
            <a:r>
              <a:rPr lang="en-US" dirty="0" smtClean="0">
                <a:latin typeface="Times New Roman" panose="02020603050405020304" pitchFamily="18" charset="0"/>
                <a:cs typeface="Times New Roman" panose="02020603050405020304" pitchFamily="18" charset="0"/>
              </a:rPr>
              <a:t>: </a:t>
            </a:r>
            <a:r>
              <a:rPr lang="en-US" b="1" dirty="0" smtClean="0">
                <a:latin typeface="Times New Roman" panose="02020603050405020304" pitchFamily="18" charset="0"/>
                <a:cs typeface="Times New Roman" panose="02020603050405020304" pitchFamily="18" charset="0"/>
              </a:rPr>
              <a:t>On-demand </a:t>
            </a:r>
            <a:r>
              <a:rPr lang="en-US" b="1" dirty="0">
                <a:latin typeface="Times New Roman" panose="02020603050405020304" pitchFamily="18" charset="0"/>
                <a:cs typeface="Times New Roman" panose="02020603050405020304" pitchFamily="18" charset="0"/>
              </a:rPr>
              <a:t>Thread Creation</a:t>
            </a:r>
          </a:p>
          <a:p>
            <a:endParaRPr lang="en-US" dirty="0" smtClean="0">
              <a:latin typeface="Times New Roman" panose="02020603050405020304" pitchFamily="18" charset="0"/>
              <a:cs typeface="Times New Roman" panose="02020603050405020304" pitchFamily="18" charset="0"/>
            </a:endParaRPr>
          </a:p>
          <a:p>
            <a:r>
              <a:rPr lang="en-US" dirty="0" smtClean="0">
                <a:latin typeface="Times New Roman" panose="02020603050405020304" pitchFamily="18" charset="0"/>
                <a:cs typeface="Times New Roman" panose="02020603050405020304" pitchFamily="18" charset="0"/>
              </a:rPr>
              <a:t>Threads </a:t>
            </a:r>
            <a:r>
              <a:rPr lang="en-US" dirty="0">
                <a:latin typeface="Times New Roman" panose="02020603050405020304" pitchFamily="18" charset="0"/>
                <a:cs typeface="Times New Roman" panose="02020603050405020304" pitchFamily="18" charset="0"/>
              </a:rPr>
              <a:t>are created and destroyed dynamically </a:t>
            </a:r>
            <a:r>
              <a:rPr lang="en-US" dirty="0" smtClean="0">
                <a:latin typeface="Times New Roman" panose="02020603050405020304" pitchFamily="18" charset="0"/>
                <a:cs typeface="Times New Roman" panose="02020603050405020304" pitchFamily="18" charset="0"/>
              </a:rPr>
              <a:t>for each receiver.</a:t>
            </a:r>
          </a:p>
          <a:p>
            <a:endParaRPr lang="en-US"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dirty="0" smtClean="0">
                <a:latin typeface="Times New Roman" panose="02020603050405020304" pitchFamily="18" charset="0"/>
                <a:cs typeface="Times New Roman" panose="02020603050405020304" pitchFamily="18" charset="0"/>
              </a:rPr>
              <a:t>Thread creation:         30ms x 38 = 760ms</a:t>
            </a:r>
          </a:p>
          <a:p>
            <a:pPr marL="285750" indent="-285750">
              <a:buFont typeface="Arial" panose="020B0604020202020204" pitchFamily="34" charset="0"/>
              <a:buChar char="•"/>
            </a:pPr>
            <a:r>
              <a:rPr lang="en-US" dirty="0" smtClean="0">
                <a:latin typeface="Times New Roman" panose="02020603050405020304" pitchFamily="18" charset="0"/>
                <a:cs typeface="Times New Roman" panose="02020603050405020304" pitchFamily="18" charset="0"/>
              </a:rPr>
              <a:t>Actual notification:  1~2ms </a:t>
            </a:r>
            <a:r>
              <a:rPr lang="en-US" dirty="0">
                <a:latin typeface="Times New Roman" panose="02020603050405020304" pitchFamily="18" charset="0"/>
                <a:cs typeface="Times New Roman" panose="02020603050405020304" pitchFamily="18" charset="0"/>
              </a:rPr>
              <a:t>(</a:t>
            </a:r>
            <a:r>
              <a:rPr lang="en-US" dirty="0" smtClean="0">
                <a:latin typeface="Times New Roman" panose="02020603050405020304" pitchFamily="18" charset="0"/>
                <a:cs typeface="Times New Roman" panose="02020603050405020304" pitchFamily="18" charset="0"/>
              </a:rPr>
              <a:t>parallel)</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Total time: </a:t>
            </a:r>
            <a:r>
              <a:rPr lang="en-US" dirty="0" smtClean="0">
                <a:latin typeface="Times New Roman" panose="02020603050405020304" pitchFamily="18" charset="0"/>
                <a:cs typeface="Times New Roman" panose="02020603050405020304" pitchFamily="18" charset="0"/>
              </a:rPr>
              <a:t>                 ~760ms</a:t>
            </a:r>
            <a:br>
              <a:rPr lang="en-US" dirty="0" smtClean="0">
                <a:latin typeface="Times New Roman" panose="02020603050405020304" pitchFamily="18" charset="0"/>
                <a:cs typeface="Times New Roman" panose="02020603050405020304" pitchFamily="18" charset="0"/>
              </a:rPr>
            </a:br>
            <a:endParaRPr lang="en-US" dirty="0" smtClean="0">
              <a:latin typeface="Times New Roman" panose="02020603050405020304" pitchFamily="18" charset="0"/>
              <a:cs typeface="Times New Roman" panose="02020603050405020304" pitchFamily="18" charset="0"/>
            </a:endParaRPr>
          </a:p>
          <a:p>
            <a:r>
              <a:rPr lang="en-US" b="1" dirty="0" smtClean="0">
                <a:latin typeface="Times New Roman" panose="02020603050405020304" pitchFamily="18" charset="0"/>
                <a:cs typeface="Times New Roman" panose="02020603050405020304" pitchFamily="18" charset="0"/>
              </a:rPr>
              <a:t>ROOT CAUSE</a:t>
            </a:r>
            <a:r>
              <a:rPr lang="en-US" dirty="0" smtClean="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Sequential thread </a:t>
            </a:r>
            <a:r>
              <a:rPr lang="en-US" dirty="0" smtClean="0">
                <a:latin typeface="Times New Roman" panose="02020603050405020304" pitchFamily="18" charset="0"/>
                <a:cs typeface="Times New Roman" panose="02020603050405020304" pitchFamily="18" charset="0"/>
              </a:rPr>
              <a:t>lifecycle management </a:t>
            </a:r>
            <a:r>
              <a:rPr lang="en-US" dirty="0">
                <a:latin typeface="Times New Roman" panose="02020603050405020304" pitchFamily="18" charset="0"/>
                <a:cs typeface="Times New Roman" panose="02020603050405020304" pitchFamily="18" charset="0"/>
              </a:rPr>
              <a:t>with OS scheduling overhead</a:t>
            </a:r>
          </a:p>
          <a:p>
            <a:endParaRPr lang="en-US" dirty="0">
              <a:latin typeface="Times New Roman" panose="02020603050405020304" pitchFamily="18" charset="0"/>
              <a:cs typeface="Times New Roman" panose="02020603050405020304" pitchFamily="18" charset="0"/>
            </a:endParaRPr>
          </a:p>
        </p:txBody>
      </p:sp>
      <p:sp>
        <p:nvSpPr>
          <p:cNvPr id="11" name="Rectangle 10"/>
          <p:cNvSpPr/>
          <p:nvPr/>
        </p:nvSpPr>
        <p:spPr>
          <a:xfrm>
            <a:off x="459789" y="146304"/>
            <a:ext cx="5449521" cy="461665"/>
          </a:xfrm>
          <a:prstGeom prst="rect">
            <a:avLst/>
          </a:prstGeom>
          <a:solidFill>
            <a:schemeClr val="bg1"/>
          </a:solidFill>
        </p:spPr>
        <p:txBody>
          <a:bodyPr wrap="square">
            <a:spAutoFit/>
          </a:bodyPr>
          <a:lstStyle/>
          <a:p>
            <a:r>
              <a:rPr lang="en-US" sz="2400" u="sng" dirty="0">
                <a:latin typeface="Times New Roman" panose="02020603050405020304" pitchFamily="18" charset="0"/>
                <a:cs typeface="Times New Roman" panose="02020603050405020304" pitchFamily="18" charset="0"/>
              </a:rPr>
              <a:t>Appendix </a:t>
            </a:r>
            <a:r>
              <a:rPr lang="en-US" sz="2400" u="sng" dirty="0" smtClean="0">
                <a:latin typeface="Times New Roman" panose="02020603050405020304" pitchFamily="18" charset="0"/>
                <a:cs typeface="Times New Roman" panose="02020603050405020304" pitchFamily="18" charset="0"/>
              </a:rPr>
              <a:t>8</a:t>
            </a:r>
            <a:endParaRPr lang="en-US" sz="2400" u="sng" dirty="0">
              <a:latin typeface="Times New Roman" panose="02020603050405020304" pitchFamily="18" charset="0"/>
              <a:cs typeface="Times New Roman" panose="02020603050405020304" pitchFamily="18" charset="0"/>
            </a:endParaRPr>
          </a:p>
        </p:txBody>
      </p:sp>
      <p:sp>
        <p:nvSpPr>
          <p:cNvPr id="12" name="Rectangle 11"/>
          <p:cNvSpPr/>
          <p:nvPr/>
        </p:nvSpPr>
        <p:spPr>
          <a:xfrm>
            <a:off x="459789" y="805862"/>
            <a:ext cx="5257116" cy="923330"/>
          </a:xfrm>
          <a:prstGeom prst="rect">
            <a:avLst/>
          </a:prstGeom>
          <a:solidFill>
            <a:schemeClr val="bg2">
              <a:lumMod val="90000"/>
            </a:schemeClr>
          </a:solidFill>
        </p:spPr>
        <p:txBody>
          <a:bodyPr wrap="square">
            <a:spAutoFit/>
          </a:bodyPr>
          <a:lstStyle/>
          <a:p>
            <a:pPr>
              <a:lnSpc>
                <a:spcPct val="150000"/>
              </a:lnSpc>
            </a:pPr>
            <a:r>
              <a:rPr lang="en-US" b="1" dirty="0">
                <a:latin typeface="Times New Roman" panose="02020603050405020304" pitchFamily="18" charset="0"/>
                <a:cs typeface="Times New Roman" panose="02020603050405020304" pitchFamily="18" charset="0"/>
              </a:rPr>
              <a:t>Why does </a:t>
            </a:r>
            <a:r>
              <a:rPr lang="en-US" b="1" dirty="0" smtClean="0">
                <a:latin typeface="Times New Roman" panose="02020603050405020304" pitchFamily="18" charset="0"/>
                <a:cs typeface="Times New Roman" panose="02020603050405020304" pitchFamily="18" charset="0"/>
              </a:rPr>
              <a:t>Power Manager </a:t>
            </a:r>
            <a:r>
              <a:rPr lang="en-US" b="1" dirty="0">
                <a:latin typeface="Times New Roman" panose="02020603050405020304" pitchFamily="18" charset="0"/>
                <a:cs typeface="Times New Roman" panose="02020603050405020304" pitchFamily="18" charset="0"/>
              </a:rPr>
              <a:t>take </a:t>
            </a:r>
            <a:r>
              <a:rPr lang="en-US" b="1" dirty="0" smtClean="0">
                <a:latin typeface="Times New Roman" panose="02020603050405020304" pitchFamily="18" charset="0"/>
                <a:cs typeface="Times New Roman" panose="02020603050405020304" pitchFamily="18" charset="0"/>
              </a:rPr>
              <a:t>~760ms per </a:t>
            </a:r>
            <a:r>
              <a:rPr lang="en-US" b="1" dirty="0">
                <a:latin typeface="Times New Roman" panose="02020603050405020304" pitchFamily="18" charset="0"/>
                <a:cs typeface="Times New Roman" panose="02020603050405020304" pitchFamily="18" charset="0"/>
              </a:rPr>
              <a:t>notify for </a:t>
            </a:r>
            <a:r>
              <a:rPr lang="en-US" b="1" dirty="0" smtClean="0">
                <a:latin typeface="Times New Roman" panose="02020603050405020304" pitchFamily="18" charset="0"/>
                <a:cs typeface="Times New Roman" panose="02020603050405020304" pitchFamily="18" charset="0"/>
              </a:rPr>
              <a:t>~38 </a:t>
            </a:r>
            <a:r>
              <a:rPr lang="en-US" b="1" dirty="0">
                <a:latin typeface="Times New Roman" panose="02020603050405020304" pitchFamily="18" charset="0"/>
                <a:cs typeface="Times New Roman" panose="02020603050405020304" pitchFamily="18" charset="0"/>
              </a:rPr>
              <a:t>receives?</a:t>
            </a:r>
          </a:p>
        </p:txBody>
      </p:sp>
      <p:sp>
        <p:nvSpPr>
          <p:cNvPr id="3" name="Slide Number Placeholder 2"/>
          <p:cNvSpPr>
            <a:spLocks noGrp="1"/>
          </p:cNvSpPr>
          <p:nvPr>
            <p:ph type="sldNum" sz="quarter" idx="12"/>
          </p:nvPr>
        </p:nvSpPr>
        <p:spPr/>
        <p:txBody>
          <a:bodyPr/>
          <a:lstStyle/>
          <a:p>
            <a:fld id="{0059130C-D5A7-43F1-8BDF-D4DD1699FE09}" type="slidenum">
              <a:rPr lang="en-US" smtClean="0"/>
              <a:t>32</a:t>
            </a:fld>
            <a:endParaRPr lang="en-US"/>
          </a:p>
        </p:txBody>
      </p:sp>
      <p:pic>
        <p:nvPicPr>
          <p:cNvPr id="7" name="Picture 6"/>
          <p:cNvPicPr>
            <a:picLocks noChangeAspect="1"/>
          </p:cNvPicPr>
          <p:nvPr/>
        </p:nvPicPr>
        <p:blipFill>
          <a:blip r:embed="rId3"/>
          <a:stretch>
            <a:fillRect/>
          </a:stretch>
        </p:blipFill>
        <p:spPr>
          <a:xfrm>
            <a:off x="6527975" y="237744"/>
            <a:ext cx="5379799" cy="6016880"/>
          </a:xfrm>
          <a:prstGeom prst="rect">
            <a:avLst/>
          </a:prstGeom>
        </p:spPr>
      </p:pic>
    </p:spTree>
    <p:extLst>
      <p:ext uri="{BB962C8B-B14F-4D97-AF65-F5344CB8AC3E}">
        <p14:creationId xmlns:p14="http://schemas.microsoft.com/office/powerpoint/2010/main" val="4014275306"/>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p:cNvPicPr>
            <a:picLocks noChangeAspect="1"/>
          </p:cNvPicPr>
          <p:nvPr/>
        </p:nvPicPr>
        <p:blipFill>
          <a:blip r:embed="rId3"/>
          <a:stretch>
            <a:fillRect/>
          </a:stretch>
        </p:blipFill>
        <p:spPr>
          <a:xfrm>
            <a:off x="1845794" y="72792"/>
            <a:ext cx="8722745" cy="6785208"/>
          </a:xfrm>
          <a:prstGeom prst="rect">
            <a:avLst/>
          </a:prstGeom>
        </p:spPr>
      </p:pic>
      <p:sp>
        <p:nvSpPr>
          <p:cNvPr id="3" name="Rectangle 2"/>
          <p:cNvSpPr/>
          <p:nvPr/>
        </p:nvSpPr>
        <p:spPr>
          <a:xfrm>
            <a:off x="459789" y="146304"/>
            <a:ext cx="2214831" cy="461665"/>
          </a:xfrm>
          <a:prstGeom prst="rect">
            <a:avLst/>
          </a:prstGeom>
          <a:solidFill>
            <a:schemeClr val="bg1"/>
          </a:solidFill>
        </p:spPr>
        <p:txBody>
          <a:bodyPr wrap="square">
            <a:spAutoFit/>
          </a:bodyPr>
          <a:lstStyle/>
          <a:p>
            <a:r>
              <a:rPr lang="en-US" sz="2400" u="sng" dirty="0">
                <a:latin typeface="Times New Roman" panose="02020603050405020304" pitchFamily="18" charset="0"/>
                <a:cs typeface="Times New Roman" panose="02020603050405020304" pitchFamily="18" charset="0"/>
              </a:rPr>
              <a:t>Appendix </a:t>
            </a:r>
            <a:r>
              <a:rPr lang="en-US" sz="2400" u="sng" dirty="0" smtClean="0">
                <a:latin typeface="Times New Roman" panose="02020603050405020304" pitchFamily="18" charset="0"/>
                <a:cs typeface="Times New Roman" panose="02020603050405020304" pitchFamily="18" charset="0"/>
              </a:rPr>
              <a:t>9</a:t>
            </a:r>
            <a:endParaRPr lang="en-US" sz="2400" u="sng" dirty="0">
              <a:latin typeface="Times New Roman" panose="02020603050405020304" pitchFamily="18" charset="0"/>
              <a:cs typeface="Times New Roman" panose="02020603050405020304" pitchFamily="18" charset="0"/>
            </a:endParaRPr>
          </a:p>
        </p:txBody>
      </p:sp>
      <p:sp>
        <p:nvSpPr>
          <p:cNvPr id="2" name="Slide Number Placeholder 1"/>
          <p:cNvSpPr>
            <a:spLocks noGrp="1"/>
          </p:cNvSpPr>
          <p:nvPr>
            <p:ph type="sldNum" sz="quarter" idx="12"/>
          </p:nvPr>
        </p:nvSpPr>
        <p:spPr/>
        <p:txBody>
          <a:bodyPr/>
          <a:lstStyle/>
          <a:p>
            <a:fld id="{0059130C-D5A7-43F1-8BDF-D4DD1699FE09}" type="slidenum">
              <a:rPr lang="en-US" smtClean="0"/>
              <a:t>33</a:t>
            </a:fld>
            <a:endParaRPr lang="en-US"/>
          </a:p>
        </p:txBody>
      </p:sp>
    </p:spTree>
    <p:extLst>
      <p:ext uri="{BB962C8B-B14F-4D97-AF65-F5344CB8AC3E}">
        <p14:creationId xmlns:p14="http://schemas.microsoft.com/office/powerpoint/2010/main" val="1195323905"/>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459789" y="146304"/>
            <a:ext cx="2214831" cy="461665"/>
          </a:xfrm>
          <a:prstGeom prst="rect">
            <a:avLst/>
          </a:prstGeom>
          <a:solidFill>
            <a:schemeClr val="bg1"/>
          </a:solidFill>
        </p:spPr>
        <p:txBody>
          <a:bodyPr wrap="square">
            <a:spAutoFit/>
          </a:bodyPr>
          <a:lstStyle/>
          <a:p>
            <a:r>
              <a:rPr lang="en-US" sz="2400" u="sng" dirty="0">
                <a:latin typeface="Times New Roman" panose="02020603050405020304" pitchFamily="18" charset="0"/>
                <a:cs typeface="Times New Roman" panose="02020603050405020304" pitchFamily="18" charset="0"/>
              </a:rPr>
              <a:t>Appendix </a:t>
            </a:r>
            <a:r>
              <a:rPr lang="en-US" sz="2400" u="sng" dirty="0" smtClean="0">
                <a:latin typeface="Times New Roman" panose="02020603050405020304" pitchFamily="18" charset="0"/>
                <a:cs typeface="Times New Roman" panose="02020603050405020304" pitchFamily="18" charset="0"/>
              </a:rPr>
              <a:t>10</a:t>
            </a:r>
            <a:endParaRPr lang="en-US" sz="2400" u="sng" dirty="0">
              <a:latin typeface="Times New Roman" panose="02020603050405020304" pitchFamily="18" charset="0"/>
              <a:cs typeface="Times New Roman" panose="02020603050405020304" pitchFamily="18" charset="0"/>
            </a:endParaRPr>
          </a:p>
        </p:txBody>
      </p:sp>
      <p:sp>
        <p:nvSpPr>
          <p:cNvPr id="2" name="Slide Number Placeholder 1"/>
          <p:cNvSpPr>
            <a:spLocks noGrp="1"/>
          </p:cNvSpPr>
          <p:nvPr>
            <p:ph type="sldNum" sz="quarter" idx="12"/>
          </p:nvPr>
        </p:nvSpPr>
        <p:spPr/>
        <p:txBody>
          <a:bodyPr/>
          <a:lstStyle/>
          <a:p>
            <a:fld id="{0059130C-D5A7-43F1-8BDF-D4DD1699FE09}" type="slidenum">
              <a:rPr lang="en-US" smtClean="0"/>
              <a:t>34</a:t>
            </a:fld>
            <a:endParaRPr lang="en-US"/>
          </a:p>
        </p:txBody>
      </p:sp>
      <p:pic>
        <p:nvPicPr>
          <p:cNvPr id="5" name="Picture 4"/>
          <p:cNvPicPr>
            <a:picLocks noChangeAspect="1"/>
          </p:cNvPicPr>
          <p:nvPr/>
        </p:nvPicPr>
        <p:blipFill>
          <a:blip r:embed="rId3"/>
          <a:stretch>
            <a:fillRect/>
          </a:stretch>
        </p:blipFill>
        <p:spPr>
          <a:xfrm>
            <a:off x="3016533" y="84473"/>
            <a:ext cx="5641957" cy="6727372"/>
          </a:xfrm>
          <a:prstGeom prst="rect">
            <a:avLst/>
          </a:prstGeom>
        </p:spPr>
      </p:pic>
      <p:pic>
        <p:nvPicPr>
          <p:cNvPr id="6" name="Picture 5"/>
          <p:cNvPicPr>
            <a:picLocks noChangeAspect="1"/>
          </p:cNvPicPr>
          <p:nvPr/>
        </p:nvPicPr>
        <p:blipFill>
          <a:blip r:embed="rId3"/>
          <a:stretch>
            <a:fillRect/>
          </a:stretch>
        </p:blipFill>
        <p:spPr>
          <a:xfrm>
            <a:off x="3016533" y="65937"/>
            <a:ext cx="5641957" cy="6727372"/>
          </a:xfrm>
          <a:prstGeom prst="rect">
            <a:avLst/>
          </a:prstGeom>
        </p:spPr>
      </p:pic>
    </p:spTree>
    <p:extLst>
      <p:ext uri="{BB962C8B-B14F-4D97-AF65-F5344CB8AC3E}">
        <p14:creationId xmlns:p14="http://schemas.microsoft.com/office/powerpoint/2010/main" val="146419344"/>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a:stretch>
            <a:fillRect/>
          </a:stretch>
        </p:blipFill>
        <p:spPr>
          <a:xfrm>
            <a:off x="1754631" y="111438"/>
            <a:ext cx="8763001" cy="6591502"/>
          </a:xfrm>
          <a:prstGeom prst="rect">
            <a:avLst/>
          </a:prstGeom>
        </p:spPr>
      </p:pic>
      <p:pic>
        <p:nvPicPr>
          <p:cNvPr id="8" name="Picture 7"/>
          <p:cNvPicPr>
            <a:picLocks noChangeAspect="1"/>
          </p:cNvPicPr>
          <p:nvPr/>
        </p:nvPicPr>
        <p:blipFill>
          <a:blip r:embed="rId3"/>
          <a:stretch>
            <a:fillRect/>
          </a:stretch>
        </p:blipFill>
        <p:spPr>
          <a:xfrm>
            <a:off x="1754631" y="129973"/>
            <a:ext cx="8763001" cy="6591502"/>
          </a:xfrm>
          <a:prstGeom prst="rect">
            <a:avLst/>
          </a:prstGeom>
        </p:spPr>
      </p:pic>
      <p:sp>
        <p:nvSpPr>
          <p:cNvPr id="3" name="Rectangle 2"/>
          <p:cNvSpPr/>
          <p:nvPr/>
        </p:nvSpPr>
        <p:spPr>
          <a:xfrm>
            <a:off x="459789" y="146304"/>
            <a:ext cx="2651711" cy="461665"/>
          </a:xfrm>
          <a:prstGeom prst="rect">
            <a:avLst/>
          </a:prstGeom>
          <a:solidFill>
            <a:schemeClr val="bg1"/>
          </a:solidFill>
        </p:spPr>
        <p:txBody>
          <a:bodyPr wrap="square">
            <a:spAutoFit/>
          </a:bodyPr>
          <a:lstStyle/>
          <a:p>
            <a:r>
              <a:rPr lang="en-US" sz="2400" u="sng" dirty="0" smtClean="0">
                <a:solidFill>
                  <a:schemeClr val="bg2">
                    <a:lumMod val="25000"/>
                  </a:schemeClr>
                </a:solidFill>
                <a:latin typeface="Times New Roman" panose="02020603050405020304" pitchFamily="18" charset="0"/>
                <a:cs typeface="Times New Roman" panose="02020603050405020304" pitchFamily="18" charset="0"/>
              </a:rPr>
              <a:t>Appendix 11</a:t>
            </a:r>
            <a:endParaRPr lang="en-US" sz="2400" u="sng" dirty="0">
              <a:solidFill>
                <a:schemeClr val="bg2">
                  <a:lumMod val="25000"/>
                </a:schemeClr>
              </a:solidFill>
              <a:latin typeface="Times New Roman" panose="02020603050405020304" pitchFamily="18" charset="0"/>
              <a:cs typeface="Times New Roman" panose="02020603050405020304" pitchFamily="18" charset="0"/>
            </a:endParaRPr>
          </a:p>
        </p:txBody>
      </p:sp>
      <p:sp>
        <p:nvSpPr>
          <p:cNvPr id="2" name="Slide Number Placeholder 1"/>
          <p:cNvSpPr>
            <a:spLocks noGrp="1"/>
          </p:cNvSpPr>
          <p:nvPr>
            <p:ph type="sldNum" sz="quarter" idx="12"/>
          </p:nvPr>
        </p:nvSpPr>
        <p:spPr/>
        <p:txBody>
          <a:bodyPr/>
          <a:lstStyle/>
          <a:p>
            <a:fld id="{0059130C-D5A7-43F1-8BDF-D4DD1699FE09}" type="slidenum">
              <a:rPr lang="en-US" smtClean="0"/>
              <a:t>35</a:t>
            </a:fld>
            <a:endParaRPr lang="en-US"/>
          </a:p>
        </p:txBody>
      </p:sp>
    </p:spTree>
    <p:extLst>
      <p:ext uri="{BB962C8B-B14F-4D97-AF65-F5344CB8AC3E}">
        <p14:creationId xmlns:p14="http://schemas.microsoft.com/office/powerpoint/2010/main" val="3548320718"/>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459789" y="146304"/>
            <a:ext cx="2214831" cy="461665"/>
          </a:xfrm>
          <a:prstGeom prst="rect">
            <a:avLst/>
          </a:prstGeom>
          <a:solidFill>
            <a:schemeClr val="bg1"/>
          </a:solidFill>
        </p:spPr>
        <p:txBody>
          <a:bodyPr wrap="square">
            <a:spAutoFit/>
          </a:bodyPr>
          <a:lstStyle/>
          <a:p>
            <a:r>
              <a:rPr lang="en-US" sz="2400" u="sng" dirty="0">
                <a:latin typeface="Times New Roman" panose="02020603050405020304" pitchFamily="18" charset="0"/>
                <a:cs typeface="Times New Roman" panose="02020603050405020304" pitchFamily="18" charset="0"/>
              </a:rPr>
              <a:t>Appendix </a:t>
            </a:r>
            <a:r>
              <a:rPr lang="en-US" sz="2400" u="sng" dirty="0" smtClean="0">
                <a:latin typeface="Times New Roman" panose="02020603050405020304" pitchFamily="18" charset="0"/>
                <a:cs typeface="Times New Roman" panose="02020603050405020304" pitchFamily="18" charset="0"/>
              </a:rPr>
              <a:t>12</a:t>
            </a:r>
            <a:endParaRPr lang="en-US" sz="2400" u="sng" dirty="0">
              <a:latin typeface="Times New Roman" panose="02020603050405020304" pitchFamily="18" charset="0"/>
              <a:cs typeface="Times New Roman" panose="02020603050405020304" pitchFamily="18" charset="0"/>
            </a:endParaRPr>
          </a:p>
        </p:txBody>
      </p:sp>
      <p:sp>
        <p:nvSpPr>
          <p:cNvPr id="2" name="Slide Number Placeholder 1"/>
          <p:cNvSpPr>
            <a:spLocks noGrp="1"/>
          </p:cNvSpPr>
          <p:nvPr>
            <p:ph type="sldNum" sz="quarter" idx="12"/>
          </p:nvPr>
        </p:nvSpPr>
        <p:spPr>
          <a:xfrm>
            <a:off x="8220456" y="6258814"/>
            <a:ext cx="2743200" cy="365125"/>
          </a:xfrm>
        </p:spPr>
        <p:txBody>
          <a:bodyPr/>
          <a:lstStyle/>
          <a:p>
            <a:fld id="{0059130C-D5A7-43F1-8BDF-D4DD1699FE09}" type="slidenum">
              <a:rPr lang="en-US" smtClean="0"/>
              <a:t>36</a:t>
            </a:fld>
            <a:endParaRPr lang="en-US"/>
          </a:p>
        </p:txBody>
      </p:sp>
      <p:sp>
        <p:nvSpPr>
          <p:cNvPr id="18" name="Rectangle 17"/>
          <p:cNvSpPr/>
          <p:nvPr/>
        </p:nvSpPr>
        <p:spPr>
          <a:xfrm>
            <a:off x="636573" y="788668"/>
            <a:ext cx="10842195" cy="1754326"/>
          </a:xfrm>
          <a:prstGeom prst="rect">
            <a:avLst/>
          </a:prstGeom>
        </p:spPr>
        <p:txBody>
          <a:bodyPr wrap="square">
            <a:spAutoFit/>
          </a:bodyPr>
          <a:lstStyle/>
          <a:p>
            <a:pPr algn="just">
              <a:lnSpc>
                <a:spcPct val="150000"/>
              </a:lnSpc>
            </a:pPr>
            <a:r>
              <a:rPr lang="en-US" b="1" dirty="0" smtClean="0">
                <a:latin typeface="Times New Roman" panose="02020603050405020304" pitchFamily="18" charset="0"/>
                <a:cs typeface="Times New Roman" panose="02020603050405020304" pitchFamily="18" charset="0"/>
              </a:rPr>
              <a:t>Test result - Scale up:</a:t>
            </a:r>
          </a:p>
          <a:p>
            <a:pPr algn="just">
              <a:lnSpc>
                <a:spcPct val="150000"/>
              </a:lnSpc>
            </a:pPr>
            <a:r>
              <a:rPr lang="en-US" dirty="0" smtClean="0">
                <a:latin typeface="Times New Roman" panose="02020603050405020304" pitchFamily="18" charset="0"/>
                <a:cs typeface="Times New Roman" panose="02020603050405020304" pitchFamily="18" charset="0"/>
              </a:rPr>
              <a:t>Hanging </a:t>
            </a:r>
            <a:r>
              <a:rPr lang="en-US" dirty="0">
                <a:latin typeface="Times New Roman" panose="02020603050405020304" pitchFamily="18" charset="0"/>
                <a:cs typeface="Times New Roman" panose="02020603050405020304" pitchFamily="18" charset="0"/>
              </a:rPr>
              <a:t>detection triggered when thread 1 processing time reached threshold (500ms) during DiagMgr database save operation (1120ms total duration), successfully creating an additional thread</a:t>
            </a:r>
            <a:r>
              <a:rPr lang="en-US" dirty="0" smtClean="0">
                <a:latin typeface="Times New Roman" panose="02020603050405020304" pitchFamily="18" charset="0"/>
                <a:cs typeface="Times New Roman" panose="02020603050405020304" pitchFamily="18" charset="0"/>
              </a:rPr>
              <a:t>. Pool </a:t>
            </a:r>
            <a:r>
              <a:rPr lang="en-US" dirty="0">
                <a:latin typeface="Times New Roman" panose="02020603050405020304" pitchFamily="18" charset="0"/>
                <a:cs typeface="Times New Roman" panose="02020603050405020304" pitchFamily="18" charset="0"/>
              </a:rPr>
              <a:t>automatically scaled from 2 to 3 threads (ID=2 created) to maintain system responsiveness during long-running tasks.</a:t>
            </a:r>
          </a:p>
        </p:txBody>
      </p:sp>
      <p:grpSp>
        <p:nvGrpSpPr>
          <p:cNvPr id="21" name="Group 20"/>
          <p:cNvGrpSpPr/>
          <p:nvPr/>
        </p:nvGrpSpPr>
        <p:grpSpPr>
          <a:xfrm>
            <a:off x="636573" y="2730691"/>
            <a:ext cx="10029142" cy="3820096"/>
            <a:chOff x="1147022" y="2615184"/>
            <a:chExt cx="10029142" cy="3820096"/>
          </a:xfrm>
        </p:grpSpPr>
        <p:pic>
          <p:nvPicPr>
            <p:cNvPr id="6" name="Picture 5"/>
            <p:cNvPicPr>
              <a:picLocks noChangeAspect="1"/>
            </p:cNvPicPr>
            <p:nvPr/>
          </p:nvPicPr>
          <p:blipFill rotWithShape="1">
            <a:blip r:embed="rId3"/>
            <a:srcRect l="13466" r="15241"/>
            <a:stretch/>
          </p:blipFill>
          <p:spPr>
            <a:xfrm>
              <a:off x="1147022" y="5449557"/>
              <a:ext cx="8886993" cy="985723"/>
            </a:xfrm>
            <a:prstGeom prst="rect">
              <a:avLst/>
            </a:prstGeom>
          </p:spPr>
        </p:pic>
        <p:pic>
          <p:nvPicPr>
            <p:cNvPr id="7" name="Picture 6"/>
            <p:cNvPicPr>
              <a:picLocks noChangeAspect="1"/>
            </p:cNvPicPr>
            <p:nvPr/>
          </p:nvPicPr>
          <p:blipFill rotWithShape="1">
            <a:blip r:embed="rId4"/>
            <a:srcRect l="15430" r="9641"/>
            <a:stretch/>
          </p:blipFill>
          <p:spPr>
            <a:xfrm>
              <a:off x="1207982" y="2615184"/>
              <a:ext cx="8155891" cy="1046250"/>
            </a:xfrm>
            <a:prstGeom prst="rect">
              <a:avLst/>
            </a:prstGeom>
          </p:spPr>
        </p:pic>
        <p:sp>
          <p:nvSpPr>
            <p:cNvPr id="12" name="Rectangle 11"/>
            <p:cNvSpPr/>
            <p:nvPr/>
          </p:nvSpPr>
          <p:spPr>
            <a:xfrm>
              <a:off x="1207982" y="3031260"/>
              <a:ext cx="8227998" cy="381838"/>
            </a:xfrm>
            <a:prstGeom prst="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1153117" y="5869218"/>
              <a:ext cx="8192919" cy="193443"/>
            </a:xfrm>
            <a:prstGeom prst="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p:nvSpPr>
          <p:spPr>
            <a:xfrm>
              <a:off x="8626180" y="6073954"/>
              <a:ext cx="1413932" cy="202904"/>
            </a:xfrm>
            <a:prstGeom prst="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Picture 19"/>
            <p:cNvPicPr>
              <a:picLocks noChangeAspect="1"/>
            </p:cNvPicPr>
            <p:nvPr/>
          </p:nvPicPr>
          <p:blipFill>
            <a:blip r:embed="rId5"/>
            <a:stretch>
              <a:fillRect/>
            </a:stretch>
          </p:blipFill>
          <p:spPr>
            <a:xfrm>
              <a:off x="1195789" y="3658337"/>
              <a:ext cx="9980375" cy="1750943"/>
            </a:xfrm>
            <a:prstGeom prst="rect">
              <a:avLst/>
            </a:prstGeom>
          </p:spPr>
        </p:pic>
      </p:grpSp>
      <p:sp>
        <p:nvSpPr>
          <p:cNvPr id="22" name="Rectangle 21"/>
          <p:cNvSpPr/>
          <p:nvPr/>
        </p:nvSpPr>
        <p:spPr>
          <a:xfrm>
            <a:off x="3672232" y="5140138"/>
            <a:ext cx="6904327" cy="193352"/>
          </a:xfrm>
          <a:prstGeom prst="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9716644"/>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459789" y="146304"/>
            <a:ext cx="2214831" cy="461665"/>
          </a:xfrm>
          <a:prstGeom prst="rect">
            <a:avLst/>
          </a:prstGeom>
          <a:solidFill>
            <a:schemeClr val="bg1"/>
          </a:solidFill>
        </p:spPr>
        <p:txBody>
          <a:bodyPr wrap="square">
            <a:spAutoFit/>
          </a:bodyPr>
          <a:lstStyle/>
          <a:p>
            <a:r>
              <a:rPr lang="en-US" sz="2400" u="sng" dirty="0">
                <a:latin typeface="Times New Roman" panose="02020603050405020304" pitchFamily="18" charset="0"/>
                <a:cs typeface="Times New Roman" panose="02020603050405020304" pitchFamily="18" charset="0"/>
              </a:rPr>
              <a:t>Appendix </a:t>
            </a:r>
            <a:r>
              <a:rPr lang="en-US" sz="2400" u="sng" dirty="0" smtClean="0">
                <a:latin typeface="Times New Roman" panose="02020603050405020304" pitchFamily="18" charset="0"/>
                <a:cs typeface="Times New Roman" panose="02020603050405020304" pitchFamily="18" charset="0"/>
              </a:rPr>
              <a:t>13</a:t>
            </a:r>
            <a:endParaRPr lang="en-US" sz="2400" u="sng" dirty="0">
              <a:latin typeface="Times New Roman" panose="02020603050405020304" pitchFamily="18" charset="0"/>
              <a:cs typeface="Times New Roman" panose="02020603050405020304" pitchFamily="18" charset="0"/>
            </a:endParaRPr>
          </a:p>
        </p:txBody>
      </p:sp>
      <p:sp>
        <p:nvSpPr>
          <p:cNvPr id="2" name="Slide Number Placeholder 1"/>
          <p:cNvSpPr>
            <a:spLocks noGrp="1"/>
          </p:cNvSpPr>
          <p:nvPr>
            <p:ph type="sldNum" sz="quarter" idx="12"/>
          </p:nvPr>
        </p:nvSpPr>
        <p:spPr>
          <a:xfrm>
            <a:off x="8220456" y="6258814"/>
            <a:ext cx="2743200" cy="365125"/>
          </a:xfrm>
        </p:spPr>
        <p:txBody>
          <a:bodyPr/>
          <a:lstStyle/>
          <a:p>
            <a:fld id="{0059130C-D5A7-43F1-8BDF-D4DD1699FE09}" type="slidenum">
              <a:rPr lang="en-US" smtClean="0"/>
              <a:t>37</a:t>
            </a:fld>
            <a:endParaRPr lang="en-US"/>
          </a:p>
        </p:txBody>
      </p:sp>
      <p:sp>
        <p:nvSpPr>
          <p:cNvPr id="18" name="Rectangle 17"/>
          <p:cNvSpPr/>
          <p:nvPr/>
        </p:nvSpPr>
        <p:spPr>
          <a:xfrm>
            <a:off x="636573" y="788668"/>
            <a:ext cx="10842195" cy="458074"/>
          </a:xfrm>
          <a:prstGeom prst="rect">
            <a:avLst/>
          </a:prstGeom>
        </p:spPr>
        <p:txBody>
          <a:bodyPr wrap="square">
            <a:spAutoFit/>
          </a:bodyPr>
          <a:lstStyle/>
          <a:p>
            <a:pPr algn="just">
              <a:lnSpc>
                <a:spcPct val="150000"/>
              </a:lnSpc>
            </a:pPr>
            <a:r>
              <a:rPr lang="en-US" b="1" dirty="0">
                <a:latin typeface="Times New Roman" panose="02020603050405020304" pitchFamily="18" charset="0"/>
                <a:cs typeface="Times New Roman" panose="02020603050405020304" pitchFamily="18" charset="0"/>
              </a:rPr>
              <a:t>Test result - Scale </a:t>
            </a:r>
            <a:r>
              <a:rPr lang="en-US" b="1" dirty="0" smtClean="0">
                <a:latin typeface="Times New Roman" panose="02020603050405020304" pitchFamily="18" charset="0"/>
                <a:cs typeface="Times New Roman" panose="02020603050405020304" pitchFamily="18" charset="0"/>
              </a:rPr>
              <a:t>down:</a:t>
            </a:r>
            <a:endParaRPr lang="en-US" b="1" dirty="0">
              <a:latin typeface="Times New Roman" panose="02020603050405020304" pitchFamily="18" charset="0"/>
              <a:cs typeface="Times New Roman" panose="02020603050405020304" pitchFamily="18" charset="0"/>
            </a:endParaRPr>
          </a:p>
        </p:txBody>
      </p:sp>
      <p:pic>
        <p:nvPicPr>
          <p:cNvPr id="4" name="Picture 3"/>
          <p:cNvPicPr>
            <a:picLocks noChangeAspect="1"/>
          </p:cNvPicPr>
          <p:nvPr/>
        </p:nvPicPr>
        <p:blipFill>
          <a:blip r:embed="rId3"/>
          <a:stretch>
            <a:fillRect/>
          </a:stretch>
        </p:blipFill>
        <p:spPr>
          <a:xfrm>
            <a:off x="737045" y="2699824"/>
            <a:ext cx="8571548" cy="2355283"/>
          </a:xfrm>
          <a:prstGeom prst="rect">
            <a:avLst/>
          </a:prstGeom>
        </p:spPr>
      </p:pic>
      <p:sp>
        <p:nvSpPr>
          <p:cNvPr id="5" name="Rectangle 4"/>
          <p:cNvSpPr/>
          <p:nvPr/>
        </p:nvSpPr>
        <p:spPr>
          <a:xfrm>
            <a:off x="694372" y="1427441"/>
            <a:ext cx="9693211" cy="923330"/>
          </a:xfrm>
          <a:prstGeom prst="rect">
            <a:avLst/>
          </a:prstGeom>
        </p:spPr>
        <p:txBody>
          <a:bodyPr wrap="square">
            <a:spAutoFit/>
          </a:bodyPr>
          <a:lstStyle/>
          <a:p>
            <a:pPr algn="just"/>
            <a:r>
              <a:rPr lang="en-US" dirty="0">
                <a:latin typeface="Times New Roman" panose="02020603050405020304" pitchFamily="18" charset="0"/>
                <a:cs typeface="Times New Roman" panose="02020603050405020304" pitchFamily="18" charset="0"/>
              </a:rPr>
              <a:t>Scale down triggered after 30 seconds idle period with no queued tasks. Thread pool detected excess threads (3 active </a:t>
            </a:r>
            <a:r>
              <a:rPr lang="en-US" dirty="0" smtClean="0">
                <a:latin typeface="Times New Roman" panose="02020603050405020304" pitchFamily="18" charset="0"/>
                <a:cs typeface="Times New Roman" panose="02020603050405020304" pitchFamily="18" charset="0"/>
              </a:rPr>
              <a:t>vs. </a:t>
            </a:r>
            <a:r>
              <a:rPr lang="en-US" dirty="0">
                <a:latin typeface="Times New Roman" panose="02020603050405020304" pitchFamily="18" charset="0"/>
                <a:cs typeface="Times New Roman" panose="02020603050405020304" pitchFamily="18" charset="0"/>
              </a:rPr>
              <a:t>2 core required) and gracefully terminated thread </a:t>
            </a:r>
            <a:r>
              <a:rPr lang="en-US" dirty="0" smtClean="0">
                <a:latin typeface="Times New Roman" panose="02020603050405020304" pitchFamily="18" charset="0"/>
                <a:cs typeface="Times New Roman" panose="02020603050405020304" pitchFamily="18" charset="0"/>
              </a:rPr>
              <a:t>ID=0, </a:t>
            </a:r>
            <a:r>
              <a:rPr lang="en-US" dirty="0">
                <a:latin typeface="Times New Roman" panose="02020603050405020304" pitchFamily="18" charset="0"/>
                <a:cs typeface="Times New Roman" panose="02020603050405020304" pitchFamily="18" charset="0"/>
              </a:rPr>
              <a:t>successfully scaling from 3 to 2 threads to optimize resources while maintaining baseline responsiveness.</a:t>
            </a:r>
          </a:p>
        </p:txBody>
      </p:sp>
    </p:spTree>
    <p:extLst>
      <p:ext uri="{BB962C8B-B14F-4D97-AF65-F5344CB8AC3E}">
        <p14:creationId xmlns:p14="http://schemas.microsoft.com/office/powerpoint/2010/main" val="3914870410"/>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18172</TotalTime>
  <Words>2246</Words>
  <Application>Microsoft Office PowerPoint</Application>
  <PresentationFormat>Widescreen</PresentationFormat>
  <Paragraphs>479</Paragraphs>
  <Slides>37</Slides>
  <Notes>30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37</vt:i4>
      </vt:variant>
    </vt:vector>
  </HeadingPairs>
  <TitlesOfParts>
    <vt:vector size="47" baseType="lpstr">
      <vt:lpstr>맑은 고딕</vt:lpstr>
      <vt:lpstr>Arial</vt:lpstr>
      <vt:lpstr>Calibri</vt:lpstr>
      <vt:lpstr>Calibri Light</vt:lpstr>
      <vt:lpstr>Consolas</vt:lpstr>
      <vt:lpstr>Courier New</vt:lpstr>
      <vt:lpstr>LG스마트체 Regular</vt:lpstr>
      <vt:lpstr>Times New Roman</vt:lpstr>
      <vt:lpstr>Wingdings</vt:lpstr>
      <vt:lpstr>Office Theme</vt:lpstr>
      <vt:lpstr>Design of Secure Remote Diag on Container Separation Architecture</vt:lpstr>
      <vt:lpstr>Table of contents</vt:lpstr>
      <vt:lpstr>1. Overview - DCM and the RDG Module in Toyota 24LM</vt:lpstr>
      <vt:lpstr>1. Overview - DCM and the RDG Module in Toyota 24LM</vt:lpstr>
      <vt:lpstr>2. Problem identification</vt:lpstr>
      <vt:lpstr>2. Problem identification – Key Quality Attributes</vt:lpstr>
      <vt:lpstr>3. Solution proposals – Proposal 1</vt:lpstr>
      <vt:lpstr>3. Solution proposals – Proposal 2</vt:lpstr>
      <vt:lpstr>4. Design proposal for selected solution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HIEU TRUNG NGUYEN/LGEVH VS FUNCTIONAL TECHNOLOGY 1(hieu4.nguyen@lge.com)</dc:creator>
  <cp:lastModifiedBy>PHI HOANG VU/LGEDV SOFTWARE ENGINEERING 1 TEAM</cp:lastModifiedBy>
  <cp:revision>1202</cp:revision>
  <dcterms:created xsi:type="dcterms:W3CDTF">2024-09-16T10:54:45Z</dcterms:created>
  <dcterms:modified xsi:type="dcterms:W3CDTF">2026-08-05T10:54:25Z</dcterms:modified>
</cp:coreProperties>
</file>